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677" r:id="rId3"/>
    <p:sldId id="678" r:id="rId4"/>
    <p:sldId id="676" r:id="rId5"/>
    <p:sldId id="994" r:id="rId6"/>
    <p:sldId id="648" r:id="rId7"/>
    <p:sldId id="653" r:id="rId8"/>
    <p:sldId id="647" r:id="rId9"/>
    <p:sldId id="646" r:id="rId10"/>
    <p:sldId id="649" r:id="rId11"/>
    <p:sldId id="600" r:id="rId12"/>
    <p:sldId id="463" r:id="rId13"/>
    <p:sldId id="651" r:id="rId14"/>
    <p:sldId id="664" r:id="rId15"/>
    <p:sldId id="655" r:id="rId16"/>
    <p:sldId id="656" r:id="rId17"/>
    <p:sldId id="657" r:id="rId18"/>
    <p:sldId id="674" r:id="rId19"/>
    <p:sldId id="683" r:id="rId20"/>
    <p:sldId id="699" r:id="rId21"/>
    <p:sldId id="700" r:id="rId22"/>
    <p:sldId id="701" r:id="rId23"/>
    <p:sldId id="702" r:id="rId24"/>
    <p:sldId id="703" r:id="rId25"/>
    <p:sldId id="684" r:id="rId26"/>
    <p:sldId id="675" r:id="rId27"/>
    <p:sldId id="697" r:id="rId28"/>
    <p:sldId id="685" r:id="rId29"/>
    <p:sldId id="688" r:id="rId30"/>
    <p:sldId id="689" r:id="rId31"/>
    <p:sldId id="690" r:id="rId32"/>
    <p:sldId id="691" r:id="rId33"/>
    <p:sldId id="692" r:id="rId34"/>
    <p:sldId id="693" r:id="rId35"/>
    <p:sldId id="662" r:id="rId36"/>
    <p:sldId id="993" r:id="rId37"/>
    <p:sldId id="663" r:id="rId38"/>
    <p:sldId id="709" r:id="rId39"/>
    <p:sldId id="995" r:id="rId40"/>
    <p:sldId id="996" r:id="rId41"/>
    <p:sldId id="484" r:id="rId42"/>
    <p:sldId id="267" r:id="rId43"/>
    <p:sldId id="268" r:id="rId44"/>
    <p:sldId id="971" r:id="rId45"/>
    <p:sldId id="972" r:id="rId46"/>
    <p:sldId id="997" r:id="rId47"/>
    <p:sldId id="973" r:id="rId48"/>
    <p:sldId id="977" r:id="rId49"/>
    <p:sldId id="559" r:id="rId50"/>
    <p:sldId id="578" r:id="rId51"/>
    <p:sldId id="630" r:id="rId52"/>
    <p:sldId id="562" r:id="rId53"/>
    <p:sldId id="576" r:id="rId54"/>
    <p:sldId id="575" r:id="rId55"/>
    <p:sldId id="637" r:id="rId56"/>
    <p:sldId id="638" r:id="rId57"/>
    <p:sldId id="569" r:id="rId58"/>
    <p:sldId id="573" r:id="rId59"/>
    <p:sldId id="580" r:id="rId60"/>
    <p:sldId id="999" r:id="rId61"/>
    <p:sldId id="563" r:id="rId62"/>
    <p:sldId id="579" r:id="rId63"/>
    <p:sldId id="585" r:id="rId64"/>
    <p:sldId id="564" r:id="rId65"/>
    <p:sldId id="591" r:id="rId66"/>
    <p:sldId id="568" r:id="rId67"/>
    <p:sldId id="640" r:id="rId68"/>
    <p:sldId id="976" r:id="rId69"/>
    <p:sldId id="639" r:id="rId70"/>
    <p:sldId id="975" r:id="rId71"/>
    <p:sldId id="978" r:id="rId72"/>
    <p:sldId id="981" r:id="rId73"/>
    <p:sldId id="979" r:id="rId74"/>
    <p:sldId id="992" r:id="rId75"/>
    <p:sldId id="962" r:id="rId76"/>
    <p:sldId id="1000" r:id="rId77"/>
    <p:sldId id="1001" r:id="rId78"/>
    <p:sldId id="1002" r:id="rId79"/>
    <p:sldId id="1003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wei li" initials="Jl [3] [2] [2] [2]" lastIdx="1" clrIdx="0"/>
  <p:cmAuthor id="2" name="Jiwei li" initials="Jl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79"/>
    <p:restoredTop sz="94647"/>
  </p:normalViewPr>
  <p:slideViewPr>
    <p:cSldViewPr snapToGrid="0" snapToObjects="1" showGuides="1">
      <p:cViewPr varScale="1">
        <p:scale>
          <a:sx n="121" d="100"/>
          <a:sy n="121" d="100"/>
        </p:scale>
        <p:origin x="192" y="3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9E944-8D78-BB41-BBB0-BDE965652698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41824-3154-D641-9422-FDF26CD6F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79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794197A-909D-6248-B44E-761B541FFA90}" type="slidenum">
              <a:rPr lang="en-US" sz="1200"/>
              <a:pPr eaLnBrk="1" hangingPunct="1"/>
              <a:t>4</a:t>
            </a:fld>
            <a:endParaRPr lang="en-US" sz="1200"/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856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3A312230-4A94-9342-95B2-6484C2F87F15}" type="slidenum">
              <a:rPr lang="en-US" sz="1200"/>
              <a:pPr eaLnBrk="1" hangingPunct="1"/>
              <a:t>6</a:t>
            </a:fld>
            <a:endParaRPr lang="en-US" sz="1200"/>
          </a:p>
        </p:txBody>
      </p:sp>
      <p:sp>
        <p:nvSpPr>
          <p:cNvPr id="1157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994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3A312230-4A94-9342-95B2-6484C2F87F15}" type="slidenum">
              <a:rPr lang="en-US" sz="1200"/>
              <a:pPr eaLnBrk="1" hangingPunct="1"/>
              <a:t>8</a:t>
            </a:fld>
            <a:endParaRPr lang="en-US" sz="1200"/>
          </a:p>
        </p:txBody>
      </p:sp>
      <p:sp>
        <p:nvSpPr>
          <p:cNvPr id="1157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328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3A312230-4A94-9342-95B2-6484C2F87F15}" type="slidenum">
              <a:rPr lang="en-US" sz="1200"/>
              <a:pPr eaLnBrk="1" hangingPunct="1"/>
              <a:t>9</a:t>
            </a:fld>
            <a:endParaRPr lang="en-US" sz="1200"/>
          </a:p>
        </p:txBody>
      </p:sp>
      <p:sp>
        <p:nvSpPr>
          <p:cNvPr id="1157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372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245DC473-6AF4-1B4E-A891-802B4C20D324}" type="slidenum">
              <a:rPr lang="en-US" sz="1200"/>
              <a:pPr eaLnBrk="1" hangingPunct="1"/>
              <a:t>11</a:t>
            </a:fld>
            <a:endParaRPr lang="en-US" sz="1200"/>
          </a:p>
        </p:txBody>
      </p:sp>
      <p:sp>
        <p:nvSpPr>
          <p:cNvPr id="11776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746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5B8399C4-3731-A149-B8F0-D4A65DAF9C99}" type="slidenum">
              <a:rPr lang="en-US" sz="1200"/>
              <a:pPr eaLnBrk="1" hangingPunct="1"/>
              <a:t>12</a:t>
            </a:fld>
            <a:endParaRPr lang="en-US" sz="1200"/>
          </a:p>
        </p:txBody>
      </p:sp>
      <p:sp>
        <p:nvSpPr>
          <p:cNvPr id="256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304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5B8399C4-3731-A149-B8F0-D4A65DAF9C99}" type="slidenum">
              <a:rPr lang="en-US" sz="1200"/>
              <a:pPr eaLnBrk="1" hangingPunct="1"/>
              <a:t>13</a:t>
            </a:fld>
            <a:endParaRPr lang="en-US" sz="1200"/>
          </a:p>
        </p:txBody>
      </p:sp>
      <p:sp>
        <p:nvSpPr>
          <p:cNvPr id="256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525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0D9B37D-59CC-4340-BA98-E056CC2D22FC}" type="slidenum">
              <a:rPr lang="en-US" sz="1200"/>
              <a:pPr eaLnBrk="1" hangingPunct="1"/>
              <a:t>37</a:t>
            </a:fld>
            <a:endParaRPr lang="en-US" sz="1200"/>
          </a:p>
        </p:txBody>
      </p:sp>
      <p:sp>
        <p:nvSpPr>
          <p:cNvPr id="1402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147763" y="685800"/>
            <a:ext cx="4567237" cy="3425825"/>
          </a:xfrm>
          <a:solidFill>
            <a:srgbClr val="FFFFFF"/>
          </a:solidFill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343400"/>
            <a:ext cx="5022850" cy="4114800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032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E16F16-3DF6-B64B-8D8B-B29489BC1311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315394" name="Rectangle 102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539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9090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E16F16-3DF6-B64B-8D8B-B29489BC1311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315394" name="Rectangle 102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539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7819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D4404-C563-6B43-A824-459A163A6375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85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FC5B4-93A2-EB44-B76A-F2209F5E9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24E047-FB31-9A44-8695-517CCC0CD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8E66E-9743-C342-8C87-17A802A8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FEC6-3B40-AE4C-8BE8-7F6C4A1AB5F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54F95-2816-EC45-8110-C8162A05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9BEA0-7353-8C4B-918D-15189CBD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7506-7BB3-A446-A4AD-7F98A1C72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0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7FB2-E89A-AE49-952E-2682D181D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A5385-88D0-B24F-94A3-0A3BEEAA1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9C063-FC42-074A-A11C-136C538A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FEC6-3B40-AE4C-8BE8-7F6C4A1AB5F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AB379-A6B7-6440-A608-57E58CA5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CE26D-A73A-954D-AB88-63B5530B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7506-7BB3-A446-A4AD-7F98A1C72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8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D472-F94D-0949-915C-E55AFBEC8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CE3AF-E20E-2B4A-ACBF-DF70EE122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B06A2-C22D-5C42-8A56-50B09D9C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FEC6-3B40-AE4C-8BE8-7F6C4A1AB5F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BD0A3-48CE-B046-8969-9703F24B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BFB35-1796-8E43-A47D-80023B87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7506-7BB3-A446-A4AD-7F98A1C72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89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89DA-991C-0348-8A9B-F48F405F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1DB33-2B9C-3848-8A92-015FB2B2F2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2E49F-31F8-3240-85E8-D7832CACC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A70F6-6805-ED41-87D5-279E5C2B6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FEC6-3B40-AE4C-8BE8-7F6C4A1AB5F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72942-E56A-FE48-AB6F-461F0DD5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47141-A8DB-6D4B-94DD-BEDB9F6D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7506-7BB3-A446-A4AD-7F98A1C72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2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65C0-A732-8A47-B4B6-084753FE4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BB814-2BBF-9E4F-B030-949A277CE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A8852-E36D-2647-AF19-A749151A4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22AAA9-FA9A-F24C-8FA8-6D354F336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A6625-A43B-4541-858E-7B37CD8EE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B0DCB-7671-274F-A68C-61C034999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FEC6-3B40-AE4C-8BE8-7F6C4A1AB5F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7849E-B06B-B04C-A159-C8E7FB11B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9F78B5-9D97-DA46-AE60-B1050C9C8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7506-7BB3-A446-A4AD-7F98A1C72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1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67B4-3E54-644B-9E13-7FE5D2D9A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8907F0-6A22-6F48-B2CD-C090111C5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FEC6-3B40-AE4C-8BE8-7F6C4A1AB5F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C1670-FFAD-5D4C-A689-FD6C34B2A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9F6EE-67A5-CF4D-8155-042700764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7506-7BB3-A446-A4AD-7F98A1C72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2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EAF69-1546-944E-B2AE-76D0EB4B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FEC6-3B40-AE4C-8BE8-7F6C4A1AB5F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01E6A-4694-374B-AFE3-75502793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08230-4947-624D-AC5C-CACADBC7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7506-7BB3-A446-A4AD-7F98A1C72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2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590D5-0973-B043-94D5-60CE560EE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0D3B5-FB06-3348-A4EA-42254E9FF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9AE14-0DE8-7544-AB24-AAEA248E6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1EF0F-0627-DF43-8B3E-AB9632B72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FEC6-3B40-AE4C-8BE8-7F6C4A1AB5F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36ED0-D1C9-6545-9486-DC359107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6E578-3419-9742-9B1E-C2348D14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7506-7BB3-A446-A4AD-7F98A1C72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89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C9A9-6B24-234E-84BA-4542E723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604259-EDC4-B94B-8CD8-C906DCF92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E43C6-7D0C-2340-B5D0-2E7D2A298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55E5B-F761-C84A-B614-BF62676D3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FEC6-3B40-AE4C-8BE8-7F6C4A1AB5F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705F3-1857-D54C-A3AF-4AB6A8D83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94D0E-E9D3-5C4F-B1A1-9435EC0B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7506-7BB3-A446-A4AD-7F98A1C72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22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562BC-8990-F44C-A4B7-266E11F0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7564B-5B48-B24E-A8C2-6147F699C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E34A7-CACC-264D-9071-5141B7EA4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FEC6-3B40-AE4C-8BE8-7F6C4A1AB5F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A892B-A0AD-C24C-9D92-CCF2A288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C47E9-6E09-DD49-987A-C8BD5CE18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7506-7BB3-A446-A4AD-7F98A1C72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72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F7291-8699-604F-9285-96617ECF7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3E80F-3D52-054A-AC1C-7F727742A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C1897-8651-974C-B516-9F242B7C6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2FEC6-3B40-AE4C-8BE8-7F6C4A1AB5F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F3F5F-9692-CF4E-B65A-3D25EC377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FE45D-1052-1F4A-967A-18DBD319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7506-7BB3-A446-A4AD-7F98A1C72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270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3D8F4-8019-3C41-BFA7-276F60F0A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DD6D8-8232-2342-B0C1-3C69AC00A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F340B-E750-BF45-99BA-852210325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2FEC6-3B40-AE4C-8BE8-7F6C4A1AB5F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7F9EF-C1C1-534D-B970-7F3439B7B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ACA0A-BF6B-9F46-B137-04DBE68CA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D7506-7BB3-A446-A4AD-7F98A1C72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7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image" Target="../media/image1.png"/><Relationship Id="rId7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06.08161.pdf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63DE-EAFB-AD4E-A175-8C12E3D78C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Dialogue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8C8F8-759F-DD43-A143-8A1FDD1958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 662</a:t>
            </a:r>
          </a:p>
          <a:p>
            <a:r>
              <a:rPr lang="en-US" dirty="0"/>
              <a:t>Jonathan May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1F422-131B-A34C-A51D-8C3192AA734F}"/>
              </a:ext>
            </a:extLst>
          </p:cNvPr>
          <p:cNvSpPr txBox="1"/>
          <p:nvPr/>
        </p:nvSpPr>
        <p:spPr>
          <a:xfrm>
            <a:off x="308225" y="6503542"/>
            <a:ext cx="3324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Many slides from </a:t>
            </a:r>
            <a:r>
              <a:rPr lang="en-US" dirty="0" err="1"/>
              <a:t>Jurafsky</a:t>
            </a:r>
            <a:r>
              <a:rPr lang="en-US" dirty="0"/>
              <a:t>, </a:t>
            </a:r>
            <a:r>
              <a:rPr lang="en-US" dirty="0" err="1"/>
              <a:t>Mrkšić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69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130F-9934-DD4D-B8EF-A5AB783C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Conversation Is Special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D8879-AD76-EC4B-BCCF-68F78C2E6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It's the prime way we use language</a:t>
            </a:r>
          </a:p>
          <a:p>
            <a:r>
              <a:rPr lang="en-US" dirty="0"/>
              <a:t>It's the oldest way we use language</a:t>
            </a:r>
          </a:p>
          <a:p>
            <a:r>
              <a:rPr lang="en-US" dirty="0"/>
              <a:t>It's the prime way we </a:t>
            </a:r>
            <a:r>
              <a:rPr lang="en-US" u="sng" dirty="0"/>
              <a:t>learn</a:t>
            </a:r>
            <a:r>
              <a:rPr lang="en-US" dirty="0"/>
              <a:t> language</a:t>
            </a:r>
          </a:p>
          <a:p>
            <a:r>
              <a:rPr lang="en-US" dirty="0"/>
              <a:t>Being able to have a conversation is in a sense what makes us human</a:t>
            </a:r>
          </a:p>
        </p:txBody>
      </p:sp>
    </p:spTree>
    <p:extLst>
      <p:ext uri="{BB962C8B-B14F-4D97-AF65-F5344CB8AC3E}">
        <p14:creationId xmlns:p14="http://schemas.microsoft.com/office/powerpoint/2010/main" val="3315963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658D-0367-6C43-A7FF-E47BBB87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 Use of Language Technology is a Threat to Conversation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78B83-0A60-8E42-8FD8-EFD9AA611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“Your Replika is not a real person. Meet real people.”</a:t>
            </a:r>
          </a:p>
          <a:p>
            <a:r>
              <a:rPr lang="en-US" dirty="0"/>
              <a:t>"Social media is alienating and robs us of our humanity. What about real friends?"</a:t>
            </a:r>
          </a:p>
          <a:p>
            <a:r>
              <a:rPr lang="en-US" dirty="0"/>
              <a:t>"Don't email your mother, call her"</a:t>
            </a:r>
          </a:p>
          <a:p>
            <a:r>
              <a:rPr lang="en-US" dirty="0"/>
              <a:t>"No playing video games/watching television/listening to the radio/reading books at the dinner table. Tell me about your day"</a:t>
            </a:r>
          </a:p>
          <a:p>
            <a:r>
              <a:rPr lang="en-US" dirty="0"/>
              <a:t>"[Writing] will create forgetfulness in the learners’ souls, because they will not use their memories; they will trust to the external written characters and not remember of themselves. " – The Phaedrus (Plato, discussing Socrates), 895 AD</a:t>
            </a:r>
          </a:p>
        </p:txBody>
      </p:sp>
    </p:spTree>
    <p:extLst>
      <p:ext uri="{BB962C8B-B14F-4D97-AF65-F5344CB8AC3E}">
        <p14:creationId xmlns:p14="http://schemas.microsoft.com/office/powerpoint/2010/main" val="55064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Conversational Agents  </a:t>
            </a:r>
            <a:br>
              <a:rPr lang="en-US" dirty="0"/>
            </a:br>
            <a:r>
              <a:rPr lang="en-US" dirty="0"/>
              <a:t>AKA  Dialog Agents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438400" y="2057400"/>
            <a:ext cx="7772400" cy="396240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Phone-based Personal Assistants </a:t>
            </a:r>
          </a:p>
          <a:p>
            <a:pPr marL="0" indent="0">
              <a:buNone/>
            </a:pPr>
            <a:r>
              <a:rPr lang="en-US" sz="3200" dirty="0"/>
              <a:t>	SIRI, Alexa, Cortana, Google Assistant</a:t>
            </a:r>
          </a:p>
          <a:p>
            <a:pPr marL="0" indent="0">
              <a:buNone/>
            </a:pPr>
            <a:r>
              <a:rPr lang="en-US" sz="3200" dirty="0"/>
              <a:t>Talking to your car</a:t>
            </a:r>
          </a:p>
          <a:p>
            <a:pPr marL="0" indent="0">
              <a:buNone/>
            </a:pPr>
            <a:r>
              <a:rPr lang="en-US" sz="3200" dirty="0"/>
              <a:t>Communicating with robots</a:t>
            </a:r>
          </a:p>
          <a:p>
            <a:pPr marL="0" indent="0">
              <a:buNone/>
            </a:pPr>
            <a:r>
              <a:rPr lang="en-US" sz="3200" dirty="0"/>
              <a:t>Clinical uses for mental health</a:t>
            </a:r>
          </a:p>
          <a:p>
            <a:pPr marL="0" indent="0">
              <a:buNone/>
            </a:pPr>
            <a:r>
              <a:rPr lang="en-US" sz="3200" dirty="0"/>
              <a:t>Chatting for fun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198979-6DB8-0245-BBA1-C996F41480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26070" y="982449"/>
            <a:ext cx="1564840" cy="8915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4D9728-CA0A-2D43-9C11-59FD447EF05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5355" y="3488099"/>
            <a:ext cx="2018281" cy="874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A4E930-ABCE-2F4F-AB37-55E60DB2AB1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0800" y="1979431"/>
            <a:ext cx="1660554" cy="1219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1B859F-A1C7-9C4E-B9F9-04669051F9F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8676" y="400052"/>
            <a:ext cx="1172678" cy="11647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2328F5F-1E00-CF4C-AAFF-5D378A7EED7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30127" y="4958879"/>
            <a:ext cx="2699327" cy="13496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0699A7-B5A3-784D-9E3A-8437D2A99B2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291" y="3925301"/>
            <a:ext cx="1641764" cy="164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56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The World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438400" y="2057400"/>
            <a:ext cx="7772400" cy="396240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400" dirty="0"/>
              <a:t>(Goal-based) Dialog agents</a:t>
            </a:r>
          </a:p>
          <a:p>
            <a:pPr marL="457200" lvl="1" indent="0">
              <a:buNone/>
            </a:pPr>
            <a:r>
              <a:rPr lang="en-US" sz="3600" i="1" dirty="0"/>
              <a:t>SIRI, interfaces to cars, robots,</a:t>
            </a:r>
          </a:p>
          <a:p>
            <a:pPr marL="457200" lvl="1" indent="0">
              <a:buNone/>
            </a:pPr>
            <a:r>
              <a:rPr lang="en-US" sz="3600" i="1" dirty="0"/>
              <a:t>booking flights or restaurants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/>
              <a:t>(No goal) Chatbots</a:t>
            </a:r>
          </a:p>
          <a:p>
            <a:pPr marL="319088" lvl="1" indent="0">
              <a:buNone/>
            </a:pPr>
            <a:r>
              <a:rPr lang="en-US" sz="4400" i="1" dirty="0"/>
              <a:t>	</a:t>
            </a:r>
            <a:endParaRPr lang="en-US" sz="4000" i="1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5435025"/>
            <a:ext cx="10330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 charset="0"/>
                <a:ea typeface="Calibri" charset="0"/>
                <a:cs typeface="Calibri" charset="0"/>
              </a:rPr>
              <a:t>The rise of instruction models have blurred this distinction!</a:t>
            </a:r>
          </a:p>
        </p:txBody>
      </p:sp>
    </p:spTree>
    <p:extLst>
      <p:ext uri="{BB962C8B-B14F-4D97-AF65-F5344CB8AC3E}">
        <p14:creationId xmlns:p14="http://schemas.microsoft.com/office/powerpoint/2010/main" val="3993125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Frame-based dialog agents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09800" y="1600200"/>
            <a:ext cx="7924800" cy="4572000"/>
          </a:xfrm>
        </p:spPr>
        <p:txBody>
          <a:bodyPr/>
          <a:lstStyle/>
          <a:p>
            <a:r>
              <a:rPr lang="en-US" sz="3200" dirty="0"/>
              <a:t>Sometimes called "task-based dialog agents"</a:t>
            </a:r>
          </a:p>
          <a:p>
            <a:r>
              <a:rPr lang="en-US" sz="3200" dirty="0"/>
              <a:t>Based on a "domain ontology"</a:t>
            </a:r>
          </a:p>
          <a:p>
            <a:pPr lvl="1"/>
            <a:r>
              <a:rPr lang="en-US" sz="2800" dirty="0"/>
              <a:t>A knowledge structure representing user intentions</a:t>
            </a:r>
          </a:p>
          <a:p>
            <a:pPr lvl="1"/>
            <a:endParaRPr lang="en-US" sz="3200" dirty="0"/>
          </a:p>
          <a:p>
            <a:r>
              <a:rPr lang="en-US" sz="3200" dirty="0"/>
              <a:t>One or more </a:t>
            </a:r>
            <a:r>
              <a:rPr lang="en-US" sz="3200" b="1" dirty="0"/>
              <a:t>frames</a:t>
            </a:r>
            <a:endParaRPr lang="en-US" sz="3200" dirty="0"/>
          </a:p>
          <a:p>
            <a:pPr lvl="1"/>
            <a:r>
              <a:rPr lang="en-US" sz="3200" dirty="0"/>
              <a:t>Each a collection of </a:t>
            </a:r>
            <a:r>
              <a:rPr lang="en-US" sz="3200" b="1" dirty="0"/>
              <a:t>slots</a:t>
            </a:r>
          </a:p>
          <a:p>
            <a:pPr lvl="1"/>
            <a:r>
              <a:rPr lang="en-US" sz="3200" dirty="0"/>
              <a:t>Each slot having a </a:t>
            </a:r>
            <a:r>
              <a:rPr lang="en-US" sz="3200" b="1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707162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Breakdown of the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Domain classification</a:t>
            </a:r>
          </a:p>
          <a:p>
            <a:pPr marL="274638" lvl="1" indent="0">
              <a:buNone/>
            </a:pPr>
            <a:r>
              <a:rPr lang="en-US" sz="3200" dirty="0"/>
              <a:t>Asking weather? Booking a flight? Programming alarm clock?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Intent Determination</a:t>
            </a:r>
          </a:p>
          <a:p>
            <a:pPr marL="274638" lvl="1" indent="0">
              <a:buNone/>
            </a:pPr>
            <a:r>
              <a:rPr lang="en-US" sz="3200" dirty="0"/>
              <a:t>Find a Movie, Show Flight, Remove Calendar </a:t>
            </a:r>
            <a:r>
              <a:rPr lang="en-US" sz="3200" dirty="0" err="1"/>
              <a:t>Appt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Slot Filling</a:t>
            </a:r>
          </a:p>
          <a:p>
            <a:pPr marL="274638" lvl="1" indent="0">
              <a:buNone/>
            </a:pPr>
            <a:r>
              <a:rPr lang="en-US" sz="3200" dirty="0"/>
              <a:t>Extract the actual slots and fillers</a:t>
            </a:r>
          </a:p>
        </p:txBody>
      </p:sp>
    </p:spTree>
    <p:extLst>
      <p:ext uri="{BB962C8B-B14F-4D97-AF65-F5344CB8AC3E}">
        <p14:creationId xmlns:p14="http://schemas.microsoft.com/office/powerpoint/2010/main" val="51145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Frame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81200" y="1447800"/>
            <a:ext cx="8229600" cy="5105400"/>
          </a:xfrm>
        </p:spPr>
        <p:txBody>
          <a:bodyPr/>
          <a:lstStyle/>
          <a:p>
            <a:r>
              <a:rPr lang="en-US" dirty="0"/>
              <a:t>A set of </a:t>
            </a:r>
            <a:r>
              <a:rPr lang="en-US" b="1" dirty="0"/>
              <a:t>slots</a:t>
            </a:r>
            <a:r>
              <a:rPr lang="en-US" dirty="0"/>
              <a:t>, to be filled with information of a given </a:t>
            </a:r>
            <a:r>
              <a:rPr lang="en-US" b="1" dirty="0"/>
              <a:t>type</a:t>
            </a:r>
          </a:p>
          <a:p>
            <a:r>
              <a:rPr lang="en-US" dirty="0"/>
              <a:t>Each associated with a </a:t>
            </a:r>
            <a:r>
              <a:rPr lang="en-US" b="1" dirty="0"/>
              <a:t>question</a:t>
            </a:r>
            <a:r>
              <a:rPr lang="en-US" dirty="0"/>
              <a:t> to the user</a:t>
            </a:r>
          </a:p>
          <a:p>
            <a:endParaRPr lang="en-US" dirty="0"/>
          </a:p>
          <a:p>
            <a:pPr marL="319088" lvl="1" indent="0">
              <a:buNone/>
            </a:pPr>
            <a:r>
              <a:rPr lang="en-US" sz="2800" b="1" dirty="0">
                <a:solidFill>
                  <a:srgbClr val="008000"/>
                </a:solidFill>
              </a:rPr>
              <a:t>Slot		Type	Question</a:t>
            </a:r>
          </a:p>
          <a:p>
            <a:pPr marL="319088" lvl="1" indent="0">
              <a:buNone/>
            </a:pPr>
            <a:r>
              <a:rPr lang="en-US" sz="2800" dirty="0">
                <a:solidFill>
                  <a:srgbClr val="008000"/>
                </a:solidFill>
              </a:rPr>
              <a:t>ORIGIN	city	What city are you leaving from?</a:t>
            </a:r>
          </a:p>
          <a:p>
            <a:pPr marL="319088" lvl="1" indent="0">
              <a:buNone/>
            </a:pPr>
            <a:r>
              <a:rPr lang="en-US" sz="2800" dirty="0">
                <a:solidFill>
                  <a:srgbClr val="008000"/>
                </a:solidFill>
              </a:rPr>
              <a:t>DEST	city	Where are you going?</a:t>
            </a:r>
          </a:p>
          <a:p>
            <a:pPr marL="319088" lvl="1" indent="0">
              <a:buNone/>
            </a:pPr>
            <a:r>
              <a:rPr lang="en-US" sz="2800" dirty="0">
                <a:solidFill>
                  <a:srgbClr val="008000"/>
                </a:solidFill>
              </a:rPr>
              <a:t>DEP DATE date	What day would you like to leave?</a:t>
            </a:r>
          </a:p>
          <a:p>
            <a:pPr marL="319088" lvl="1" indent="0">
              <a:buNone/>
            </a:pPr>
            <a:r>
              <a:rPr lang="en-US" sz="2800" dirty="0">
                <a:solidFill>
                  <a:srgbClr val="008000"/>
                </a:solidFill>
              </a:rPr>
              <a:t>DEP TIME time	What time would you like to leave?</a:t>
            </a:r>
          </a:p>
          <a:p>
            <a:pPr marL="319088" lvl="1" indent="0">
              <a:buNone/>
            </a:pPr>
            <a:r>
              <a:rPr lang="en-US" sz="2800" dirty="0">
                <a:solidFill>
                  <a:srgbClr val="008000"/>
                </a:solidFill>
              </a:rPr>
              <a:t>AIRLINE	line	What is your preferred airline?</a:t>
            </a:r>
          </a:p>
        </p:txBody>
      </p:sp>
    </p:spTree>
    <p:extLst>
      <p:ext uri="{BB962C8B-B14F-4D97-AF65-F5344CB8AC3E}">
        <p14:creationId xmlns:p14="http://schemas.microsoft.com/office/powerpoint/2010/main" val="577713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Frame-based dialogue agents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057400" y="1828800"/>
            <a:ext cx="8153400" cy="4724400"/>
          </a:xfrm>
        </p:spPr>
        <p:txBody>
          <a:bodyPr/>
          <a:lstStyle/>
          <a:p>
            <a:r>
              <a:rPr lang="en-US" sz="4000" dirty="0"/>
              <a:t>1977: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r>
              <a:rPr lang="en-US" sz="4000" dirty="0"/>
              <a:t>Still the industrial state of the art</a:t>
            </a:r>
          </a:p>
          <a:p>
            <a:pPr lvl="1"/>
            <a:r>
              <a:rPr lang="en-US" sz="3800" dirty="0"/>
              <a:t>SIRI based on GUS architecture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0836" y="2602246"/>
            <a:ext cx="6127528" cy="18986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38600" y="4706497"/>
            <a:ext cx="3853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Artificial Intelligence Journal, 1977</a:t>
            </a:r>
          </a:p>
        </p:txBody>
      </p:sp>
    </p:spTree>
    <p:extLst>
      <p:ext uri="{BB962C8B-B14F-4D97-AF65-F5344CB8AC3E}">
        <p14:creationId xmlns:p14="http://schemas.microsoft.com/office/powerpoint/2010/main" val="3023386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24001" y="274640"/>
            <a:ext cx="9256975" cy="6106257"/>
          </a:xfrm>
        </p:spPr>
      </p:pic>
      <p:sp>
        <p:nvSpPr>
          <p:cNvPr id="7" name="TextBox 6"/>
          <p:cNvSpPr txBox="1"/>
          <p:nvPr/>
        </p:nvSpPr>
        <p:spPr>
          <a:xfrm>
            <a:off x="7848600" y="533401"/>
            <a:ext cx="289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The state of the art in 1977 !!!!</a:t>
            </a:r>
          </a:p>
        </p:txBody>
      </p:sp>
    </p:spTree>
    <p:extLst>
      <p:ext uri="{BB962C8B-B14F-4D97-AF65-F5344CB8AC3E}">
        <p14:creationId xmlns:p14="http://schemas.microsoft.com/office/powerpoint/2010/main" val="767963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274640"/>
            <a:ext cx="7772400" cy="868361"/>
          </a:xfrm>
        </p:spPr>
        <p:txBody>
          <a:bodyPr/>
          <a:lstStyle/>
          <a:p>
            <a:r>
              <a:rPr lang="en-US" dirty="0"/>
              <a:t>Frames are mixed-initiative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09800" y="1447800"/>
            <a:ext cx="8001000" cy="4572000"/>
          </a:xfrm>
        </p:spPr>
        <p:txBody>
          <a:bodyPr/>
          <a:lstStyle/>
          <a:p>
            <a:r>
              <a:rPr lang="en-US" sz="3600" dirty="0"/>
              <a:t>System asks questions of user, filling any slots that user specifies</a:t>
            </a:r>
          </a:p>
          <a:p>
            <a:pPr lvl="1"/>
            <a:r>
              <a:rPr lang="en-US" sz="3600" dirty="0"/>
              <a:t>When frame is filled, do database query</a:t>
            </a:r>
          </a:p>
          <a:p>
            <a:r>
              <a:rPr lang="en-US" sz="3600" dirty="0"/>
              <a:t>If user answers 3 questions at once, system can fill 3 slots and not ask these questions again!</a:t>
            </a:r>
          </a:p>
        </p:txBody>
      </p:sp>
    </p:spTree>
    <p:extLst>
      <p:ext uri="{BB962C8B-B14F-4D97-AF65-F5344CB8AC3E}">
        <p14:creationId xmlns:p14="http://schemas.microsoft.com/office/powerpoint/2010/main" val="3438333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Understanding for filling slots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438400" y="1676400"/>
            <a:ext cx="7772400" cy="457200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Courier" charset="0"/>
                <a:ea typeface="Courier" charset="0"/>
                <a:cs typeface="Courier" charset="0"/>
              </a:rPr>
              <a:t>Show me morning flights from Boston to SF on Tuesday.</a:t>
            </a:r>
          </a:p>
          <a:p>
            <a:pPr marL="0" indent="0">
              <a:buNone/>
            </a:pP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0" y="3238500"/>
            <a:ext cx="55626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753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Understanding for </a:t>
            </a:r>
            <a:r>
              <a:rPr lang="en-US"/>
              <a:t>filling slots</a:t>
            </a: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438400" y="1676400"/>
            <a:ext cx="7772400" cy="457200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Courier" charset="0"/>
                <a:ea typeface="Courier" charset="0"/>
                <a:cs typeface="Courier" charset="0"/>
              </a:rPr>
              <a:t>Wake me tomorrow at six.</a:t>
            </a:r>
          </a:p>
          <a:p>
            <a:pPr marL="0" indent="0">
              <a:buNone/>
            </a:pP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1" y="3505201"/>
            <a:ext cx="7056119" cy="160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62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74639"/>
            <a:ext cx="8610600" cy="1143000"/>
          </a:xfrm>
        </p:spPr>
        <p:txBody>
          <a:bodyPr/>
          <a:lstStyle/>
          <a:p>
            <a:r>
              <a:rPr lang="en-US" sz="3600" dirty="0"/>
              <a:t>Machine learning for slot-filling: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057400" y="1981200"/>
            <a:ext cx="8610600" cy="4038600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Machine learning classifiers to map words to semantic frame-fillers</a:t>
            </a:r>
          </a:p>
          <a:p>
            <a:r>
              <a:rPr lang="en-US" sz="3200" dirty="0"/>
              <a:t>Given a set of labeled sentences</a:t>
            </a:r>
          </a:p>
          <a:p>
            <a:pPr marL="319088" lvl="1" indent="0">
              <a:buNone/>
            </a:pPr>
            <a:r>
              <a:rPr lang="en-US" sz="3200" dirty="0">
                <a:latin typeface="Courier" charset="0"/>
                <a:ea typeface="Courier" charset="0"/>
                <a:cs typeface="Courier" charset="0"/>
              </a:rPr>
              <a:t>“I want to fly to San Francisco on Tuesday”</a:t>
            </a:r>
          </a:p>
          <a:p>
            <a:pPr marL="593725" lvl="2" indent="0">
              <a:buNone/>
            </a:pPr>
            <a:r>
              <a:rPr lang="en-US" sz="2800" dirty="0">
                <a:latin typeface="Courier" charset="0"/>
                <a:ea typeface="Courier" charset="0"/>
                <a:cs typeface="Courier" charset="0"/>
              </a:rPr>
              <a:t>Destination: SF</a:t>
            </a:r>
          </a:p>
          <a:p>
            <a:pPr marL="593725" lvl="2" indent="0">
              <a:buNone/>
            </a:pPr>
            <a:r>
              <a:rPr lang="en-US" sz="2800" dirty="0">
                <a:latin typeface="Courier" charset="0"/>
                <a:ea typeface="Courier" charset="0"/>
                <a:cs typeface="Courier" charset="0"/>
              </a:rPr>
              <a:t>Depart-date: Tuesday</a:t>
            </a:r>
          </a:p>
          <a:p>
            <a:pPr lvl="1"/>
            <a:r>
              <a:rPr lang="en-US" sz="3200" dirty="0"/>
              <a:t>Build a classifier to map from one to the author</a:t>
            </a:r>
          </a:p>
          <a:p>
            <a:r>
              <a:rPr lang="en-US" sz="3200" dirty="0"/>
              <a:t>Requirements: Lots of labeled data</a:t>
            </a:r>
          </a:p>
        </p:txBody>
      </p:sp>
    </p:spTree>
    <p:extLst>
      <p:ext uri="{BB962C8B-B14F-4D97-AF65-F5344CB8AC3E}">
        <p14:creationId xmlns:p14="http://schemas.microsoft.com/office/powerpoint/2010/main" val="651576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74640"/>
            <a:ext cx="7772400" cy="944561"/>
          </a:xfrm>
        </p:spPr>
        <p:txBody>
          <a:bodyPr>
            <a:normAutofit fontScale="90000"/>
          </a:bodyPr>
          <a:lstStyle/>
          <a:p>
            <a:r>
              <a:rPr lang="en-US" dirty="0"/>
              <a:t>Machine learning for slot-filling:</a:t>
            </a:r>
            <a:br>
              <a:rPr lang="en-US" dirty="0"/>
            </a:br>
            <a:r>
              <a:rPr lang="en-US" dirty="0"/>
              <a:t>Slot </a:t>
            </a:r>
            <a:r>
              <a:rPr lang="en-US" u="sng" dirty="0"/>
              <a:t>presence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1676400"/>
            <a:ext cx="7772400" cy="43434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I want to fly to San Francisco on Monday afternoon please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Use 1-of-N classifier (naive </a:t>
            </a:r>
            <a:r>
              <a:rPr lang="en-US" dirty="0" err="1"/>
              <a:t>bayes</a:t>
            </a:r>
            <a:r>
              <a:rPr lang="en-US" dirty="0"/>
              <a:t>, logistic regression, neural network, etc.) </a:t>
            </a:r>
          </a:p>
          <a:p>
            <a:pPr lvl="1"/>
            <a:r>
              <a:rPr lang="en-US" sz="2800" dirty="0"/>
              <a:t>Input: </a:t>
            </a:r>
          </a:p>
          <a:p>
            <a:pPr marL="593725" lvl="2" indent="0">
              <a:buNone/>
            </a:pPr>
            <a:r>
              <a:rPr lang="en-US" sz="2400" dirty="0"/>
              <a:t>features like word N-grams, gazetteers (lists of cities)</a:t>
            </a:r>
          </a:p>
          <a:p>
            <a:pPr lvl="1"/>
            <a:r>
              <a:rPr lang="en-US" sz="2800" dirty="0"/>
              <a:t>Output: </a:t>
            </a:r>
          </a:p>
          <a:p>
            <a:pPr marL="593725" lvl="2" indent="0">
              <a:buNone/>
            </a:pPr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Destination-City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709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74640"/>
            <a:ext cx="7772400" cy="944561"/>
          </a:xfrm>
        </p:spPr>
        <p:txBody>
          <a:bodyPr>
            <a:normAutofit fontScale="90000"/>
          </a:bodyPr>
          <a:lstStyle/>
          <a:p>
            <a:r>
              <a:rPr lang="en-US" dirty="0"/>
              <a:t>Machine learning for slot-filling:</a:t>
            </a:r>
            <a:br>
              <a:rPr lang="en-US" dirty="0"/>
            </a:br>
            <a:r>
              <a:rPr lang="en-US" dirty="0"/>
              <a:t>Slot </a:t>
            </a:r>
            <a:r>
              <a:rPr lang="en-US" u="sng" dirty="0"/>
              <a:t>filler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1676400"/>
            <a:ext cx="7772400" cy="43434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I want to fly to San Francisco on Monday afternoon please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Use 1-of-N classifier (naive </a:t>
            </a:r>
            <a:r>
              <a:rPr lang="en-US" dirty="0" err="1"/>
              <a:t>bayes</a:t>
            </a:r>
            <a:r>
              <a:rPr lang="en-US" dirty="0"/>
              <a:t>, logistic regression, neural network, etc.) for Destination City</a:t>
            </a:r>
          </a:p>
          <a:p>
            <a:pPr lvl="1"/>
            <a:r>
              <a:rPr lang="en-US" sz="2800" dirty="0"/>
              <a:t>Input: </a:t>
            </a:r>
          </a:p>
          <a:p>
            <a:pPr marL="593725" lvl="2" indent="0">
              <a:buNone/>
            </a:pPr>
            <a:r>
              <a:rPr lang="en-US" sz="2400" dirty="0"/>
              <a:t>features like word N-grams, gazetteers (lists of cities)</a:t>
            </a:r>
          </a:p>
          <a:p>
            <a:pPr lvl="1"/>
            <a:r>
              <a:rPr lang="en-US" sz="2800" dirty="0"/>
              <a:t>Output: </a:t>
            </a:r>
          </a:p>
          <a:p>
            <a:pPr marL="593725" lvl="2" indent="0">
              <a:buNone/>
            </a:pPr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San Francisco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613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slot filling: IOB Tagging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3600" y="5181601"/>
            <a:ext cx="7722870" cy="57979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8379F0-B3A3-3745-B5DE-9D823B99B65C}"/>
              </a:ext>
            </a:extLst>
          </p:cNvPr>
          <p:cNvSpPr txBox="1"/>
          <p:nvPr/>
        </p:nvSpPr>
        <p:spPr>
          <a:xfrm>
            <a:off x="2210987" y="1653016"/>
            <a:ext cx="7971413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IOB Tagging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tag for the beginning (B) and inside (I) of each slot label,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plus one for tokens outside (O) any slot label.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2</a:t>
            </a:r>
            <a:r>
              <a:rPr lang="en-US" sz="2400" i="1" dirty="0"/>
              <a:t>n </a:t>
            </a:r>
            <a:r>
              <a:rPr lang="en-US" sz="2400" dirty="0"/>
              <a:t>+ 1 tags, where </a:t>
            </a:r>
            <a:r>
              <a:rPr lang="en-US" sz="2400" i="1" dirty="0"/>
              <a:t>n </a:t>
            </a:r>
            <a:r>
              <a:rPr lang="en-US" sz="2400" dirty="0"/>
              <a:t>is the number of slots. </a:t>
            </a:r>
          </a:p>
          <a:p>
            <a:endParaRPr lang="en-US" dirty="0"/>
          </a:p>
          <a:p>
            <a:r>
              <a:rPr lang="en-US" dirty="0"/>
              <a:t>B-DESTINASTION</a:t>
            </a:r>
          </a:p>
          <a:p>
            <a:r>
              <a:rPr lang="en-US" dirty="0"/>
              <a:t>I-DESTINATION</a:t>
            </a:r>
          </a:p>
          <a:p>
            <a:r>
              <a:rPr lang="en-US" dirty="0"/>
              <a:t>B-DEPART_TIME</a:t>
            </a:r>
          </a:p>
          <a:p>
            <a:r>
              <a:rPr lang="en-US" dirty="0"/>
              <a:t>I-DEPART_TIME</a:t>
            </a:r>
          </a:p>
          <a:p>
            <a:r>
              <a:rPr lang="en-US" dirty="0"/>
              <a:t>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777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Afor slot filling: IOB Tagging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B1EB6-6AB8-6D4D-BD47-0B41FB10E74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IOB Tagging is done by a sequence model (was LSTM, now Transformer)</a:t>
            </a:r>
          </a:p>
          <a:p>
            <a:r>
              <a:rPr lang="en-US" dirty="0"/>
              <a:t>Typical: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Extracted strings can then be normalized (San Fran-&gt;SFO)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4725B-9471-D34D-A1C6-AB2E7A9CB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1" y="2590800"/>
            <a:ext cx="7933433" cy="29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07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0BBDD-39C2-7B47-9090-893BE7D0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GUS: Still pretty passive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70F87-7523-A84F-9E30-9AA8C8792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GUS wants to fill slots</a:t>
            </a:r>
          </a:p>
          <a:p>
            <a:r>
              <a:rPr lang="en-US" dirty="0"/>
              <a:t>What if you stop filling slots and try to ask a question?</a:t>
            </a:r>
          </a:p>
        </p:txBody>
      </p:sp>
    </p:spTree>
    <p:extLst>
      <p:ext uri="{BB962C8B-B14F-4D97-AF65-F5344CB8AC3E}">
        <p14:creationId xmlns:p14="http://schemas.microsoft.com/office/powerpoint/2010/main" val="345811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5D23D3-BB4A-C94A-B821-6174D7DE5D4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33" y="0"/>
            <a:ext cx="386366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230957-66FF-984C-BF3E-58584148C49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0278" y="0"/>
            <a:ext cx="3863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1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905743-59C8-9C47-8829-BC932CB315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7842" y="0"/>
            <a:ext cx="386366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9C3EFD-6D8B-3B4F-9611-3F129415E3B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4351" y="0"/>
            <a:ext cx="3863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5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905743-59C8-9C47-8829-BC932CB315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7842" y="0"/>
            <a:ext cx="386366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83E7EF-F09A-0B46-97FB-AB72167E863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242" y="0"/>
            <a:ext cx="3863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8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E54035-6EF0-5A43-99B0-C31B2E7E9D4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9577" y="0"/>
            <a:ext cx="386366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3A1712-8E75-99E7-62E8-F93A85106605}"/>
              </a:ext>
            </a:extLst>
          </p:cNvPr>
          <p:cNvSpPr txBox="1"/>
          <p:nvPr/>
        </p:nvSpPr>
        <p:spPr>
          <a:xfrm>
            <a:off x="8671034" y="1135118"/>
            <a:ext cx="2680138" cy="153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2020 for update: this failure case no longer works!
Once again, AI breaks all demos.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B4515-6AA5-0B30-370B-984295B23120}"/>
              </a:ext>
            </a:extLst>
          </p:cNvPr>
          <p:cNvSpPr txBox="1"/>
          <p:nvPr/>
        </p:nvSpPr>
        <p:spPr>
          <a:xfrm>
            <a:off x="8671034" y="3429000"/>
            <a:ext cx="2375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But at least the Apple speech to text has a good failure example for me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D999C20-36FF-E001-425F-E2B3B3457891}"/>
              </a:ext>
            </a:extLst>
          </p:cNvPr>
          <p:cNvCxnSpPr/>
          <p:nvPr/>
        </p:nvCxnSpPr>
        <p:spPr>
          <a:xfrm flipH="1" flipV="1">
            <a:off x="9207062" y="1460938"/>
            <a:ext cx="241738" cy="19680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61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0BBDD-39C2-7B47-9090-893BE7D0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GUS: Still pretty passive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70F87-7523-A84F-9E30-9AA8C8792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GUS wants to fill slots</a:t>
            </a:r>
          </a:p>
          <a:p>
            <a:r>
              <a:rPr lang="en-US" dirty="0"/>
              <a:t>What if you stop filling slots and try to ask a question?</a:t>
            </a:r>
          </a:p>
          <a:p>
            <a:r>
              <a:rPr lang="en-US" dirty="0"/>
              <a:t>What's going wrong?</a:t>
            </a:r>
          </a:p>
          <a:p>
            <a:r>
              <a:rPr lang="en-US" dirty="0"/>
              <a:t>GUS (</a:t>
            </a:r>
            <a:r>
              <a:rPr lang="en-US" dirty="0" err="1"/>
              <a:t>siri</a:t>
            </a:r>
            <a:r>
              <a:rPr lang="en-US" dirty="0"/>
              <a:t>) doesn't have any real idea of my intents!</a:t>
            </a:r>
          </a:p>
        </p:txBody>
      </p:sp>
    </p:spTree>
    <p:extLst>
      <p:ext uri="{BB962C8B-B14F-4D97-AF65-F5344CB8AC3E}">
        <p14:creationId xmlns:p14="http://schemas.microsoft.com/office/powerpoint/2010/main" val="364045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DE094-7291-424D-B5E1-AB0B60261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Dialog-State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9D701-6663-AB48-AB89-35DCEC763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Like GUS:</a:t>
            </a:r>
          </a:p>
          <a:p>
            <a:pPr lvl="1"/>
            <a:r>
              <a:rPr lang="en-US" dirty="0"/>
              <a:t>Fill in slots</a:t>
            </a:r>
          </a:p>
          <a:p>
            <a:pPr lvl="1"/>
            <a:r>
              <a:rPr lang="en-US" dirty="0"/>
              <a:t>NLU to parse user utterances</a:t>
            </a:r>
          </a:p>
          <a:p>
            <a:r>
              <a:rPr lang="en-US" dirty="0"/>
              <a:t>Unlike GUS:</a:t>
            </a:r>
          </a:p>
          <a:p>
            <a:pPr lvl="1"/>
            <a:r>
              <a:rPr lang="en-US" dirty="0"/>
              <a:t>Keep track of what the user is doing beyond providing information</a:t>
            </a:r>
          </a:p>
          <a:p>
            <a:pPr lvl="2"/>
            <a:r>
              <a:rPr lang="en-US" dirty="0"/>
              <a:t>Asking a question</a:t>
            </a:r>
          </a:p>
          <a:p>
            <a:pPr lvl="2"/>
            <a:r>
              <a:rPr lang="en-US" dirty="0"/>
              <a:t>Talking to someone else</a:t>
            </a:r>
          </a:p>
          <a:p>
            <a:pPr lvl="1"/>
            <a:r>
              <a:rPr lang="en-US" dirty="0"/>
              <a:t>Understand the discourse context</a:t>
            </a:r>
          </a:p>
          <a:p>
            <a:pPr lvl="2"/>
            <a:r>
              <a:rPr lang="en-US" dirty="0"/>
              <a:t>Requires keeping track of what happened in the past</a:t>
            </a:r>
          </a:p>
          <a:p>
            <a:pPr lvl="1"/>
            <a:r>
              <a:rPr lang="en-US" dirty="0"/>
              <a:t>Two New Components</a:t>
            </a:r>
          </a:p>
          <a:p>
            <a:pPr lvl="2"/>
            <a:r>
              <a:rPr lang="en-US" dirty="0"/>
              <a:t>Dialog State Tracker</a:t>
            </a:r>
          </a:p>
          <a:p>
            <a:pPr lvl="2"/>
            <a:r>
              <a:rPr lang="en-US" dirty="0"/>
              <a:t>Dialog Policy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588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2F09-49F1-E945-A57B-8036CAD9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591D6A-0B30-534B-BD8F-699CB98B7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067" y="1166830"/>
            <a:ext cx="8251866" cy="520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26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64FCC-D07D-E143-9192-67580F3A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Dialog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099FE-152F-AA43-BAA8-8BD49CB2C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state and the acts, what should happen next</a:t>
            </a:r>
          </a:p>
          <a:p>
            <a:r>
              <a:rPr lang="en-US" dirty="0"/>
              <a:t>E.g. during email composition:</a:t>
            </a:r>
          </a:p>
          <a:p>
            <a:pPr lvl="1"/>
            <a:r>
              <a:rPr lang="en-US" dirty="0"/>
              <a:t>Sudden question with high intonation? Interpret as command</a:t>
            </a:r>
          </a:p>
          <a:p>
            <a:pPr lvl="1"/>
            <a:r>
              <a:rPr lang="en-US" dirty="0"/>
              <a:t>Otherwise, interpret as text</a:t>
            </a:r>
          </a:p>
        </p:txBody>
      </p:sp>
    </p:spTree>
    <p:extLst>
      <p:ext uri="{BB962C8B-B14F-4D97-AF65-F5344CB8AC3E}">
        <p14:creationId xmlns:p14="http://schemas.microsoft.com/office/powerpoint/2010/main" val="2281952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1198A-88E7-6545-AFA5-1C387935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Dialog 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1FC19-EED9-5C4E-AF25-F491E9892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each line in a dialogue to be a kind of action</a:t>
            </a:r>
          </a:p>
          <a:p>
            <a:r>
              <a:rPr lang="en-US" dirty="0"/>
              <a:t>Just like in an FSA, then, dialog states are the states reached by following dialog act(ion)s.</a:t>
            </a:r>
          </a:p>
          <a:p>
            <a:r>
              <a:rPr lang="en-US" dirty="0"/>
              <a:t>What are the kinds of dialog acts?</a:t>
            </a:r>
          </a:p>
          <a:p>
            <a:r>
              <a:rPr lang="en-US" dirty="0"/>
              <a:t>How do we classify dialog lines into acts?</a:t>
            </a:r>
          </a:p>
        </p:txBody>
      </p:sp>
    </p:spTree>
    <p:extLst>
      <p:ext uri="{BB962C8B-B14F-4D97-AF65-F5344CB8AC3E}">
        <p14:creationId xmlns:p14="http://schemas.microsoft.com/office/powerpoint/2010/main" val="501037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BBBC9-B999-744F-B547-10CD258A8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Domain-Focused fine-grained acts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34FE54-EF60-5144-9F91-3903328DB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086" y="1690688"/>
            <a:ext cx="9159828" cy="386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510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6B78-56D3-E243-B949-6CCE8B018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A1DCA-31FF-3F46-B936-FD77E9D6F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019" y="2177471"/>
            <a:ext cx="9456882" cy="411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71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3C25-0903-DE4F-B211-AA5D8303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This Done?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DD4B4-4D13-624A-AD0C-82B876824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r>
              <a:rPr lang="en-US" dirty="0"/>
              <a:t>Need to identify speech act, then need to find slot-values.</a:t>
            </a:r>
          </a:p>
          <a:p>
            <a:r>
              <a:rPr lang="en-US" dirty="0"/>
              <a:t>Typically all done at once, in joint state/act-finding procedure: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D0A70F-C02F-4D4F-AED8-5F0A638CD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099215"/>
              </p:ext>
            </p:extLst>
          </p:nvPr>
        </p:nvGraphicFramePr>
        <p:xfrm>
          <a:off x="1672403" y="3092996"/>
          <a:ext cx="950588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177">
                  <a:extLst>
                    <a:ext uri="{9D8B030D-6E8A-4147-A177-3AD203B41FA5}">
                      <a16:colId xmlns:a16="http://schemas.microsoft.com/office/drawing/2014/main" val="571914074"/>
                    </a:ext>
                  </a:extLst>
                </a:gridCol>
                <a:gridCol w="3697235">
                  <a:extLst>
                    <a:ext uri="{9D8B030D-6E8A-4147-A177-3AD203B41FA5}">
                      <a16:colId xmlns:a16="http://schemas.microsoft.com/office/drawing/2014/main" val="702640688"/>
                    </a:ext>
                  </a:extLst>
                </a:gridCol>
                <a:gridCol w="4664468">
                  <a:extLst>
                    <a:ext uri="{9D8B030D-6E8A-4147-A177-3AD203B41FA5}">
                      <a16:colId xmlns:a16="http://schemas.microsoft.com/office/drawing/2014/main" val="280380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Act/State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94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I'm looking for a cheaper restaurant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INFORM(price=cheap)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526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Sure, What kind and where?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423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Thai food, somewhere downtown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INFORM(price=</a:t>
                      </a:r>
                      <a:r>
                        <a:rPr lang="en-US" dirty="0" err="1"/>
                        <a:t>cheap,food</a:t>
                      </a:r>
                      <a:r>
                        <a:rPr lang="en-US" dirty="0"/>
                        <a:t>=</a:t>
                      </a:r>
                      <a:r>
                        <a:rPr lang="en-US" dirty="0" err="1"/>
                        <a:t>Thai,area</a:t>
                      </a:r>
                      <a:r>
                        <a:rPr lang="en-US" dirty="0"/>
                        <a:t>=center)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360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House serves cheap Thai food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03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Where is it?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Inform(price=</a:t>
                      </a:r>
                      <a:r>
                        <a:rPr lang="en-US" dirty="0" err="1"/>
                        <a:t>cheap,food</a:t>
                      </a:r>
                      <a:r>
                        <a:rPr lang="en-US" dirty="0"/>
                        <a:t>=</a:t>
                      </a:r>
                      <a:r>
                        <a:rPr lang="en-US" dirty="0" err="1"/>
                        <a:t>Thai,area</a:t>
                      </a:r>
                      <a:r>
                        <a:rPr lang="en-US" dirty="0"/>
                        <a:t>=center); REQUEST(address)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83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House is at 106 Regent Street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820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C5DF97-BABC-384C-A9B6-3B8056D1DC8C}"/>
              </a:ext>
            </a:extLst>
          </p:cNvPr>
          <p:cNvSpPr txBox="1"/>
          <p:nvPr/>
        </p:nvSpPr>
        <p:spPr>
          <a:xfrm>
            <a:off x="256854" y="6390526"/>
            <a:ext cx="1984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Mrkšić</a:t>
            </a:r>
            <a:r>
              <a:rPr lang="en-US" dirty="0"/>
              <a:t> et al. 2017)</a:t>
            </a:r>
          </a:p>
        </p:txBody>
      </p:sp>
    </p:spTree>
    <p:extLst>
      <p:ext uri="{BB962C8B-B14F-4D97-AF65-F5344CB8AC3E}">
        <p14:creationId xmlns:p14="http://schemas.microsoft.com/office/powerpoint/2010/main" val="10272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AF42-4516-7245-A391-6D7ABB0CB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Clues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E907F4-054E-344C-A989-8EF25316B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268288"/>
              </p:ext>
            </p:extLst>
          </p:nvPr>
        </p:nvGraphicFramePr>
        <p:xfrm>
          <a:off x="1353334" y="1690688"/>
          <a:ext cx="9485331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0963">
                  <a:extLst>
                    <a:ext uri="{9D8B030D-6E8A-4147-A177-3AD203B41FA5}">
                      <a16:colId xmlns:a16="http://schemas.microsoft.com/office/drawing/2014/main" val="4232283471"/>
                    </a:ext>
                  </a:extLst>
                </a:gridCol>
                <a:gridCol w="1932591">
                  <a:extLst>
                    <a:ext uri="{9D8B030D-6E8A-4147-A177-3AD203B41FA5}">
                      <a16:colId xmlns:a16="http://schemas.microsoft.com/office/drawing/2014/main" val="3473944726"/>
                    </a:ext>
                  </a:extLst>
                </a:gridCol>
                <a:gridCol w="3161777">
                  <a:extLst>
                    <a:ext uri="{9D8B030D-6E8A-4147-A177-3AD203B41FA5}">
                      <a16:colId xmlns:a16="http://schemas.microsoft.com/office/drawing/2014/main" val="3428447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03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Will breakfast be served on Delta 1557?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YES-NO QUESTION 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Auxiliary ("will") precedes subject ("breakfast")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12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 don't care about lunch.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Declarative syntax (no inversion)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87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Show me flights from LA to 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subject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724709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A2A7D133-7F2A-5849-9980-E4AB29414B6D}"/>
              </a:ext>
            </a:extLst>
          </p:cNvPr>
          <p:cNvSpPr txBox="1">
            <a:spLocks/>
          </p:cNvSpPr>
          <p:nvPr/>
        </p:nvSpPr>
        <p:spPr>
          <a:xfrm>
            <a:off x="744020" y="38874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But...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ABBA53-12F2-3A41-9F1D-B4727F7CF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076252"/>
              </p:ext>
            </p:extLst>
          </p:nvPr>
        </p:nvGraphicFramePr>
        <p:xfrm>
          <a:off x="1353334" y="5027592"/>
          <a:ext cx="9485331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27030">
                  <a:extLst>
                    <a:ext uri="{9D8B030D-6E8A-4147-A177-3AD203B41FA5}">
                      <a16:colId xmlns:a16="http://schemas.microsoft.com/office/drawing/2014/main" val="390982381"/>
                    </a:ext>
                  </a:extLst>
                </a:gridCol>
                <a:gridCol w="1996524">
                  <a:extLst>
                    <a:ext uri="{9D8B030D-6E8A-4147-A177-3AD203B41FA5}">
                      <a16:colId xmlns:a16="http://schemas.microsoft.com/office/drawing/2014/main" val="3154796082"/>
                    </a:ext>
                  </a:extLst>
                </a:gridCol>
                <a:gridCol w="3161777">
                  <a:extLst>
                    <a:ext uri="{9D8B030D-6E8A-4147-A177-3AD203B41FA5}">
                      <a16:colId xmlns:a16="http://schemas.microsoft.com/office/drawing/2014/main" val="975707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Can you show me the flights from LA to SF?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YES-NO QUESTION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Prosody (if speech)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454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BC4532-9AAC-5542-BB4A-95C57FC28549}"/>
              </a:ext>
            </a:extLst>
          </p:cNvPr>
          <p:cNvSpPr txBox="1"/>
          <p:nvPr/>
        </p:nvSpPr>
        <p:spPr>
          <a:xfrm>
            <a:off x="6032449" y="5334943"/>
            <a:ext cx="127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C15347-1EB3-CA47-9473-3ED264050BB8}"/>
              </a:ext>
            </a:extLst>
          </p:cNvPr>
          <p:cNvGrpSpPr/>
          <p:nvPr/>
        </p:nvGrpSpPr>
        <p:grpSpPr>
          <a:xfrm>
            <a:off x="5524658" y="5000384"/>
            <a:ext cx="2003461" cy="425255"/>
            <a:chOff x="4705564" y="5027592"/>
            <a:chExt cx="2003461" cy="42525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672E443-EF91-1D48-9ECA-0E43394432C6}"/>
                </a:ext>
              </a:extLst>
            </p:cNvPr>
            <p:cNvCxnSpPr>
              <a:cxnSpLocks/>
            </p:cNvCxnSpPr>
            <p:nvPr/>
          </p:nvCxnSpPr>
          <p:spPr>
            <a:xfrm>
              <a:off x="4705564" y="5027592"/>
              <a:ext cx="2003461" cy="28481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538303A-5B76-304D-B523-0AD1EF3F5F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9402" y="5050084"/>
              <a:ext cx="1777429" cy="40276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683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AE47-CADC-6D49-A5C1-21CCE7211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It's Done (Neural Belief Tracker)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3EDBAC-3D8E-E14A-8698-FE25296E1046}"/>
              </a:ext>
            </a:extLst>
          </p:cNvPr>
          <p:cNvSpPr txBox="1"/>
          <p:nvPr/>
        </p:nvSpPr>
        <p:spPr>
          <a:xfrm>
            <a:off x="256854" y="6390526"/>
            <a:ext cx="1984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Mrkšić</a:t>
            </a:r>
            <a:r>
              <a:rPr lang="en-US" dirty="0"/>
              <a:t> et al. 2017)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45BF2-F3D6-E042-ACDA-B5B37665A8E5}"/>
              </a:ext>
            </a:extLst>
          </p:cNvPr>
          <p:cNvSpPr txBox="1"/>
          <p:nvPr/>
        </p:nvSpPr>
        <p:spPr>
          <a:xfrm>
            <a:off x="9532505" y="1651122"/>
            <a:ext cx="2421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fixed embeddings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E90563-97DD-CA46-BABF-838ED1A3E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360" y="2060291"/>
            <a:ext cx="8445394" cy="390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809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57080-A40C-D540-8A30-FB695CC16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Important Than Model: Data!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D28A8-0E4A-1841-BF17-173531BEE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DSTC2: Dialogue State Tracking Challenge 2</a:t>
            </a:r>
          </a:p>
          <a:p>
            <a:pPr lvl="1"/>
            <a:r>
              <a:rPr lang="en-US" dirty="0"/>
              <a:t>Transcriptions, ASR hypotheses, and turn-level labels from interactions with a virtual agent</a:t>
            </a:r>
          </a:p>
          <a:p>
            <a:pPr lvl="1"/>
            <a:r>
              <a:rPr lang="en-US" dirty="0"/>
              <a:t>3300+ dialogues about restaurant selection</a:t>
            </a:r>
          </a:p>
          <a:p>
            <a:pPr lvl="1"/>
            <a:r>
              <a:rPr lang="en-US" dirty="0"/>
              <a:t>Fixed Ontology of states</a:t>
            </a:r>
          </a:p>
          <a:p>
            <a:r>
              <a:rPr lang="en-US" dirty="0"/>
              <a:t>WOZ 2.0</a:t>
            </a:r>
          </a:p>
          <a:p>
            <a:pPr lvl="1"/>
            <a:r>
              <a:rPr lang="en-US" dirty="0"/>
              <a:t>Text archives of wizard-of-oz restaurant selection</a:t>
            </a:r>
          </a:p>
          <a:p>
            <a:pPr lvl="1"/>
            <a:r>
              <a:rPr lang="en-US" dirty="0"/>
              <a:t>No speech, so no </a:t>
            </a:r>
            <a:r>
              <a:rPr lang="en-US" dirty="0" err="1"/>
              <a:t>asr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More expressive communication</a:t>
            </a:r>
          </a:p>
          <a:p>
            <a:pPr lvl="1"/>
            <a:r>
              <a:rPr lang="en-US" dirty="0"/>
              <a:t>1200 dialogues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31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(from static corpus)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498035" y="1690688"/>
            <a:ext cx="7772400" cy="4038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Domain / intent classification accuracy (sentence level)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Slot identification – Macro F1 (span level)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Exact match of slots (and intent) (sentence level)</a:t>
            </a:r>
          </a:p>
          <a:p>
            <a:pPr marL="0" indent="0">
              <a:buNone/>
            </a:pPr>
            <a:r>
              <a:rPr lang="en-US" sz="3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89861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(from active interaction)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498035" y="1690688"/>
            <a:ext cx="7772400" cy="4038600"/>
          </a:xfrm>
        </p:spPr>
        <p:txBody>
          <a:bodyPr/>
          <a:lstStyle/>
          <a:p>
            <a:pPr marL="0" indent="0">
              <a:buNone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Slot Error Rate for a Sentence</a:t>
            </a:r>
          </a:p>
          <a:p>
            <a:pPr marL="0" indent="0">
              <a:buNone/>
            </a:pPr>
            <a:r>
              <a:rPr lang="en-US" sz="3200" dirty="0"/>
              <a:t>	# of inserted/deleted/</a:t>
            </a:r>
            <a:r>
              <a:rPr lang="en-US" sz="3200" dirty="0" err="1"/>
              <a:t>subsituted</a:t>
            </a:r>
            <a:r>
              <a:rPr lang="en-US" sz="3200" dirty="0"/>
              <a:t> slots</a:t>
            </a:r>
          </a:p>
          <a:p>
            <a:pPr marL="0" indent="0">
              <a:buNone/>
            </a:pPr>
            <a:r>
              <a:rPr lang="en-US" sz="3200" dirty="0"/>
              <a:t>          # of total reference slots for sentence</a:t>
            </a:r>
          </a:p>
          <a:p>
            <a:pPr marL="0" indent="0">
              <a:buNone/>
            </a:pPr>
            <a:endParaRPr lang="en-US" sz="3200" dirty="0"/>
          </a:p>
          <a:p>
            <a:pPr marL="514350" indent="-514350">
              <a:buFont typeface="+mj-lt"/>
              <a:buAutoNum type="arabicPeriod" startAt="2"/>
            </a:pPr>
            <a:r>
              <a:rPr lang="en-US" sz="3200" dirty="0"/>
              <a:t>End-to-end evaluation (Task Success): </a:t>
            </a:r>
            <a:br>
              <a:rPr lang="en-US" sz="3200" dirty="0"/>
            </a:br>
            <a:r>
              <a:rPr lang="en-US" sz="3200" dirty="0"/>
              <a:t># successful dialogues/# dialogues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415748" y="3322982"/>
            <a:ext cx="6324600" cy="0"/>
          </a:xfrm>
          <a:prstGeom prst="line">
            <a:avLst/>
          </a:prstGeom>
          <a:ln w="28575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168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6934200" cy="762000"/>
          </a:xfrm>
        </p:spPr>
        <p:txBody>
          <a:bodyPr/>
          <a:lstStyle/>
          <a:p>
            <a:pPr eaLnBrk="1" hangingPunct="1"/>
            <a:r>
              <a:rPr lang="en-US" dirty="0">
                <a:latin typeface="Verdana" charset="0"/>
                <a:ea typeface="ＭＳ Ｐゴシック" charset="0"/>
                <a:cs typeface="ＭＳ Ｐゴシック" charset="0"/>
              </a:rPr>
              <a:t>Evaluation Metrics</a:t>
            </a:r>
          </a:p>
        </p:txBody>
      </p:sp>
      <p:sp>
        <p:nvSpPr>
          <p:cNvPr id="139272" name="Rectangle 8"/>
          <p:cNvSpPr>
            <a:spLocks noChangeArrowheads="1"/>
          </p:cNvSpPr>
          <p:nvPr/>
        </p:nvSpPr>
        <p:spPr bwMode="auto">
          <a:xfrm>
            <a:off x="1828801" y="5257800"/>
            <a:ext cx="8382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bri"/>
                <a:cs typeface="Calibri"/>
              </a:rPr>
              <a:t>Slot error rate</a:t>
            </a:r>
            <a:r>
              <a:rPr lang="en-US" sz="3200" dirty="0">
                <a:latin typeface="Calibri"/>
                <a:cs typeface="Calibri"/>
              </a:rPr>
              <a:t>: 1/3</a:t>
            </a:r>
          </a:p>
          <a:p>
            <a:r>
              <a:rPr lang="en-US" sz="3200" b="1" dirty="0">
                <a:latin typeface="Calibri"/>
                <a:cs typeface="Calibri"/>
              </a:rPr>
              <a:t>Task success</a:t>
            </a:r>
            <a:r>
              <a:rPr lang="en-US" sz="3200" dirty="0">
                <a:latin typeface="Calibri"/>
                <a:cs typeface="Calibri"/>
              </a:rPr>
              <a:t>: At end, was the correct meeting added to the calendar?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32468" y="1295400"/>
            <a:ext cx="8449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“Make an appointment with Chris at 10:30 in Gates 104”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19400" y="2286000"/>
          <a:ext cx="6096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Calibri"/>
                          <a:cs typeface="Calibri"/>
                        </a:rPr>
                        <a:t>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Calibri"/>
                          <a:cs typeface="Calibri"/>
                        </a:rPr>
                        <a:t>Filler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Calibri"/>
                          <a:cs typeface="Calibri"/>
                        </a:rPr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Calibri"/>
                          <a:cs typeface="Calibri"/>
                        </a:rPr>
                        <a:t>Chris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Calibri"/>
                          <a:cs typeface="Calibri"/>
                        </a:rP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11:30 a.m.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Calibri"/>
                          <a:cs typeface="Calibri"/>
                        </a:rPr>
                        <a:t>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Calibri"/>
                          <a:cs typeface="Calibri"/>
                        </a:rPr>
                        <a:t>Gates 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185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E03F6-E03B-284B-9AF2-42AAC2691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from Neural Belief Tracker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6CE595-5293-8F4A-B9C9-3DDF78070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367" y="2369127"/>
            <a:ext cx="9796733" cy="19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53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597EE-307A-ED48-9A33-1A9E154A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Google Duplex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70F9D-7766-E342-93A0-81F9956FD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6251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Very realistic ASR</a:t>
            </a:r>
          </a:p>
          <a:p>
            <a:pPr lvl="1"/>
            <a:r>
              <a:rPr lang="en-US"/>
              <a:t>great speech synthesis</a:t>
            </a:r>
          </a:p>
          <a:p>
            <a:pPr lvl="1"/>
            <a:r>
              <a:rPr lang="en-US"/>
              <a:t>disfluencies in a lot of the right places</a:t>
            </a:r>
          </a:p>
          <a:p>
            <a:r>
              <a:rPr lang="en-US"/>
              <a:t>Task-oriented bot but flipped roles</a:t>
            </a:r>
          </a:p>
          <a:p>
            <a:pPr lvl="1"/>
            <a:r>
              <a:rPr lang="en-US"/>
              <a:t>you communicate with it via google assistant</a:t>
            </a:r>
          </a:p>
          <a:p>
            <a:pPr lvl="1"/>
            <a:r>
              <a:rPr lang="en-US"/>
              <a:t>duplex calls restaurants and provides info</a:t>
            </a:r>
          </a:p>
          <a:p>
            <a:r>
              <a:rPr lang="en-US"/>
              <a:t>Very narrow domain/intent space</a:t>
            </a:r>
          </a:p>
          <a:p>
            <a:pPr lvl="1"/>
            <a:r>
              <a:rPr lang="en-US"/>
              <a:t>only restaurants, only specific ones they’ve vetted</a:t>
            </a:r>
          </a:p>
          <a:p>
            <a:pPr lvl="1"/>
            <a:r>
              <a:rPr lang="en-US"/>
              <a:t>falls back to human 25% of the time</a:t>
            </a:r>
          </a:p>
          <a:p>
            <a:r>
              <a:rPr lang="en-US"/>
              <a:t>Lots of details not revealed</a:t>
            </a:r>
          </a:p>
          <a:p>
            <a:r>
              <a:rPr lang="en-US"/>
              <a:t>Used now as a call screener on android phones</a:t>
            </a:r>
          </a:p>
          <a:p>
            <a:r>
              <a:rPr lang="en-US"/>
              <a:t>A similar thing now exists on iOS 26+ (I haven’t gotten it to run but that’s probably not an nlp-specific issue)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A4FFDE-661E-5363-933F-C118B164B91D}"/>
              </a:ext>
            </a:extLst>
          </p:cNvPr>
          <p:cNvCxnSpPr/>
          <p:nvPr/>
        </p:nvCxnSpPr>
        <p:spPr>
          <a:xfrm flipV="1">
            <a:off x="504497" y="126124"/>
            <a:ext cx="3857296" cy="1828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1E52585-66BC-F251-5779-7B6CEC2F4388}"/>
              </a:ext>
            </a:extLst>
          </p:cNvPr>
          <p:cNvSpPr txBox="1"/>
          <p:nvPr/>
        </p:nvSpPr>
        <p:spPr>
          <a:xfrm>
            <a:off x="5065986" y="365125"/>
            <a:ext cx="5463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Deprecated 12/22 (“phone calls from google assistant”)</a:t>
            </a:r>
          </a:p>
        </p:txBody>
      </p:sp>
    </p:spTree>
    <p:extLst>
      <p:ext uri="{BB962C8B-B14F-4D97-AF65-F5344CB8AC3E}">
        <p14:creationId xmlns:p14="http://schemas.microsoft.com/office/powerpoint/2010/main" val="29479854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The World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438400" y="2057400"/>
            <a:ext cx="7772400" cy="396240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400" dirty="0"/>
              <a:t>(Goal-based) Dialog agents</a:t>
            </a:r>
          </a:p>
          <a:p>
            <a:pPr marL="457200" lvl="1" indent="0">
              <a:buNone/>
            </a:pPr>
            <a:r>
              <a:rPr lang="en-US" sz="3600" i="1" dirty="0"/>
              <a:t>SIRI, interfaces to cars, robots,</a:t>
            </a:r>
          </a:p>
          <a:p>
            <a:pPr marL="457200" lvl="1" indent="0">
              <a:buNone/>
            </a:pPr>
            <a:r>
              <a:rPr lang="en-US" sz="3600" i="1" dirty="0"/>
              <a:t>booking flights or restaurants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/>
              <a:t>(No goal) Chatbots</a:t>
            </a:r>
          </a:p>
          <a:p>
            <a:pPr marL="319088" lvl="1" indent="0">
              <a:buNone/>
            </a:pPr>
            <a:r>
              <a:rPr lang="en-US" sz="4400" i="1" dirty="0"/>
              <a:t>	</a:t>
            </a:r>
            <a:endParaRPr lang="en-US" sz="40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5525E-05ED-6B47-B8B7-E960101E9626}"/>
              </a:ext>
            </a:extLst>
          </p:cNvPr>
          <p:cNvSpPr txBox="1"/>
          <p:nvPr/>
        </p:nvSpPr>
        <p:spPr>
          <a:xfrm>
            <a:off x="8817797" y="3685571"/>
            <a:ext cx="695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Now!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33F6D60-CA15-6C45-8D1C-B6F4284E7FD2}"/>
              </a:ext>
            </a:extLst>
          </p:cNvPr>
          <p:cNvSpPr/>
          <p:nvPr/>
        </p:nvSpPr>
        <p:spPr>
          <a:xfrm rot="9485886">
            <a:off x="7655104" y="3849987"/>
            <a:ext cx="996593" cy="5946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828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510553" y="437271"/>
            <a:ext cx="9144000" cy="1777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Why is building a </a:t>
            </a:r>
            <a:r>
              <a:rPr lang="en-US" b="1" dirty="0" err="1"/>
              <a:t>chatbot</a:t>
            </a:r>
            <a:r>
              <a:rPr lang="en-US" b="1" dirty="0"/>
              <a:t> hard 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10553" y="2029853"/>
            <a:ext cx="8323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Computers need to </a:t>
            </a:r>
            <a:r>
              <a:rPr lang="en-US" sz="2800" b="1" dirty="0"/>
              <a:t>understand</a:t>
            </a:r>
            <a:r>
              <a:rPr lang="en-US" sz="2800" dirty="0"/>
              <a:t> what you ask.</a:t>
            </a:r>
          </a:p>
        </p:txBody>
      </p:sp>
    </p:spTree>
    <p:extLst>
      <p:ext uri="{BB962C8B-B14F-4D97-AF65-F5344CB8AC3E}">
        <p14:creationId xmlns:p14="http://schemas.microsoft.com/office/powerpoint/2010/main" val="40860127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0553" y="2029853"/>
            <a:ext cx="83237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Computers need to </a:t>
            </a:r>
            <a:r>
              <a:rPr lang="en-US" sz="2800" b="1" dirty="0"/>
              <a:t>understand</a:t>
            </a:r>
            <a:r>
              <a:rPr lang="en-US" sz="2800" dirty="0"/>
              <a:t> what you ask.</a:t>
            </a:r>
          </a:p>
          <a:p>
            <a:pPr marL="514350" indent="-514350">
              <a:buAutoNum type="arabicPeriod"/>
            </a:pPr>
            <a:r>
              <a:rPr lang="en-US" sz="2800" dirty="0"/>
              <a:t>Computers need to generate coherent, meaningful sequences in response to what you ask,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10553" y="437271"/>
            <a:ext cx="9144000" cy="1777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Why is building a </a:t>
            </a:r>
            <a:r>
              <a:rPr lang="en-US" b="1" dirty="0" err="1"/>
              <a:t>chatbot</a:t>
            </a:r>
            <a:r>
              <a:rPr lang="en-US" b="1" dirty="0"/>
              <a:t> hard ?</a:t>
            </a:r>
          </a:p>
        </p:txBody>
      </p:sp>
    </p:spTree>
    <p:extLst>
      <p:ext uri="{BB962C8B-B14F-4D97-AF65-F5344CB8AC3E}">
        <p14:creationId xmlns:p14="http://schemas.microsoft.com/office/powerpoint/2010/main" val="1881318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0553" y="2029853"/>
            <a:ext cx="83237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Computers need to </a:t>
            </a:r>
            <a:r>
              <a:rPr lang="en-US" sz="2800" b="1" dirty="0"/>
              <a:t>understand</a:t>
            </a:r>
            <a:r>
              <a:rPr lang="en-US" sz="2800" dirty="0"/>
              <a:t> what you ask.</a:t>
            </a:r>
          </a:p>
          <a:p>
            <a:pPr marL="514350" indent="-514350">
              <a:buAutoNum type="arabicPeriod"/>
            </a:pPr>
            <a:r>
              <a:rPr lang="en-US" sz="2800" dirty="0"/>
              <a:t>Computers need to generate coherent, meaningful sequences in response to what you ask, that require </a:t>
            </a:r>
            <a:r>
              <a:rPr lang="en-US" sz="2800" dirty="0">
                <a:solidFill>
                  <a:srgbClr val="FF0000"/>
                </a:solidFill>
              </a:rPr>
              <a:t>domain knowledge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00B050"/>
                </a:solidFill>
              </a:rPr>
              <a:t>discourse knowledge</a:t>
            </a:r>
            <a:r>
              <a:rPr lang="en-US" sz="2800" dirty="0"/>
              <a:t>,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world knowledge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10553" y="437271"/>
            <a:ext cx="9144000" cy="1777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Why is building a </a:t>
            </a:r>
            <a:r>
              <a:rPr lang="en-US" b="1" dirty="0" err="1"/>
              <a:t>chatbot</a:t>
            </a:r>
            <a:r>
              <a:rPr lang="en-US" b="1" dirty="0"/>
              <a:t> hard ?</a:t>
            </a:r>
          </a:p>
        </p:txBody>
      </p:sp>
    </p:spTree>
    <p:extLst>
      <p:ext uri="{BB962C8B-B14F-4D97-AF65-F5344CB8AC3E}">
        <p14:creationId xmlns:p14="http://schemas.microsoft.com/office/powerpoint/2010/main" val="6369776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0553" y="2029853"/>
            <a:ext cx="83237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Computers need to </a:t>
            </a:r>
            <a:r>
              <a:rPr lang="en-US" sz="2800" b="1" dirty="0"/>
              <a:t>understand</a:t>
            </a:r>
            <a:r>
              <a:rPr lang="en-US" sz="2800" dirty="0"/>
              <a:t> what you ask.</a:t>
            </a:r>
          </a:p>
          <a:p>
            <a:pPr marL="514350" indent="-514350">
              <a:buAutoNum type="arabicPeriod"/>
            </a:pPr>
            <a:r>
              <a:rPr lang="en-US" sz="2800" dirty="0"/>
              <a:t>Computers need to generate coherent, meaningful sequences in response to what you ask, that require </a:t>
            </a:r>
            <a:r>
              <a:rPr lang="en-US" sz="2800" dirty="0">
                <a:solidFill>
                  <a:srgbClr val="FF0000"/>
                </a:solidFill>
              </a:rPr>
              <a:t>domain knowledge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00B050"/>
                </a:solidFill>
              </a:rPr>
              <a:t>discourse knowledge</a:t>
            </a:r>
            <a:r>
              <a:rPr lang="en-US" sz="2800" dirty="0"/>
              <a:t>,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world knowledge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Responses</a:t>
            </a:r>
            <a:r>
              <a:rPr lang="zh-CN" altLang="en-US" sz="2800" dirty="0"/>
              <a:t> </a:t>
            </a:r>
            <a:r>
              <a:rPr lang="en-US" altLang="zh-CN" sz="2800" dirty="0"/>
              <a:t>from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same</a:t>
            </a:r>
            <a:r>
              <a:rPr lang="zh-CN" altLang="en-US" sz="2800" dirty="0"/>
              <a:t> </a:t>
            </a:r>
            <a:r>
              <a:rPr lang="en-US" altLang="zh-CN" sz="2800" dirty="0"/>
              <a:t>bot</a:t>
            </a:r>
            <a:r>
              <a:rPr lang="zh-CN" altLang="en-US" sz="2800" dirty="0"/>
              <a:t> </a:t>
            </a:r>
            <a:r>
              <a:rPr lang="en-US" altLang="zh-CN" sz="2800" dirty="0"/>
              <a:t>need</a:t>
            </a:r>
            <a:r>
              <a:rPr lang="zh-CN" altLang="en-US" sz="2800" dirty="0"/>
              <a:t> </a:t>
            </a:r>
            <a:r>
              <a:rPr lang="en-US" altLang="zh-CN" sz="2800" dirty="0"/>
              <a:t>to</a:t>
            </a:r>
            <a:r>
              <a:rPr lang="zh-CN" altLang="en-US" sz="2800" dirty="0"/>
              <a:t> </a:t>
            </a:r>
            <a:r>
              <a:rPr lang="en-US" altLang="zh-CN" sz="2800" dirty="0"/>
              <a:t>be</a:t>
            </a:r>
            <a:r>
              <a:rPr lang="zh-CN" altLang="en-US" sz="2800" dirty="0"/>
              <a:t> </a:t>
            </a:r>
            <a:r>
              <a:rPr lang="en-US" altLang="zh-CN" sz="2800" dirty="0"/>
              <a:t>consistent.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10553" y="437271"/>
            <a:ext cx="9144000" cy="1777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Why is building a </a:t>
            </a:r>
            <a:r>
              <a:rPr lang="en-US" b="1" dirty="0" err="1"/>
              <a:t>chatbot</a:t>
            </a:r>
            <a:r>
              <a:rPr lang="en-US" b="1" dirty="0"/>
              <a:t> hard ?</a:t>
            </a:r>
          </a:p>
        </p:txBody>
      </p:sp>
    </p:spTree>
    <p:extLst>
      <p:ext uri="{BB962C8B-B14F-4D97-AF65-F5344CB8AC3E}">
        <p14:creationId xmlns:p14="http://schemas.microsoft.com/office/powerpoint/2010/main" val="10592264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0553" y="2029853"/>
            <a:ext cx="832373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Computers need to </a:t>
            </a:r>
            <a:r>
              <a:rPr lang="en-US" sz="2800" b="1" dirty="0"/>
              <a:t>understand</a:t>
            </a:r>
            <a:r>
              <a:rPr lang="en-US" sz="2800" dirty="0"/>
              <a:t> what you ask.</a:t>
            </a:r>
          </a:p>
          <a:p>
            <a:pPr marL="514350" indent="-514350">
              <a:buAutoNum type="arabicPeriod"/>
            </a:pPr>
            <a:r>
              <a:rPr lang="en-US" sz="2800" dirty="0"/>
              <a:t>Computers need to generate coherent, meaningful sequences in response to what you ask, that require </a:t>
            </a:r>
            <a:r>
              <a:rPr lang="en-US" sz="2800" dirty="0">
                <a:solidFill>
                  <a:srgbClr val="FF0000"/>
                </a:solidFill>
              </a:rPr>
              <a:t>domain knowledge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00B050"/>
                </a:solidFill>
              </a:rPr>
              <a:t>discourse knowledge</a:t>
            </a:r>
            <a:r>
              <a:rPr lang="en-US" sz="2800" dirty="0"/>
              <a:t>,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world knowledge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Responses</a:t>
            </a:r>
            <a:r>
              <a:rPr lang="zh-CN" altLang="en-US" sz="2800" dirty="0"/>
              <a:t> </a:t>
            </a:r>
            <a:r>
              <a:rPr lang="en-US" altLang="zh-CN" sz="2800" dirty="0"/>
              <a:t>from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same</a:t>
            </a:r>
            <a:r>
              <a:rPr lang="zh-CN" altLang="en-US" sz="2800" dirty="0"/>
              <a:t> </a:t>
            </a:r>
            <a:r>
              <a:rPr lang="en-US" altLang="zh-CN" sz="2800" dirty="0"/>
              <a:t>bot</a:t>
            </a:r>
            <a:r>
              <a:rPr lang="zh-CN" altLang="en-US" sz="2800" dirty="0"/>
              <a:t> </a:t>
            </a:r>
            <a:r>
              <a:rPr lang="en-US" altLang="zh-CN" sz="2800" dirty="0"/>
              <a:t>need</a:t>
            </a:r>
            <a:r>
              <a:rPr lang="zh-CN" altLang="en-US" sz="2800" dirty="0"/>
              <a:t> </a:t>
            </a:r>
            <a:r>
              <a:rPr lang="en-US" altLang="zh-CN" sz="2800" dirty="0"/>
              <a:t>to</a:t>
            </a:r>
            <a:r>
              <a:rPr lang="zh-CN" altLang="en-US" sz="2800" dirty="0"/>
              <a:t> </a:t>
            </a:r>
            <a:r>
              <a:rPr lang="en-US" altLang="zh-CN" sz="2800" dirty="0"/>
              <a:t>be</a:t>
            </a:r>
            <a:r>
              <a:rPr lang="zh-CN" altLang="en-US" sz="2800" dirty="0"/>
              <a:t> </a:t>
            </a:r>
            <a:r>
              <a:rPr lang="en-US" altLang="zh-CN" sz="2800" dirty="0"/>
              <a:t>consistent.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bot</a:t>
            </a:r>
            <a:r>
              <a:rPr lang="zh-CN" altLang="en-US" sz="2800" dirty="0"/>
              <a:t> </a:t>
            </a:r>
            <a:r>
              <a:rPr lang="en-US" altLang="zh-CN" sz="2800" dirty="0"/>
              <a:t>should</a:t>
            </a:r>
            <a:r>
              <a:rPr lang="zh-CN" altLang="en-US" sz="2800" dirty="0"/>
              <a:t> </a:t>
            </a:r>
            <a:r>
              <a:rPr lang="en-US" altLang="zh-CN" sz="2800" dirty="0"/>
              <a:t>be</a:t>
            </a:r>
            <a:r>
              <a:rPr lang="zh-CN" altLang="en-US" sz="2800" dirty="0"/>
              <a:t> </a:t>
            </a:r>
            <a:r>
              <a:rPr lang="en-US" altLang="zh-CN" sz="2800" dirty="0"/>
              <a:t>interactive.</a:t>
            </a:r>
            <a:r>
              <a:rPr lang="zh-CN" altLang="en-US" sz="2800" dirty="0"/>
              <a:t>  </a:t>
            </a:r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10553" y="437271"/>
            <a:ext cx="9144000" cy="1777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Why is building a </a:t>
            </a:r>
            <a:r>
              <a:rPr lang="en-US" b="1" dirty="0" err="1"/>
              <a:t>chatbot</a:t>
            </a:r>
            <a:r>
              <a:rPr lang="en-US" b="1" dirty="0"/>
              <a:t> hard ?</a:t>
            </a:r>
          </a:p>
        </p:txBody>
      </p:sp>
    </p:spTree>
    <p:extLst>
      <p:ext uri="{BB962C8B-B14F-4D97-AF65-F5344CB8AC3E}">
        <p14:creationId xmlns:p14="http://schemas.microsoft.com/office/powerpoint/2010/main" val="175443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0553" y="2029853"/>
            <a:ext cx="832373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Computers need to </a:t>
            </a:r>
            <a:r>
              <a:rPr lang="en-US" sz="2800" b="1" dirty="0"/>
              <a:t>understand</a:t>
            </a:r>
            <a:r>
              <a:rPr lang="en-US" sz="2800" dirty="0"/>
              <a:t> what you ask.</a:t>
            </a:r>
          </a:p>
          <a:p>
            <a:pPr marL="514350" indent="-514350">
              <a:buAutoNum type="arabicPeriod"/>
            </a:pPr>
            <a:r>
              <a:rPr lang="en-US" sz="2800" dirty="0"/>
              <a:t>Computers need to generate coherent, meaningful sequences in response to what you ask, that require </a:t>
            </a:r>
            <a:r>
              <a:rPr lang="en-US" sz="2800" dirty="0">
                <a:solidFill>
                  <a:srgbClr val="FF0000"/>
                </a:solidFill>
              </a:rPr>
              <a:t>domain knowledge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00B050"/>
                </a:solidFill>
              </a:rPr>
              <a:t>discourse knowledge</a:t>
            </a:r>
            <a:r>
              <a:rPr lang="en-US" sz="2800" dirty="0"/>
              <a:t>,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world knowledge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Responses</a:t>
            </a:r>
            <a:r>
              <a:rPr lang="zh-CN" altLang="en-US" sz="2800" dirty="0"/>
              <a:t> </a:t>
            </a:r>
            <a:r>
              <a:rPr lang="en-US" altLang="zh-CN" sz="2800" dirty="0"/>
              <a:t>from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same</a:t>
            </a:r>
            <a:r>
              <a:rPr lang="zh-CN" altLang="en-US" sz="2800" dirty="0"/>
              <a:t> </a:t>
            </a:r>
            <a:r>
              <a:rPr lang="en-US" altLang="zh-CN" sz="2800" dirty="0"/>
              <a:t>bot</a:t>
            </a:r>
            <a:r>
              <a:rPr lang="zh-CN" altLang="en-US" sz="2800" dirty="0"/>
              <a:t> </a:t>
            </a:r>
            <a:r>
              <a:rPr lang="en-US" altLang="zh-CN" sz="2800" dirty="0"/>
              <a:t>need</a:t>
            </a:r>
            <a:r>
              <a:rPr lang="zh-CN" altLang="en-US" sz="2800" dirty="0"/>
              <a:t> </a:t>
            </a:r>
            <a:r>
              <a:rPr lang="en-US" altLang="zh-CN" sz="2800" dirty="0"/>
              <a:t>to</a:t>
            </a:r>
            <a:r>
              <a:rPr lang="zh-CN" altLang="en-US" sz="2800" dirty="0"/>
              <a:t> </a:t>
            </a:r>
            <a:r>
              <a:rPr lang="en-US" altLang="zh-CN" sz="2800" dirty="0"/>
              <a:t>be</a:t>
            </a:r>
            <a:r>
              <a:rPr lang="zh-CN" altLang="en-US" sz="2800" dirty="0"/>
              <a:t> </a:t>
            </a:r>
            <a:r>
              <a:rPr lang="en-US" altLang="zh-CN" sz="2800" dirty="0"/>
              <a:t>consistent.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bot</a:t>
            </a:r>
            <a:r>
              <a:rPr lang="zh-CN" altLang="en-US" sz="2800" dirty="0"/>
              <a:t> </a:t>
            </a:r>
            <a:r>
              <a:rPr lang="en-US" altLang="zh-CN" sz="2800" dirty="0"/>
              <a:t>should</a:t>
            </a:r>
            <a:r>
              <a:rPr lang="zh-CN" altLang="en-US" sz="2800" dirty="0"/>
              <a:t> </a:t>
            </a:r>
            <a:r>
              <a:rPr lang="en-US" altLang="zh-CN" sz="2800" dirty="0"/>
              <a:t>be</a:t>
            </a:r>
            <a:r>
              <a:rPr lang="zh-CN" altLang="en-US" sz="2800" dirty="0"/>
              <a:t> </a:t>
            </a:r>
            <a:r>
              <a:rPr lang="en-US" altLang="zh-CN" sz="2800" dirty="0"/>
              <a:t>interactive.</a:t>
            </a:r>
            <a:r>
              <a:rPr lang="zh-CN" altLang="en-US" sz="2800" dirty="0"/>
              <a:t>  </a:t>
            </a:r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10553" y="437271"/>
            <a:ext cx="9144000" cy="1777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Why is building a </a:t>
            </a:r>
            <a:r>
              <a:rPr lang="en-US" b="1" dirty="0" err="1"/>
              <a:t>chatbot</a:t>
            </a:r>
            <a:r>
              <a:rPr lang="en-US" b="1" dirty="0"/>
              <a:t> hard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68CF4E-A77E-6B4D-9021-A50ABB64065D}"/>
              </a:ext>
            </a:extLst>
          </p:cNvPr>
          <p:cNvSpPr txBox="1"/>
          <p:nvPr/>
        </p:nvSpPr>
        <p:spPr>
          <a:xfrm>
            <a:off x="1510553" y="5009322"/>
            <a:ext cx="4596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5.   Evaluation is very unclear!</a:t>
            </a:r>
          </a:p>
        </p:txBody>
      </p:sp>
    </p:spTree>
    <p:extLst>
      <p:ext uri="{BB962C8B-B14F-4D97-AF65-F5344CB8AC3E}">
        <p14:creationId xmlns:p14="http://schemas.microsoft.com/office/powerpoint/2010/main" val="11672103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7163F-1EA8-2C46-9418-89A6EFCEB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Evaluation: The Turing Test</a:t>
            </a:r>
            <a:br>
              <a:rPr lang="en-US" dirty="0"/>
            </a:br>
            <a:r>
              <a:rPr lang="en-US" dirty="0"/>
              <a:t> (Turing, 1950)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22A86-CF69-5648-89D9-42B5D49B7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"The Imitation Game" (see film of the same name)</a:t>
            </a:r>
          </a:p>
          <a:p>
            <a:r>
              <a:rPr lang="en-US" dirty="0"/>
              <a:t>As originally posed, an interrogator asks questions of a machine and a human and both try to convince the interrogator that they are human. </a:t>
            </a:r>
          </a:p>
          <a:p>
            <a:r>
              <a:rPr lang="en-US" dirty="0"/>
              <a:t>Turing predicted 30% of interrogators would be fooled within 5 minutes by 2000 (not a super high bar)</a:t>
            </a:r>
          </a:p>
          <a:p>
            <a:r>
              <a:rPr lang="en-US" dirty="0"/>
              <a:t>Weird side note: apparently the original form of this game was played with a man and a woman, both trying to convince the interrogator that they are the woman.</a:t>
            </a:r>
          </a:p>
          <a:p>
            <a:r>
              <a:rPr lang="en-US" dirty="0"/>
              <a:t>Not really clear this is a test of intelligence. Maybe a longer conversation?</a:t>
            </a:r>
          </a:p>
        </p:txBody>
      </p:sp>
    </p:spTree>
    <p:extLst>
      <p:ext uri="{BB962C8B-B14F-4D97-AF65-F5344CB8AC3E}">
        <p14:creationId xmlns:p14="http://schemas.microsoft.com/office/powerpoint/2010/main" val="25241187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E541-648D-6B45-8951-C4249F252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Evaluation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ADDB-1D13-A149-BD01-46EBD04CE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multiple system responses to the same prompt</a:t>
            </a:r>
          </a:p>
          <a:p>
            <a:r>
              <a:rPr lang="en-US" dirty="0"/>
              <a:t>Ask humans which they prefer</a:t>
            </a:r>
          </a:p>
        </p:txBody>
      </p:sp>
    </p:spTree>
    <p:extLst>
      <p:ext uri="{BB962C8B-B14F-4D97-AF65-F5344CB8AC3E}">
        <p14:creationId xmlns:p14="http://schemas.microsoft.com/office/powerpoint/2010/main" val="29618815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Chatbots!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ELIZA (1966)</a:t>
            </a:r>
          </a:p>
          <a:p>
            <a:r>
              <a:rPr lang="en-US" dirty="0"/>
              <a:t>PARRY (1968)</a:t>
            </a:r>
          </a:p>
          <a:p>
            <a:pPr marL="319088" lvl="1" indent="0">
              <a:buNone/>
            </a:pPr>
            <a:r>
              <a:rPr lang="en-US" dirty="0"/>
              <a:t>The first system to pass the Turing test!!!!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ALICE (90s-00s)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won Loebner prize but not Turing Test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Cleverbot (08-teens)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IR-based, good online support, some notoriety for google home devices talking to each other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first gen transformer models – DialoGPT (20), BlenderBot (20) </a:t>
            </a:r>
          </a:p>
          <a:p>
            <a:r>
              <a:rPr lang="en-US" sz="6000" dirty="0">
                <a:latin typeface="Calibri" charset="0"/>
                <a:ea typeface="Calibri" charset="0"/>
                <a:cs typeface="Calibri" charset="0"/>
              </a:rPr>
              <a:t>ChatGPT</a:t>
            </a:r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, Claude, LlamaChat, Falcon-Chat, h2oGPT, ... – use post training</a:t>
            </a:r>
            <a:endParaRPr lang="en-US" altLang="zh-CN" sz="60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48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74640"/>
            <a:ext cx="7772400" cy="868361"/>
          </a:xfrm>
        </p:spPr>
        <p:txBody>
          <a:bodyPr/>
          <a:lstStyle/>
          <a:p>
            <a:r>
              <a:rPr lang="en-US" dirty="0" err="1"/>
              <a:t>Classic Chatbot</a:t>
            </a:r>
            <a:r>
              <a:rPr lang="en-US" dirty="0"/>
              <a:t>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1447800"/>
            <a:ext cx="8229600" cy="457200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Rule-based</a:t>
            </a:r>
          </a:p>
          <a:p>
            <a:pPr marL="1062038" lvl="1" indent="-742950">
              <a:buFont typeface="+mj-lt"/>
              <a:buAutoNum type="arabicPeriod"/>
            </a:pPr>
            <a:r>
              <a:rPr lang="en-US" sz="3600" dirty="0"/>
              <a:t>Pattern-action rules (Eliza)</a:t>
            </a:r>
          </a:p>
          <a:p>
            <a:pPr marL="319088" lvl="1" indent="0">
              <a:buNone/>
            </a:pPr>
            <a:r>
              <a:rPr lang="en-US" sz="3600" dirty="0"/>
              <a:t>	+ a mental model (Parry)</a:t>
            </a:r>
          </a:p>
          <a:p>
            <a:pPr marL="319088" lvl="1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Corpus-based (from large chat corpus)</a:t>
            </a:r>
          </a:p>
          <a:p>
            <a:pPr marL="1062038" lvl="1" indent="-742950">
              <a:buFont typeface="+mj-lt"/>
              <a:buAutoNum type="arabicPeriod" startAt="2"/>
            </a:pPr>
            <a:r>
              <a:rPr lang="en-US" sz="3600" dirty="0"/>
              <a:t>Information Retrieval</a:t>
            </a:r>
          </a:p>
          <a:p>
            <a:pPr marL="1062038" lvl="1" indent="-742950">
              <a:buFont typeface="+mj-lt"/>
              <a:buAutoNum type="arabicPeriod" startAt="3"/>
            </a:pPr>
            <a:r>
              <a:rPr lang="en-US" sz="3600" dirty="0"/>
              <a:t>Neural network encoder-decoder</a:t>
            </a:r>
          </a:p>
        </p:txBody>
      </p:sp>
    </p:spTree>
    <p:extLst>
      <p:ext uri="{BB962C8B-B14F-4D97-AF65-F5344CB8AC3E}">
        <p14:creationId xmlns:p14="http://schemas.microsoft.com/office/powerpoint/2010/main" val="13766864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Chatbots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1981200"/>
            <a:ext cx="7772400" cy="4038600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/>
              <a:t>Sometimes for fun</a:t>
            </a:r>
          </a:p>
          <a:p>
            <a:pPr marL="0" indent="0">
              <a:buNone/>
            </a:pPr>
            <a:r>
              <a:rPr lang="en-US" sz="4000" dirty="0"/>
              <a:t>	</a:t>
            </a:r>
          </a:p>
          <a:p>
            <a:pPr marL="0" indent="0">
              <a:buNone/>
            </a:pPr>
            <a:r>
              <a:rPr lang="en-US" sz="4000" dirty="0"/>
              <a:t>But originally designed as a testbed for clinical therapy</a:t>
            </a:r>
          </a:p>
          <a:p>
            <a:pPr marL="0" indent="0">
              <a:buNone/>
            </a:pPr>
            <a:r>
              <a:rPr lang="en-US" sz="4000" dirty="0"/>
              <a:t>	(And still used that way!)</a:t>
            </a:r>
          </a:p>
        </p:txBody>
      </p:sp>
    </p:spTree>
    <p:extLst>
      <p:ext uri="{BB962C8B-B14F-4D97-AF65-F5344CB8AC3E}">
        <p14:creationId xmlns:p14="http://schemas.microsoft.com/office/powerpoint/2010/main" val="7775314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438400" y="274640"/>
            <a:ext cx="7772400" cy="792161"/>
          </a:xfrm>
        </p:spPr>
        <p:txBody>
          <a:bodyPr/>
          <a:lstStyle/>
          <a:p>
            <a:r>
              <a:rPr lang="en-US" altLang="en-US"/>
              <a:t>Eliza: </a:t>
            </a:r>
            <a:r>
              <a:rPr lang="en-US" altLang="en-US" dirty="0" err="1"/>
              <a:t>Weizenbaum</a:t>
            </a:r>
            <a:r>
              <a:rPr lang="en-US" altLang="en-US" dirty="0"/>
              <a:t> (1966)</a:t>
            </a:r>
          </a:p>
        </p:txBody>
      </p:sp>
      <p:sp>
        <p:nvSpPr>
          <p:cNvPr id="31437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905000" y="1219200"/>
            <a:ext cx="8763000" cy="4038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Men are all alike.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IN WHAT WAY</a:t>
            </a:r>
            <a:br>
              <a:rPr lang="en-US" dirty="0"/>
            </a:br>
            <a:r>
              <a:rPr lang="en-US" dirty="0"/>
              <a:t>They're always bugging us about something or other. 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CAN YOU THINK OF A SPECIFIC EXAMPLE </a:t>
            </a:r>
          </a:p>
          <a:p>
            <a:pPr marL="0" indent="0">
              <a:buNone/>
            </a:pPr>
            <a:r>
              <a:rPr lang="en-US" dirty="0"/>
              <a:t>Well, my boyfriend made me come here.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YOUR BOYFRIEND MADE YOU COME HERE </a:t>
            </a:r>
          </a:p>
          <a:p>
            <a:pPr marL="0" indent="0">
              <a:buNone/>
            </a:pPr>
            <a:r>
              <a:rPr lang="en-US" dirty="0"/>
              <a:t>He says I'm depressed much of the time.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I AM SORRY TO HEAR YOU ARE DEPRESSED </a:t>
            </a:r>
          </a:p>
          <a:p>
            <a:pPr marL="0" indent="0">
              <a:buNone/>
            </a:pPr>
            <a:r>
              <a:rPr lang="en-US" dirty="0"/>
              <a:t>...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WHO ELSE IN YOUR FAMILY TAKES CARE 0F YOU?</a:t>
            </a:r>
            <a:br>
              <a:rPr lang="en-US" dirty="0"/>
            </a:br>
            <a:r>
              <a:rPr lang="en-US" dirty="0"/>
              <a:t>My father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YOUR FATHER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73846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752600" y="152400"/>
            <a:ext cx="8763000" cy="40386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en-US" dirty="0"/>
              <a:t>You are like my father in some ways.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B050"/>
                </a:solidFill>
              </a:rPr>
              <a:t>WHAT RESEMBLANCE DO YOU SEE</a:t>
            </a:r>
          </a:p>
          <a:p>
            <a:pPr marL="0" indent="0">
              <a:buNone/>
            </a:pPr>
            <a:r>
              <a:rPr lang="en-US" altLang="en-US" dirty="0"/>
              <a:t>You are not very aggressive but I think you don’t want me to notice that.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B050"/>
                </a:solidFill>
              </a:rPr>
              <a:t>WHAT MAKES YOU THINK I AM NOT AGGRESSIVE</a:t>
            </a:r>
          </a:p>
          <a:p>
            <a:pPr marL="0" indent="0">
              <a:buNone/>
            </a:pPr>
            <a:r>
              <a:rPr lang="en-US" altLang="en-US" dirty="0"/>
              <a:t>You don’t argue with me.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B050"/>
                </a:solidFill>
              </a:rPr>
              <a:t>WHY DO YOU THINK I DON’T ARGUE WITH YOU</a:t>
            </a:r>
          </a:p>
          <a:p>
            <a:pPr marL="0" indent="0">
              <a:buNone/>
            </a:pPr>
            <a:r>
              <a:rPr lang="en-US" altLang="en-US" dirty="0"/>
              <a:t>You are afraid of me.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B050"/>
                </a:solidFill>
              </a:rPr>
              <a:t>DOES IT PLEASE YOU TO BELIEVE I</a:t>
            </a:r>
            <a:r>
              <a:rPr lang="fr-FR" altLang="en-US" dirty="0">
                <a:solidFill>
                  <a:srgbClr val="00B050"/>
                </a:solidFill>
              </a:rPr>
              <a:t>’M AFRAID OF YOU</a:t>
            </a:r>
          </a:p>
          <a:p>
            <a:pPr marL="0" indent="0">
              <a:buNone/>
            </a:pP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father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afraid</a:t>
            </a:r>
            <a:r>
              <a:rPr lang="fr-FR" dirty="0"/>
              <a:t> of </a:t>
            </a:r>
            <a:r>
              <a:rPr lang="fr-FR" dirty="0" err="1"/>
              <a:t>everybody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>
                <a:solidFill>
                  <a:srgbClr val="00B050"/>
                </a:solidFill>
              </a:rPr>
              <a:t>WHAT ELSE COMES TO MIND WHEN YOU THINK OF YOUR FATHER</a:t>
            </a:r>
          </a:p>
          <a:p>
            <a:pPr marL="0" indent="0">
              <a:buNone/>
            </a:pPr>
            <a:r>
              <a:rPr lang="fr-FR" dirty="0" err="1"/>
              <a:t>Bullies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>
                <a:solidFill>
                  <a:srgbClr val="00B050"/>
                </a:solidFill>
              </a:rPr>
              <a:t>DOES THAT HAVE ANYTHING TO DO WITH THE FACT THAT YOUR BOYFRIEND MADE YOU COME HERE</a:t>
            </a:r>
            <a:endParaRPr lang="en-US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5065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819382"/>
            <a:ext cx="88392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does it work?</a:t>
            </a:r>
            <a:br>
              <a:rPr lang="en-US" dirty="0"/>
            </a:br>
            <a:r>
              <a:rPr lang="en-US" dirty="0"/>
              <a:t>Eliza uses this one weird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143000"/>
            <a:ext cx="8534400" cy="4572000"/>
          </a:xfrm>
        </p:spPr>
        <p:txBody>
          <a:bodyPr/>
          <a:lstStyle/>
          <a:p>
            <a:pPr marL="0" indent="0">
              <a:buNone/>
            </a:pP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32824916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381001"/>
            <a:ext cx="8839200" cy="86836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That trick: be a Rogerian psychologist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828800"/>
            <a:ext cx="8534400" cy="3886200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Draw the patient out by reflecting patient’s statements back at them</a:t>
            </a:r>
          </a:p>
          <a:p>
            <a:pPr marL="0" indent="0">
              <a:buNone/>
            </a:pPr>
            <a:r>
              <a:rPr lang="en-US" sz="3600" dirty="0"/>
              <a:t>Rare type of conversation in which one can “assume the pose of knowing almost nothing of the real world”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615188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381001"/>
            <a:ext cx="8839200" cy="86836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Rogerian psychologist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752600"/>
            <a:ext cx="8534400" cy="4495800"/>
          </a:xfrm>
        </p:spPr>
        <p:txBody>
          <a:bodyPr/>
          <a:lstStyle/>
          <a:p>
            <a:endParaRPr lang="en-US" sz="1100" dirty="0"/>
          </a:p>
          <a:p>
            <a:pPr marL="274638" lvl="1" indent="0">
              <a:buNone/>
            </a:pPr>
            <a:r>
              <a:rPr lang="en-US" sz="3200" dirty="0"/>
              <a:t>Patient: "I went for a long boat ride”</a:t>
            </a:r>
          </a:p>
          <a:p>
            <a:pPr marL="274638" lvl="1" indent="0">
              <a:buNone/>
            </a:pPr>
            <a:r>
              <a:rPr lang="en-US" sz="3200" dirty="0"/>
              <a:t>Psychiatrist: "Tell me about boats”</a:t>
            </a:r>
          </a:p>
          <a:p>
            <a:pPr marL="274638" lvl="1" indent="0">
              <a:buNone/>
            </a:pPr>
            <a:endParaRPr lang="en-US" sz="1100" dirty="0"/>
          </a:p>
          <a:p>
            <a:r>
              <a:rPr lang="en-US" sz="3200" dirty="0"/>
              <a:t>You don’t assume she didn’t know what a boat is</a:t>
            </a:r>
          </a:p>
          <a:p>
            <a:r>
              <a:rPr lang="en-US" sz="3200" dirty="0"/>
              <a:t>You assume she had some conversational goal</a:t>
            </a:r>
          </a:p>
          <a:p>
            <a:r>
              <a:rPr lang="en-US" sz="3200" dirty="0" err="1"/>
              <a:t>Chatbots</a:t>
            </a:r>
            <a:r>
              <a:rPr lang="en-US" sz="3200" dirty="0"/>
              <a:t> trying to pass the Turing test usually choose some such domain</a:t>
            </a:r>
          </a:p>
        </p:txBody>
      </p:sp>
    </p:spTree>
    <p:extLst>
      <p:ext uri="{BB962C8B-B14F-4D97-AF65-F5344CB8AC3E}">
        <p14:creationId xmlns:p14="http://schemas.microsoft.com/office/powerpoint/2010/main" val="7478594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Eliza pattern/transform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78094" y="1458074"/>
            <a:ext cx="9456506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((*) YOU (*) ME)    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[</a:t>
            </a:r>
            <a:r>
              <a:rPr lang="en-US" i="1" dirty="0">
                <a:latin typeface="Calibri" charset="0"/>
                <a:ea typeface="Calibri" charset="0"/>
                <a:cs typeface="Calibri" charset="0"/>
              </a:rPr>
              <a:t>pattern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]</a:t>
            </a:r>
          </a:p>
          <a:p>
            <a:pPr>
              <a:buFont typeface="Wingdings" charset="2"/>
              <a:buChar char="à"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" charset="0"/>
                <a:ea typeface="Courier" charset="0"/>
                <a:cs typeface="Courier" charset="0"/>
              </a:rPr>
              <a:t>(WHAT MAKES YOU THINK I \3 YOU) 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[</a:t>
            </a:r>
            <a:r>
              <a:rPr lang="en-US" i="1" dirty="0">
                <a:latin typeface="Calibri" charset="0"/>
                <a:ea typeface="Calibri" charset="0"/>
                <a:cs typeface="Calibri" charset="0"/>
              </a:rPr>
              <a:t>transform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]</a:t>
            </a:r>
          </a:p>
          <a:p>
            <a:pPr marL="0" indent="0">
              <a:buNone/>
            </a:pP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pPr marL="0" indent="0">
              <a:buNone/>
            </a:pP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070C0"/>
                </a:solidFill>
                <a:latin typeface="Courier" charset="0"/>
                <a:ea typeface="Courier" charset="0"/>
                <a:cs typeface="Courier" charset="0"/>
              </a:rPr>
              <a:t>You hate me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WHAT MAKES YOU THINK I HATE YOU</a:t>
            </a:r>
          </a:p>
          <a:p>
            <a:pPr marL="0" indent="0">
              <a:buNone/>
            </a:pPr>
            <a:endParaRPr lang="en-US" sz="3200" dirty="0">
              <a:solidFill>
                <a:srgbClr val="00B050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buFont typeface="Wingdings" charset="2"/>
              <a:buChar char="à"/>
            </a:pP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5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74640"/>
            <a:ext cx="7772400" cy="639761"/>
          </a:xfrm>
        </p:spPr>
        <p:txBody>
          <a:bodyPr>
            <a:normAutofit fontScale="90000"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52600" y="948267"/>
            <a:ext cx="8915400" cy="4572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500" dirty="0">
                <a:latin typeface="Courier" charset="0"/>
                <a:ea typeface="Courier" charset="0"/>
                <a:cs typeface="Courier" charset="0"/>
              </a:rPr>
              <a:t>(MEMORY MY</a:t>
            </a:r>
            <a:br>
              <a:rPr lang="en-US" sz="2500" dirty="0">
                <a:latin typeface="Courier" charset="0"/>
                <a:ea typeface="Courier" charset="0"/>
                <a:cs typeface="Courier" charset="0"/>
              </a:rPr>
            </a:br>
            <a:r>
              <a:rPr lang="en-US" sz="2500" dirty="0">
                <a:latin typeface="Courier" charset="0"/>
                <a:ea typeface="Courier" charset="0"/>
                <a:cs typeface="Courier" charset="0"/>
              </a:rPr>
              <a:t> (0 YOUR 0 = LETS DISCUSS FURTHER WHY YOUR 3)</a:t>
            </a:r>
          </a:p>
          <a:p>
            <a:pPr marL="0" indent="0">
              <a:buNone/>
            </a:pPr>
            <a:r>
              <a:rPr lang="en-US" sz="2500" dirty="0">
                <a:latin typeface="Courier" charset="0"/>
                <a:ea typeface="Courier" charset="0"/>
                <a:cs typeface="Courier" charset="0"/>
              </a:rPr>
              <a:t> (0 YOUR 0 = EARLIER YOU SAID YOUR 3)</a:t>
            </a:r>
          </a:p>
          <a:p>
            <a:endParaRPr lang="en-US" sz="2400" dirty="0"/>
          </a:p>
          <a:p>
            <a:r>
              <a:rPr lang="en-US" sz="3200" dirty="0"/>
              <a:t>Whenever “MY” is highest keyword</a:t>
            </a:r>
          </a:p>
          <a:p>
            <a:pPr lvl="1"/>
            <a:r>
              <a:rPr lang="en-US" sz="3000" dirty="0"/>
              <a:t>Randomly select a transform on the MEMORY list </a:t>
            </a:r>
          </a:p>
          <a:p>
            <a:pPr lvl="1"/>
            <a:r>
              <a:rPr lang="en-US" sz="3000" dirty="0"/>
              <a:t>Apply to sentence</a:t>
            </a:r>
          </a:p>
          <a:p>
            <a:pPr lvl="1"/>
            <a:r>
              <a:rPr lang="en-US" sz="3000" dirty="0"/>
              <a:t>Store on a stack</a:t>
            </a:r>
          </a:p>
          <a:p>
            <a:r>
              <a:rPr lang="en-US" sz="3200" dirty="0"/>
              <a:t>Later, if no keyword matches a sentence</a:t>
            </a:r>
          </a:p>
          <a:p>
            <a:pPr lvl="1"/>
            <a:r>
              <a:rPr lang="en-US" sz="3000" dirty="0"/>
              <a:t>Return the top of the MEMORY queue instead</a:t>
            </a:r>
          </a:p>
          <a:p>
            <a:r>
              <a:rPr lang="en-US" sz="3200" dirty="0"/>
              <a:t>A hierarchical model of discourse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097192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3000" y="287867"/>
            <a:ext cx="7772400" cy="1143000"/>
          </a:xfrm>
        </p:spPr>
        <p:txBody>
          <a:bodyPr/>
          <a:lstStyle/>
          <a:p>
            <a:r>
              <a:rPr lang="en-US" dirty="0"/>
              <a:t>Some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People  became deeply emotionally involved with the program</a:t>
            </a:r>
          </a:p>
          <a:p>
            <a:r>
              <a:rPr lang="en-US" dirty="0" err="1"/>
              <a:t>Weizenbaum</a:t>
            </a:r>
            <a:r>
              <a:rPr lang="en-US" dirty="0"/>
              <a:t> tells the story of his secretary who would ask </a:t>
            </a:r>
            <a:r>
              <a:rPr lang="en-US" dirty="0" err="1"/>
              <a:t>Weizenbaum</a:t>
            </a:r>
            <a:r>
              <a:rPr lang="en-US" dirty="0"/>
              <a:t> to leave the room when she talked with ELIZA</a:t>
            </a:r>
          </a:p>
          <a:p>
            <a:r>
              <a:rPr lang="en-US" dirty="0"/>
              <a:t>When he suggested that he might want to store all the ELIZA conversations for later analysis, people immediately pointed out the privacy implications</a:t>
            </a:r>
          </a:p>
          <a:p>
            <a:pPr lvl="1"/>
            <a:r>
              <a:rPr lang="en-US" dirty="0"/>
              <a:t>Suggesting that they were having quite private conversations with ELIZA</a:t>
            </a:r>
          </a:p>
        </p:txBody>
      </p:sp>
    </p:spTree>
    <p:extLst>
      <p:ext uri="{BB962C8B-B14F-4D97-AF65-F5344CB8AC3E}">
        <p14:creationId xmlns:p14="http://schemas.microsoft.com/office/powerpoint/2010/main" val="14711375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B8531-A664-A38A-D86C-9C0E77B9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ELIZA Unearthed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3A9D8-1018-AEC3-0686-9C6F1A54C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Nobody actually ever saw the code</a:t>
            </a:r>
          </a:p>
          <a:p>
            <a:r>
              <a:rPr lang="en-US"/>
              <a:t>There are a lot of imitations out there but without exactly the same behavior reported in the paper</a:t>
            </a:r>
          </a:p>
          <a:p>
            <a:r>
              <a:rPr lang="en-US"/>
              <a:t>In 2021 a small team unearthed the paper records of the code and has been transcribing the actual original code and other related imitations at https://sites.google.com/view/elizagen-org/try-eliza</a:t>
            </a:r>
          </a:p>
          <a:p>
            <a:r>
              <a:rPr lang="en-US"/>
              <a:t>Mostly of historical interest but there are some actual apps you can use to try it out (iAltair on iphone...)</a:t>
            </a:r>
          </a:p>
        </p:txBody>
      </p:sp>
    </p:spTree>
    <p:extLst>
      <p:ext uri="{BB962C8B-B14F-4D97-AF65-F5344CB8AC3E}">
        <p14:creationId xmlns:p14="http://schemas.microsoft.com/office/powerpoint/2010/main" val="12623783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274640"/>
            <a:ext cx="7772400" cy="868361"/>
          </a:xfrm>
        </p:spPr>
        <p:txBody>
          <a:bodyPr/>
          <a:lstStyle/>
          <a:p>
            <a:pPr eaLnBrk="1" hangingPunct="1"/>
            <a:r>
              <a:rPr lang="en-US">
                <a:ea typeface="ＭＳ Ｐゴシック" pitchFamily="-84" charset="-128"/>
                <a:cs typeface="ＭＳ Ｐゴシック" pitchFamily="-84" charset="-128"/>
              </a:rPr>
              <a:t>Parry</a:t>
            </a:r>
            <a:endParaRPr lang="en-US" dirty="0"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295401"/>
            <a:ext cx="8121650" cy="4373563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dirty="0">
                <a:ea typeface="ＭＳ Ｐゴシック" pitchFamily="-84" charset="-128"/>
                <a:cs typeface="ＭＳ Ｐゴシック" pitchFamily="-84" charset="-128"/>
              </a:rPr>
              <a:t>Colby 1971 at Stanford; used to study schizophrenia</a:t>
            </a:r>
          </a:p>
          <a:p>
            <a:pPr eaLnBrk="1" hangingPunct="1"/>
            <a:r>
              <a:rPr lang="en-US" dirty="0">
                <a:ea typeface="ＭＳ Ｐゴシック" pitchFamily="-84" charset="-128"/>
                <a:cs typeface="ＭＳ Ｐゴシック" pitchFamily="-84" charset="-128"/>
              </a:rPr>
              <a:t>Same pattern-response structure as Eliza</a:t>
            </a:r>
          </a:p>
          <a:p>
            <a:pPr eaLnBrk="1" hangingPunct="1"/>
            <a:r>
              <a:rPr lang="en-US" dirty="0">
                <a:ea typeface="ＭＳ Ｐゴシック" pitchFamily="-84" charset="-128"/>
                <a:cs typeface="ＭＳ Ｐゴシック" pitchFamily="-84" charset="-128"/>
              </a:rPr>
              <a:t>But a much richer:</a:t>
            </a:r>
          </a:p>
          <a:p>
            <a:pPr lvl="1"/>
            <a:r>
              <a:rPr lang="en-US" sz="2800" dirty="0">
                <a:ea typeface="ＭＳ Ｐゴシック" pitchFamily="-84" charset="-128"/>
                <a:cs typeface="ＭＳ Ｐゴシック" pitchFamily="-84" charset="-128"/>
              </a:rPr>
              <a:t>control structure </a:t>
            </a:r>
          </a:p>
          <a:p>
            <a:pPr lvl="1"/>
            <a:r>
              <a:rPr lang="en-US" sz="2800" dirty="0">
                <a:ea typeface="ＭＳ Ｐゴシック" pitchFamily="-84" charset="-128"/>
                <a:cs typeface="ＭＳ Ｐゴシック" pitchFamily="-84" charset="-128"/>
              </a:rPr>
              <a:t>language understanding capabilities</a:t>
            </a:r>
          </a:p>
          <a:p>
            <a:pPr lvl="1"/>
            <a:r>
              <a:rPr lang="en-US" sz="2800" dirty="0">
                <a:ea typeface="ＭＳ Ｐゴシック" pitchFamily="-84" charset="-128"/>
                <a:cs typeface="ＭＳ Ｐゴシック" pitchFamily="-84" charset="-128"/>
              </a:rPr>
              <a:t>mental model: Parry has affective variables</a:t>
            </a:r>
          </a:p>
          <a:p>
            <a:pPr lvl="2"/>
            <a:r>
              <a:rPr lang="en-US" sz="2400" dirty="0">
                <a:ea typeface="ＭＳ Ｐゴシック" pitchFamily="-84" charset="-128"/>
                <a:cs typeface="ＭＳ Ｐゴシック" pitchFamily="-84" charset="-128"/>
              </a:rPr>
              <a:t>Anger, Fear, Mistrust</a:t>
            </a:r>
          </a:p>
          <a:p>
            <a:pPr lvl="2"/>
            <a:r>
              <a:rPr lang="en-US" sz="2400" dirty="0">
                <a:ea typeface="ＭＳ Ｐゴシック" pitchFamily="-84" charset="-128"/>
                <a:cs typeface="ＭＳ Ｐゴシック" pitchFamily="-84" charset="-128"/>
              </a:rPr>
              <a:t>“If Anger level is high, respond with hostility”</a:t>
            </a:r>
          </a:p>
          <a:p>
            <a:pPr eaLnBrk="1" hangingPunct="1"/>
            <a:r>
              <a:rPr lang="en-US" dirty="0">
                <a:ea typeface="ＭＳ Ｐゴシック" pitchFamily="-84" charset="-128"/>
                <a:cs typeface="ＭＳ Ｐゴシック" pitchFamily="-84" charset="-128"/>
              </a:rPr>
              <a:t>The first system to pass the Turing test (in 1971)</a:t>
            </a:r>
          </a:p>
          <a:p>
            <a:pPr lvl="1"/>
            <a:r>
              <a:rPr lang="en-US" sz="2800" dirty="0">
                <a:ea typeface="ＭＳ Ｐゴシック" pitchFamily="-84" charset="-128"/>
                <a:cs typeface="ＭＳ Ｐゴシック" pitchFamily="-84" charset="-128"/>
              </a:rPr>
              <a:t>Psychiatrists couldn’t distinguish interviews with PARRY from (text transcripts of) interviews with real paranoids</a:t>
            </a:r>
          </a:p>
          <a:p>
            <a:pPr lvl="1"/>
            <a:r>
              <a:rPr lang="en-US" sz="2800" dirty="0">
                <a:ea typeface="ＭＳ Ｐゴシック" pitchFamily="-84" charset="-128"/>
                <a:cs typeface="ＭＳ Ｐゴシック" pitchFamily="-84" charset="-128"/>
              </a:rPr>
              <a:t>Might say something about psychiatrists, though...</a:t>
            </a:r>
          </a:p>
        </p:txBody>
      </p:sp>
    </p:spTree>
    <p:extLst>
      <p:ext uri="{BB962C8B-B14F-4D97-AF65-F5344CB8AC3E}">
        <p14:creationId xmlns:p14="http://schemas.microsoft.com/office/powerpoint/2010/main" val="3320491874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Parry’s persona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8800"/>
            <a:ext cx="11018178" cy="4191000"/>
          </a:xfrm>
        </p:spPr>
        <p:txBody>
          <a:bodyPr>
            <a:normAutofit/>
          </a:bodyPr>
          <a:lstStyle/>
          <a:p>
            <a:r>
              <a:rPr lang="en-US" dirty="0"/>
              <a:t>28-year-old single man, post office clerk</a:t>
            </a:r>
          </a:p>
          <a:p>
            <a:r>
              <a:rPr lang="en-US" dirty="0"/>
              <a:t>no siblings and lives alone</a:t>
            </a:r>
          </a:p>
          <a:p>
            <a:r>
              <a:rPr lang="en-US" dirty="0"/>
              <a:t>sensitive about his physical appearance, his family, his religion, his education and the topic of sex.</a:t>
            </a:r>
          </a:p>
          <a:p>
            <a:r>
              <a:rPr lang="en-US" dirty="0"/>
              <a:t>hobbies are movies and gambling on horseracing, </a:t>
            </a:r>
          </a:p>
          <a:p>
            <a:r>
              <a:rPr lang="en-US" dirty="0"/>
              <a:t>recently attacked a bookie, claiming the bookie did not pay off in a bet. </a:t>
            </a:r>
          </a:p>
          <a:p>
            <a:r>
              <a:rPr lang="en-US" dirty="0"/>
              <a:t>afterwards worried about possible underworld retaliation</a:t>
            </a:r>
          </a:p>
          <a:p>
            <a:r>
              <a:rPr lang="en-US" dirty="0"/>
              <a:t>eager to tell his story to non-threating listeners. </a:t>
            </a:r>
          </a:p>
        </p:txBody>
      </p:sp>
    </p:spTree>
    <p:extLst>
      <p:ext uri="{BB962C8B-B14F-4D97-AF65-F5344CB8AC3E}">
        <p14:creationId xmlns:p14="http://schemas.microsoft.com/office/powerpoint/2010/main" val="1479545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complex I-O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User implies Parry is mentally ill</a:t>
            </a:r>
          </a:p>
          <a:p>
            <a:pPr lvl="1"/>
            <a:r>
              <a:rPr lang="en-US" dirty="0"/>
              <a:t>Rise in Fear and Anger</a:t>
            </a:r>
          </a:p>
          <a:p>
            <a:r>
              <a:rPr lang="en-US" dirty="0"/>
              <a:t>User mentions “Mafia” or associated concepts (“kill”):</a:t>
            </a:r>
          </a:p>
          <a:p>
            <a:pPr lvl="1"/>
            <a:r>
              <a:rPr lang="en-US" dirty="0"/>
              <a:t>First mention: rise in Fear</a:t>
            </a:r>
          </a:p>
          <a:p>
            <a:pPr lvl="1"/>
            <a:r>
              <a:rPr lang="en-US" dirty="0"/>
              <a:t>Later mentions: depends on willingness to discuss, which depends on current levels of Fear, Anger, Mistrust</a:t>
            </a:r>
          </a:p>
          <a:p>
            <a:r>
              <a:rPr lang="en-US" dirty="0"/>
              <a:t>User mentions Parry</a:t>
            </a:r>
          </a:p>
          <a:p>
            <a:pPr lvl="1"/>
            <a:r>
              <a:rPr lang="en-US" dirty="0"/>
              <a:t>Flattery (positive mention) </a:t>
            </a:r>
          </a:p>
          <a:p>
            <a:pPr lvl="2"/>
            <a:r>
              <a:rPr lang="en-US" dirty="0"/>
              <a:t>Decreases fear/anger if Mistrust is low</a:t>
            </a:r>
          </a:p>
          <a:p>
            <a:pPr lvl="2"/>
            <a:r>
              <a:rPr lang="en-US" dirty="0"/>
              <a:t>Increases Anger if </a:t>
            </a:r>
            <a:r>
              <a:rPr lang="en-US" dirty="0" err="1"/>
              <a:t>Mustrust</a:t>
            </a:r>
            <a:r>
              <a:rPr lang="en-US" dirty="0"/>
              <a:t> is high</a:t>
            </a:r>
          </a:p>
          <a:p>
            <a:pPr lvl="1"/>
            <a:r>
              <a:rPr lang="en-US" dirty="0"/>
              <a:t>User attitudes toward Parry</a:t>
            </a:r>
          </a:p>
          <a:p>
            <a:pPr lvl="2"/>
            <a:r>
              <a:rPr lang="en-US" dirty="0"/>
              <a:t>Negative attitudes (fear, disbelief) increase Fear/Anger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98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274640"/>
            <a:ext cx="7772400" cy="715961"/>
          </a:xfrm>
        </p:spPr>
        <p:txBody>
          <a:bodyPr/>
          <a:lstStyle/>
          <a:p>
            <a:pPr eaLnBrk="1" hangingPunct="1"/>
            <a:r>
              <a:rPr lang="en-US" dirty="0">
                <a:ea typeface="ＭＳ Ｐゴシック" pitchFamily="-84" charset="-128"/>
                <a:cs typeface="ＭＳ Ｐゴシック" pitchFamily="-84" charset="-128"/>
              </a:rPr>
              <a:t>A Parry conversation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371600"/>
            <a:ext cx="8153400" cy="5257800"/>
          </a:xfrm>
        </p:spPr>
        <p:txBody>
          <a:bodyPr rtlCol="0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(1) How are you today?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OK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(2)What is your name?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00B050"/>
                </a:solidFill>
              </a:rPr>
              <a:t>MY NAME IS FRANK SMITH. </a:t>
            </a:r>
          </a:p>
          <a:p>
            <a:pPr marL="0" indent="0">
              <a:buNone/>
            </a:pPr>
            <a:r>
              <a:rPr lang="en-US" dirty="0"/>
              <a:t>(3) How old are you?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TWENTY-EIGHT.</a:t>
            </a:r>
            <a:br>
              <a:rPr lang="en-US" dirty="0"/>
            </a:br>
            <a:r>
              <a:rPr lang="en-US" dirty="0"/>
              <a:t>(4) Are you married?</a:t>
            </a:r>
            <a:br>
              <a:rPr lang="en-US" dirty="0"/>
            </a:br>
            <a:r>
              <a:rPr lang="en-US" dirty="0"/>
              <a:t>       </a:t>
            </a:r>
            <a:r>
              <a:rPr lang="en-US" dirty="0">
                <a:solidFill>
                  <a:srgbClr val="00B050"/>
                </a:solidFill>
              </a:rPr>
              <a:t>NO.</a:t>
            </a:r>
            <a:br>
              <a:rPr lang="en-US" dirty="0"/>
            </a:br>
            <a:r>
              <a:rPr lang="en-US" dirty="0"/>
              <a:t>(5) What sort of work do you do?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00B050"/>
                </a:solidFill>
              </a:rPr>
              <a:t> I WORK IN THE POST OFFICE. </a:t>
            </a:r>
          </a:p>
          <a:p>
            <a:pPr marL="0" indent="0">
              <a:buNone/>
            </a:pPr>
            <a:r>
              <a:rPr lang="en-US" dirty="0"/>
              <a:t>(6) Why are you in the hospital?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 I SHOULDN’T BE HERE</a:t>
            </a:r>
          </a:p>
          <a:p>
            <a:pPr marL="0" indent="0">
              <a:buNone/>
            </a:pPr>
            <a:r>
              <a:rPr lang="en-US" dirty="0"/>
              <a:t>(7) Who brought you here?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 THE POLICE </a:t>
            </a:r>
          </a:p>
          <a:p>
            <a:pPr marL="0" indent="0">
              <a:buNone/>
            </a:pPr>
            <a:r>
              <a:rPr lang="en-US" sz="2400" i="1" dirty="0">
                <a:latin typeface="Arial" charset="0"/>
                <a:ea typeface="Arial" charset="0"/>
                <a:cs typeface="Arial" charset="0"/>
                <a:sym typeface="Wingdings"/>
              </a:rPr>
              <a:t>	[FEAR rises slightly because police linked in graph to MAFIA]</a:t>
            </a:r>
            <a:endParaRPr lang="en-US" sz="2400" i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9829800" y="242889"/>
            <a:ext cx="554038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495C828-2FF3-6648-A2D6-7100D8217081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12564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fear is high, the model won’t discuss its beliefs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438400" y="1447800"/>
            <a:ext cx="8229600" cy="54102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(1) Is the law after you?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THE LAW SHOULD GET THOSE ITALIAN CROOKS. </a:t>
            </a:r>
          </a:p>
          <a:p>
            <a:pPr marL="0" indent="0">
              <a:buNone/>
            </a:pPr>
            <a:r>
              <a:rPr lang="en-US" dirty="0"/>
              <a:t>(2) Do you mean the Mafia?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LET'S TALK ABOUT SOMETHING ELSE. </a:t>
            </a:r>
          </a:p>
          <a:p>
            <a:pPr marL="0" indent="0">
              <a:buNone/>
            </a:pPr>
            <a:r>
              <a:rPr lang="en-US" dirty="0"/>
              <a:t>(3) Are you afraid of the Mafia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I'D RATHER NOT DISCUSS IT.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[Fear is too high so Parry won’t talk about 'Mafia’.]</a:t>
            </a:r>
            <a:br>
              <a:rPr lang="en-US" dirty="0"/>
            </a:br>
            <a:r>
              <a:rPr lang="en-US" dirty="0"/>
              <a:t>(4) Perhaps you are paranoid about them?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00B050"/>
                </a:solidFill>
              </a:rPr>
              <a:t>YOU WANT TO KEEP ME IN THE HOSPITAL.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i="1" dirty="0">
                <a:solidFill>
                  <a:srgbClr val="0070C0"/>
                </a:solidFill>
              </a:rPr>
              <a:t>(The model interprets being called 'paranoid’ as an insult and as an intent to control, so ANGER &amp; FEAR rise)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5287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IR-based </a:t>
            </a:r>
            <a:r>
              <a:rPr lang="en-US" dirty="0" err="1"/>
              <a:t>chatbots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05000" y="1828800"/>
            <a:ext cx="8763000" cy="495300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Idea: Mine conversations of human chats or human-machine chats</a:t>
            </a:r>
          </a:p>
          <a:p>
            <a:pPr marL="319088" lvl="1" indent="0">
              <a:buNone/>
            </a:pPr>
            <a:r>
              <a:rPr lang="en-US" sz="3200" dirty="0"/>
              <a:t>Microblogs:   Twitter or Weibo (微博)</a:t>
            </a:r>
          </a:p>
          <a:p>
            <a:pPr marL="319088" lvl="1" indent="0">
              <a:buNone/>
            </a:pPr>
            <a:r>
              <a:rPr lang="en-US" sz="3200" dirty="0"/>
              <a:t>Movie dialogs</a:t>
            </a:r>
          </a:p>
          <a:p>
            <a:pPr marL="319088" lvl="1" indent="0">
              <a:buNone/>
            </a:pPr>
            <a:endParaRPr lang="en-US" sz="3200" dirty="0"/>
          </a:p>
          <a:p>
            <a:r>
              <a:rPr lang="en-US" dirty="0" err="1"/>
              <a:t>Cleverbot</a:t>
            </a:r>
            <a:r>
              <a:rPr lang="en-US" dirty="0"/>
              <a:t> (Carpenter 2017 http://</a:t>
            </a:r>
            <a:r>
              <a:rPr lang="en-US" dirty="0" err="1"/>
              <a:t>www.cleverbot.com</a:t>
            </a:r>
            <a:r>
              <a:rPr lang="en-US" dirty="0"/>
              <a:t>)</a:t>
            </a:r>
          </a:p>
          <a:p>
            <a:r>
              <a:rPr lang="en-US" dirty="0"/>
              <a:t>Microsoft </a:t>
            </a:r>
            <a:r>
              <a:rPr lang="en-US" dirty="0" err="1"/>
              <a:t>XiaoIce</a:t>
            </a:r>
            <a:endParaRPr lang="en-US" dirty="0"/>
          </a:p>
          <a:p>
            <a:r>
              <a:rPr lang="en-US" dirty="0"/>
              <a:t>Microsoft </a:t>
            </a:r>
            <a:r>
              <a:rPr lang="en-US" dirty="0" err="1"/>
              <a:t>Tay</a:t>
            </a:r>
            <a:endParaRPr lang="en-US" dirty="0"/>
          </a:p>
          <a:p>
            <a:pPr marL="319088" lvl="1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322681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8601"/>
            <a:ext cx="7772400" cy="715961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Cleverbot</a:t>
            </a:r>
            <a:r>
              <a:rPr lang="en-US" dirty="0"/>
              <a:t> conversation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1828800" y="1219200"/>
          <a:ext cx="8610600" cy="5562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User: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 Do you like Doctor Who?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Cleverbot</a:t>
                      </a:r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 Yes, so funny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User: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 What's your favorite show?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Cleverbot</a:t>
                      </a:r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 don't have one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User: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What's your name?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Cleverbot: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 Jason I already told you.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User: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 No your real name.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Cleverbot: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 Stephanie IS my real name.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User: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 I thought it was Jason?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Cleverbot: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 How did you come to that conclusion.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User: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 Because you said so.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Cleverbot: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 I have to do my homework.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7141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8FF10-DE53-7842-BE79-D780F5E74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A7230-47A8-BC4A-AD2B-BCCCE2B80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8475"/>
          </a:xfrm>
        </p:spPr>
        <p:txBody>
          <a:bodyPr/>
          <a:lstStyle/>
          <a:p>
            <a:r>
              <a:rPr lang="en-US" dirty="0"/>
              <a:t>Think of dialogue as a sequence of </a:t>
            </a:r>
            <a:r>
              <a:rPr lang="en-US" u="sng" dirty="0"/>
              <a:t>turn</a:t>
            </a:r>
            <a:r>
              <a:rPr lang="en-US" dirty="0"/>
              <a:t>s and </a:t>
            </a:r>
            <a:r>
              <a:rPr lang="en-US" u="sng" dirty="0"/>
              <a:t>response</a:t>
            </a:r>
            <a:r>
              <a:rPr lang="en-US" dirty="0"/>
              <a:t>s.</a:t>
            </a:r>
          </a:p>
          <a:p>
            <a:r>
              <a:rPr lang="en-US" dirty="0"/>
              <a:t>Every item is a turn, and every item is a response to the turn before it.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634A1-136B-2A40-B31A-5A475E0FCC12}"/>
              </a:ext>
            </a:extLst>
          </p:cNvPr>
          <p:cNvSpPr txBox="1"/>
          <p:nvPr/>
        </p:nvSpPr>
        <p:spPr>
          <a:xfrm>
            <a:off x="3429000" y="2934771"/>
            <a:ext cx="643887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good morning 😊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morning </a:t>
            </a:r>
            <a:r>
              <a:rPr lang="en-US" dirty="0" err="1"/>
              <a:t>hun</a:t>
            </a:r>
            <a:r>
              <a:rPr lang="en-US" dirty="0"/>
              <a:t>. How are you this morning?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I'm good thank you. How are you?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doing good, very cold </a:t>
            </a:r>
            <a:r>
              <a:rPr lang="en-US" dirty="0" err="1"/>
              <a:t>tho</a:t>
            </a:r>
            <a:r>
              <a:rPr lang="en-US" dirty="0"/>
              <a:t> lol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raining like crazy here.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Hate rain 👎🏻 that mixed with cold. The other day it was pouring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yeah, I'm with you. Lol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Hope you have a great day and a warm one :)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 will, thank you. Be safe and have a wonderful day 😊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You too </a:t>
            </a:r>
            <a:r>
              <a:rPr lang="en-US" dirty="0" err="1"/>
              <a:t>hun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FC5FF-5CE3-D24D-909B-247CA9E796A0}"/>
              </a:ext>
            </a:extLst>
          </p:cNvPr>
          <p:cNvSpPr/>
          <p:nvPr/>
        </p:nvSpPr>
        <p:spPr>
          <a:xfrm>
            <a:off x="450722" y="6233494"/>
            <a:ext cx="88009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Twitter data from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Phylliida</a:t>
            </a:r>
            <a:r>
              <a:rPr lang="en-US" dirty="0"/>
              <a:t>/Dialogue-Datasets – so much of it was NSFW!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8E822E-3A7D-9949-94BF-1F9D16AA1698}"/>
              </a:ext>
            </a:extLst>
          </p:cNvPr>
          <p:cNvGrpSpPr/>
          <p:nvPr/>
        </p:nvGrpSpPr>
        <p:grpSpPr>
          <a:xfrm>
            <a:off x="2476795" y="3446988"/>
            <a:ext cx="952205" cy="369332"/>
            <a:chOff x="1244895" y="3518455"/>
            <a:chExt cx="952205" cy="369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F3A8F9-592A-1E4C-A0C8-17E7C4BC06EF}"/>
                </a:ext>
              </a:extLst>
            </p:cNvPr>
            <p:cNvSpPr txBox="1"/>
            <p:nvPr/>
          </p:nvSpPr>
          <p:spPr>
            <a:xfrm>
              <a:off x="1244895" y="3518455"/>
              <a:ext cx="5854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turn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AFC9F0D-3A14-3F4D-8ADE-1099D05AE183}"/>
                </a:ext>
              </a:extLst>
            </p:cNvPr>
            <p:cNvCxnSpPr/>
            <p:nvPr/>
          </p:nvCxnSpPr>
          <p:spPr>
            <a:xfrm>
              <a:off x="1739879" y="3708400"/>
              <a:ext cx="45722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DAA598-A5B2-4B42-9907-9C67C1088831}"/>
              </a:ext>
            </a:extLst>
          </p:cNvPr>
          <p:cNvGrpSpPr/>
          <p:nvPr/>
        </p:nvGrpSpPr>
        <p:grpSpPr>
          <a:xfrm>
            <a:off x="1132719" y="3747820"/>
            <a:ext cx="2296281" cy="369332"/>
            <a:chOff x="1244895" y="3518455"/>
            <a:chExt cx="2296281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144EEF8-CDA1-E241-909B-B754905809AF}"/>
                </a:ext>
              </a:extLst>
            </p:cNvPr>
            <p:cNvSpPr txBox="1"/>
            <p:nvPr/>
          </p:nvSpPr>
          <p:spPr>
            <a:xfrm>
              <a:off x="1244895" y="3518455"/>
              <a:ext cx="1910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response to turn 3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C17F4F3-7306-6142-A73F-15BFB6FD1ADD}"/>
                </a:ext>
              </a:extLst>
            </p:cNvPr>
            <p:cNvCxnSpPr/>
            <p:nvPr/>
          </p:nvCxnSpPr>
          <p:spPr>
            <a:xfrm>
              <a:off x="3083955" y="3703121"/>
              <a:ext cx="45722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687588-7FC1-1E4D-A1D0-0040A3CDD253}"/>
              </a:ext>
            </a:extLst>
          </p:cNvPr>
          <p:cNvGrpSpPr/>
          <p:nvPr/>
        </p:nvGrpSpPr>
        <p:grpSpPr>
          <a:xfrm>
            <a:off x="1132719" y="4000960"/>
            <a:ext cx="2296281" cy="369332"/>
            <a:chOff x="1244895" y="3518455"/>
            <a:chExt cx="2296281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96A643-4FB2-7B40-AF96-E080966A69D0}"/>
                </a:ext>
              </a:extLst>
            </p:cNvPr>
            <p:cNvSpPr txBox="1"/>
            <p:nvPr/>
          </p:nvSpPr>
          <p:spPr>
            <a:xfrm>
              <a:off x="1244895" y="3518455"/>
              <a:ext cx="1910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response to turn 4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585C112-B313-1B4F-B394-5C057D85BF75}"/>
                </a:ext>
              </a:extLst>
            </p:cNvPr>
            <p:cNvCxnSpPr/>
            <p:nvPr/>
          </p:nvCxnSpPr>
          <p:spPr>
            <a:xfrm>
              <a:off x="3083955" y="3703121"/>
              <a:ext cx="45722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37596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74640"/>
            <a:ext cx="7772400" cy="868361"/>
          </a:xfrm>
        </p:spPr>
        <p:txBody>
          <a:bodyPr>
            <a:normAutofit fontScale="90000"/>
          </a:bodyPr>
          <a:lstStyle/>
          <a:p>
            <a:r>
              <a:rPr lang="en-US" dirty="0"/>
              <a:t>Two IR-based </a:t>
            </a:r>
            <a:r>
              <a:rPr lang="en-US" dirty="0" err="1"/>
              <a:t>chatbot</a:t>
            </a:r>
            <a:r>
              <a:rPr lang="en-US" dirty="0"/>
              <a:t>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Similar </a:t>
            </a:r>
            <a:r>
              <a:rPr lang="en-US" u="sng" dirty="0"/>
              <a:t>Response</a:t>
            </a:r>
            <a:r>
              <a:rPr lang="en-US" dirty="0"/>
              <a:t>: Return the response to the most similar turn </a:t>
            </a:r>
          </a:p>
          <a:p>
            <a:pPr lvl="1"/>
            <a:r>
              <a:rPr lang="en-US" dirty="0"/>
              <a:t>Take user's turn (</a:t>
            </a:r>
            <a:r>
              <a:rPr lang="en-US" i="1" dirty="0"/>
              <a:t>q</a:t>
            </a:r>
            <a:r>
              <a:rPr lang="en-US" dirty="0"/>
              <a:t>) and find a similar turn </a:t>
            </a:r>
            <a:r>
              <a:rPr lang="en-US" i="1" dirty="0"/>
              <a:t>t</a:t>
            </a:r>
            <a:r>
              <a:rPr lang="en-US" dirty="0"/>
              <a:t> (cosine over </a:t>
            </a:r>
            <a:r>
              <a:rPr lang="en-US" dirty="0" err="1"/>
              <a:t>tf-idf</a:t>
            </a:r>
            <a:r>
              <a:rPr lang="en-US" dirty="0"/>
              <a:t> or sentence embedding) in the corpus C</a:t>
            </a:r>
          </a:p>
          <a:p>
            <a:pPr marL="319088" lvl="1" indent="0">
              <a:buNone/>
            </a:pPr>
            <a:r>
              <a:rPr lang="en-US" i="1" dirty="0"/>
              <a:t>                         q = "do you like Doctor Who"</a:t>
            </a:r>
          </a:p>
          <a:p>
            <a:pPr marL="319088" lvl="1" indent="0">
              <a:buNone/>
            </a:pPr>
            <a:r>
              <a:rPr lang="en-US" i="1" dirty="0"/>
              <a:t>		   t = "do you like Doctor Strangelove"</a:t>
            </a:r>
          </a:p>
          <a:p>
            <a:pPr lvl="1"/>
            <a:r>
              <a:rPr lang="en-US" dirty="0"/>
              <a:t>Grab whatever the response was to </a:t>
            </a:r>
            <a:r>
              <a:rPr lang="en-US" i="1" dirty="0"/>
              <a:t>t</a:t>
            </a:r>
            <a:r>
              <a:rPr lang="en-US" dirty="0"/>
              <a:t>.</a:t>
            </a:r>
          </a:p>
          <a:p>
            <a:pPr lvl="8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Similar </a:t>
            </a:r>
            <a:r>
              <a:rPr lang="en-US" u="sng" dirty="0"/>
              <a:t>Turn</a:t>
            </a:r>
            <a:r>
              <a:rPr lang="en-US" dirty="0"/>
              <a:t>: Return the most similar turn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2701" y="4053024"/>
            <a:ext cx="4141112" cy="9130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2701" y="5410336"/>
            <a:ext cx="2736851" cy="10083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0365" y="5575939"/>
            <a:ext cx="338188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"/>
            <a:r>
              <a:rPr lang="en-US" sz="2000" dirty="0">
                <a:solidFill>
                  <a:srgbClr val="0070C0"/>
                </a:solidFill>
              </a:rPr>
              <a:t>Do you like Doctor Strangelove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131227" y="4221813"/>
            <a:ext cx="17983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"/>
            <a:r>
              <a:rPr lang="en-US" sz="2400" dirty="0">
                <a:solidFill>
                  <a:srgbClr val="0070C0"/>
                </a:solidFill>
              </a:rPr>
              <a:t>Yes, so funny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3438E4-431C-6442-B54D-62E2617E6026}"/>
              </a:ext>
            </a:extLst>
          </p:cNvPr>
          <p:cNvSpPr/>
          <p:nvPr/>
        </p:nvSpPr>
        <p:spPr>
          <a:xfrm>
            <a:off x="0" y="5133442"/>
            <a:ext cx="10947400" cy="1562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63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75121-7151-3D4E-9FFB-F75C2DA3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2D217-A127-CC4D-8918-825635B08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2517775"/>
          </a:xfrm>
        </p:spPr>
        <p:txBody>
          <a:bodyPr>
            <a:normAutofit/>
          </a:bodyPr>
          <a:lstStyle/>
          <a:p>
            <a:r>
              <a:rPr lang="en-US" sz="2400" dirty="0"/>
              <a:t>Similar turn seems more likely to work, intuitively</a:t>
            </a:r>
          </a:p>
          <a:p>
            <a:r>
              <a:rPr lang="en-US" sz="2400" dirty="0"/>
              <a:t>However, noise creeps in: similar turn isn't the same, and response is response to something else.</a:t>
            </a:r>
          </a:p>
          <a:p>
            <a:r>
              <a:rPr lang="en-US" sz="2400" dirty="0"/>
              <a:t>Results from "Data-Driven Response Generation in Social Media" (Ritter et al. 2011):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B4E0E3-1797-D14C-B954-0CA374194C4C}"/>
              </a:ext>
            </a:extLst>
          </p:cNvPr>
          <p:cNvGraphicFramePr>
            <a:graphicFrameLocks noGrp="1"/>
          </p:cNvGraphicFramePr>
          <p:nvPr/>
        </p:nvGraphicFramePr>
        <p:xfrm>
          <a:off x="520699" y="3577196"/>
          <a:ext cx="11150601" cy="3280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6867">
                  <a:extLst>
                    <a:ext uri="{9D8B030D-6E8A-4147-A177-3AD203B41FA5}">
                      <a16:colId xmlns:a16="http://schemas.microsoft.com/office/drawing/2014/main" val="3436236150"/>
                    </a:ext>
                  </a:extLst>
                </a:gridCol>
                <a:gridCol w="3716867">
                  <a:extLst>
                    <a:ext uri="{9D8B030D-6E8A-4147-A177-3AD203B41FA5}">
                      <a16:colId xmlns:a16="http://schemas.microsoft.com/office/drawing/2014/main" val="3968511149"/>
                    </a:ext>
                  </a:extLst>
                </a:gridCol>
                <a:gridCol w="3716867">
                  <a:extLst>
                    <a:ext uri="{9D8B030D-6E8A-4147-A177-3AD203B41FA5}">
                      <a16:colId xmlns:a16="http://schemas.microsoft.com/office/drawing/2014/main" val="3905281402"/>
                    </a:ext>
                  </a:extLst>
                </a:gridCol>
              </a:tblGrid>
              <a:tr h="352771">
                <a:tc>
                  <a:txBody>
                    <a:bodyPr/>
                    <a:lstStyle/>
                    <a:p>
                      <a:r>
                        <a:rPr lang="en-US" dirty="0"/>
                        <a:t>Turn (prompt)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Turn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988511"/>
                  </a:ext>
                </a:extLst>
              </a:tr>
              <a:tr h="1130799">
                <a:tc>
                  <a:txBody>
                    <a:bodyPr/>
                    <a:lstStyle/>
                    <a:p>
                      <a:r>
                        <a:rPr lang="en-US" dirty="0"/>
                        <a:t>riding to the arc on my bike. Hopefully I won’t melt into the pavement.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grab some refreshing drinks ... and a towel ... lol ... then eat ice cream and </a:t>
                      </a:r>
                      <a:r>
                        <a:rPr lang="en-US" dirty="0" err="1"/>
                        <a:t>suika</a:t>
                      </a:r>
                      <a:r>
                        <a:rPr lang="en-US" dirty="0"/>
                        <a:t> later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 sure the cup wo </a:t>
                      </a:r>
                      <a:r>
                        <a:rPr lang="en-US" dirty="0" err="1"/>
                        <a:t>n’t</a:t>
                      </a:r>
                      <a:r>
                        <a:rPr lang="en-US" dirty="0"/>
                        <a:t> melt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781114"/>
                  </a:ext>
                </a:extLst>
              </a:tr>
              <a:tr h="869845">
                <a:tc>
                  <a:txBody>
                    <a:bodyPr/>
                    <a:lstStyle/>
                    <a:p>
                      <a:r>
                        <a:rPr lang="en-US" dirty="0"/>
                        <a:t>I really hate watching movies in the living room.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:( cheer up ! you need to invest in one of those turbo fans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someone was watching in the living room </a:t>
                      </a:r>
                      <a:r>
                        <a:rPr lang="en-US" dirty="0" err="1"/>
                        <a:t>kasi</a:t>
                      </a:r>
                      <a:r>
                        <a:rPr lang="en-US" dirty="0"/>
                        <a:t> e . :)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was too lazy to go up to my room 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560856"/>
                  </a:ext>
                </a:extLst>
              </a:tr>
              <a:tr h="869845">
                <a:tc>
                  <a:txBody>
                    <a:bodyPr/>
                    <a:lstStyle/>
                    <a:p>
                      <a:r>
                        <a:rPr lang="en-US" dirty="0"/>
                        <a:t>Hello Did I miss David Getting his teen choice award? Or did they not show 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did </a:t>
                      </a:r>
                      <a:r>
                        <a:rPr lang="en-US" dirty="0" err="1"/>
                        <a:t>n’t</a:t>
                      </a:r>
                      <a:r>
                        <a:rPr lang="en-US" dirty="0"/>
                        <a:t> show yet -ha- -lol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 they </a:t>
                      </a:r>
                      <a:r>
                        <a:rPr lang="en-US" dirty="0" err="1"/>
                        <a:t>gon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na</a:t>
                      </a:r>
                      <a:r>
                        <a:rPr lang="en-US" dirty="0"/>
                        <a:t> show teen choice awards again ?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missed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930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31909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E8C2-BC43-1946-8021-3C3B5D23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Approach: MT-based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9BE85-69FF-8D4D-A102-D0211C22D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075"/>
            <a:ext cx="10515600" cy="2926257"/>
          </a:xfrm>
        </p:spPr>
        <p:txBody>
          <a:bodyPr>
            <a:normAutofit/>
          </a:bodyPr>
          <a:lstStyle/>
          <a:p>
            <a:r>
              <a:rPr lang="en-US" sz="2000" dirty="0"/>
              <a:t>Build a "parallel corpus" and treat the entire task like machine translation</a:t>
            </a:r>
          </a:p>
          <a:p>
            <a:r>
              <a:rPr lang="en-US" sz="2000" dirty="0"/>
              <a:t>This was done pre-neural MT, so alignment had to be dealt with; another method for determining phrase pairs was used (Fisher's exact test; don't worry about details)</a:t>
            </a:r>
          </a:p>
          <a:p>
            <a:r>
              <a:rPr lang="en-US" sz="2000" dirty="0"/>
              <a:t>Works pretty well, empirically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71DEFA-6435-5A46-B3AE-7120A13DB7E1}"/>
              </a:ext>
            </a:extLst>
          </p:cNvPr>
          <p:cNvGraphicFramePr>
            <a:graphicFrameLocks noGrp="1"/>
          </p:cNvGraphicFramePr>
          <p:nvPr/>
        </p:nvGraphicFramePr>
        <p:xfrm>
          <a:off x="2886440" y="2825203"/>
          <a:ext cx="8128000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1504319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31810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441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good morning 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morning </a:t>
                      </a:r>
                      <a:r>
                        <a:rPr lang="en-US" dirty="0" err="1"/>
                        <a:t>hun</a:t>
                      </a:r>
                      <a:r>
                        <a:rPr lang="en-US" dirty="0"/>
                        <a:t>. How are you this morning?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087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morning </a:t>
                      </a:r>
                      <a:r>
                        <a:rPr lang="en-US" dirty="0" err="1"/>
                        <a:t>hun</a:t>
                      </a:r>
                      <a:r>
                        <a:rPr lang="en-US" dirty="0"/>
                        <a:t>. How are you this morning?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I'm good thank you. How are you?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I'm good thank you. How are you?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doing good, very cold </a:t>
                      </a:r>
                      <a:r>
                        <a:rPr lang="en-US" dirty="0" err="1"/>
                        <a:t>tho</a:t>
                      </a:r>
                      <a:r>
                        <a:rPr lang="en-US" dirty="0"/>
                        <a:t> lol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86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doing good, very cold </a:t>
                      </a:r>
                      <a:r>
                        <a:rPr lang="en-US" dirty="0" err="1"/>
                        <a:t>tho</a:t>
                      </a:r>
                      <a:r>
                        <a:rPr lang="en-US" dirty="0"/>
                        <a:t> lol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raining like crazy here.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9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raining like crazy here.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Hate rain 👎🏻 that mixed with cold. The other day it was pouring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70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Hate rain 👎🏻 that mixed with cold. The other day it was pouring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yeah, I'm with you. Lol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75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yeah, I'm with you. Lol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Hope you have a great day and a warm one :)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113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5691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E8C2-BC43-1946-8021-3C3B5D23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Evaluations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9BE85-69FF-8D4D-A102-D0211C22D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88" y="1532864"/>
            <a:ext cx="10515600" cy="2926257"/>
          </a:xfrm>
        </p:spPr>
        <p:txBody>
          <a:bodyPr>
            <a:normAutofit/>
          </a:bodyPr>
          <a:lstStyle/>
          <a:p>
            <a:r>
              <a:rPr lang="en-US" sz="2400" dirty="0"/>
              <a:t>Note: BLEU not informative, though it ends up getting used a lot as it's better than nothing (but not much)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5FD9C7-B079-6847-B0A0-C93D5B4F2954}"/>
              </a:ext>
            </a:extLst>
          </p:cNvPr>
          <p:cNvGraphicFramePr>
            <a:graphicFrameLocks noGrp="1"/>
          </p:cNvGraphicFramePr>
          <p:nvPr/>
        </p:nvGraphicFramePr>
        <p:xfrm>
          <a:off x="686842" y="2316480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2488623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4120428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55448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System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 A preferred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716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186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52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Similar 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928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589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77867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76EDC5-C84B-3A4A-A4AB-EDC8872CABBA}"/>
              </a:ext>
            </a:extLst>
          </p:cNvPr>
          <p:cNvGraphicFramePr>
            <a:graphicFrameLocks noGrp="1"/>
          </p:cNvGraphicFramePr>
          <p:nvPr/>
        </p:nvGraphicFramePr>
        <p:xfrm>
          <a:off x="4047969" y="4699760"/>
          <a:ext cx="314731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067">
                  <a:extLst>
                    <a:ext uri="{9D8B030D-6E8A-4147-A177-3AD203B41FA5}">
                      <a16:colId xmlns:a16="http://schemas.microsoft.com/office/drawing/2014/main" val="3052441085"/>
                    </a:ext>
                  </a:extLst>
                </a:gridCol>
                <a:gridCol w="1154243">
                  <a:extLst>
                    <a:ext uri="{9D8B030D-6E8A-4147-A177-3AD203B41FA5}">
                      <a16:colId xmlns:a16="http://schemas.microsoft.com/office/drawing/2014/main" val="862933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BLEU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338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Similar 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1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Similar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766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99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942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8429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DECC81-F6F1-614D-94A6-2A7378F99E00}"/>
              </a:ext>
            </a:extLst>
          </p:cNvPr>
          <p:cNvGraphicFramePr>
            <a:graphicFrameLocks noGrp="1"/>
          </p:cNvGraphicFramePr>
          <p:nvPr/>
        </p:nvGraphicFramePr>
        <p:xfrm>
          <a:off x="520701" y="456952"/>
          <a:ext cx="1115059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8433">
                  <a:extLst>
                    <a:ext uri="{9D8B030D-6E8A-4147-A177-3AD203B41FA5}">
                      <a16:colId xmlns:a16="http://schemas.microsoft.com/office/drawing/2014/main" val="3436236150"/>
                    </a:ext>
                  </a:extLst>
                </a:gridCol>
                <a:gridCol w="1858433">
                  <a:extLst>
                    <a:ext uri="{9D8B030D-6E8A-4147-A177-3AD203B41FA5}">
                      <a16:colId xmlns:a16="http://schemas.microsoft.com/office/drawing/2014/main" val="3968511149"/>
                    </a:ext>
                  </a:extLst>
                </a:gridCol>
                <a:gridCol w="1858433">
                  <a:extLst>
                    <a:ext uri="{9D8B030D-6E8A-4147-A177-3AD203B41FA5}">
                      <a16:colId xmlns:a16="http://schemas.microsoft.com/office/drawing/2014/main" val="3905281402"/>
                    </a:ext>
                  </a:extLst>
                </a:gridCol>
                <a:gridCol w="1858433">
                  <a:extLst>
                    <a:ext uri="{9D8B030D-6E8A-4147-A177-3AD203B41FA5}">
                      <a16:colId xmlns:a16="http://schemas.microsoft.com/office/drawing/2014/main" val="3954481378"/>
                    </a:ext>
                  </a:extLst>
                </a:gridCol>
                <a:gridCol w="1858433">
                  <a:extLst>
                    <a:ext uri="{9D8B030D-6E8A-4147-A177-3AD203B41FA5}">
                      <a16:colId xmlns:a16="http://schemas.microsoft.com/office/drawing/2014/main" val="2721758527"/>
                    </a:ext>
                  </a:extLst>
                </a:gridCol>
                <a:gridCol w="1858433">
                  <a:extLst>
                    <a:ext uri="{9D8B030D-6E8A-4147-A177-3AD203B41FA5}">
                      <a16:colId xmlns:a16="http://schemas.microsoft.com/office/drawing/2014/main" val="2781891639"/>
                    </a:ext>
                  </a:extLst>
                </a:gridCol>
              </a:tblGrid>
              <a:tr h="352771">
                <a:tc>
                  <a:txBody>
                    <a:bodyPr/>
                    <a:lstStyle/>
                    <a:p>
                      <a:r>
                        <a:rPr lang="en-US" dirty="0"/>
                        <a:t>Turn (prompt)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Turn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988511"/>
                  </a:ext>
                </a:extLst>
              </a:tr>
              <a:tr h="1130799">
                <a:tc>
                  <a:txBody>
                    <a:bodyPr/>
                    <a:lstStyle/>
                    <a:p>
                      <a:r>
                        <a:rPr lang="en-US" dirty="0"/>
                        <a:t>riding to the arc on my bike. Hopefully I won’t melt into the pavement.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grab some refreshing drinks ... and a towel ... lol ... then eat ice cream and </a:t>
                      </a:r>
                      <a:r>
                        <a:rPr lang="en-US" dirty="0" err="1"/>
                        <a:t>suika</a:t>
                      </a:r>
                      <a:r>
                        <a:rPr lang="en-US" dirty="0"/>
                        <a:t> later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 sure the cup wo </a:t>
                      </a:r>
                      <a:r>
                        <a:rPr lang="en-US" dirty="0" err="1"/>
                        <a:t>n’t</a:t>
                      </a:r>
                      <a:r>
                        <a:rPr lang="en-US" dirty="0"/>
                        <a:t> melt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luck on your bike ride arc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 sure to ride in the middle of the 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lmfaoooo</a:t>
                      </a:r>
                      <a:r>
                        <a:rPr lang="en-US" dirty="0"/>
                        <a:t> 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781114"/>
                  </a:ext>
                </a:extLst>
              </a:tr>
              <a:tr h="869845">
                <a:tc>
                  <a:txBody>
                    <a:bodyPr/>
                    <a:lstStyle/>
                    <a:p>
                      <a:r>
                        <a:rPr lang="en-US" dirty="0"/>
                        <a:t>I really hate watching movies in the living room.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:( cheer up ! you need to invest in one of those turbo fans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someone was watching in the living room </a:t>
                      </a:r>
                      <a:r>
                        <a:rPr lang="en-US" dirty="0" err="1"/>
                        <a:t>kasi</a:t>
                      </a:r>
                      <a:r>
                        <a:rPr lang="en-US" dirty="0"/>
                        <a:t> e . :)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was too lazy to go up to my room 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 too , what movies are you doing in room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Why? no comfy spots or just too open to 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fazendo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oq</a:t>
                      </a:r>
                      <a:r>
                        <a:rPr lang="en-US" dirty="0"/>
                        <a:t>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560856"/>
                  </a:ext>
                </a:extLst>
              </a:tr>
              <a:tr h="869845">
                <a:tc>
                  <a:txBody>
                    <a:bodyPr/>
                    <a:lstStyle/>
                    <a:p>
                      <a:r>
                        <a:rPr lang="en-US" dirty="0"/>
                        <a:t>Hello Did I miss David Getting his teen choice award? Or did they not show 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did </a:t>
                      </a:r>
                      <a:r>
                        <a:rPr lang="en-US" dirty="0" err="1"/>
                        <a:t>n’t</a:t>
                      </a:r>
                      <a:r>
                        <a:rPr lang="en-US" dirty="0"/>
                        <a:t> show yet -ha- -lol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 they </a:t>
                      </a:r>
                      <a:r>
                        <a:rPr lang="en-US" dirty="0" err="1"/>
                        <a:t>gon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na</a:t>
                      </a:r>
                      <a:r>
                        <a:rPr lang="en-US" dirty="0"/>
                        <a:t> show teen choice awards again ?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missed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hello miss ? * he was getting his will probably 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nothing yet...he presented though he is so darn 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 wish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930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4221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BAE3-21EE-084B-83B8-D72D4963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</a:t>
            </a:r>
            <a:r>
              <a:rPr lang="en-US" dirty="0" err="1"/>
              <a:t>ChatBots</a:t>
            </a:r>
            <a:r>
              <a:rPr lang="en-US" dirty="0"/>
              <a:t> is Hard!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ED0BA-AF80-A244-8C42-E539C1631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have used BLEU and variants, but they are really bad since they assume a ground truth</a:t>
            </a:r>
          </a:p>
          <a:p>
            <a:r>
              <a:rPr lang="en-US" dirty="0"/>
              <a:t>Human metrics have all the same problems humans usually have (inconsistent, expensive); can measure length of engagement, can ask opinion...</a:t>
            </a:r>
          </a:p>
          <a:p>
            <a:r>
              <a:rPr lang="en-US" dirty="0"/>
              <a:t>Increasingly using LLM as judge, other unsatisfying measures</a:t>
            </a:r>
          </a:p>
          <a:p>
            <a:r>
              <a:rPr lang="en-US" dirty="0"/>
              <a:t>If you have access to a large user pool (e.g. you are a company) you can use engagement as a proxy</a:t>
            </a:r>
          </a:p>
        </p:txBody>
      </p:sp>
    </p:spTree>
    <p:extLst>
      <p:ext uri="{BB962C8B-B14F-4D97-AF65-F5344CB8AC3E}">
        <p14:creationId xmlns:p14="http://schemas.microsoft.com/office/powerpoint/2010/main" val="28157528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187824" y="255494"/>
            <a:ext cx="9144000" cy="1777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Seq2Seq Models for Response Generation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4653" y="4629837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1236918" y="4744827"/>
            <a:ext cx="494907" cy="84842"/>
            <a:chOff x="2375398" y="5125821"/>
            <a:chExt cx="494907" cy="84842"/>
          </a:xfrm>
        </p:grpSpPr>
        <p:sp>
          <p:nvSpPr>
            <p:cNvPr id="29" name="Oval 28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1147010" y="3621942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4" name="Group 33"/>
          <p:cNvGrpSpPr/>
          <p:nvPr/>
        </p:nvGrpSpPr>
        <p:grpSpPr>
          <a:xfrm>
            <a:off x="1239275" y="3736932"/>
            <a:ext cx="494907" cy="84842"/>
            <a:chOff x="2375398" y="5125821"/>
            <a:chExt cx="494907" cy="84842"/>
          </a:xfrm>
        </p:grpSpPr>
        <p:sp>
          <p:nvSpPr>
            <p:cNvPr id="35" name="Oval 34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/>
          <p:cNvSpPr/>
          <p:nvPr/>
        </p:nvSpPr>
        <p:spPr>
          <a:xfrm>
            <a:off x="2152516" y="4632063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0" name="Group 39"/>
          <p:cNvGrpSpPr/>
          <p:nvPr/>
        </p:nvGrpSpPr>
        <p:grpSpPr>
          <a:xfrm>
            <a:off x="2244781" y="4747053"/>
            <a:ext cx="494907" cy="84842"/>
            <a:chOff x="2375398" y="5125821"/>
            <a:chExt cx="494907" cy="84842"/>
          </a:xfrm>
        </p:grpSpPr>
        <p:sp>
          <p:nvSpPr>
            <p:cNvPr id="41" name="Oval 40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/>
          <p:cNvSpPr/>
          <p:nvPr/>
        </p:nvSpPr>
        <p:spPr>
          <a:xfrm>
            <a:off x="3125867" y="4623377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" name="Group 45"/>
          <p:cNvGrpSpPr/>
          <p:nvPr/>
        </p:nvGrpSpPr>
        <p:grpSpPr>
          <a:xfrm>
            <a:off x="3218132" y="4738367"/>
            <a:ext cx="494907" cy="84842"/>
            <a:chOff x="2375398" y="5125821"/>
            <a:chExt cx="494907" cy="84842"/>
          </a:xfrm>
        </p:grpSpPr>
        <p:sp>
          <p:nvSpPr>
            <p:cNvPr id="47" name="Oval 46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Rectangle 50"/>
          <p:cNvSpPr/>
          <p:nvPr/>
        </p:nvSpPr>
        <p:spPr>
          <a:xfrm>
            <a:off x="4145351" y="4623377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2" name="Group 51"/>
          <p:cNvGrpSpPr/>
          <p:nvPr/>
        </p:nvGrpSpPr>
        <p:grpSpPr>
          <a:xfrm>
            <a:off x="4237616" y="4738367"/>
            <a:ext cx="494907" cy="84842"/>
            <a:chOff x="2375398" y="5125821"/>
            <a:chExt cx="494907" cy="84842"/>
          </a:xfrm>
        </p:grpSpPr>
        <p:sp>
          <p:nvSpPr>
            <p:cNvPr id="53" name="Oval 52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/>
          <p:cNvSpPr/>
          <p:nvPr/>
        </p:nvSpPr>
        <p:spPr>
          <a:xfrm>
            <a:off x="2155397" y="3626272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/>
          <p:cNvGrpSpPr/>
          <p:nvPr/>
        </p:nvGrpSpPr>
        <p:grpSpPr>
          <a:xfrm>
            <a:off x="2247662" y="3741262"/>
            <a:ext cx="494907" cy="84842"/>
            <a:chOff x="2375398" y="5125821"/>
            <a:chExt cx="494907" cy="84842"/>
          </a:xfrm>
        </p:grpSpPr>
        <p:sp>
          <p:nvSpPr>
            <p:cNvPr id="59" name="Oval 58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Rectangle 62"/>
          <p:cNvSpPr/>
          <p:nvPr/>
        </p:nvSpPr>
        <p:spPr>
          <a:xfrm>
            <a:off x="3139080" y="3617796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4" name="Group 63"/>
          <p:cNvGrpSpPr/>
          <p:nvPr/>
        </p:nvGrpSpPr>
        <p:grpSpPr>
          <a:xfrm>
            <a:off x="3231345" y="3732786"/>
            <a:ext cx="494907" cy="84842"/>
            <a:chOff x="2375398" y="5125821"/>
            <a:chExt cx="494907" cy="84842"/>
          </a:xfrm>
        </p:grpSpPr>
        <p:sp>
          <p:nvSpPr>
            <p:cNvPr id="65" name="Oval 64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Rectangle 68"/>
          <p:cNvSpPr/>
          <p:nvPr/>
        </p:nvSpPr>
        <p:spPr>
          <a:xfrm>
            <a:off x="4145919" y="3614697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0" name="Straight Arrow Connector 69"/>
          <p:cNvCxnSpPr/>
          <p:nvPr/>
        </p:nvCxnSpPr>
        <p:spPr>
          <a:xfrm flipV="1">
            <a:off x="1475189" y="3930494"/>
            <a:ext cx="2357" cy="699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V="1">
            <a:off x="2483052" y="3934824"/>
            <a:ext cx="2881" cy="6972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3456403" y="3926348"/>
            <a:ext cx="13213" cy="697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4475887" y="3923249"/>
            <a:ext cx="568" cy="700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1808081" y="3776218"/>
            <a:ext cx="347316" cy="43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V="1">
            <a:off x="2816468" y="3772072"/>
            <a:ext cx="322612" cy="84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3800151" y="3768973"/>
            <a:ext cx="345768" cy="3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4228432" y="3722344"/>
            <a:ext cx="494907" cy="84842"/>
            <a:chOff x="2375398" y="5125821"/>
            <a:chExt cx="494907" cy="84842"/>
          </a:xfrm>
        </p:grpSpPr>
        <p:sp>
          <p:nvSpPr>
            <p:cNvPr id="78" name="Oval 77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" name="Rectangle 81"/>
          <p:cNvSpPr/>
          <p:nvPr/>
        </p:nvSpPr>
        <p:spPr>
          <a:xfrm>
            <a:off x="1148777" y="5072280"/>
            <a:ext cx="646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Palatino Linotype" panose="02040502050505030304" pitchFamily="18" charset="0"/>
              </a:rPr>
              <a:t>how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37025" y="5094848"/>
            <a:ext cx="505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Palatino Linotype" panose="02040502050505030304" pitchFamily="18" charset="0"/>
              </a:rPr>
              <a:t>are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73438" y="5094848"/>
            <a:ext cx="582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Palatino Linotype" panose="02040502050505030304" pitchFamily="18" charset="0"/>
              </a:rPr>
              <a:t>you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94759" y="5095430"/>
            <a:ext cx="287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Palatino Linotype" panose="02040502050505030304" pitchFamily="18" charset="0"/>
              </a:rPr>
              <a:t>?</a:t>
            </a:r>
          </a:p>
        </p:txBody>
      </p:sp>
      <p:cxnSp>
        <p:nvCxnSpPr>
          <p:cNvPr id="87" name="Straight Arrow Connector 86"/>
          <p:cNvCxnSpPr/>
          <p:nvPr/>
        </p:nvCxnSpPr>
        <p:spPr>
          <a:xfrm flipV="1">
            <a:off x="4806990" y="3768971"/>
            <a:ext cx="1156417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5976115" y="2818487"/>
            <a:ext cx="543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Palatino Linotype" panose="02040502050505030304" pitchFamily="18" charset="0"/>
              </a:rPr>
              <a:t>I’m</a:t>
            </a:r>
          </a:p>
        </p:txBody>
      </p:sp>
      <p:cxnSp>
        <p:nvCxnSpPr>
          <p:cNvPr id="111" name="Straight Arrow Connector 110"/>
          <p:cNvCxnSpPr/>
          <p:nvPr/>
        </p:nvCxnSpPr>
        <p:spPr>
          <a:xfrm flipV="1">
            <a:off x="6293943" y="3187819"/>
            <a:ext cx="341" cy="4268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7025690" y="2782998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Palatino Linotype" panose="02040502050505030304" pitchFamily="18" charset="0"/>
              </a:rPr>
              <a:t>fine</a:t>
            </a:r>
          </a:p>
        </p:txBody>
      </p:sp>
      <p:cxnSp>
        <p:nvCxnSpPr>
          <p:cNvPr id="134" name="Straight Arrow Connector 133"/>
          <p:cNvCxnSpPr/>
          <p:nvPr/>
        </p:nvCxnSpPr>
        <p:spPr>
          <a:xfrm flipH="1" flipV="1">
            <a:off x="7340983" y="3143725"/>
            <a:ext cx="7525" cy="4725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ctangle 155"/>
          <p:cNvSpPr/>
          <p:nvPr/>
        </p:nvSpPr>
        <p:spPr>
          <a:xfrm>
            <a:off x="8145679" y="2764747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Palatino Linotype" panose="02040502050505030304" pitchFamily="18" charset="0"/>
              </a:rPr>
              <a:t>.</a:t>
            </a:r>
          </a:p>
        </p:txBody>
      </p:sp>
      <p:cxnSp>
        <p:nvCxnSpPr>
          <p:cNvPr id="157" name="Straight Arrow Connector 156"/>
          <p:cNvCxnSpPr/>
          <p:nvPr/>
        </p:nvCxnSpPr>
        <p:spPr>
          <a:xfrm flipH="1" flipV="1">
            <a:off x="8266866" y="3134079"/>
            <a:ext cx="336" cy="484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8929965" y="2801655"/>
            <a:ext cx="657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Palatino Linotype" panose="02040502050505030304" pitchFamily="18" charset="0"/>
              </a:rPr>
              <a:t>EOS</a:t>
            </a:r>
          </a:p>
        </p:txBody>
      </p:sp>
      <p:cxnSp>
        <p:nvCxnSpPr>
          <p:cNvPr id="159" name="Straight Arrow Connector 158"/>
          <p:cNvCxnSpPr/>
          <p:nvPr/>
        </p:nvCxnSpPr>
        <p:spPr>
          <a:xfrm flipH="1" flipV="1">
            <a:off x="9258740" y="3170987"/>
            <a:ext cx="19098" cy="4326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 169"/>
          <p:cNvSpPr/>
          <p:nvPr/>
        </p:nvSpPr>
        <p:spPr>
          <a:xfrm>
            <a:off x="49045" y="4064385"/>
            <a:ext cx="14093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b="1" dirty="0">
                <a:latin typeface="Palatino Linotype" panose="02040502050505030304" pitchFamily="18" charset="0"/>
              </a:rPr>
              <a:t>Encoding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680918" y="4087779"/>
            <a:ext cx="14398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200" b="1" dirty="0">
                <a:latin typeface="Palatino Linotype" panose="02040502050505030304" pitchFamily="18" charset="0"/>
              </a:rPr>
              <a:t>Decoding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057399" y="5086420"/>
            <a:ext cx="530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latin typeface="Palatino Linotype" panose="02040502050505030304" pitchFamily="18" charset="0"/>
              </a:rPr>
              <a:t>eos</a:t>
            </a:r>
            <a:endParaRPr lang="en-US" b="1" dirty="0">
              <a:latin typeface="Palatino Linotype" panose="02040502050505030304" pitchFamily="18" charset="0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7073482" y="5094848"/>
            <a:ext cx="543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Palatino Linotype" panose="02040502050505030304" pitchFamily="18" charset="0"/>
              </a:rPr>
              <a:t>I’m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95601" y="5142711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Palatino Linotype" panose="02040502050505030304" pitchFamily="18" charset="0"/>
              </a:rPr>
              <a:t>fine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258224" y="5158101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Palatino Linotype" panose="02040502050505030304" pitchFamily="18" charset="0"/>
              </a:rPr>
              <a:t>.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5989876" y="4636297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2" name="Group 201"/>
          <p:cNvGrpSpPr/>
          <p:nvPr/>
        </p:nvGrpSpPr>
        <p:grpSpPr>
          <a:xfrm>
            <a:off x="6082141" y="4751287"/>
            <a:ext cx="494907" cy="84842"/>
            <a:chOff x="2375398" y="5125821"/>
            <a:chExt cx="494907" cy="84842"/>
          </a:xfrm>
        </p:grpSpPr>
        <p:sp>
          <p:nvSpPr>
            <p:cNvPr id="203" name="Oval 202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" name="Rectangle 206"/>
          <p:cNvSpPr/>
          <p:nvPr/>
        </p:nvSpPr>
        <p:spPr>
          <a:xfrm>
            <a:off x="5992233" y="3628402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8" name="Group 207"/>
          <p:cNvGrpSpPr/>
          <p:nvPr/>
        </p:nvGrpSpPr>
        <p:grpSpPr>
          <a:xfrm>
            <a:off x="6084498" y="3743392"/>
            <a:ext cx="494907" cy="84842"/>
            <a:chOff x="2375398" y="5125821"/>
            <a:chExt cx="494907" cy="84842"/>
          </a:xfrm>
        </p:grpSpPr>
        <p:sp>
          <p:nvSpPr>
            <p:cNvPr id="209" name="Oval 208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3" name="Rectangle 212"/>
          <p:cNvSpPr/>
          <p:nvPr/>
        </p:nvSpPr>
        <p:spPr>
          <a:xfrm>
            <a:off x="6997739" y="4638523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4" name="Group 213"/>
          <p:cNvGrpSpPr/>
          <p:nvPr/>
        </p:nvGrpSpPr>
        <p:grpSpPr>
          <a:xfrm>
            <a:off x="7090004" y="4753513"/>
            <a:ext cx="494907" cy="84842"/>
            <a:chOff x="2375398" y="5125821"/>
            <a:chExt cx="494907" cy="84842"/>
          </a:xfrm>
        </p:grpSpPr>
        <p:sp>
          <p:nvSpPr>
            <p:cNvPr id="215" name="Oval 214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9" name="Rectangle 218"/>
          <p:cNvSpPr/>
          <p:nvPr/>
        </p:nvSpPr>
        <p:spPr>
          <a:xfrm>
            <a:off x="7971090" y="4629837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0" name="Group 219"/>
          <p:cNvGrpSpPr/>
          <p:nvPr/>
        </p:nvGrpSpPr>
        <p:grpSpPr>
          <a:xfrm>
            <a:off x="8063355" y="4744827"/>
            <a:ext cx="494907" cy="84842"/>
            <a:chOff x="2375398" y="5125821"/>
            <a:chExt cx="494907" cy="84842"/>
          </a:xfrm>
        </p:grpSpPr>
        <p:sp>
          <p:nvSpPr>
            <p:cNvPr id="221" name="Oval 220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5" name="Rectangle 224"/>
          <p:cNvSpPr/>
          <p:nvPr/>
        </p:nvSpPr>
        <p:spPr>
          <a:xfrm>
            <a:off x="8990574" y="4629837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6" name="Group 225"/>
          <p:cNvGrpSpPr/>
          <p:nvPr/>
        </p:nvGrpSpPr>
        <p:grpSpPr>
          <a:xfrm>
            <a:off x="9082839" y="4744827"/>
            <a:ext cx="494907" cy="84842"/>
            <a:chOff x="2375398" y="5125821"/>
            <a:chExt cx="494907" cy="84842"/>
          </a:xfrm>
        </p:grpSpPr>
        <p:sp>
          <p:nvSpPr>
            <p:cNvPr id="227" name="Oval 226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1" name="Rectangle 230"/>
          <p:cNvSpPr/>
          <p:nvPr/>
        </p:nvSpPr>
        <p:spPr>
          <a:xfrm>
            <a:off x="7000620" y="3632732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2" name="Group 231"/>
          <p:cNvGrpSpPr/>
          <p:nvPr/>
        </p:nvGrpSpPr>
        <p:grpSpPr>
          <a:xfrm>
            <a:off x="7092885" y="3747722"/>
            <a:ext cx="494907" cy="84842"/>
            <a:chOff x="2375398" y="5125821"/>
            <a:chExt cx="494907" cy="84842"/>
          </a:xfrm>
        </p:grpSpPr>
        <p:sp>
          <p:nvSpPr>
            <p:cNvPr id="233" name="Oval 232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Oval 234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Oval 235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7" name="Rectangle 236"/>
          <p:cNvSpPr/>
          <p:nvPr/>
        </p:nvSpPr>
        <p:spPr>
          <a:xfrm>
            <a:off x="7984303" y="3624256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8" name="Group 237"/>
          <p:cNvGrpSpPr/>
          <p:nvPr/>
        </p:nvGrpSpPr>
        <p:grpSpPr>
          <a:xfrm>
            <a:off x="8076568" y="3739246"/>
            <a:ext cx="494907" cy="84842"/>
            <a:chOff x="2375398" y="5125821"/>
            <a:chExt cx="494907" cy="84842"/>
          </a:xfrm>
        </p:grpSpPr>
        <p:sp>
          <p:nvSpPr>
            <p:cNvPr id="239" name="Oval 238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3" name="Rectangle 242"/>
          <p:cNvSpPr/>
          <p:nvPr/>
        </p:nvSpPr>
        <p:spPr>
          <a:xfrm>
            <a:off x="8991142" y="3621157"/>
            <a:ext cx="661071" cy="3085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4" name="Straight Arrow Connector 243"/>
          <p:cNvCxnSpPr/>
          <p:nvPr/>
        </p:nvCxnSpPr>
        <p:spPr>
          <a:xfrm flipV="1">
            <a:off x="6320412" y="3936954"/>
            <a:ext cx="2357" cy="699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/>
          <p:cNvCxnSpPr/>
          <p:nvPr/>
        </p:nvCxnSpPr>
        <p:spPr>
          <a:xfrm flipV="1">
            <a:off x="7328275" y="3941284"/>
            <a:ext cx="2881" cy="6972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/>
          <p:cNvCxnSpPr/>
          <p:nvPr/>
        </p:nvCxnSpPr>
        <p:spPr>
          <a:xfrm flipV="1">
            <a:off x="8301626" y="3932808"/>
            <a:ext cx="13213" cy="697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/>
          <p:cNvCxnSpPr/>
          <p:nvPr/>
        </p:nvCxnSpPr>
        <p:spPr>
          <a:xfrm flipV="1">
            <a:off x="9321110" y="3929709"/>
            <a:ext cx="568" cy="700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/>
          <p:cNvCxnSpPr/>
          <p:nvPr/>
        </p:nvCxnSpPr>
        <p:spPr>
          <a:xfrm>
            <a:off x="6653304" y="3782678"/>
            <a:ext cx="347316" cy="43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/>
          <p:cNvCxnSpPr/>
          <p:nvPr/>
        </p:nvCxnSpPr>
        <p:spPr>
          <a:xfrm flipV="1">
            <a:off x="7661691" y="3778532"/>
            <a:ext cx="322612" cy="84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/>
          <p:cNvCxnSpPr/>
          <p:nvPr/>
        </p:nvCxnSpPr>
        <p:spPr>
          <a:xfrm flipV="1">
            <a:off x="8645374" y="3775433"/>
            <a:ext cx="345768" cy="3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1" name="Group 250"/>
          <p:cNvGrpSpPr/>
          <p:nvPr/>
        </p:nvGrpSpPr>
        <p:grpSpPr>
          <a:xfrm>
            <a:off x="9073655" y="3728804"/>
            <a:ext cx="494907" cy="84842"/>
            <a:chOff x="2375398" y="5125821"/>
            <a:chExt cx="494907" cy="84842"/>
          </a:xfrm>
        </p:grpSpPr>
        <p:sp>
          <p:nvSpPr>
            <p:cNvPr id="252" name="Oval 251"/>
            <p:cNvSpPr/>
            <p:nvPr/>
          </p:nvSpPr>
          <p:spPr>
            <a:xfrm>
              <a:off x="2375398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Oval 252"/>
            <p:cNvSpPr/>
            <p:nvPr/>
          </p:nvSpPr>
          <p:spPr>
            <a:xfrm>
              <a:off x="2512086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Oval 253"/>
            <p:cNvSpPr/>
            <p:nvPr/>
          </p:nvSpPr>
          <p:spPr>
            <a:xfrm>
              <a:off x="2648774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Oval 254"/>
            <p:cNvSpPr/>
            <p:nvPr/>
          </p:nvSpPr>
          <p:spPr>
            <a:xfrm>
              <a:off x="2785463" y="5125821"/>
              <a:ext cx="84842" cy="8484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48FE2A2-6F7B-E7B3-1DD8-034A206B2476}"/>
              </a:ext>
            </a:extLst>
          </p:cNvPr>
          <p:cNvSpPr txBox="1"/>
          <p:nvPr/>
        </p:nvSpPr>
        <p:spPr>
          <a:xfrm>
            <a:off x="1646983" y="6138041"/>
            <a:ext cx="6858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Mostly same old story: LSTMs, then Transformers, but need lots of data</a:t>
            </a:r>
          </a:p>
        </p:txBody>
      </p:sp>
    </p:spTree>
    <p:extLst>
      <p:ext uri="{BB962C8B-B14F-4D97-AF65-F5344CB8AC3E}">
        <p14:creationId xmlns:p14="http://schemas.microsoft.com/office/powerpoint/2010/main" val="31511740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22493-0155-0142-BA99-E54DA4899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39418-399B-1E4F-F3B4-B4B77A3FA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Chat example dialogue corpora – lots! including...</a:t>
            </a:r>
          </a:p>
          <a:p>
            <a:pPr lvl="1"/>
            <a:r>
              <a:rPr lang="en-US"/>
              <a:t>ConvAI – crowd sourced conversations between humans and humans or bots (v2: 131k turns, 18k dialogues)</a:t>
            </a:r>
          </a:p>
          <a:p>
            <a:pPr lvl="1"/>
            <a:r>
              <a:rPr lang="en-US"/>
              <a:t>PersonaChat  – 200k human dialogues given artificial “personas”</a:t>
            </a:r>
          </a:p>
          <a:p>
            <a:pPr lvl="1"/>
            <a:r>
              <a:rPr lang="en-US"/>
              <a:t>Cornell Movie Dialogues – scripted dialogue from movies (300k turns, 617 movies)</a:t>
            </a:r>
          </a:p>
          <a:p>
            <a:pPr lvl="1"/>
            <a:r>
              <a:rPr lang="en-US"/>
              <a:t>Daily Dialog – crawled english learning dialogues (labeled with emotion and topic). 104k turns, 13k dialogues</a:t>
            </a:r>
          </a:p>
          <a:p>
            <a:pPr lvl="1"/>
            <a:r>
              <a:rPr lang="en-US"/>
              <a:t>OpenAssistant – human generated assistant-style conversations; 161k turns, 35 languages, 10k conversations, scored for quality</a:t>
            </a:r>
          </a:p>
          <a:p>
            <a:pPr lvl="1"/>
            <a:r>
              <a:rPr lang="en-US"/>
              <a:t>Wizard of Wikipedia – 167k turns, 18k dialogues, discussions grounded in wikipedia articles</a:t>
            </a:r>
          </a:p>
          <a:p>
            <a:pPr lvl="1"/>
            <a:r>
              <a:rPr lang="en-US"/>
              <a:t>CANDOR – 1650 multimodal conversations, collected over video in 2020, transcribed, self report on mood and other demographic info  </a:t>
            </a:r>
          </a:p>
          <a:p>
            <a:r>
              <a:rPr lang="en-US"/>
              <a:t>Non-dialogue retrofitted sets</a:t>
            </a:r>
          </a:p>
          <a:p>
            <a:pPr lvl="1"/>
            <a:r>
              <a:rPr lang="en-US"/>
              <a:t>Twitter/Reddit “dialogue” – posts and responses</a:t>
            </a:r>
          </a:p>
          <a:p>
            <a:pPr lvl="1"/>
            <a:r>
              <a:rPr lang="en-US"/>
              <a:t>commonsense qa – 12k questions, multiple choice</a:t>
            </a:r>
          </a:p>
          <a:p>
            <a:pPr lvl="1"/>
            <a:r>
              <a:rPr lang="en-US"/>
              <a:t>natural questions – 300k questions and answers sourced online</a:t>
            </a:r>
          </a:p>
        </p:txBody>
      </p:sp>
    </p:spTree>
    <p:extLst>
      <p:ext uri="{BB962C8B-B14F-4D97-AF65-F5344CB8AC3E}">
        <p14:creationId xmlns:p14="http://schemas.microsoft.com/office/powerpoint/2010/main" val="23664331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04F78-0426-AC97-784C-12A08FA3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Approach (e.g. </a:t>
            </a:r>
            <a:r>
              <a:rPr lang="en-US">
                <a:hlinkClick r:id="rId2"/>
              </a:rPr>
              <a:t>h2oai</a:t>
            </a:r>
            <a:r>
              <a:rPr lang="en-US"/>
              <a:t>, but there are slight variations)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A47EB-4708-F302-4589-37FB6AF61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Pretrain Model</a:t>
            </a:r>
          </a:p>
          <a:p>
            <a:pPr lvl="1"/>
            <a:r>
              <a:rPr lang="en-US"/>
              <a:t>several weeks of next-word prediction on The Pile, RefinedWeb, etc. (TiB-level internet data with varying amounts of secret cleaning)</a:t>
            </a:r>
          </a:p>
          <a:p>
            <a:r>
              <a:rPr lang="en-US"/>
              <a:t>Finetune Model</a:t>
            </a:r>
          </a:p>
          <a:p>
            <a:pPr lvl="1"/>
            <a:r>
              <a:rPr lang="en-US"/>
              <a:t>predict output given input using e.g. openassistant or similar conversation corpus</a:t>
            </a:r>
          </a:p>
          <a:p>
            <a:pPr lvl="1"/>
            <a:r>
              <a:rPr lang="en-US"/>
              <a:t>more efficient fine tuning using parameter-efficient methods such as LoRA</a:t>
            </a:r>
          </a:p>
          <a:p>
            <a:r>
              <a:rPr lang="en-US"/>
              <a:t>RLHF tuning (possibly not in h2oai?)</a:t>
            </a:r>
          </a:p>
          <a:p>
            <a:pPr lvl="1"/>
            <a:r>
              <a:rPr lang="en-US"/>
              <a:t>For task instead of token quality</a:t>
            </a:r>
          </a:p>
          <a:p>
            <a:pPr lvl="1"/>
            <a:r>
              <a:rPr lang="en-US"/>
              <a:t>Using task quality model, evaluate generated dialogues and use techniques like PPO to adjust weights to improve according to quality metric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945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31832-4CF8-7E23-F254-21DAFCEA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Specific Dialogue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16B35-3E8A-28E2-39C4-3DFA408FB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There are lots and it’s a fast moving field! Here are some recent ones</a:t>
            </a:r>
          </a:p>
          <a:p>
            <a:r>
              <a:rPr lang="en-US"/>
              <a:t>Persona-based – try to understand the “style” of a participant as distinct from content</a:t>
            </a:r>
          </a:p>
          <a:p>
            <a:r>
              <a:rPr lang="en-US"/>
              <a:t>Graph, memory, and other more complicated networks to recognize long term trends in conversations more clearly</a:t>
            </a:r>
          </a:p>
          <a:p>
            <a:r>
              <a:rPr lang="en-US"/>
              <a:t>Techniques to avoid repetition and safe responses</a:t>
            </a:r>
          </a:p>
          <a:p>
            <a:pPr lvl="1"/>
            <a:r>
              <a:rPr lang="en-US"/>
              <a:t>rules</a:t>
            </a:r>
          </a:p>
          <a:p>
            <a:pPr lvl="1"/>
            <a:r>
              <a:rPr lang="en-US"/>
              <a:t>sampling</a:t>
            </a:r>
          </a:p>
          <a:p>
            <a:pPr lvl="1"/>
            <a:r>
              <a:rPr lang="en-US"/>
              <a:t>mutual information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623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9A61-C45B-E127-CE04-10478DEC5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Things That Are Still Not So Great (in 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CC94A-AE15-D53A-394F-ECEF4FCBC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Multi-Party Dialogues – when to weigh in?</a:t>
            </a:r>
          </a:p>
          <a:p>
            <a:r>
              <a:rPr lang="en-US"/>
              <a:t>Spoken Dialogue – different from text, and requires speech-text-text-speech stack (we can do it, it’s just not that natural yet...but getting lots bettr)</a:t>
            </a:r>
          </a:p>
          <a:p>
            <a:r>
              <a:rPr lang="en-US"/>
              <a:t>Very long conversations? You tell me...is an hour of chatgpt similar to an hour with bff?</a:t>
            </a:r>
          </a:p>
          <a:p>
            <a:r>
              <a:rPr lang="en-US"/>
              <a:t>Lower resourced languages – see also MT</a:t>
            </a:r>
          </a:p>
          <a:p>
            <a:r>
              <a:rPr lang="en-US"/>
              <a:t>other hot topics?</a:t>
            </a:r>
          </a:p>
        </p:txBody>
      </p:sp>
    </p:spTree>
    <p:extLst>
      <p:ext uri="{BB962C8B-B14F-4D97-AF65-F5344CB8AC3E}">
        <p14:creationId xmlns:p14="http://schemas.microsoft.com/office/powerpoint/2010/main" val="2753626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34331</TotalTime>
  <Words>4616</Words>
  <Application>Microsoft Macintosh PowerPoint</Application>
  <PresentationFormat>Widescreen</PresentationFormat>
  <Paragraphs>643</Paragraphs>
  <Slides>79</Slides>
  <Notes>11</Notes>
  <HiddenSlides>13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8" baseType="lpstr">
      <vt:lpstr>ＭＳ Ｐゴシック</vt:lpstr>
      <vt:lpstr>Arial</vt:lpstr>
      <vt:lpstr>Calibri</vt:lpstr>
      <vt:lpstr>Calibri Light</vt:lpstr>
      <vt:lpstr>Courier</vt:lpstr>
      <vt:lpstr>Palatino Linotype</vt:lpstr>
      <vt:lpstr>Verdana</vt:lpstr>
      <vt:lpstr>Wingdings</vt:lpstr>
      <vt:lpstr>Office Theme</vt:lpstr>
      <vt:lpstr>Dialogue Systems</vt:lpstr>
      <vt:lpstr>Conversation Is Special</vt:lpstr>
      <vt:lpstr>Every Use of Language Technology is a Threat to Conversation</vt:lpstr>
      <vt:lpstr>Conversational Agents   AKA  Dialog Agents</vt:lpstr>
      <vt:lpstr>Divide The World</vt:lpstr>
      <vt:lpstr>Frame-based dialog agents</vt:lpstr>
      <vt:lpstr>Breakdown of the Task</vt:lpstr>
      <vt:lpstr>The Frame</vt:lpstr>
      <vt:lpstr>Frame-based dialogue agents</vt:lpstr>
      <vt:lpstr>PowerPoint Presentation</vt:lpstr>
      <vt:lpstr>Frames are mixed-initiative</vt:lpstr>
      <vt:lpstr>Natural Language Understanding for filling slots</vt:lpstr>
      <vt:lpstr>Natural Language Understanding for filling slots</vt:lpstr>
      <vt:lpstr>Machine learning for slot-filling: </vt:lpstr>
      <vt:lpstr>Machine learning for slot-filling: Slot presence</vt:lpstr>
      <vt:lpstr>Machine learning for slot-filling: Slot filler</vt:lpstr>
      <vt:lpstr>Algorithm for slot filling: IOB Tagging</vt:lpstr>
      <vt:lpstr>Afor slot filling: IOB Tagging</vt:lpstr>
      <vt:lpstr>GUS: Still pretty passive</vt:lpstr>
      <vt:lpstr>PowerPoint Presentation</vt:lpstr>
      <vt:lpstr>PowerPoint Presentation</vt:lpstr>
      <vt:lpstr>PowerPoint Presentation</vt:lpstr>
      <vt:lpstr>PowerPoint Presentation</vt:lpstr>
      <vt:lpstr>GUS: Still pretty passive</vt:lpstr>
      <vt:lpstr>Dialog-State Architecture</vt:lpstr>
      <vt:lpstr>PowerPoint Presentation</vt:lpstr>
      <vt:lpstr>Dialog Policy</vt:lpstr>
      <vt:lpstr>Dialog Acts</vt:lpstr>
      <vt:lpstr>Domain-Focused fine-grained acts</vt:lpstr>
      <vt:lpstr>Example</vt:lpstr>
      <vt:lpstr>How Is This Done?</vt:lpstr>
      <vt:lpstr>Syntax Clues</vt:lpstr>
      <vt:lpstr>How It's Done (Neural Belief Tracker)</vt:lpstr>
      <vt:lpstr>More Important Than Model: Data!</vt:lpstr>
      <vt:lpstr>Evaluation (from static corpus)</vt:lpstr>
      <vt:lpstr>Evaluation (from active interaction)</vt:lpstr>
      <vt:lpstr>Evaluation Metrics</vt:lpstr>
      <vt:lpstr>Results from Neural Belief Tracker</vt:lpstr>
      <vt:lpstr>Google Duplex</vt:lpstr>
      <vt:lpstr>Divide The World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Human Evaluation: The Turing Test  (Turing, 1950)</vt:lpstr>
      <vt:lpstr>Human Evaluation In Practice</vt:lpstr>
      <vt:lpstr>Chatbots!</vt:lpstr>
      <vt:lpstr>Classic Chatbot Architectures</vt:lpstr>
      <vt:lpstr>Chatbots</vt:lpstr>
      <vt:lpstr>Eliza: Weizenbaum (1966)</vt:lpstr>
      <vt:lpstr>PowerPoint Presentation</vt:lpstr>
      <vt:lpstr>How does it work? Eliza uses this one weird trick</vt:lpstr>
      <vt:lpstr> That trick: be a Rogerian psychologist</vt:lpstr>
      <vt:lpstr> Rogerian psychologist</vt:lpstr>
      <vt:lpstr>Eliza pattern/transform rules</vt:lpstr>
      <vt:lpstr>Memory</vt:lpstr>
      <vt:lpstr>Some implications</vt:lpstr>
      <vt:lpstr>ELIZA Unearthed</vt:lpstr>
      <vt:lpstr>Parry</vt:lpstr>
      <vt:lpstr>Parry’s persona</vt:lpstr>
      <vt:lpstr>Lots of complex I-O rules</vt:lpstr>
      <vt:lpstr>A Parry conversation</vt:lpstr>
      <vt:lpstr>When fear is high, the model won’t discuss its beliefs</vt:lpstr>
      <vt:lpstr>IR-based chatbots</vt:lpstr>
      <vt:lpstr>A Cleverbot conversation</vt:lpstr>
      <vt:lpstr>Terminology</vt:lpstr>
      <vt:lpstr>Two IR-based chatbot architectures</vt:lpstr>
      <vt:lpstr>Comparing approaches</vt:lpstr>
      <vt:lpstr>Another Approach: MT-based</vt:lpstr>
      <vt:lpstr>Empirical Evaluations</vt:lpstr>
      <vt:lpstr>PowerPoint Presentation</vt:lpstr>
      <vt:lpstr>Evaluation of ChatBots is Hard!</vt:lpstr>
      <vt:lpstr>PowerPoint Presentation</vt:lpstr>
      <vt:lpstr>Chat Data</vt:lpstr>
      <vt:lpstr>General Approach (e.g. h2oai, but there are slight variations)</vt:lpstr>
      <vt:lpstr>Specific Dialogue Approaches</vt:lpstr>
      <vt:lpstr>Things That Are Still Not So Great (in 2024)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May</dc:creator>
  <cp:lastModifiedBy>Jonathan May</cp:lastModifiedBy>
  <cp:revision>79</cp:revision>
  <dcterms:created xsi:type="dcterms:W3CDTF">2018-10-17T21:32:42Z</dcterms:created>
  <dcterms:modified xsi:type="dcterms:W3CDTF">2025-11-12T17:03:50Z</dcterms:modified>
</cp:coreProperties>
</file>