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7" r:id="rId31"/>
    <p:sldId id="288" r:id="rId32"/>
    <p:sldId id="289" r:id="rId33"/>
    <p:sldId id="290" r:id="rId34"/>
    <p:sldId id="291" r:id="rId35"/>
    <p:sldId id="292" r:id="rId36"/>
    <p:sldId id="293" r:id="rId37"/>
    <p:sldId id="2063" r:id="rId38"/>
    <p:sldId id="2064" r:id="rId39"/>
    <p:sldId id="2065" r:id="rId40"/>
    <p:sldId id="2066" r:id="rId41"/>
    <p:sldId id="2067" r:id="rId42"/>
    <p:sldId id="2068" r:id="rId43"/>
    <p:sldId id="2069" r:id="rId44"/>
    <p:sldId id="2070" r:id="rId45"/>
    <p:sldId id="2071" r:id="rId46"/>
    <p:sldId id="2072" r:id="rId47"/>
    <p:sldId id="2073" r:id="rId48"/>
    <p:sldId id="294" r:id="rId49"/>
    <p:sldId id="295" r:id="rId50"/>
    <p:sldId id="296" r:id="rId51"/>
    <p:sldId id="297" r:id="rId52"/>
    <p:sldId id="298" r:id="rId53"/>
    <p:sldId id="299" r:id="rId54"/>
    <p:sldId id="300" r:id="rId55"/>
    <p:sldId id="301" r:id="rId56"/>
    <p:sldId id="302" r:id="rId57"/>
    <p:sldId id="303" r:id="rId58"/>
    <p:sldId id="304" r:id="rId59"/>
    <p:sldId id="305" r:id="rId60"/>
    <p:sldId id="306" r:id="rId61"/>
    <p:sldId id="307" r:id="rId62"/>
    <p:sldId id="308" r:id="rId63"/>
    <p:sldId id="309" r:id="rId64"/>
    <p:sldId id="310" r:id="rId65"/>
    <p:sldId id="311" r:id="rId66"/>
    <p:sldId id="312" r:id="rId67"/>
    <p:sldId id="313" r:id="rId68"/>
    <p:sldId id="314" r:id="rId69"/>
    <p:sldId id="315" r:id="rId70"/>
    <p:sldId id="316" r:id="rId71"/>
    <p:sldId id="317" r:id="rId72"/>
  </p:sldIdLst>
  <p:sldSz cx="9144000" cy="5143500" type="screen16x9"/>
  <p:notesSz cx="6858000" cy="9144000"/>
  <p:embeddedFontLst>
    <p:embeddedFont>
      <p:font typeface="Cambria Math" panose="02040503050406030204" pitchFamily="18" charset="0"/>
      <p:regular r:id="rId74"/>
    </p:embeddedFont>
    <p:embeddedFont>
      <p:font typeface="Lucida Sans" panose="020B0602030504020204" pitchFamily="34" charset="77"/>
      <p:regular r:id="rId75"/>
      <p:bold r:id="rId76"/>
      <p:italic r:id="rId77"/>
      <p:boldItalic r:id="rId78"/>
    </p:embeddedFont>
    <p:embeddedFont>
      <p:font typeface="Proxima Nova" panose="02000506030000020004" pitchFamily="2" charset="0"/>
      <p:regular r:id="rId79"/>
      <p:bold r:id="rId80"/>
      <p:italic r:id="rId81"/>
      <p:boldItalic r:id="rId8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257"/>
    <p:restoredTop sz="77123"/>
  </p:normalViewPr>
  <p:slideViewPr>
    <p:cSldViewPr snapToGrid="0" showGuides="1">
      <p:cViewPr varScale="1">
        <p:scale>
          <a:sx n="123" d="100"/>
          <a:sy n="123" d="100"/>
        </p:scale>
        <p:origin x="208" y="17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1.fntdata"/><Relationship Id="rId79" Type="http://schemas.openxmlformats.org/officeDocument/2006/relationships/font" Target="fonts/font6.fntdata"/><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font" Target="fonts/font4.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font" Target="fonts/font7.fntdata"/><Relationship Id="rId85"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font" Target="fonts/font2.fntdata"/><Relationship Id="rId83"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notesMaster" Target="notesMasters/notesMaster1.xml"/><Relationship Id="rId78" Type="http://schemas.openxmlformats.org/officeDocument/2006/relationships/font" Target="fonts/font5.fntdata"/><Relationship Id="rId81" Type="http://schemas.openxmlformats.org/officeDocument/2006/relationships/font" Target="fonts/font8.fntdata"/><Relationship Id="rId86"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3.fntdata"/><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font" Target="fonts/font9.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316b668ee1c_0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316b668ee1c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316b668ee1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316b668ee1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316b668ee1c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316b668ee1c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g316b668ee1c_0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 name="Google Shape;78;g316b668ee1c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316b668ee1c_0_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316b668ee1c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g316b668ee1c_0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 name="Google Shape;95;g316b668ee1c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16b668ee1c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16b668ee1c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316b668ee1c_0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 name="Google Shape;117;g316b668ee1c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316b668ee1c_0_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g316b668ee1c_0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316b668ee1c_0_6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 name="Google Shape;145;g316b668ee1c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316b668ee1c_0_1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316b668ee1c_0_1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316b668ee1c_0_10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316b668ee1c_0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16b668ee1c_0_1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316b668ee1c_0_1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316b668ee1c_0_1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316b668ee1c_0_1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316b668ee1c_0_12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 name="Google Shape;176;g316b668ee1c_0_1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316b668ee1c_0_1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 name="Google Shape;182;g316b668ee1c_0_1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316b668ee1c_0_15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316b668ee1c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316b668ee1c_0_1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316b668ee1c_0_1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g316b668ee1c_0_1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 name="Google Shape;226;g316b668ee1c_0_1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g316b668ee1c_0_1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 name="Google Shape;232;g316b668ee1c_0_1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316b668ee1c_0_2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2" name="Google Shape;242;g316b668ee1c_0_26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Say that semi-supervised learning is still a field we’d like to explore more</a:t>
            </a:r>
            <a:endParaRPr/>
          </a:p>
          <a:p>
            <a:pPr marL="0" lvl="0" indent="0" algn="l" rtl="0">
              <a:lnSpc>
                <a:spcPct val="100000"/>
              </a:lnSpc>
              <a:spcBef>
                <a:spcPts val="0"/>
              </a:spcBef>
              <a:spcAft>
                <a:spcPts val="0"/>
              </a:spcAft>
              <a:buSzPts val="1100"/>
              <a:buNone/>
            </a:pPr>
            <a:r>
              <a:rPr lang="en"/>
              <a:t>Look at the dataset sizes for semi-supervised task </a:t>
            </a:r>
            <a:endParaRPr/>
          </a:p>
          <a:p>
            <a:pPr marL="0" lvl="0" indent="0" algn="l" rtl="0">
              <a:lnSpc>
                <a:spcPct val="100000"/>
              </a:lnSpc>
              <a:spcBef>
                <a:spcPts val="0"/>
              </a:spcBef>
              <a:spcAft>
                <a:spcPts val="0"/>
              </a:spcAft>
              <a:buSzPts val="1100"/>
              <a:buNone/>
            </a:pPr>
            <a:r>
              <a:rPr lang="en"/>
              <a:t>Hyperparameter tuning -- performance improvements after the </a:t>
            </a:r>
            <a:endParaRPr/>
          </a:p>
          <a:p>
            <a:pPr marL="0" lvl="0" indent="0" algn="l" rtl="0">
              <a:lnSpc>
                <a:spcPct val="100000"/>
              </a:lnSpc>
              <a:spcBef>
                <a:spcPts val="0"/>
              </a:spcBef>
              <a:spcAft>
                <a:spcPts val="0"/>
              </a:spcAft>
              <a:buSzPts val="1100"/>
              <a:buNone/>
            </a:pPr>
            <a:r>
              <a:rPr lang="en"/>
              <a:t>We will still explore semi-sup as the TODO work</a:t>
            </a:r>
            <a:endParaRPr/>
          </a:p>
          <a:p>
            <a:pPr marL="0" lvl="0" indent="0" algn="l" rtl="0">
              <a:lnSpc>
                <a:spcPct val="100000"/>
              </a:lnSpc>
              <a:spcBef>
                <a:spcPts val="0"/>
              </a:spcBef>
              <a:spcAft>
                <a:spcPts val="0"/>
              </a:spcAft>
              <a:buSzPts val="1100"/>
              <a:buNone/>
            </a:pPr>
            <a:endParaRPr/>
          </a:p>
          <a:p>
            <a:pPr marL="0" lvl="0" indent="0" algn="l" rtl="0">
              <a:lnSpc>
                <a:spcPct val="100000"/>
              </a:lnSpc>
              <a:spcBef>
                <a:spcPts val="0"/>
              </a:spcBef>
              <a:spcAft>
                <a:spcPts val="0"/>
              </a:spcAft>
              <a:buSzPts val="1100"/>
              <a:buNone/>
            </a:pPr>
            <a:r>
              <a:rPr lang="en"/>
              <a:t>This is confusing -- what is data augmentation, how do you get this, what is the semi-supervised setting?</a:t>
            </a:r>
            <a:endParaRPr/>
          </a:p>
          <a:p>
            <a:pPr marL="0" lvl="0" indent="0" algn="l" rtl="0">
              <a:lnSpc>
                <a:spcPct val="100000"/>
              </a:lnSpc>
              <a:spcBef>
                <a:spcPts val="0"/>
              </a:spcBef>
              <a:spcAft>
                <a:spcPts val="0"/>
              </a:spcAft>
              <a:buSzPts val="1100"/>
              <a:buNone/>
            </a:pPr>
            <a:r>
              <a:rPr lang="en"/>
              <a:t>Needs some introduction here -- include another slide about what we’re about to see before this slide.</a:t>
            </a:r>
            <a:endParaRPr/>
          </a:p>
          <a:p>
            <a:pPr marL="0" lvl="0" indent="0" algn="l" rtl="0">
              <a:lnSpc>
                <a:spcPct val="100000"/>
              </a:lnSpc>
              <a:spcBef>
                <a:spcPts val="0"/>
              </a:spcBef>
              <a:spcAft>
                <a:spcPts val="0"/>
              </a:spcAft>
              <a:buSzPts val="1100"/>
              <a:buNone/>
            </a:pPr>
            <a:endParaRPr/>
          </a:p>
          <a:p>
            <a:pPr marL="0" lvl="0" indent="0" algn="l" rtl="0">
              <a:lnSpc>
                <a:spcPct val="100000"/>
              </a:lnSpc>
              <a:spcBef>
                <a:spcPts val="0"/>
              </a:spcBef>
              <a:spcAft>
                <a:spcPts val="0"/>
              </a:spcAft>
              <a:buSzPts val="1100"/>
              <a:buNone/>
            </a:pPr>
            <a:r>
              <a:rPr lang="en"/>
              <a:t>Be aware of the label-set size for each multitask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g316b668ee1c_0_2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0" name="Google Shape;250;g316b668ee1c_0_26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g316b668ee1c_0_2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9" name="Google Shape;259;g316b668ee1c_0_27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Say that semi-supervised learning is still a field we’d like to explore more</a:t>
            </a:r>
            <a:endParaRPr/>
          </a:p>
          <a:p>
            <a:pPr marL="0" lvl="0" indent="0" algn="l" rtl="0">
              <a:lnSpc>
                <a:spcPct val="100000"/>
              </a:lnSpc>
              <a:spcBef>
                <a:spcPts val="0"/>
              </a:spcBef>
              <a:spcAft>
                <a:spcPts val="0"/>
              </a:spcAft>
              <a:buSzPts val="1100"/>
              <a:buNone/>
            </a:pPr>
            <a:r>
              <a:rPr lang="en"/>
              <a:t>Look at the dataset sizes for semi-supervised task </a:t>
            </a:r>
            <a:endParaRPr/>
          </a:p>
          <a:p>
            <a:pPr marL="0" lvl="0" indent="0" algn="l" rtl="0">
              <a:lnSpc>
                <a:spcPct val="100000"/>
              </a:lnSpc>
              <a:spcBef>
                <a:spcPts val="0"/>
              </a:spcBef>
              <a:spcAft>
                <a:spcPts val="0"/>
              </a:spcAft>
              <a:buSzPts val="1100"/>
              <a:buNone/>
            </a:pPr>
            <a:r>
              <a:rPr lang="en"/>
              <a:t>Hyperparameter tuning -- performance improvements after the </a:t>
            </a:r>
            <a:endParaRPr/>
          </a:p>
          <a:p>
            <a:pPr marL="0" lvl="0" indent="0" algn="l" rtl="0">
              <a:lnSpc>
                <a:spcPct val="100000"/>
              </a:lnSpc>
              <a:spcBef>
                <a:spcPts val="0"/>
              </a:spcBef>
              <a:spcAft>
                <a:spcPts val="0"/>
              </a:spcAft>
              <a:buSzPts val="1100"/>
              <a:buNone/>
            </a:pPr>
            <a:r>
              <a:rPr lang="en"/>
              <a:t>We will still explore semi-sup as the TODO work</a:t>
            </a:r>
            <a:endParaRPr/>
          </a:p>
          <a:p>
            <a:pPr marL="0" lvl="0" indent="0" algn="l" rtl="0">
              <a:lnSpc>
                <a:spcPct val="100000"/>
              </a:lnSpc>
              <a:spcBef>
                <a:spcPts val="0"/>
              </a:spcBef>
              <a:spcAft>
                <a:spcPts val="0"/>
              </a:spcAft>
              <a:buSzPts val="1100"/>
              <a:buNone/>
            </a:pPr>
            <a:endParaRPr/>
          </a:p>
          <a:p>
            <a:pPr marL="0" lvl="0" indent="0" algn="l" rtl="0">
              <a:lnSpc>
                <a:spcPct val="100000"/>
              </a:lnSpc>
              <a:spcBef>
                <a:spcPts val="0"/>
              </a:spcBef>
              <a:spcAft>
                <a:spcPts val="0"/>
              </a:spcAft>
              <a:buSzPts val="1100"/>
              <a:buNone/>
            </a:pPr>
            <a:r>
              <a:rPr lang="en"/>
              <a:t>This is confusing -- what is data augmentation, how do you get this, what is the semi-supervised setting?</a:t>
            </a:r>
            <a:endParaRPr/>
          </a:p>
          <a:p>
            <a:pPr marL="0" lvl="0" indent="0" algn="l" rtl="0">
              <a:lnSpc>
                <a:spcPct val="100000"/>
              </a:lnSpc>
              <a:spcBef>
                <a:spcPts val="0"/>
              </a:spcBef>
              <a:spcAft>
                <a:spcPts val="0"/>
              </a:spcAft>
              <a:buSzPts val="1100"/>
              <a:buNone/>
            </a:pPr>
            <a:r>
              <a:rPr lang="en"/>
              <a:t>Needs some introduction here -- include another slide about what we’re about to see before this slide.</a:t>
            </a:r>
            <a:endParaRPr/>
          </a:p>
          <a:p>
            <a:pPr marL="0" lvl="0" indent="0" algn="l" rtl="0">
              <a:lnSpc>
                <a:spcPct val="100000"/>
              </a:lnSpc>
              <a:spcBef>
                <a:spcPts val="0"/>
              </a:spcBef>
              <a:spcAft>
                <a:spcPts val="0"/>
              </a:spcAft>
              <a:buSzPts val="1100"/>
              <a:buNone/>
            </a:pPr>
            <a:endParaRPr/>
          </a:p>
          <a:p>
            <a:pPr marL="0" lvl="0" indent="0" algn="l" rtl="0">
              <a:lnSpc>
                <a:spcPct val="100000"/>
              </a:lnSpc>
              <a:spcBef>
                <a:spcPts val="0"/>
              </a:spcBef>
              <a:spcAft>
                <a:spcPts val="0"/>
              </a:spcAft>
              <a:buSzPts val="1100"/>
              <a:buNone/>
            </a:pPr>
            <a:r>
              <a:rPr lang="en"/>
              <a:t>Be aware of the label-set size for each multitask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316b668ee1c_0_2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316b668ee1c_0_2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316b668ee1c_0_3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316b668ee1c_0_3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316b668ee1c_0_35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316b668ee1c_0_3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3"/>
        <p:cNvGrpSpPr/>
        <p:nvPr/>
      </p:nvGrpSpPr>
      <p:grpSpPr>
        <a:xfrm>
          <a:off x="0" y="0"/>
          <a:ext cx="0" cy="0"/>
          <a:chOff x="0" y="0"/>
          <a:chExt cx="0" cy="0"/>
        </a:xfrm>
      </p:grpSpPr>
      <p:sp>
        <p:nvSpPr>
          <p:cNvPr id="284" name="Google Shape;284;g316b668ee1c_0_3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5" name="Google Shape;285;g316b668ee1c_0_36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g316b668ee1c_0_4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5" name="Google Shape;305;g316b668ee1c_0_4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
        <p:cNvGrpSpPr/>
        <p:nvPr/>
      </p:nvGrpSpPr>
      <p:grpSpPr>
        <a:xfrm>
          <a:off x="0" y="0"/>
          <a:ext cx="0" cy="0"/>
          <a:chOff x="0" y="0"/>
          <a:chExt cx="0" cy="0"/>
        </a:xfrm>
      </p:grpSpPr>
      <p:sp>
        <p:nvSpPr>
          <p:cNvPr id="319" name="Google Shape;319;g316b668ee1c_0_4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0" name="Google Shape;320;g316b668ee1c_0_4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316b668ee1c_0_5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316b668ee1c_0_5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g316b668ee1c_0_5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3" name="Google Shape;333;g316b668ee1c_0_5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2"/>
        <p:cNvGrpSpPr/>
        <p:nvPr/>
      </p:nvGrpSpPr>
      <p:grpSpPr>
        <a:xfrm>
          <a:off x="0" y="0"/>
          <a:ext cx="0" cy="0"/>
          <a:chOff x="0" y="0"/>
          <a:chExt cx="0" cy="0"/>
        </a:xfrm>
      </p:grpSpPr>
      <p:sp>
        <p:nvSpPr>
          <p:cNvPr id="343" name="Google Shape;343;g316b668ee1c_0_5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4" name="Google Shape;344;g316b668ee1c_0_5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g316b668ee1c_0_5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8" name="Google Shape;358;g316b668ee1c_0_5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5"/>
        <p:cNvGrpSpPr/>
        <p:nvPr/>
      </p:nvGrpSpPr>
      <p:grpSpPr>
        <a:xfrm>
          <a:off x="0" y="0"/>
          <a:ext cx="0" cy="0"/>
          <a:chOff x="0" y="0"/>
          <a:chExt cx="0" cy="0"/>
        </a:xfrm>
      </p:grpSpPr>
      <p:sp>
        <p:nvSpPr>
          <p:cNvPr id="366" name="Google Shape;366;g316b668ee1c_0_6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7" name="Google Shape;367;g316b668ee1c_0_63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g316b668ee1c_0_6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9" name="Google Shape;389;g316b668ee1c_0_6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baseline = local only, no awareness of other control codes</a:t>
            </a:r>
          </a:p>
          <a:p>
            <a:pPr marL="0" lvl="0" indent="0" algn="l" rtl="0">
              <a:spcBef>
                <a:spcPts val="0"/>
              </a:spcBef>
              <a:spcAft>
                <a:spcPts val="0"/>
              </a:spcAft>
              <a:buNone/>
            </a:pPr>
            <a:r>
              <a:rPr lang="en-US"/>
              <a:t>past-aware = </a:t>
            </a:r>
          </a:p>
          <a:p>
            <a:pPr marL="0" lvl="0" indent="0" algn="l" rtl="0">
              <a:spcBef>
                <a:spcPts val="0"/>
              </a:spcBef>
              <a:spcAft>
                <a:spcPts val="0"/>
              </a:spcAft>
              <a:buNone/>
            </a:pPr>
            <a:r>
              <a:rPr lang="en-US"/>
              <a:t>HSC = hidden state control; at inference time state is perturbed to take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lnSpc>
                <a:spcPct val="150000"/>
              </a:lnSpc>
              <a:buNone/>
            </a:pPr>
            <a:r>
              <a:rPr lang="en-US" dirty="0"/>
              <a:t>1'30 To answer the question: do stories generated by LLMs exhibit the same narrative complexity and diversity as human storytelling?</a:t>
            </a:r>
          </a:p>
          <a:p>
            <a:pPr marL="0" indent="0">
              <a:lnSpc>
                <a:spcPct val="150000"/>
              </a:lnSpc>
              <a:buNone/>
            </a:pPr>
            <a:endParaRPr lang="en-US" dirty="0"/>
          </a:p>
          <a:p>
            <a:pPr marL="0" indent="0">
              <a:lnSpc>
                <a:spcPct val="150000"/>
              </a:lnSpc>
              <a:buNone/>
            </a:pPr>
            <a:r>
              <a:rPr lang="en-US" dirty="0"/>
              <a:t>We developed a quantitative assessment</a:t>
            </a:r>
            <a:r>
              <a:rPr lang="zh-CN" altLang="en-US" dirty="0"/>
              <a:t> </a:t>
            </a:r>
            <a:r>
              <a:rPr lang="en-US" dirty="0"/>
              <a:t>framework of narratives at three different discourse levels. From the coarse grained to fine grained, they are //1) story arcs 2) turning points, and 3) arousal &amp; valence.</a:t>
            </a:r>
          </a:p>
          <a:p>
            <a:pPr marL="0" indent="0">
              <a:lnSpc>
                <a:spcPct val="150000"/>
              </a:lnSpc>
              <a:buNone/>
            </a:pPr>
            <a:endParaRPr lang="en-US" dirty="0"/>
          </a:p>
          <a:p>
            <a:pPr marL="0" indent="0">
              <a:lnSpc>
                <a:spcPct val="150000"/>
              </a:lnSpc>
              <a:buNone/>
            </a:pPr>
            <a:r>
              <a:rPr lang="en-US" dirty="0"/>
              <a:t>Don’t worry if these terms sound unfamiliar! Let's dive in and break them down together.</a:t>
            </a:r>
          </a:p>
        </p:txBody>
      </p:sp>
      <p:sp>
        <p:nvSpPr>
          <p:cNvPr id="4" name="Slide Number Placeholder 3"/>
          <p:cNvSpPr>
            <a:spLocks noGrp="1"/>
          </p:cNvSpPr>
          <p:nvPr>
            <p:ph type="sldNum" sz="quarter" idx="5"/>
          </p:nvPr>
        </p:nvSpPr>
        <p:spPr/>
        <p:txBody>
          <a:bodyPr/>
          <a:lstStyle/>
          <a:p>
            <a:fld id="{95264CD8-3DEC-8B4F-9D5B-BD9D3A9E15C0}" type="slidenum">
              <a:rPr lang="en-US" smtClean="0"/>
              <a:t>38</a:t>
            </a:fld>
            <a:endParaRPr lang="en-US"/>
          </a:p>
        </p:txBody>
      </p:sp>
    </p:spTree>
    <p:extLst>
      <p:ext uri="{BB962C8B-B14F-4D97-AF65-F5344CB8AC3E}">
        <p14:creationId xmlns:p14="http://schemas.microsoft.com/office/powerpoint/2010/main" val="343516727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2'10 First, story arcs represent the high-level plot development, such as rises and falls encountered by the main characters. We derived 7 common story arcs from literature, as listed in this table. They include rags to riches, riches to rags, man in a hole, and </a:t>
            </a:r>
            <a:r>
              <a:rPr lang="en-US" dirty="0" err="1"/>
              <a:t>cinderella</a:t>
            </a:r>
            <a:r>
              <a:rPr lang="en-US" dirty="0"/>
              <a:t>. //For example, in the Cinderella schema, the main character starts off in a low position, rises from adversity, faces a setback in the middle, and ultimately rises again, ending with a higher status. pause for 3 seconds</a:t>
            </a:r>
          </a:p>
        </p:txBody>
      </p:sp>
      <p:sp>
        <p:nvSpPr>
          <p:cNvPr id="4" name="Slide Number Placeholder 3"/>
          <p:cNvSpPr>
            <a:spLocks noGrp="1"/>
          </p:cNvSpPr>
          <p:nvPr>
            <p:ph type="sldNum" sz="quarter" idx="5"/>
          </p:nvPr>
        </p:nvSpPr>
        <p:spPr/>
        <p:txBody>
          <a:bodyPr/>
          <a:lstStyle/>
          <a:p>
            <a:fld id="{95264CD8-3DEC-8B4F-9D5B-BD9D3A9E15C0}" type="slidenum">
              <a:rPr lang="en-US" smtClean="0"/>
              <a:t>39</a:t>
            </a:fld>
            <a:endParaRPr lang="en-US"/>
          </a:p>
        </p:txBody>
      </p:sp>
    </p:spTree>
    <p:extLst>
      <p:ext uri="{BB962C8B-B14F-4D97-AF65-F5344CB8AC3E}">
        <p14:creationId xmlns:p14="http://schemas.microsoft.com/office/powerpoint/2010/main" val="41220225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2'50 Next, we look at meso-level turning points—these are major events that shape how the plot unfolds, like transitions between rising and falling actions. We identify five key turning points: Opportunity, Change of Plans, Point of No Return, Major Setback, and Climax. The first three focus on setting up the story or building tension, the fourth deepens the conflict, and the final one, the Climax, brings resolution.</a:t>
            </a:r>
          </a:p>
        </p:txBody>
      </p:sp>
      <p:sp>
        <p:nvSpPr>
          <p:cNvPr id="4" name="Slide Number Placeholder 3"/>
          <p:cNvSpPr>
            <a:spLocks noGrp="1"/>
          </p:cNvSpPr>
          <p:nvPr>
            <p:ph type="sldNum" sz="quarter" idx="5"/>
          </p:nvPr>
        </p:nvSpPr>
        <p:spPr/>
        <p:txBody>
          <a:bodyPr/>
          <a:lstStyle/>
          <a:p>
            <a:fld id="{95264CD8-3DEC-8B4F-9D5B-BD9D3A9E15C0}" type="slidenum">
              <a:rPr lang="en-US" smtClean="0"/>
              <a:t>40</a:t>
            </a:fld>
            <a:endParaRPr lang="en-US"/>
          </a:p>
        </p:txBody>
      </p:sp>
    </p:spTree>
    <p:extLst>
      <p:ext uri="{BB962C8B-B14F-4D97-AF65-F5344CB8AC3E}">
        <p14:creationId xmlns:p14="http://schemas.microsoft.com/office/powerpoint/2010/main" val="4827476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3’30 Lastly, we use affective dimensions to get a finer look at sentence-level dynamics. We focus on two key aspects: Arousal, which measures the intensity of emotions, and Valence, which captures the positivity or negativity of the emotions. Both can be quantified on a 0 to 1 scale using an existing lexicon</a:t>
            </a:r>
            <a:endParaRPr lang="en-US" dirty="0">
              <a:latin typeface="Lucida Sans" panose="020B0602030504020204" pitchFamily="34" charset="77"/>
            </a:endParaRPr>
          </a:p>
        </p:txBody>
      </p:sp>
      <p:sp>
        <p:nvSpPr>
          <p:cNvPr id="4" name="Slide Number Placeholder 3"/>
          <p:cNvSpPr>
            <a:spLocks noGrp="1"/>
          </p:cNvSpPr>
          <p:nvPr>
            <p:ph type="sldNum" sz="quarter" idx="5"/>
          </p:nvPr>
        </p:nvSpPr>
        <p:spPr/>
        <p:txBody>
          <a:bodyPr/>
          <a:lstStyle/>
          <a:p>
            <a:fld id="{95264CD8-3DEC-8B4F-9D5B-BD9D3A9E15C0}" type="slidenum">
              <a:rPr lang="en-US" smtClean="0"/>
              <a:t>41</a:t>
            </a:fld>
            <a:endParaRPr lang="en-US"/>
          </a:p>
        </p:txBody>
      </p:sp>
    </p:spTree>
    <p:extLst>
      <p:ext uri="{BB962C8B-B14F-4D97-AF65-F5344CB8AC3E}">
        <p14:creationId xmlns:p14="http://schemas.microsoft.com/office/powerpoint/2010/main" val="134681647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i="1" dirty="0">
                <a:effectLst/>
                <a:latin typeface="Helvetica" pitchFamily="2" charset="0"/>
              </a:rPr>
              <a:t>819 synopses total, then doubled to get 1638</a:t>
            </a:r>
          </a:p>
          <a:p>
            <a:endParaRPr lang="en-US" i="1" dirty="0">
              <a:effectLst/>
              <a:latin typeface="Helvetica" pitchFamily="2" charset="0"/>
            </a:endParaRPr>
          </a:p>
          <a:p>
            <a:r>
              <a:rPr lang="en-US" i="1" dirty="0">
                <a:effectLst/>
                <a:latin typeface="Helvetica" pitchFamily="2" charset="0"/>
              </a:rPr>
              <a:t>Arc/TP: train 16 annotators thoroughly, have them annotate for turning points, then consider what arcs that fit well into. .9 spearman’s (there’s a bit of a numerical relationship in arc), .6 cohen’s</a:t>
            </a:r>
          </a:p>
          <a:p>
            <a:r>
              <a:rPr lang="en-US" i="1" dirty="0">
                <a:effectLst/>
                <a:latin typeface="Helvetica" pitchFamily="2" charset="0"/>
              </a:rPr>
              <a:t>Arousal/Valence: identify main character, for each sentence infer 3 adjectives about the main, then use VAD lexicon to find arousal/valence for each adj. take average. interpolated and averaged to form 100%</a:t>
            </a:r>
          </a:p>
          <a:p>
            <a:endParaRPr lang="en-US" i="1" dirty="0">
              <a:effectLst/>
              <a:latin typeface="Helvetica" pitchFamily="2" charset="0"/>
            </a:endParaRPr>
          </a:p>
          <a:p>
            <a:r>
              <a:rPr lang="en-US" i="1" dirty="0">
                <a:effectLst/>
                <a:latin typeface="Helvetica" pitchFamily="2" charset="0"/>
              </a:rPr>
              <a:t>3‘55 we take the condensed version of films, as a basis for</a:t>
            </a:r>
            <a:r>
              <a:rPr lang="en-US" i="0" dirty="0">
                <a:effectLst/>
                <a:latin typeface="Helvetica" pitchFamily="2" charset="0"/>
              </a:rPr>
              <a:t> </a:t>
            </a:r>
            <a:r>
              <a:rPr lang="en-US" i="1" dirty="0">
                <a:effectLst/>
                <a:latin typeface="Helvetica" pitchFamily="2" charset="0"/>
              </a:rPr>
              <a:t>our study, because they are arguably the most intriguing stories in our culture.</a:t>
            </a:r>
          </a:p>
          <a:p>
            <a:r>
              <a:rPr lang="en-US" i="1" dirty="0">
                <a:effectLst/>
                <a:latin typeface="Helvetica" pitchFamily="2" charset="0"/>
              </a:rPr>
              <a:t>We ran controlled experiments to compare human and ai stories across the three dimensions I mentioned. Here, the LLMs don’t just take one shot to write the stories, but instead, plans for the outline before expanding to the full narratives.</a:t>
            </a:r>
          </a:p>
          <a:p>
            <a:endParaRPr lang="en-US" dirty="0"/>
          </a:p>
          <a:p>
            <a:r>
              <a:rPr lang="en-US" dirty="0"/>
              <a:t>// To analyze the results, we combined human expert annotations with automated scoring. So, what did we find out?</a:t>
            </a:r>
          </a:p>
        </p:txBody>
      </p:sp>
      <p:sp>
        <p:nvSpPr>
          <p:cNvPr id="4" name="Slide Number Placeholder 3"/>
          <p:cNvSpPr>
            <a:spLocks noGrp="1"/>
          </p:cNvSpPr>
          <p:nvPr>
            <p:ph type="sldNum" sz="quarter" idx="5"/>
          </p:nvPr>
        </p:nvSpPr>
        <p:spPr/>
        <p:txBody>
          <a:bodyPr/>
          <a:lstStyle/>
          <a:p>
            <a:fld id="{95264CD8-3DEC-8B4F-9D5B-BD9D3A9E15C0}" type="slidenum">
              <a:rPr lang="en-US" smtClean="0"/>
              <a:t>42</a:t>
            </a:fld>
            <a:endParaRPr lang="en-US"/>
          </a:p>
        </p:txBody>
      </p:sp>
    </p:spTree>
    <p:extLst>
      <p:ext uri="{BB962C8B-B14F-4D97-AF65-F5344CB8AC3E}">
        <p14:creationId xmlns:p14="http://schemas.microsoft.com/office/powerpoint/2010/main" val="203660713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2"/>
              </a:solidFill>
              <a:latin typeface="Lucida Sans" panose="020B0602030504020204" pitchFamily="34" charset="77"/>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2"/>
                </a:solidFill>
                <a:latin typeface="Lucida Sans" panose="020B0602030504020204" pitchFamily="34" charset="77"/>
              </a:rPr>
              <a:t>4’35 The first difference we observe between human and AI is that LLMs incorrectly pace their stories compared to human writers.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2"/>
                </a:solidFill>
                <a:latin typeface="Lucida Sans" panose="020B0602030504020204" pitchFamily="34" charset="77"/>
              </a:rPr>
              <a:t>In this</a:t>
            </a:r>
            <a:r>
              <a:rPr lang="zh-CN" altLang="en-US" sz="1200" dirty="0">
                <a:solidFill>
                  <a:schemeClr val="accent2"/>
                </a:solidFill>
                <a:latin typeface="Lucida Sans" panose="020B0602030504020204" pitchFamily="34" charset="77"/>
              </a:rPr>
              <a:t> </a:t>
            </a:r>
            <a:r>
              <a:rPr lang="en-US" altLang="zh-CN" sz="1200" dirty="0">
                <a:solidFill>
                  <a:schemeClr val="accent2"/>
                </a:solidFill>
                <a:latin typeface="Lucida Sans" panose="020B0602030504020204" pitchFamily="34" charset="77"/>
              </a:rPr>
              <a:t>violin</a:t>
            </a:r>
            <a:r>
              <a:rPr lang="en-US" sz="1200" dirty="0">
                <a:solidFill>
                  <a:schemeClr val="accent2"/>
                </a:solidFill>
                <a:latin typeface="Lucida Sans" panose="020B0602030504020204" pitchFamily="34" charset="77"/>
              </a:rPr>
              <a:t> plot, we show the position of </a:t>
            </a:r>
            <a:r>
              <a:rPr lang="en-US" sz="1200" dirty="0">
                <a:latin typeface="Lucida Sans" panose="020B0602030504020204" pitchFamily="34" charset="77"/>
              </a:rPr>
              <a:t>five turning points in orange and blue, which contrasts human and machine. The Y axis means the relative position of these turning points, starting from 0, the start of the narrative to 1, the end. we observe a </a:t>
            </a:r>
            <a:r>
              <a:rPr lang="en-US" dirty="0"/>
              <a:t>substantial early occurrence of TP4- major setup, and TP5 – climax, in AI outputs,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2"/>
              </a:solidFill>
              <a:latin typeface="Lucida Sans" panose="020B0602030504020204" pitchFamily="34" charset="77"/>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suggests that while LLMs // grasp the correct pacing to establish the initial setup, they still struggle to unfold the most //crucial junctures adequately. For example</a:t>
            </a:r>
            <a:r>
              <a:rPr lang="en-US" altLang="zh-CN" dirty="0"/>
              <a:t>//</a:t>
            </a:r>
            <a:r>
              <a:rPr lang="en-US" dirty="0"/>
              <a:t>, AI tend to write easy miracle turns that are not sufficiently justified.</a:t>
            </a:r>
            <a:endParaRPr lang="en-US" sz="1200" dirty="0">
              <a:solidFill>
                <a:schemeClr val="accent2"/>
              </a:solidFill>
              <a:latin typeface="Lucida Sans" panose="020B0602030504020204" pitchFamily="34" charset="77"/>
            </a:endParaRPr>
          </a:p>
        </p:txBody>
      </p:sp>
      <p:sp>
        <p:nvSpPr>
          <p:cNvPr id="4" name="Slide Number Placeholder 3"/>
          <p:cNvSpPr>
            <a:spLocks noGrp="1"/>
          </p:cNvSpPr>
          <p:nvPr>
            <p:ph type="sldNum" sz="quarter" idx="5"/>
          </p:nvPr>
        </p:nvSpPr>
        <p:spPr/>
        <p:txBody>
          <a:bodyPr/>
          <a:lstStyle/>
          <a:p>
            <a:fld id="{95264CD8-3DEC-8B4F-9D5B-BD9D3A9E15C0}" type="slidenum">
              <a:rPr lang="en-US" smtClean="0"/>
              <a:t>43</a:t>
            </a:fld>
            <a:endParaRPr lang="en-US"/>
          </a:p>
        </p:txBody>
      </p:sp>
    </p:spTree>
    <p:extLst>
      <p:ext uri="{BB962C8B-B14F-4D97-AF65-F5344CB8AC3E}">
        <p14:creationId xmlns:p14="http://schemas.microsoft.com/office/powerpoint/2010/main" val="421082881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5’45 Second, based on the sentence-level dynamics, we find that AI generate flat narratives without enough suspense. As is shown in this curve of arousal, human consistently write with higher emotion intensity. //The gap between human and LLMs enlarges </a:t>
            </a:r>
            <a:r>
              <a:rPr lang="en-US" i="1" dirty="0">
                <a:effectLst/>
                <a:latin typeface="Helvetica" pitchFamily="2" charset="0"/>
              </a:rPr>
              <a:t>from the midpoint to the end.//</a:t>
            </a:r>
            <a:r>
              <a:rPr lang="en-US" dirty="0"/>
              <a:t> They are also </a:t>
            </a:r>
            <a:r>
              <a:rPr lang="en-US" sz="1200" dirty="0">
                <a:latin typeface="Lucida Sans" panose="020B0602030504020204" pitchFamily="34" charset="77"/>
              </a:rPr>
              <a:t>biased towards much more positive endings compared to humans, as is shown in the valence curve on the right hand side!//</a:t>
            </a:r>
            <a:r>
              <a:rPr lang="zh-CN" altLang="en-US" sz="1200" dirty="0">
                <a:latin typeface="Lucida Sans" panose="020B0602030504020204" pitchFamily="34" charset="77"/>
              </a:rPr>
              <a:t> </a:t>
            </a:r>
            <a:r>
              <a:rPr lang="en-US" altLang="zh-CN" sz="1200" dirty="0">
                <a:latin typeface="Lucida Sans" panose="020B0602030504020204" pitchFamily="34" charset="77"/>
              </a:rPr>
              <a:t>pause for 3 seconds</a:t>
            </a:r>
            <a:endParaRPr lang="en-US" dirty="0"/>
          </a:p>
        </p:txBody>
      </p:sp>
      <p:sp>
        <p:nvSpPr>
          <p:cNvPr id="4" name="Slide Number Placeholder 3"/>
          <p:cNvSpPr>
            <a:spLocks noGrp="1"/>
          </p:cNvSpPr>
          <p:nvPr>
            <p:ph type="sldNum" sz="quarter" idx="5"/>
          </p:nvPr>
        </p:nvSpPr>
        <p:spPr/>
        <p:txBody>
          <a:bodyPr/>
          <a:lstStyle/>
          <a:p>
            <a:fld id="{95264CD8-3DEC-8B4F-9D5B-BD9D3A9E15C0}" type="slidenum">
              <a:rPr lang="en-US" smtClean="0"/>
              <a:t>44</a:t>
            </a:fld>
            <a:endParaRPr lang="en-US"/>
          </a:p>
        </p:txBody>
      </p:sp>
    </p:spTree>
    <p:extLst>
      <p:ext uri="{BB962C8B-B14F-4D97-AF65-F5344CB8AC3E}">
        <p14:creationId xmlns:p14="http://schemas.microsoft.com/office/powerpoint/2010/main" val="248394395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6’20 Last but not least, we find that the share of story types, between human and LLM show significant differences. //AI is much more likely to generate story with less inflections or complexity, such as rags to riches and man in the hole,// and are unlikely to generate </a:t>
            </a:r>
            <a:r>
              <a:rPr lang="en-US" i="1" dirty="0">
                <a:effectLst/>
                <a:latin typeface="Helvetica" pitchFamily="2" charset="0"/>
              </a:rPr>
              <a:t>negative plot progression such as riches to rags, and Oedipus, which accounted for 25% of human narratives, but only 3% of LLM-generated narratives.</a:t>
            </a:r>
            <a:endParaRPr lang="en-US" dirty="0"/>
          </a:p>
          <a:p>
            <a:endParaRPr lang="en-US" dirty="0"/>
          </a:p>
        </p:txBody>
      </p:sp>
      <p:sp>
        <p:nvSpPr>
          <p:cNvPr id="4" name="Slide Number Placeholder 3"/>
          <p:cNvSpPr>
            <a:spLocks noGrp="1"/>
          </p:cNvSpPr>
          <p:nvPr>
            <p:ph type="sldNum" sz="quarter" idx="5"/>
          </p:nvPr>
        </p:nvSpPr>
        <p:spPr/>
        <p:txBody>
          <a:bodyPr/>
          <a:lstStyle/>
          <a:p>
            <a:fld id="{95264CD8-3DEC-8B4F-9D5B-BD9D3A9E15C0}" type="slidenum">
              <a:rPr lang="en-US" smtClean="0"/>
              <a:t>45</a:t>
            </a:fld>
            <a:endParaRPr lang="en-US"/>
          </a:p>
        </p:txBody>
      </p:sp>
    </p:spTree>
    <p:extLst>
      <p:ext uri="{BB962C8B-B14F-4D97-AF65-F5344CB8AC3E}">
        <p14:creationId xmlns:p14="http://schemas.microsoft.com/office/powerpoint/2010/main" val="297196370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8’05 Finally,</a:t>
            </a:r>
            <a:r>
              <a:rPr lang="en-US" sz="1200" b="1" dirty="0">
                <a:blipFill>
                  <a:blip r:embed="rId3"/>
                  <a:tile tx="6350" ty="-127000" sx="65000" sy="64000" flip="none" algn="tl"/>
                </a:blipFill>
              </a:rPr>
              <a:t> Towards more captivating and Diverse AI Story-Telling,</a:t>
            </a:r>
            <a:r>
              <a:rPr lang="en-US" dirty="0"/>
              <a:t> we investigate whether incorporating the discourse aspects into the planning stage enhances machine’s storytelling ability.  ---  And the answer is Yes! </a:t>
            </a:r>
          </a:p>
          <a:p>
            <a:endParaRPr lang="en-US" dirty="0"/>
          </a:p>
        </p:txBody>
      </p:sp>
      <p:sp>
        <p:nvSpPr>
          <p:cNvPr id="4" name="Slide Number Placeholder 3"/>
          <p:cNvSpPr>
            <a:spLocks noGrp="1"/>
          </p:cNvSpPr>
          <p:nvPr>
            <p:ph type="sldNum" sz="quarter" idx="5"/>
          </p:nvPr>
        </p:nvSpPr>
        <p:spPr/>
        <p:txBody>
          <a:bodyPr/>
          <a:lstStyle/>
          <a:p>
            <a:fld id="{95264CD8-3DEC-8B4F-9D5B-BD9D3A9E15C0}" type="slidenum">
              <a:rPr lang="en-US" smtClean="0"/>
              <a:t>46</a:t>
            </a:fld>
            <a:endParaRPr lang="en-US"/>
          </a:p>
        </p:txBody>
      </p:sp>
    </p:spTree>
    <p:extLst>
      <p:ext uri="{BB962C8B-B14F-4D97-AF65-F5344CB8AC3E}">
        <p14:creationId xmlns:p14="http://schemas.microsoft.com/office/powerpoint/2010/main" val="191160627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sz="1200" dirty="0">
              <a:latin typeface="Lucida Sans" panose="020B0602030504020204" pitchFamily="34" charset="77"/>
            </a:endParaRPr>
          </a:p>
          <a:p>
            <a:r>
              <a:rPr lang="en-US" sz="1200" dirty="0">
                <a:latin typeface="Lucida Sans" panose="020B0602030504020204" pitchFamily="34" charset="77"/>
              </a:rPr>
              <a:t>8’20 Compared to </a:t>
            </a:r>
            <a:r>
              <a:rPr lang="en-US" i="1" dirty="0">
                <a:effectLst/>
                <a:latin typeface="Helvetica" pitchFamily="2" charset="0"/>
              </a:rPr>
              <a:t>simply instructing the model to</a:t>
            </a:r>
            <a:r>
              <a:rPr lang="en-US" i="0" dirty="0">
                <a:effectLst/>
                <a:latin typeface="Helvetica" pitchFamily="2" charset="0"/>
              </a:rPr>
              <a:t> </a:t>
            </a:r>
            <a:r>
              <a:rPr lang="en-US" i="1" dirty="0">
                <a:effectLst/>
                <a:latin typeface="Helvetica" pitchFamily="2" charset="0"/>
              </a:rPr>
              <a:t>generate an outline, then expand it to a full story.</a:t>
            </a:r>
            <a:endParaRPr lang="en-US" dirty="0">
              <a:effectLst/>
              <a:latin typeface="Helvetica"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latin typeface="Lucida Sans" panose="020B0602030504020204" pitchFamily="34" charset="77"/>
              </a:rPr>
              <a:t>We find that explicitly asking the model to mark these turning points during the planning stage</a:t>
            </a:r>
            <a:r>
              <a:rPr lang="en-US" altLang="zh-CN" sz="1200" dirty="0">
                <a:latin typeface="Lucida Sans" panose="020B0602030504020204" pitchFamily="34" charset="77"/>
              </a:rPr>
              <a:t>//</a:t>
            </a:r>
            <a:r>
              <a:rPr lang="zh-CN" altLang="en-US" sz="1200" dirty="0">
                <a:latin typeface="Lucida Sans" panose="020B0602030504020204" pitchFamily="34" charset="77"/>
              </a:rPr>
              <a:t> </a:t>
            </a:r>
            <a:r>
              <a:rPr lang="en-US" sz="1200" dirty="0">
                <a:latin typeface="Lucida Sans" panose="020B0602030504020204" pitchFamily="34" charset="77"/>
              </a:rPr>
              <a:t>improves the overall narrative construction </a:t>
            </a:r>
            <a:r>
              <a:rPr lang="en-US" dirty="0"/>
              <a:t>including reduced plot holes,</a:t>
            </a:r>
            <a:r>
              <a:rPr lang="en-US" sz="1200" dirty="0">
                <a:latin typeface="Lucida Sans" panose="020B0602030504020204" pitchFamily="34" charset="77"/>
              </a:rPr>
              <a:t> enhanced suspense level, and greater emotion provocation.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latin typeface="Lucida Sans" panose="020B0602030504020204" pitchFamily="34" charset="77"/>
            </a:endParaRPr>
          </a:p>
          <a:p>
            <a:r>
              <a:rPr lang="en-US" sz="1200" dirty="0">
                <a:latin typeface="Lucida Sans" panose="020B0602030504020204" pitchFamily="34" charset="77"/>
              </a:rPr>
              <a:t>Interestingly, enforcing the gold turning points that human wrote didn’t further improve the quality. We realize that this is because that such enforcement </a:t>
            </a:r>
            <a:r>
              <a:rPr lang="en-US" i="1" dirty="0">
                <a:effectLst/>
                <a:latin typeface="Helvetica" pitchFamily="2" charset="0"/>
              </a:rPr>
              <a:t>could disrupt the machine’s generative flow, and make the whole plot illogical</a:t>
            </a:r>
            <a:endParaRPr lang="en-US" dirty="0">
              <a:effectLst/>
              <a:latin typeface="Helvetica" pitchFamily="2" charset="0"/>
            </a:endParaRPr>
          </a:p>
        </p:txBody>
      </p:sp>
      <p:sp>
        <p:nvSpPr>
          <p:cNvPr id="4" name="Slide Number Placeholder 3"/>
          <p:cNvSpPr>
            <a:spLocks noGrp="1"/>
          </p:cNvSpPr>
          <p:nvPr>
            <p:ph type="sldNum" sz="quarter" idx="5"/>
          </p:nvPr>
        </p:nvSpPr>
        <p:spPr/>
        <p:txBody>
          <a:bodyPr/>
          <a:lstStyle/>
          <a:p>
            <a:fld id="{95264CD8-3DEC-8B4F-9D5B-BD9D3A9E15C0}" type="slidenum">
              <a:rPr lang="en-US" smtClean="0"/>
              <a:t>47</a:t>
            </a:fld>
            <a:endParaRPr lang="en-US"/>
          </a:p>
        </p:txBody>
      </p:sp>
    </p:spTree>
    <p:extLst>
      <p:ext uri="{BB962C8B-B14F-4D97-AF65-F5344CB8AC3E}">
        <p14:creationId xmlns:p14="http://schemas.microsoft.com/office/powerpoint/2010/main" val="323765482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4"/>
        <p:cNvGrpSpPr/>
        <p:nvPr/>
      </p:nvGrpSpPr>
      <p:grpSpPr>
        <a:xfrm>
          <a:off x="0" y="0"/>
          <a:ext cx="0" cy="0"/>
          <a:chOff x="0" y="0"/>
          <a:chExt cx="0" cy="0"/>
        </a:xfrm>
      </p:grpSpPr>
      <p:sp>
        <p:nvSpPr>
          <p:cNvPr id="395" name="Google Shape;395;g316b668ee1c_0_7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6" name="Google Shape;396;g316b668ee1c_0_7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8"/>
        <p:cNvGrpSpPr/>
        <p:nvPr/>
      </p:nvGrpSpPr>
      <p:grpSpPr>
        <a:xfrm>
          <a:off x="0" y="0"/>
          <a:ext cx="0" cy="0"/>
          <a:chOff x="0" y="0"/>
          <a:chExt cx="0" cy="0"/>
        </a:xfrm>
      </p:grpSpPr>
      <p:sp>
        <p:nvSpPr>
          <p:cNvPr id="409" name="Google Shape;409;g316b668ee1c_0_7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0" name="Google Shape;410;g316b668ee1c_0_7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316b668ee1c_0_7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316b668ee1c_0_7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316b668ee1c_0_18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3" name="Google Shape;423;g316b668ee1c_0_1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7"/>
        <p:cNvGrpSpPr/>
        <p:nvPr/>
      </p:nvGrpSpPr>
      <p:grpSpPr>
        <a:xfrm>
          <a:off x="0" y="0"/>
          <a:ext cx="0" cy="0"/>
          <a:chOff x="0" y="0"/>
          <a:chExt cx="0" cy="0"/>
        </a:xfrm>
      </p:grpSpPr>
      <p:sp>
        <p:nvSpPr>
          <p:cNvPr id="478" name="Google Shape;478;g316b668ee1c_0_7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9" name="Google Shape;479;g316b668ee1c_0_7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316b668ee1c_0_9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4" name="Google Shape;514;g316b668ee1c_0_9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4"/>
        <p:cNvGrpSpPr/>
        <p:nvPr/>
      </p:nvGrpSpPr>
      <p:grpSpPr>
        <a:xfrm>
          <a:off x="0" y="0"/>
          <a:ext cx="0" cy="0"/>
          <a:chOff x="0" y="0"/>
          <a:chExt cx="0" cy="0"/>
        </a:xfrm>
      </p:grpSpPr>
      <p:sp>
        <p:nvSpPr>
          <p:cNvPr id="555" name="Google Shape;555;g316b668ee1c_0_10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6" name="Google Shape;556;g316b668ee1c_0_10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5"/>
        <p:cNvGrpSpPr/>
        <p:nvPr/>
      </p:nvGrpSpPr>
      <p:grpSpPr>
        <a:xfrm>
          <a:off x="0" y="0"/>
          <a:ext cx="0" cy="0"/>
          <a:chOff x="0" y="0"/>
          <a:chExt cx="0" cy="0"/>
        </a:xfrm>
      </p:grpSpPr>
      <p:sp>
        <p:nvSpPr>
          <p:cNvPr id="586" name="Google Shape;586;g316b668ee1c_0_10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7" name="Google Shape;587;g316b668ee1c_0_10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6"/>
        <p:cNvGrpSpPr/>
        <p:nvPr/>
      </p:nvGrpSpPr>
      <p:grpSpPr>
        <a:xfrm>
          <a:off x="0" y="0"/>
          <a:ext cx="0" cy="0"/>
          <a:chOff x="0" y="0"/>
          <a:chExt cx="0" cy="0"/>
        </a:xfrm>
      </p:grpSpPr>
      <p:sp>
        <p:nvSpPr>
          <p:cNvPr id="597" name="Google Shape;597;g316b668ee1c_0_110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8" name="Google Shape;598;g316b668ee1c_0_11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9"/>
        <p:cNvGrpSpPr/>
        <p:nvPr/>
      </p:nvGrpSpPr>
      <p:grpSpPr>
        <a:xfrm>
          <a:off x="0" y="0"/>
          <a:ext cx="0" cy="0"/>
          <a:chOff x="0" y="0"/>
          <a:chExt cx="0" cy="0"/>
        </a:xfrm>
      </p:grpSpPr>
      <p:sp>
        <p:nvSpPr>
          <p:cNvPr id="660" name="Google Shape;660;g316b668ee1c_0_12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1" name="Google Shape;661;g316b668ee1c_0_12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7"/>
        <p:cNvGrpSpPr/>
        <p:nvPr/>
      </p:nvGrpSpPr>
      <p:grpSpPr>
        <a:xfrm>
          <a:off x="0" y="0"/>
          <a:ext cx="0" cy="0"/>
          <a:chOff x="0" y="0"/>
          <a:chExt cx="0" cy="0"/>
        </a:xfrm>
      </p:grpSpPr>
      <p:sp>
        <p:nvSpPr>
          <p:cNvPr id="668" name="Google Shape;668;g316b668ee1c_0_12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9" name="Google Shape;669;g316b668ee1c_0_12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4"/>
        <p:cNvGrpSpPr/>
        <p:nvPr/>
      </p:nvGrpSpPr>
      <p:grpSpPr>
        <a:xfrm>
          <a:off x="0" y="0"/>
          <a:ext cx="0" cy="0"/>
          <a:chOff x="0" y="0"/>
          <a:chExt cx="0" cy="0"/>
        </a:xfrm>
      </p:grpSpPr>
      <p:sp>
        <p:nvSpPr>
          <p:cNvPr id="675" name="Google Shape;675;g316b668ee1c_0_12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6" name="Google Shape;676;g316b668ee1c_0_12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g316b668ee1c_0_12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3" name="Google Shape;683;g316b668ee1c_0_12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8"/>
        <p:cNvGrpSpPr/>
        <p:nvPr/>
      </p:nvGrpSpPr>
      <p:grpSpPr>
        <a:xfrm>
          <a:off x="0" y="0"/>
          <a:ext cx="0" cy="0"/>
          <a:chOff x="0" y="0"/>
          <a:chExt cx="0" cy="0"/>
        </a:xfrm>
      </p:grpSpPr>
      <p:sp>
        <p:nvSpPr>
          <p:cNvPr id="689" name="Google Shape;689;g316b668ee1c_0_12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0" name="Google Shape;690;g316b668ee1c_0_12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3"/>
        <p:cNvGrpSpPr/>
        <p:nvPr/>
      </p:nvGrpSpPr>
      <p:grpSpPr>
        <a:xfrm>
          <a:off x="0" y="0"/>
          <a:ext cx="0" cy="0"/>
          <a:chOff x="0" y="0"/>
          <a:chExt cx="0" cy="0"/>
        </a:xfrm>
      </p:grpSpPr>
      <p:sp>
        <p:nvSpPr>
          <p:cNvPr id="694" name="Google Shape;694;g316b668ee1c_0_13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5" name="Google Shape;695;g316b668ee1c_0_13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8"/>
        <p:cNvGrpSpPr/>
        <p:nvPr/>
      </p:nvGrpSpPr>
      <p:grpSpPr>
        <a:xfrm>
          <a:off x="0" y="0"/>
          <a:ext cx="0" cy="0"/>
          <a:chOff x="0" y="0"/>
          <a:chExt cx="0" cy="0"/>
        </a:xfrm>
      </p:grpSpPr>
      <p:sp>
        <p:nvSpPr>
          <p:cNvPr id="699" name="Google Shape;699;g316b668ee1c_0_130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0" name="Google Shape;700;g316b668ee1c_0_1304:notes"/>
          <p:cNvSpPr txBox="1">
            <a:spLocks noGrp="1"/>
          </p:cNvSpPr>
          <p:nvPr>
            <p:ph type="body" idx="1"/>
          </p:nvPr>
        </p:nvSpPr>
        <p:spPr>
          <a:xfrm>
            <a:off x="685800" y="4400551"/>
            <a:ext cx="5486400" cy="3600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01" name="Google Shape;701;g316b668ee1c_0_1304:notes"/>
          <p:cNvSpPr txBox="1">
            <a:spLocks noGrp="1"/>
          </p:cNvSpPr>
          <p:nvPr>
            <p:ph type="sldNum" idx="12"/>
          </p:nvPr>
        </p:nvSpPr>
        <p:spPr>
          <a:xfrm>
            <a:off x="3884414" y="8684684"/>
            <a:ext cx="2971800" cy="459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Font typeface="Arial"/>
              <a:buNone/>
            </a:pPr>
            <a:fld id="{00000000-1234-1234-1234-123412341234}" type="slidenum">
              <a:rPr lang="en"/>
              <a:t>63</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2"/>
        <p:cNvGrpSpPr/>
        <p:nvPr/>
      </p:nvGrpSpPr>
      <p:grpSpPr>
        <a:xfrm>
          <a:off x="0" y="0"/>
          <a:ext cx="0" cy="0"/>
          <a:chOff x="0" y="0"/>
          <a:chExt cx="0" cy="0"/>
        </a:xfrm>
      </p:grpSpPr>
      <p:sp>
        <p:nvSpPr>
          <p:cNvPr id="713" name="Google Shape;713;g316b668ee1c_0_13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4" name="Google Shape;714;g316b668ee1c_0_1317:notes"/>
          <p:cNvSpPr txBox="1">
            <a:spLocks noGrp="1"/>
          </p:cNvSpPr>
          <p:nvPr>
            <p:ph type="body" idx="1"/>
          </p:nvPr>
        </p:nvSpPr>
        <p:spPr>
          <a:xfrm>
            <a:off x="685800" y="4400551"/>
            <a:ext cx="5486400" cy="3600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15" name="Google Shape;715;g316b668ee1c_0_1317:notes"/>
          <p:cNvSpPr txBox="1">
            <a:spLocks noGrp="1"/>
          </p:cNvSpPr>
          <p:nvPr>
            <p:ph type="sldNum" idx="12"/>
          </p:nvPr>
        </p:nvSpPr>
        <p:spPr>
          <a:xfrm>
            <a:off x="3884414" y="8684684"/>
            <a:ext cx="2971800" cy="459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Font typeface="Arial"/>
              <a:buNone/>
            </a:pPr>
            <a:fld id="{00000000-1234-1234-1234-123412341234}" type="slidenum">
              <a:rPr lang="en"/>
              <a:t>64</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0"/>
        <p:cNvGrpSpPr/>
        <p:nvPr/>
      </p:nvGrpSpPr>
      <p:grpSpPr>
        <a:xfrm>
          <a:off x="0" y="0"/>
          <a:ext cx="0" cy="0"/>
          <a:chOff x="0" y="0"/>
          <a:chExt cx="0" cy="0"/>
        </a:xfrm>
      </p:grpSpPr>
      <p:sp>
        <p:nvSpPr>
          <p:cNvPr id="721" name="Google Shape;721;g316b668ee1c_0_13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2" name="Google Shape;722;g316b668ee1c_0_13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9"/>
        <p:cNvGrpSpPr/>
        <p:nvPr/>
      </p:nvGrpSpPr>
      <p:grpSpPr>
        <a:xfrm>
          <a:off x="0" y="0"/>
          <a:ext cx="0" cy="0"/>
          <a:chOff x="0" y="0"/>
          <a:chExt cx="0" cy="0"/>
        </a:xfrm>
      </p:grpSpPr>
      <p:sp>
        <p:nvSpPr>
          <p:cNvPr id="730" name="Google Shape;730;g316b668ee1c_0_13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1" name="Google Shape;731;g316b668ee1c_0_13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8"/>
        <p:cNvGrpSpPr/>
        <p:nvPr/>
      </p:nvGrpSpPr>
      <p:grpSpPr>
        <a:xfrm>
          <a:off x="0" y="0"/>
          <a:ext cx="0" cy="0"/>
          <a:chOff x="0" y="0"/>
          <a:chExt cx="0" cy="0"/>
        </a:xfrm>
      </p:grpSpPr>
      <p:sp>
        <p:nvSpPr>
          <p:cNvPr id="739" name="Google Shape;739;g316b668ee1c_0_13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0" name="Google Shape;740;g316b668ee1c_0_13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1"/>
        <p:cNvGrpSpPr/>
        <p:nvPr/>
      </p:nvGrpSpPr>
      <p:grpSpPr>
        <a:xfrm>
          <a:off x="0" y="0"/>
          <a:ext cx="0" cy="0"/>
          <a:chOff x="0" y="0"/>
          <a:chExt cx="0" cy="0"/>
        </a:xfrm>
      </p:grpSpPr>
      <p:sp>
        <p:nvSpPr>
          <p:cNvPr id="752" name="Google Shape;752;g316b668ee1c_0_13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3" name="Google Shape;753;g316b668ee1c_0_13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6"/>
        <p:cNvGrpSpPr/>
        <p:nvPr/>
      </p:nvGrpSpPr>
      <p:grpSpPr>
        <a:xfrm>
          <a:off x="0" y="0"/>
          <a:ext cx="0" cy="0"/>
          <a:chOff x="0" y="0"/>
          <a:chExt cx="0" cy="0"/>
        </a:xfrm>
      </p:grpSpPr>
      <p:sp>
        <p:nvSpPr>
          <p:cNvPr id="767" name="Google Shape;767;g316b668ee1c_0_13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8" name="Google Shape;768;g316b668ee1c_0_13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3"/>
        <p:cNvGrpSpPr/>
        <p:nvPr/>
      </p:nvGrpSpPr>
      <p:grpSpPr>
        <a:xfrm>
          <a:off x="0" y="0"/>
          <a:ext cx="0" cy="0"/>
          <a:chOff x="0" y="0"/>
          <a:chExt cx="0" cy="0"/>
        </a:xfrm>
      </p:grpSpPr>
      <p:sp>
        <p:nvSpPr>
          <p:cNvPr id="774" name="Google Shape;774;g316b668ee1c_0_13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5" name="Google Shape;775;g316b668ee1c_0_13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9"/>
        <p:cNvGrpSpPr/>
        <p:nvPr/>
      </p:nvGrpSpPr>
      <p:grpSpPr>
        <a:xfrm>
          <a:off x="0" y="0"/>
          <a:ext cx="0" cy="0"/>
          <a:chOff x="0" y="0"/>
          <a:chExt cx="0" cy="0"/>
        </a:xfrm>
      </p:grpSpPr>
      <p:sp>
        <p:nvSpPr>
          <p:cNvPr id="780" name="Google Shape;780;g316b668ee1c_0_12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1" name="Google Shape;781;g316b668ee1c_0_12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defRPr sz="2700" b="0" i="0" baseline="0"/>
            </a:lvl1pPr>
          </a:lstStyle>
          <a:p>
            <a:r>
              <a:rPr lang="en-US"/>
              <a:t>Click to edit Master title style</a:t>
            </a:r>
          </a:p>
        </p:txBody>
      </p:sp>
      <p:sp>
        <p:nvSpPr>
          <p:cNvPr id="3" name="Content Placeholder 2"/>
          <p:cNvSpPr>
            <a:spLocks noGrp="1"/>
          </p:cNvSpPr>
          <p:nvPr>
            <p:ph idx="1"/>
          </p:nvPr>
        </p:nvSpPr>
        <p:spPr>
          <a:xfrm>
            <a:off x="457201" y="859539"/>
            <a:ext cx="8235697" cy="3735086"/>
          </a:xfrm>
        </p:spPr>
        <p:txBody>
          <a:bodyPr/>
          <a:lstStyle>
            <a:lvl1pPr>
              <a:defRPr sz="21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a:extLst>
              <a:ext uri="{FF2B5EF4-FFF2-40B4-BE49-F238E27FC236}">
                <a16:creationId xmlns:a16="http://schemas.microsoft.com/office/drawing/2014/main" id="{32ACBBA2-92AA-C72F-CB95-AF1B0ED2B9A3}"/>
              </a:ext>
            </a:extLst>
          </p:cNvPr>
          <p:cNvSpPr>
            <a:spLocks noGrp="1"/>
          </p:cNvSpPr>
          <p:nvPr>
            <p:ph type="sldNum" sz="quarter" idx="10"/>
          </p:nvPr>
        </p:nvSpPr>
        <p:spPr/>
        <p:txBody>
          <a:bodyPr/>
          <a:lstStyle/>
          <a:p>
            <a:fld id="{3489042B-C801-604F-9F2F-DA423A2827AF}" type="slidenum">
              <a:rPr lang="en-US" smtClean="0"/>
              <a:pPr/>
              <a:t>‹#›</a:t>
            </a:fld>
            <a:endParaRPr lang="en-US"/>
          </a:p>
        </p:txBody>
      </p:sp>
      <p:pic>
        <p:nvPicPr>
          <p:cNvPr id="4" name="Picture 3" descr="A black background with red text&#10;&#10;Description automatically generated">
            <a:extLst>
              <a:ext uri="{FF2B5EF4-FFF2-40B4-BE49-F238E27FC236}">
                <a16:creationId xmlns:a16="http://schemas.microsoft.com/office/drawing/2014/main" id="{9AD53B81-2DB8-102E-3564-473E8A37AA7C}"/>
              </a:ext>
            </a:extLst>
          </p:cNvPr>
          <p:cNvPicPr>
            <a:picLocks noChangeAspect="1"/>
          </p:cNvPicPr>
          <p:nvPr userDrawn="1"/>
        </p:nvPicPr>
        <p:blipFill>
          <a:blip r:embed="rId2"/>
          <a:stretch>
            <a:fillRect/>
          </a:stretch>
        </p:blipFill>
        <p:spPr>
          <a:xfrm>
            <a:off x="8408670" y="-129540"/>
            <a:ext cx="838200" cy="830580"/>
          </a:xfrm>
          <a:prstGeom prst="rect">
            <a:avLst/>
          </a:prstGeom>
        </p:spPr>
      </p:pic>
    </p:spTree>
    <p:extLst>
      <p:ext uri="{BB962C8B-B14F-4D97-AF65-F5344CB8AC3E}">
        <p14:creationId xmlns:p14="http://schemas.microsoft.com/office/powerpoint/2010/main" val="47165205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2.xml"/><Relationship Id="rId1" Type="http://schemas.openxmlformats.org/officeDocument/2006/relationships/slideLayout" Target="../slideLayouts/slideLayout3.xml"/><Relationship Id="rId5" Type="http://schemas.openxmlformats.org/officeDocument/2006/relationships/image" Target="../media/image21.png"/><Relationship Id="rId4" Type="http://schemas.openxmlformats.org/officeDocument/2006/relationships/image" Target="../media/image20.png"/></Relationships>
</file>

<file path=ppt/slides/_rels/slide3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3.xml"/><Relationship Id="rId1" Type="http://schemas.openxmlformats.org/officeDocument/2006/relationships/slideLayout" Target="../slideLayouts/slideLayout3.xml"/><Relationship Id="rId5" Type="http://schemas.openxmlformats.org/officeDocument/2006/relationships/image" Target="../media/image23.png"/><Relationship Id="rId4" Type="http://schemas.openxmlformats.org/officeDocument/2006/relationships/image" Target="../media/image21.png"/></Relationships>
</file>

<file path=ppt/slides/_rels/slide34.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3.png"/><Relationship Id="rId2" Type="http://schemas.openxmlformats.org/officeDocument/2006/relationships/notesSlide" Target="../notesSlides/notesSlide34.xml"/><Relationship Id="rId1" Type="http://schemas.openxmlformats.org/officeDocument/2006/relationships/slideLayout" Target="../slideLayouts/slideLayout3.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1.png"/></Relationships>
</file>

<file path=ppt/slides/_rels/slide35.xml.rels><?xml version="1.0" encoding="UTF-8" standalone="yes"?>
<Relationships xmlns="http://schemas.openxmlformats.org/package/2006/relationships"><Relationship Id="rId8" Type="http://schemas.openxmlformats.org/officeDocument/2006/relationships/hyperlink" Target="https://aclanthology.org/2020.acl-main.478/" TargetMode="External"/><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notesSlide" Target="../notesSlides/notesSlide35.xml"/><Relationship Id="rId1" Type="http://schemas.openxmlformats.org/officeDocument/2006/relationships/slideLayout" Target="../slideLayouts/slideLayout3.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 Id="rId9" Type="http://schemas.openxmlformats.org/officeDocument/2006/relationships/hyperlink" Target="https://arxiv.org/abs/2101.00389"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7.xml"/><Relationship Id="rId1" Type="http://schemas.openxmlformats.org/officeDocument/2006/relationships/slideLayout" Target="../slideLayouts/slideLayout12.xml"/><Relationship Id="rId6" Type="http://schemas.openxmlformats.org/officeDocument/2006/relationships/image" Target="../media/image37.png"/><Relationship Id="rId5" Type="http://schemas.openxmlformats.org/officeDocument/2006/relationships/image" Target="../media/image36.emf"/><Relationship Id="rId4" Type="http://schemas.openxmlformats.org/officeDocument/2006/relationships/image" Target="../media/image35.svg"/></Relationships>
</file>

<file path=ppt/slides/_rels/slide3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8.xml"/><Relationship Id="rId1" Type="http://schemas.openxmlformats.org/officeDocument/2006/relationships/slideLayout" Target="../slideLayouts/slideLayout12.xml"/><Relationship Id="rId4" Type="http://schemas.openxmlformats.org/officeDocument/2006/relationships/image" Target="../media/image39.jpeg"/></Relationships>
</file>

<file path=ppt/slides/_rels/slide40.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39.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0.xml"/><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3" Type="http://schemas.openxmlformats.org/officeDocument/2006/relationships/image" Target="../media/image42.emf"/><Relationship Id="rId2" Type="http://schemas.openxmlformats.org/officeDocument/2006/relationships/notesSlide" Target="../notesSlides/notesSlide42.xml"/><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3" Type="http://schemas.openxmlformats.org/officeDocument/2006/relationships/image" Target="../media/image43.emf"/><Relationship Id="rId2" Type="http://schemas.openxmlformats.org/officeDocument/2006/relationships/notesSlide" Target="../notesSlides/notesSlide43.xml"/><Relationship Id="rId1" Type="http://schemas.openxmlformats.org/officeDocument/2006/relationships/slideLayout" Target="../slideLayouts/slideLayout12.xml"/><Relationship Id="rId4" Type="http://schemas.openxmlformats.org/officeDocument/2006/relationships/image" Target="../media/image44.emf"/></Relationships>
</file>

<file path=ppt/slides/_rels/slide45.xml.rels><?xml version="1.0" encoding="UTF-8" standalone="yes"?>
<Relationships xmlns="http://schemas.openxmlformats.org/package/2006/relationships"><Relationship Id="rId3" Type="http://schemas.openxmlformats.org/officeDocument/2006/relationships/image" Target="../media/image45.emf"/><Relationship Id="rId2" Type="http://schemas.openxmlformats.org/officeDocument/2006/relationships/notesSlide" Target="../notesSlides/notesSlide44.xml"/><Relationship Id="rId1" Type="http://schemas.openxmlformats.org/officeDocument/2006/relationships/slideLayout" Target="../slideLayouts/slideLayout12.xml"/></Relationships>
</file>

<file path=ppt/slides/_rels/slide4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5.xml"/><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3" Type="http://schemas.openxmlformats.org/officeDocument/2006/relationships/image" Target="../media/image47.png"/><Relationship Id="rId7" Type="http://schemas.openxmlformats.org/officeDocument/2006/relationships/image" Target="../media/image51.svg"/><Relationship Id="rId2" Type="http://schemas.openxmlformats.org/officeDocument/2006/relationships/notesSlide" Target="../notesSlides/notesSlide46.xml"/><Relationship Id="rId1" Type="http://schemas.openxmlformats.org/officeDocument/2006/relationships/slideLayout" Target="../slideLayouts/slideLayout12.xml"/><Relationship Id="rId6" Type="http://schemas.openxmlformats.org/officeDocument/2006/relationships/image" Target="../media/image50.png"/><Relationship Id="rId5" Type="http://schemas.openxmlformats.org/officeDocument/2006/relationships/image" Target="../media/image49.svg"/><Relationship Id="rId4" Type="http://schemas.openxmlformats.org/officeDocument/2006/relationships/image" Target="../media/image48.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1.xml"/><Relationship Id="rId1" Type="http://schemas.openxmlformats.org/officeDocument/2006/relationships/slideLayout" Target="../slideLayouts/slideLayout3.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5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2.xml"/><Relationship Id="rId1" Type="http://schemas.openxmlformats.org/officeDocument/2006/relationships/slideLayout" Target="../slideLayouts/slideLayout3.xml"/><Relationship Id="rId5" Type="http://schemas.openxmlformats.org/officeDocument/2006/relationships/image" Target="../media/image53.png"/><Relationship Id="rId4" Type="http://schemas.openxmlformats.org/officeDocument/2006/relationships/image" Target="../media/image58.png"/></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54.xml"/><Relationship Id="rId1" Type="http://schemas.openxmlformats.org/officeDocument/2006/relationships/slideLayout" Target="../slideLayouts/slideLayout3.xml"/><Relationship Id="rId5" Type="http://schemas.openxmlformats.org/officeDocument/2006/relationships/image" Target="../media/image61.png"/><Relationship Id="rId4" Type="http://schemas.openxmlformats.org/officeDocument/2006/relationships/image" Target="../media/image60.png"/></Relationships>
</file>

<file path=ppt/slides/_rels/slide5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5.xml"/><Relationship Id="rId1" Type="http://schemas.openxmlformats.org/officeDocument/2006/relationships/slideLayout" Target="../slideLayouts/slideLayout3.xml"/><Relationship Id="rId4" Type="http://schemas.openxmlformats.org/officeDocument/2006/relationships/image" Target="../media/image57.png"/></Relationships>
</file>

<file path=ppt/slides/_rels/slide5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56.xml"/><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57.xml"/><Relationship Id="rId1" Type="http://schemas.openxmlformats.org/officeDocument/2006/relationships/slideLayout" Target="../slideLayouts/slideLayout3.xml"/><Relationship Id="rId4" Type="http://schemas.openxmlformats.org/officeDocument/2006/relationships/image" Target="../media/image64.png"/></Relationships>
</file>

<file path=ppt/slides/_rels/slide5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60.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64.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65.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67.xml"/><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a:t>Discourse</a:t>
            </a:r>
            <a:endParaRPr/>
          </a:p>
        </p:txBody>
      </p:sp>
      <p:sp>
        <p:nvSpPr>
          <p:cNvPr id="55" name="Google Shape;55;p1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a:t>slides by Alexander Spangher</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pic>
        <p:nvPicPr>
          <p:cNvPr id="60" name="Google Shape;60;p14"/>
          <p:cNvPicPr preferRelativeResize="0"/>
          <p:nvPr/>
        </p:nvPicPr>
        <p:blipFill>
          <a:blip r:embed="rId3">
            <a:alphaModFix/>
          </a:blip>
          <a:stretch>
            <a:fillRect/>
          </a:stretch>
        </p:blipFill>
        <p:spPr>
          <a:xfrm>
            <a:off x="1147750" y="0"/>
            <a:ext cx="6848494" cy="5143500"/>
          </a:xfrm>
          <a:prstGeom prst="rect">
            <a:avLst/>
          </a:prstGeom>
          <a:noFill/>
          <a:ln>
            <a:noFill/>
          </a:ln>
        </p:spPr>
      </p:pic>
      <p:sp>
        <p:nvSpPr>
          <p:cNvPr id="61" name="Google Shape;61;p14"/>
          <p:cNvSpPr/>
          <p:nvPr/>
        </p:nvSpPr>
        <p:spPr>
          <a:xfrm>
            <a:off x="6747750" y="830500"/>
            <a:ext cx="962400" cy="441000"/>
          </a:xfrm>
          <a:prstGeom prst="leftArrow">
            <a:avLst>
              <a:gd name="adj1" fmla="val 50000"/>
              <a:gd name="adj2" fmla="val 50000"/>
            </a:avLst>
          </a:prstGeom>
          <a:solidFill>
            <a:srgbClr val="FFFF00"/>
          </a:solidFill>
          <a:ln w="7620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is discourse?</a:t>
            </a:r>
            <a:endParaRPr/>
          </a:p>
        </p:txBody>
      </p:sp>
      <p:sp>
        <p:nvSpPr>
          <p:cNvPr id="67" name="Google Shape;67;p15"/>
          <p:cNvSpPr txBox="1">
            <a:spLocks noGrp="1"/>
          </p:cNvSpPr>
          <p:nvPr>
            <p:ph type="body" idx="1"/>
          </p:nvPr>
        </p:nvSpPr>
        <p:spPr>
          <a:xfrm>
            <a:off x="311700" y="1152475"/>
            <a:ext cx="8520600" cy="34164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500" b="1">
                <a:solidFill>
                  <a:schemeClr val="dk1"/>
                </a:solidFill>
              </a:rPr>
              <a:t>Syntax</a:t>
            </a:r>
            <a:r>
              <a:rPr lang="en" sz="1500">
                <a:solidFill>
                  <a:schemeClr val="dk1"/>
                </a:solidFill>
              </a:rPr>
              <a:t>:</a:t>
            </a:r>
            <a:br>
              <a:rPr lang="en" sz="1500">
                <a:solidFill>
                  <a:schemeClr val="dk1"/>
                </a:solidFill>
              </a:rPr>
            </a:br>
            <a:r>
              <a:rPr lang="en" sz="1500">
                <a:solidFill>
                  <a:schemeClr val="dk1"/>
                </a:solidFill>
              </a:rPr>
              <a:t>The study of the structure and rules governing the arrangement of words and phrases in sentences. </a:t>
            </a:r>
            <a:endParaRPr sz="1500" b="1">
              <a:solidFill>
                <a:schemeClr val="dk1"/>
              </a:solidFill>
            </a:endParaRPr>
          </a:p>
          <a:p>
            <a:pPr marL="0" lvl="0" indent="0" algn="l" rtl="0">
              <a:spcBef>
                <a:spcPts val="1200"/>
              </a:spcBef>
              <a:spcAft>
                <a:spcPts val="0"/>
              </a:spcAft>
              <a:buNone/>
            </a:pPr>
            <a:r>
              <a:rPr lang="en" sz="1500" b="1">
                <a:solidFill>
                  <a:schemeClr val="dk1"/>
                </a:solidFill>
              </a:rPr>
              <a:t>Semantics</a:t>
            </a:r>
            <a:r>
              <a:rPr lang="en" sz="1500">
                <a:solidFill>
                  <a:schemeClr val="dk1"/>
                </a:solidFill>
              </a:rPr>
              <a:t>:</a:t>
            </a:r>
            <a:br>
              <a:rPr lang="en" sz="1500">
                <a:solidFill>
                  <a:schemeClr val="dk1"/>
                </a:solidFill>
              </a:rPr>
            </a:br>
            <a:r>
              <a:rPr lang="en" sz="1500">
                <a:solidFill>
                  <a:schemeClr val="dk1"/>
                </a:solidFill>
              </a:rPr>
              <a:t>The study of the meaning of words, phrases, sentences, and texts. </a:t>
            </a:r>
            <a:endParaRPr sz="1500">
              <a:solidFill>
                <a:schemeClr val="dk1"/>
              </a:solidFill>
            </a:endParaRPr>
          </a:p>
          <a:p>
            <a:pPr marL="0" lvl="0" indent="0" algn="l" rtl="0">
              <a:spcBef>
                <a:spcPts val="1200"/>
              </a:spcBef>
              <a:spcAft>
                <a:spcPts val="0"/>
              </a:spcAft>
              <a:buNone/>
            </a:pPr>
            <a:r>
              <a:rPr lang="en" sz="1500" b="1">
                <a:solidFill>
                  <a:schemeClr val="dk1"/>
                </a:solidFill>
              </a:rPr>
              <a:t>Pragmatics</a:t>
            </a:r>
            <a:r>
              <a:rPr lang="en" sz="1500">
                <a:solidFill>
                  <a:schemeClr val="dk1"/>
                </a:solidFill>
              </a:rPr>
              <a:t>:</a:t>
            </a:r>
            <a:br>
              <a:rPr lang="en" sz="1500">
                <a:solidFill>
                  <a:schemeClr val="dk1"/>
                </a:solidFill>
              </a:rPr>
            </a:br>
            <a:r>
              <a:rPr lang="en" sz="1500">
                <a:solidFill>
                  <a:schemeClr val="dk1"/>
                </a:solidFill>
              </a:rPr>
              <a:t>The study of how context influences the </a:t>
            </a:r>
            <a:r>
              <a:rPr lang="en" sz="1500" b="1">
                <a:solidFill>
                  <a:schemeClr val="dk1"/>
                </a:solidFill>
              </a:rPr>
              <a:t>interpretation of meaning</a:t>
            </a:r>
            <a:r>
              <a:rPr lang="en" sz="1500">
                <a:solidFill>
                  <a:schemeClr val="dk1"/>
                </a:solidFill>
              </a:rPr>
              <a:t> in communication. </a:t>
            </a:r>
            <a:endParaRPr sz="1500">
              <a:solidFill>
                <a:schemeClr val="dk1"/>
              </a:solidFill>
            </a:endParaRPr>
          </a:p>
          <a:p>
            <a:pPr marL="0" lvl="0" indent="0" algn="l" rtl="0">
              <a:spcBef>
                <a:spcPts val="1200"/>
              </a:spcBef>
              <a:spcAft>
                <a:spcPts val="1200"/>
              </a:spcAft>
              <a:buNone/>
            </a:pPr>
            <a:r>
              <a:rPr lang="en" sz="1500" b="1">
                <a:solidFill>
                  <a:schemeClr val="dk1"/>
                </a:solidFill>
              </a:rPr>
              <a:t>Discourse</a:t>
            </a:r>
            <a:r>
              <a:rPr lang="en" sz="1500">
                <a:solidFill>
                  <a:schemeClr val="dk1"/>
                </a:solidFill>
              </a:rPr>
              <a:t>:</a:t>
            </a:r>
            <a:br>
              <a:rPr lang="en" sz="1500">
                <a:solidFill>
                  <a:schemeClr val="dk1"/>
                </a:solidFill>
              </a:rPr>
            </a:br>
            <a:r>
              <a:rPr lang="en" sz="1500">
                <a:solidFill>
                  <a:schemeClr val="dk1"/>
                </a:solidFill>
              </a:rPr>
              <a:t>The study of the structure and use of language in communication </a:t>
            </a:r>
            <a:r>
              <a:rPr lang="en" sz="1500" b="1">
                <a:solidFill>
                  <a:schemeClr val="dk1"/>
                </a:solidFill>
              </a:rPr>
              <a:t>beyond individual sentences</a:t>
            </a:r>
            <a:r>
              <a:rPr lang="en" sz="1500">
                <a:solidFill>
                  <a:schemeClr val="dk1"/>
                </a:solidFill>
              </a:rPr>
              <a:t>. It involves analyzing how sentences connect to form cohesive and coherent texts or spoken interactions, considering context, purpose, and social dynamics.</a:t>
            </a:r>
            <a:endParaRPr sz="1500">
              <a:solidFill>
                <a:schemeClr val="dk1"/>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Shape 71"/>
        <p:cNvGrpSpPr/>
        <p:nvPr/>
      </p:nvGrpSpPr>
      <p:grpSpPr>
        <a:xfrm>
          <a:off x="0" y="0"/>
          <a:ext cx="0" cy="0"/>
          <a:chOff x="0" y="0"/>
          <a:chExt cx="0" cy="0"/>
        </a:xfrm>
      </p:grpSpPr>
      <p:sp>
        <p:nvSpPr>
          <p:cNvPr id="72" name="Google Shape;72;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You have seen discourse already this semester! </a:t>
            </a:r>
            <a:endParaRPr/>
          </a:p>
        </p:txBody>
      </p:sp>
      <p:pic>
        <p:nvPicPr>
          <p:cNvPr id="73" name="Google Shape;73;p16"/>
          <p:cNvPicPr preferRelativeResize="0"/>
          <p:nvPr/>
        </p:nvPicPr>
        <p:blipFill>
          <a:blip r:embed="rId3">
            <a:alphaModFix/>
          </a:blip>
          <a:stretch>
            <a:fillRect/>
          </a:stretch>
        </p:blipFill>
        <p:spPr>
          <a:xfrm>
            <a:off x="1165426" y="2588100"/>
            <a:ext cx="6813149" cy="2392975"/>
          </a:xfrm>
          <a:prstGeom prst="rect">
            <a:avLst/>
          </a:prstGeom>
          <a:noFill/>
          <a:ln>
            <a:noFill/>
          </a:ln>
        </p:spPr>
      </p:pic>
      <p:sp>
        <p:nvSpPr>
          <p:cNvPr id="74" name="Google Shape;74;p16"/>
          <p:cNvSpPr txBox="1"/>
          <p:nvPr/>
        </p:nvSpPr>
        <p:spPr>
          <a:xfrm>
            <a:off x="817750" y="2076475"/>
            <a:ext cx="6340800" cy="57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News Discourse!</a:t>
            </a:r>
            <a:endParaRPr sz="1800">
              <a:solidFill>
                <a:schemeClr val="dk2"/>
              </a:solidFill>
            </a:endParaRPr>
          </a:p>
        </p:txBody>
      </p:sp>
      <p:sp>
        <p:nvSpPr>
          <p:cNvPr id="75" name="Google Shape;75;p16"/>
          <p:cNvSpPr txBox="1"/>
          <p:nvPr/>
        </p:nvSpPr>
        <p:spPr>
          <a:xfrm>
            <a:off x="96575" y="1066800"/>
            <a:ext cx="8967000" cy="794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200"/>
              </a:spcAft>
              <a:buNone/>
            </a:pPr>
            <a:r>
              <a:rPr lang="en" sz="1200" b="1">
                <a:solidFill>
                  <a:schemeClr val="dk1"/>
                </a:solidFill>
                <a:highlight>
                  <a:srgbClr val="F4CCCC"/>
                </a:highlight>
              </a:rPr>
              <a:t>Discourse</a:t>
            </a:r>
            <a:r>
              <a:rPr lang="en" sz="1200">
                <a:solidFill>
                  <a:schemeClr val="dk1"/>
                </a:solidFill>
              </a:rPr>
              <a:t>:</a:t>
            </a:r>
            <a:br>
              <a:rPr lang="en" sz="1200">
                <a:solidFill>
                  <a:schemeClr val="dk1"/>
                </a:solidFill>
              </a:rPr>
            </a:br>
            <a:r>
              <a:rPr lang="en" sz="1200">
                <a:solidFill>
                  <a:schemeClr val="dk1"/>
                </a:solidFill>
                <a:highlight>
                  <a:srgbClr val="FFFF00"/>
                </a:highlight>
              </a:rPr>
              <a:t>Refers to the structure and use of language in communication beyond individual sentences. It involves analyzing how sentences connect to form cohesive and coherent texts or spoken interactions, considering context, purpose, and social dynamics.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Google Shape;80;p17"/>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
              <a:t>Classical Discourse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Penn Discourse Treebank</a:t>
            </a:r>
            <a:endParaRPr/>
          </a:p>
        </p:txBody>
      </p:sp>
      <p:sp>
        <p:nvSpPr>
          <p:cNvPr id="86" name="Google Shape;86;p18"/>
          <p:cNvSpPr txBox="1">
            <a:spLocks noGrp="1"/>
          </p:cNvSpPr>
          <p:nvPr>
            <p:ph type="body" idx="1"/>
          </p:nvPr>
        </p:nvSpPr>
        <p:spPr>
          <a:xfrm>
            <a:off x="311700" y="1152475"/>
            <a:ext cx="8520600" cy="7143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a:t>Simplest definition of discourse</a:t>
            </a:r>
            <a:endParaRPr/>
          </a:p>
        </p:txBody>
      </p:sp>
      <p:sp>
        <p:nvSpPr>
          <p:cNvPr id="87" name="Google Shape;87;p18"/>
          <p:cNvSpPr txBox="1"/>
          <p:nvPr/>
        </p:nvSpPr>
        <p:spPr>
          <a:xfrm>
            <a:off x="836250" y="4003225"/>
            <a:ext cx="7471500" cy="780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200"/>
              </a:spcAft>
              <a:buNone/>
            </a:pPr>
            <a:r>
              <a:rPr lang="en" sz="1800">
                <a:solidFill>
                  <a:schemeClr val="dk2"/>
                </a:solidFill>
              </a:rPr>
              <a:t>Draws from grammatical cohesion theory (Halliday and Hasan, 1976), coherence relations (Hobbs, 1979),  connectives (Schiffrin, 1986)</a:t>
            </a:r>
            <a:endParaRPr/>
          </a:p>
        </p:txBody>
      </p:sp>
      <p:grpSp>
        <p:nvGrpSpPr>
          <p:cNvPr id="88" name="Google Shape;88;p18"/>
          <p:cNvGrpSpPr/>
          <p:nvPr/>
        </p:nvGrpSpPr>
        <p:grpSpPr>
          <a:xfrm>
            <a:off x="1035450" y="1768950"/>
            <a:ext cx="7266300" cy="1500700"/>
            <a:chOff x="1035450" y="1768950"/>
            <a:chExt cx="7266300" cy="1500700"/>
          </a:xfrm>
        </p:grpSpPr>
        <p:sp>
          <p:nvSpPr>
            <p:cNvPr id="89" name="Google Shape;89;p18"/>
            <p:cNvSpPr/>
            <p:nvPr/>
          </p:nvSpPr>
          <p:spPr>
            <a:xfrm>
              <a:off x="1035450" y="2696950"/>
              <a:ext cx="3456300" cy="572700"/>
            </a:xfrm>
            <a:prstGeom prst="rect">
              <a:avLst/>
            </a:prstGeom>
            <a:solidFill>
              <a:srgbClr val="FFF2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t>Text block 1 </a:t>
              </a:r>
              <a:endParaRPr sz="2000"/>
            </a:p>
          </p:txBody>
        </p:sp>
        <p:sp>
          <p:nvSpPr>
            <p:cNvPr id="90" name="Google Shape;90;p18"/>
            <p:cNvSpPr/>
            <p:nvPr/>
          </p:nvSpPr>
          <p:spPr>
            <a:xfrm>
              <a:off x="4845450" y="2696950"/>
              <a:ext cx="3456300" cy="5727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t>Text block 2</a:t>
              </a:r>
              <a:endParaRPr sz="2000"/>
            </a:p>
          </p:txBody>
        </p:sp>
        <p:cxnSp>
          <p:nvCxnSpPr>
            <p:cNvPr id="91" name="Google Shape;91;p18"/>
            <p:cNvCxnSpPr>
              <a:stCxn id="89" idx="0"/>
              <a:endCxn id="90" idx="0"/>
            </p:cNvCxnSpPr>
            <p:nvPr/>
          </p:nvCxnSpPr>
          <p:spPr>
            <a:xfrm rot="-5400000" flipH="1">
              <a:off x="4668300" y="792250"/>
              <a:ext cx="600" cy="3810000"/>
            </a:xfrm>
            <a:prstGeom prst="curvedConnector3">
              <a:avLst>
                <a:gd name="adj1" fmla="val -79829167"/>
              </a:avLst>
            </a:prstGeom>
            <a:noFill/>
            <a:ln w="19050" cap="flat" cmpd="sng">
              <a:solidFill>
                <a:schemeClr val="dk2"/>
              </a:solidFill>
              <a:prstDash val="solid"/>
              <a:round/>
              <a:headEnd type="none" w="med" len="med"/>
              <a:tailEnd type="triangle" w="med" len="med"/>
            </a:ln>
          </p:spPr>
        </p:cxnSp>
        <p:sp>
          <p:nvSpPr>
            <p:cNvPr id="92" name="Google Shape;92;p18"/>
            <p:cNvSpPr txBox="1"/>
            <p:nvPr/>
          </p:nvSpPr>
          <p:spPr>
            <a:xfrm>
              <a:off x="5580250" y="1768950"/>
              <a:ext cx="2530800" cy="44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connective</a:t>
              </a:r>
              <a:endParaRPr sz="1800">
                <a:solidFill>
                  <a:schemeClr val="dk2"/>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Penn Discourse Treebank</a:t>
            </a:r>
            <a:endParaRPr/>
          </a:p>
        </p:txBody>
      </p:sp>
      <p:sp>
        <p:nvSpPr>
          <p:cNvPr id="98" name="Google Shape;98;p19"/>
          <p:cNvSpPr/>
          <p:nvPr/>
        </p:nvSpPr>
        <p:spPr>
          <a:xfrm>
            <a:off x="1035450" y="2163550"/>
            <a:ext cx="3456300" cy="572700"/>
          </a:xfrm>
          <a:prstGeom prst="rect">
            <a:avLst/>
          </a:prstGeom>
          <a:solidFill>
            <a:srgbClr val="FFF2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t>Text block 1 </a:t>
            </a:r>
            <a:endParaRPr sz="2000"/>
          </a:p>
        </p:txBody>
      </p:sp>
      <p:sp>
        <p:nvSpPr>
          <p:cNvPr id="99" name="Google Shape;99;p19"/>
          <p:cNvSpPr/>
          <p:nvPr/>
        </p:nvSpPr>
        <p:spPr>
          <a:xfrm>
            <a:off x="4845450" y="2163550"/>
            <a:ext cx="3456300" cy="5727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t>Text block 2</a:t>
            </a:r>
            <a:endParaRPr sz="2000"/>
          </a:p>
        </p:txBody>
      </p:sp>
      <p:cxnSp>
        <p:nvCxnSpPr>
          <p:cNvPr id="100" name="Google Shape;100;p19"/>
          <p:cNvCxnSpPr>
            <a:stCxn id="98" idx="0"/>
            <a:endCxn id="99" idx="0"/>
          </p:cNvCxnSpPr>
          <p:nvPr/>
        </p:nvCxnSpPr>
        <p:spPr>
          <a:xfrm rot="-5400000" flipH="1">
            <a:off x="4668300" y="258850"/>
            <a:ext cx="600" cy="3810000"/>
          </a:xfrm>
          <a:prstGeom prst="curvedConnector3">
            <a:avLst>
              <a:gd name="adj1" fmla="val -39687500"/>
            </a:avLst>
          </a:prstGeom>
          <a:noFill/>
          <a:ln w="19050" cap="flat" cmpd="sng">
            <a:solidFill>
              <a:schemeClr val="dk2"/>
            </a:solidFill>
            <a:prstDash val="solid"/>
            <a:round/>
            <a:headEnd type="none" w="med" len="med"/>
            <a:tailEnd type="triangle" w="med" len="med"/>
          </a:ln>
        </p:spPr>
      </p:cxnSp>
      <p:sp>
        <p:nvSpPr>
          <p:cNvPr id="101" name="Google Shape;101;p19"/>
          <p:cNvSpPr txBox="1"/>
          <p:nvPr/>
        </p:nvSpPr>
        <p:spPr>
          <a:xfrm>
            <a:off x="5580250" y="1464150"/>
            <a:ext cx="2530800" cy="44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connective</a:t>
            </a:r>
            <a:endParaRPr sz="1800">
              <a:solidFill>
                <a:schemeClr val="dk2"/>
              </a:solidFill>
            </a:endParaRPr>
          </a:p>
        </p:txBody>
      </p:sp>
      <p:sp>
        <p:nvSpPr>
          <p:cNvPr id="102" name="Google Shape;102;p19"/>
          <p:cNvSpPr txBox="1"/>
          <p:nvPr/>
        </p:nvSpPr>
        <p:spPr>
          <a:xfrm>
            <a:off x="390475" y="1036875"/>
            <a:ext cx="3810000" cy="44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Explicit Relations</a:t>
            </a:r>
            <a:endParaRPr sz="1800">
              <a:solidFill>
                <a:schemeClr val="dk2"/>
              </a:solidFill>
            </a:endParaRPr>
          </a:p>
        </p:txBody>
      </p:sp>
      <p:sp>
        <p:nvSpPr>
          <p:cNvPr id="103" name="Google Shape;103;p19"/>
          <p:cNvSpPr txBox="1"/>
          <p:nvPr/>
        </p:nvSpPr>
        <p:spPr>
          <a:xfrm>
            <a:off x="121349" y="2841725"/>
            <a:ext cx="8964461" cy="136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b="1" u="sng">
                <a:solidFill>
                  <a:schemeClr val="dk2"/>
                </a:solidFill>
              </a:rPr>
              <a:t>Causal</a:t>
            </a:r>
            <a:r>
              <a:rPr lang="en" sz="1600">
                <a:solidFill>
                  <a:schemeClr val="dk2"/>
                </a:solidFill>
              </a:rPr>
              <a:t>: 		She left early 	 </a:t>
            </a:r>
            <a:r>
              <a:rPr lang="en" sz="1600" b="1">
                <a:solidFill>
                  <a:schemeClr val="dk2"/>
                </a:solidFill>
              </a:rPr>
              <a:t>because	       </a:t>
            </a:r>
            <a:r>
              <a:rPr lang="en" sz="1600">
                <a:solidFill>
                  <a:schemeClr val="dk2"/>
                </a:solidFill>
              </a:rPr>
              <a:t>she was tired.</a:t>
            </a:r>
            <a:endParaRPr sz="1600">
              <a:solidFill>
                <a:schemeClr val="dk2"/>
              </a:solidFill>
            </a:endParaRPr>
          </a:p>
          <a:p>
            <a:pPr marL="0" lvl="0" indent="0" algn="l" rtl="0">
              <a:spcBef>
                <a:spcPts val="0"/>
              </a:spcBef>
              <a:spcAft>
                <a:spcPts val="0"/>
              </a:spcAft>
              <a:buNone/>
            </a:pPr>
            <a:r>
              <a:rPr lang="en" sz="1600" b="1" u="sng">
                <a:solidFill>
                  <a:schemeClr val="dk2"/>
                </a:solidFill>
              </a:rPr>
              <a:t>Contrast</a:t>
            </a:r>
            <a:r>
              <a:rPr lang="en" sz="1600">
                <a:solidFill>
                  <a:schemeClr val="dk2"/>
                </a:solidFill>
              </a:rPr>
              <a:t>: 	He wanted to go out </a:t>
            </a:r>
            <a:r>
              <a:rPr lang="en" sz="1600" b="1">
                <a:solidFill>
                  <a:schemeClr val="dk2"/>
                </a:solidFill>
              </a:rPr>
              <a:t>but</a:t>
            </a:r>
            <a:r>
              <a:rPr lang="en" sz="1600">
                <a:solidFill>
                  <a:schemeClr val="dk2"/>
                </a:solidFill>
              </a:rPr>
              <a:t>	       it was raining.</a:t>
            </a:r>
            <a:endParaRPr sz="1600">
              <a:solidFill>
                <a:schemeClr val="dk2"/>
              </a:solidFill>
            </a:endParaRPr>
          </a:p>
          <a:p>
            <a:pPr marL="0" lvl="0" indent="0" algn="l" rtl="0">
              <a:spcBef>
                <a:spcPts val="0"/>
              </a:spcBef>
              <a:spcAft>
                <a:spcPts val="0"/>
              </a:spcAft>
              <a:buNone/>
            </a:pPr>
            <a:r>
              <a:rPr lang="en" sz="1600" b="1" u="sng">
                <a:solidFill>
                  <a:schemeClr val="dk2"/>
                </a:solidFill>
              </a:rPr>
              <a:t>Temporal</a:t>
            </a:r>
            <a:r>
              <a:rPr lang="en" sz="1600">
                <a:solidFill>
                  <a:schemeClr val="dk2"/>
                </a:solidFill>
              </a:rPr>
              <a:t>:	We arrived late.	 </a:t>
            </a:r>
            <a:r>
              <a:rPr lang="en" sz="1600" b="1">
                <a:solidFill>
                  <a:schemeClr val="dk2"/>
                </a:solidFill>
              </a:rPr>
              <a:t>So,</a:t>
            </a:r>
            <a:r>
              <a:rPr lang="en" sz="1600">
                <a:solidFill>
                  <a:schemeClr val="dk2"/>
                </a:solidFill>
              </a:rPr>
              <a:t> 	       we missed the show.</a:t>
            </a:r>
            <a:endParaRPr sz="1600">
              <a:solidFill>
                <a:schemeClr val="dk2"/>
              </a:solidFill>
            </a:endParaRPr>
          </a:p>
          <a:p>
            <a:pPr marL="0" lvl="0" indent="0" algn="l" rtl="0">
              <a:spcBef>
                <a:spcPts val="0"/>
              </a:spcBef>
              <a:spcAft>
                <a:spcPts val="0"/>
              </a:spcAft>
              <a:buNone/>
            </a:pPr>
            <a:r>
              <a:rPr lang="en" sz="1600" b="1" u="sng">
                <a:solidFill>
                  <a:schemeClr val="dk2"/>
                </a:solidFill>
              </a:rPr>
              <a:t>Expansion:</a:t>
            </a:r>
            <a:r>
              <a:rPr lang="en" sz="1600">
                <a:solidFill>
                  <a:schemeClr val="dk2"/>
                </a:solidFill>
              </a:rPr>
              <a:t>	He loves outdoors.	 </a:t>
            </a:r>
            <a:r>
              <a:rPr lang="en" sz="1600" b="1">
                <a:solidFill>
                  <a:schemeClr val="dk2"/>
                </a:solidFill>
              </a:rPr>
              <a:t>For example</a:t>
            </a:r>
            <a:r>
              <a:rPr lang="en" sz="1600">
                <a:solidFill>
                  <a:schemeClr val="dk2"/>
                </a:solidFill>
              </a:rPr>
              <a:t>, he goes hiking like a king.</a:t>
            </a:r>
            <a:endParaRPr sz="1600">
              <a:solidFill>
                <a:schemeClr val="dk2"/>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Penn Discourse Treebank</a:t>
            </a:r>
            <a:endParaRPr/>
          </a:p>
        </p:txBody>
      </p:sp>
      <p:sp>
        <p:nvSpPr>
          <p:cNvPr id="109" name="Google Shape;109;p20"/>
          <p:cNvSpPr/>
          <p:nvPr/>
        </p:nvSpPr>
        <p:spPr>
          <a:xfrm>
            <a:off x="1035450" y="2163550"/>
            <a:ext cx="3456300" cy="572700"/>
          </a:xfrm>
          <a:prstGeom prst="rect">
            <a:avLst/>
          </a:prstGeom>
          <a:solidFill>
            <a:srgbClr val="FFF2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t>Text block 1 </a:t>
            </a:r>
            <a:endParaRPr sz="2000"/>
          </a:p>
        </p:txBody>
      </p:sp>
      <p:sp>
        <p:nvSpPr>
          <p:cNvPr id="110" name="Google Shape;110;p20"/>
          <p:cNvSpPr/>
          <p:nvPr/>
        </p:nvSpPr>
        <p:spPr>
          <a:xfrm>
            <a:off x="4845450" y="2163550"/>
            <a:ext cx="3456300" cy="5727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t>Text block 2</a:t>
            </a:r>
            <a:endParaRPr sz="2000"/>
          </a:p>
        </p:txBody>
      </p:sp>
      <p:cxnSp>
        <p:nvCxnSpPr>
          <p:cNvPr id="111" name="Google Shape;111;p20"/>
          <p:cNvCxnSpPr>
            <a:stCxn id="109" idx="0"/>
            <a:endCxn id="110" idx="0"/>
          </p:cNvCxnSpPr>
          <p:nvPr/>
        </p:nvCxnSpPr>
        <p:spPr>
          <a:xfrm rot="-5400000" flipH="1">
            <a:off x="4668300" y="258850"/>
            <a:ext cx="600" cy="3810000"/>
          </a:xfrm>
          <a:prstGeom prst="curvedConnector3">
            <a:avLst>
              <a:gd name="adj1" fmla="val -39687500"/>
            </a:avLst>
          </a:prstGeom>
          <a:noFill/>
          <a:ln w="19050" cap="flat" cmpd="sng">
            <a:solidFill>
              <a:schemeClr val="dk2"/>
            </a:solidFill>
            <a:prstDash val="solid"/>
            <a:round/>
            <a:headEnd type="none" w="med" len="med"/>
            <a:tailEnd type="triangle" w="med" len="med"/>
          </a:ln>
        </p:spPr>
      </p:cxnSp>
      <p:sp>
        <p:nvSpPr>
          <p:cNvPr id="112" name="Google Shape;112;p20"/>
          <p:cNvSpPr txBox="1"/>
          <p:nvPr/>
        </p:nvSpPr>
        <p:spPr>
          <a:xfrm>
            <a:off x="5580250" y="1464150"/>
            <a:ext cx="2530800" cy="44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connective</a:t>
            </a:r>
            <a:endParaRPr sz="1800">
              <a:solidFill>
                <a:schemeClr val="dk2"/>
              </a:solidFill>
            </a:endParaRPr>
          </a:p>
        </p:txBody>
      </p:sp>
      <p:sp>
        <p:nvSpPr>
          <p:cNvPr id="113" name="Google Shape;113;p20"/>
          <p:cNvSpPr txBox="1"/>
          <p:nvPr/>
        </p:nvSpPr>
        <p:spPr>
          <a:xfrm>
            <a:off x="390475" y="1036875"/>
            <a:ext cx="3810000" cy="44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Implicit Relations</a:t>
            </a:r>
            <a:endParaRPr sz="1800">
              <a:solidFill>
                <a:schemeClr val="dk2"/>
              </a:solidFill>
            </a:endParaRPr>
          </a:p>
        </p:txBody>
      </p:sp>
      <p:sp>
        <p:nvSpPr>
          <p:cNvPr id="114" name="Google Shape;114;p20"/>
          <p:cNvSpPr txBox="1"/>
          <p:nvPr/>
        </p:nvSpPr>
        <p:spPr>
          <a:xfrm>
            <a:off x="182880" y="3175925"/>
            <a:ext cx="9509760" cy="136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b="1" u="sng">
                <a:solidFill>
                  <a:schemeClr val="dk2"/>
                </a:solidFill>
              </a:rPr>
              <a:t>Causal</a:t>
            </a:r>
            <a:r>
              <a:rPr lang="en" sz="1600">
                <a:solidFill>
                  <a:schemeClr val="dk2"/>
                </a:solidFill>
              </a:rPr>
              <a:t>: 			She left early. 		She was tired.</a:t>
            </a:r>
            <a:endParaRPr sz="1600">
              <a:solidFill>
                <a:schemeClr val="dk2"/>
              </a:solidFill>
            </a:endParaRPr>
          </a:p>
          <a:p>
            <a:pPr marL="0" lvl="0" indent="0" algn="l" rtl="0">
              <a:spcBef>
                <a:spcPts val="0"/>
              </a:spcBef>
              <a:spcAft>
                <a:spcPts val="0"/>
              </a:spcAft>
              <a:buNone/>
            </a:pPr>
            <a:r>
              <a:rPr lang="en" sz="1600" b="1" u="sng">
                <a:solidFill>
                  <a:schemeClr val="dk2"/>
                </a:solidFill>
              </a:rPr>
              <a:t>Comparison</a:t>
            </a:r>
            <a:r>
              <a:rPr lang="en" sz="1600">
                <a:solidFill>
                  <a:schemeClr val="dk2"/>
                </a:solidFill>
              </a:rPr>
              <a:t>: 	                She left home.		He went out.</a:t>
            </a:r>
            <a:endParaRPr sz="1600">
              <a:solidFill>
                <a:schemeClr val="dk2"/>
              </a:solidFill>
            </a:endParaRPr>
          </a:p>
          <a:p>
            <a:pPr marL="0" lvl="0" indent="0" algn="l" rtl="0">
              <a:spcBef>
                <a:spcPts val="0"/>
              </a:spcBef>
              <a:spcAft>
                <a:spcPts val="0"/>
              </a:spcAft>
              <a:buNone/>
            </a:pPr>
            <a:r>
              <a:rPr lang="en" sz="1600" b="1" u="sng">
                <a:solidFill>
                  <a:schemeClr val="dk2"/>
                </a:solidFill>
              </a:rPr>
              <a:t>Temporal</a:t>
            </a:r>
            <a:r>
              <a:rPr lang="en" sz="1600">
                <a:solidFill>
                  <a:schemeClr val="dk2"/>
                </a:solidFill>
              </a:rPr>
              <a:t>:		We arrived late.		They arrived later.</a:t>
            </a:r>
            <a:endParaRPr sz="1600">
              <a:solidFill>
                <a:schemeClr val="dk2"/>
              </a:solidFill>
            </a:endParaRPr>
          </a:p>
          <a:p>
            <a:pPr marL="0" lvl="0" indent="0" algn="l" rtl="0">
              <a:spcBef>
                <a:spcPts val="0"/>
              </a:spcBef>
              <a:spcAft>
                <a:spcPts val="0"/>
              </a:spcAft>
              <a:buNone/>
            </a:pPr>
            <a:r>
              <a:rPr lang="en" sz="1600" b="1" u="sng">
                <a:solidFill>
                  <a:schemeClr val="dk2"/>
                </a:solidFill>
              </a:rPr>
              <a:t>Expansion:</a:t>
            </a:r>
            <a:r>
              <a:rPr lang="en" sz="1600">
                <a:solidFill>
                  <a:schemeClr val="dk2"/>
                </a:solidFill>
              </a:rPr>
              <a:t>		He loves outdoors; 	the outdoors are where mushrooms grow.</a:t>
            </a:r>
            <a:endParaRPr sz="1600">
              <a:solidFill>
                <a:schemeClr val="dk2"/>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2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From PDTB to Rhetorical Structure Theory</a:t>
            </a:r>
            <a:endParaRPr/>
          </a:p>
        </p:txBody>
      </p:sp>
      <p:sp>
        <p:nvSpPr>
          <p:cNvPr id="120" name="Google Shape;120;p21"/>
          <p:cNvSpPr txBox="1">
            <a:spLocks noGrp="1"/>
          </p:cNvSpPr>
          <p:nvPr>
            <p:ph type="body" idx="1"/>
          </p:nvPr>
        </p:nvSpPr>
        <p:spPr>
          <a:xfrm>
            <a:off x="311700" y="1152475"/>
            <a:ext cx="8520600" cy="572700"/>
          </a:xfrm>
          <a:prstGeom prst="rect">
            <a:avLst/>
          </a:prstGeom>
        </p:spPr>
        <p:txBody>
          <a:bodyPr spcFirstLastPara="1" wrap="square" lIns="91425" tIns="91425" rIns="91425" bIns="91425" anchor="t" anchorCtr="0">
            <a:normAutofit fontScale="92500"/>
          </a:bodyPr>
          <a:lstStyle/>
          <a:p>
            <a:pPr marL="0" lvl="0" indent="0" algn="l" rtl="0">
              <a:lnSpc>
                <a:spcPct val="100000"/>
              </a:lnSpc>
              <a:spcBef>
                <a:spcPts val="0"/>
              </a:spcBef>
              <a:spcAft>
                <a:spcPts val="0"/>
              </a:spcAft>
              <a:buNone/>
            </a:pPr>
            <a:r>
              <a:rPr lang="en" b="1" u="sng"/>
              <a:t>Causal (PDTB):</a:t>
            </a:r>
            <a:r>
              <a:rPr lang="en"/>
              <a:t>		She left early 		</a:t>
            </a:r>
            <a:r>
              <a:rPr lang="en" b="1"/>
              <a:t>because	</a:t>
            </a:r>
            <a:r>
              <a:rPr lang="en"/>
              <a:t>she was tired.</a:t>
            </a:r>
            <a:endParaRPr/>
          </a:p>
        </p:txBody>
      </p:sp>
      <p:sp>
        <p:nvSpPr>
          <p:cNvPr id="121" name="Google Shape;121;p21"/>
          <p:cNvSpPr txBox="1"/>
          <p:nvPr/>
        </p:nvSpPr>
        <p:spPr>
          <a:xfrm>
            <a:off x="457200" y="2133600"/>
            <a:ext cx="18384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b="1" u="sng">
                <a:solidFill>
                  <a:schemeClr val="dk2"/>
                </a:solidFill>
              </a:rPr>
              <a:t>Cause (RST):</a:t>
            </a:r>
            <a:endParaRPr/>
          </a:p>
        </p:txBody>
      </p:sp>
      <p:sp>
        <p:nvSpPr>
          <p:cNvPr id="122" name="Google Shape;122;p21"/>
          <p:cNvSpPr txBox="1"/>
          <p:nvPr/>
        </p:nvSpPr>
        <p:spPr>
          <a:xfrm>
            <a:off x="2854775" y="3081975"/>
            <a:ext cx="1838400" cy="738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2"/>
                </a:solidFill>
              </a:rPr>
              <a:t>She left early</a:t>
            </a:r>
            <a:endParaRPr sz="1800">
              <a:solidFill>
                <a:schemeClr val="dk2"/>
              </a:solidFill>
            </a:endParaRPr>
          </a:p>
          <a:p>
            <a:pPr marL="0" lvl="0" indent="0" algn="l" rtl="0">
              <a:spcBef>
                <a:spcPts val="0"/>
              </a:spcBef>
              <a:spcAft>
                <a:spcPts val="0"/>
              </a:spcAft>
              <a:buNone/>
            </a:pPr>
            <a:r>
              <a:rPr lang="en" sz="1800" i="1">
                <a:solidFill>
                  <a:schemeClr val="dk2"/>
                </a:solidFill>
              </a:rPr>
              <a:t>(nucleus)</a:t>
            </a:r>
            <a:endParaRPr sz="1800" i="1">
              <a:solidFill>
                <a:schemeClr val="dk2"/>
              </a:solidFill>
            </a:endParaRPr>
          </a:p>
        </p:txBody>
      </p:sp>
      <p:grpSp>
        <p:nvGrpSpPr>
          <p:cNvPr id="123" name="Google Shape;123;p21"/>
          <p:cNvGrpSpPr/>
          <p:nvPr/>
        </p:nvGrpSpPr>
        <p:grpSpPr>
          <a:xfrm>
            <a:off x="3773975" y="2133625"/>
            <a:ext cx="1651250" cy="948350"/>
            <a:chOff x="3697775" y="2438425"/>
            <a:chExt cx="1651250" cy="948350"/>
          </a:xfrm>
        </p:grpSpPr>
        <p:sp>
          <p:nvSpPr>
            <p:cNvPr id="124" name="Google Shape;124;p21"/>
            <p:cNvSpPr txBox="1"/>
            <p:nvPr/>
          </p:nvSpPr>
          <p:spPr>
            <a:xfrm>
              <a:off x="4410025" y="2438425"/>
              <a:ext cx="939000" cy="353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Cause</a:t>
              </a:r>
              <a:endParaRPr sz="1800">
                <a:solidFill>
                  <a:schemeClr val="dk2"/>
                </a:solidFill>
              </a:endParaRPr>
            </a:p>
          </p:txBody>
        </p:sp>
        <p:cxnSp>
          <p:nvCxnSpPr>
            <p:cNvPr id="125" name="Google Shape;125;p21"/>
            <p:cNvCxnSpPr>
              <a:stCxn id="122" idx="0"/>
              <a:endCxn id="124" idx="1"/>
            </p:cNvCxnSpPr>
            <p:nvPr/>
          </p:nvCxnSpPr>
          <p:spPr>
            <a:xfrm rot="-5400000">
              <a:off x="3668075" y="2644875"/>
              <a:ext cx="771600" cy="712200"/>
            </a:xfrm>
            <a:prstGeom prst="curvedConnector2">
              <a:avLst/>
            </a:prstGeom>
            <a:noFill/>
            <a:ln w="9525" cap="flat" cmpd="sng">
              <a:solidFill>
                <a:schemeClr val="dk2"/>
              </a:solidFill>
              <a:prstDash val="solid"/>
              <a:round/>
              <a:headEnd type="none" w="med" len="med"/>
              <a:tailEnd type="triangle" w="med" len="med"/>
            </a:ln>
          </p:spPr>
        </p:cxnSp>
      </p:grpSp>
      <p:grpSp>
        <p:nvGrpSpPr>
          <p:cNvPr id="126" name="Google Shape;126;p21"/>
          <p:cNvGrpSpPr/>
          <p:nvPr/>
        </p:nvGrpSpPr>
        <p:grpSpPr>
          <a:xfrm>
            <a:off x="5293175" y="2310475"/>
            <a:ext cx="1838400" cy="1510400"/>
            <a:chOff x="5216975" y="2615275"/>
            <a:chExt cx="1838400" cy="1510400"/>
          </a:xfrm>
        </p:grpSpPr>
        <p:sp>
          <p:nvSpPr>
            <p:cNvPr id="127" name="Google Shape;127;p21"/>
            <p:cNvSpPr txBox="1"/>
            <p:nvPr/>
          </p:nvSpPr>
          <p:spPr>
            <a:xfrm>
              <a:off x="5216975" y="3386775"/>
              <a:ext cx="1838400" cy="738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2"/>
                  </a:solidFill>
                </a:rPr>
                <a:t>She was tired</a:t>
              </a:r>
              <a:endParaRPr sz="1800">
                <a:solidFill>
                  <a:schemeClr val="dk2"/>
                </a:solidFill>
              </a:endParaRPr>
            </a:p>
            <a:p>
              <a:pPr marL="0" lvl="0" indent="0" algn="l" rtl="0">
                <a:spcBef>
                  <a:spcPts val="0"/>
                </a:spcBef>
                <a:spcAft>
                  <a:spcPts val="0"/>
                </a:spcAft>
                <a:buNone/>
              </a:pPr>
              <a:r>
                <a:rPr lang="en" sz="1800" i="1">
                  <a:solidFill>
                    <a:schemeClr val="dk2"/>
                  </a:solidFill>
                </a:rPr>
                <a:t>(satellite)</a:t>
              </a:r>
              <a:endParaRPr sz="1800" i="1">
                <a:solidFill>
                  <a:schemeClr val="dk2"/>
                </a:solidFill>
              </a:endParaRPr>
            </a:p>
          </p:txBody>
        </p:sp>
        <p:cxnSp>
          <p:nvCxnSpPr>
            <p:cNvPr id="128" name="Google Shape;128;p21"/>
            <p:cNvCxnSpPr>
              <a:stCxn id="124" idx="3"/>
              <a:endCxn id="127" idx="0"/>
            </p:cNvCxnSpPr>
            <p:nvPr/>
          </p:nvCxnSpPr>
          <p:spPr>
            <a:xfrm>
              <a:off x="5349025" y="2615275"/>
              <a:ext cx="787200" cy="771600"/>
            </a:xfrm>
            <a:prstGeom prst="curvedConnector2">
              <a:avLst/>
            </a:prstGeom>
            <a:noFill/>
            <a:ln w="9525" cap="flat" cmpd="sng">
              <a:solidFill>
                <a:schemeClr val="dk2"/>
              </a:solidFill>
              <a:prstDash val="solid"/>
              <a:round/>
              <a:headEnd type="none" w="med" len="med"/>
              <a:tailEnd type="triangle" w="med" len="med"/>
            </a:ln>
          </p:spPr>
        </p:cxnSp>
      </p:grpSp>
      <p:sp>
        <p:nvSpPr>
          <p:cNvPr id="129" name="Google Shape;129;p21"/>
          <p:cNvSpPr txBox="1"/>
          <p:nvPr/>
        </p:nvSpPr>
        <p:spPr>
          <a:xfrm>
            <a:off x="381000" y="4267200"/>
            <a:ext cx="8631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500">
                <a:solidFill>
                  <a:schemeClr val="dk1"/>
                </a:solidFill>
              </a:rPr>
              <a:t>The </a:t>
            </a:r>
            <a:r>
              <a:rPr lang="en" sz="1500" b="1">
                <a:solidFill>
                  <a:schemeClr val="dk1"/>
                </a:solidFill>
              </a:rPr>
              <a:t>nucleus</a:t>
            </a:r>
            <a:r>
              <a:rPr lang="en" sz="1500">
                <a:solidFill>
                  <a:schemeClr val="dk1"/>
                </a:solidFill>
              </a:rPr>
              <a:t> contains the primary information or central argument.</a:t>
            </a:r>
            <a:endParaRPr sz="1500">
              <a:solidFill>
                <a:schemeClr val="dk1"/>
              </a:solidFill>
            </a:endParaRPr>
          </a:p>
          <a:p>
            <a:pPr marL="0" lvl="0" indent="0" algn="l" rtl="0">
              <a:spcBef>
                <a:spcPts val="0"/>
              </a:spcBef>
              <a:spcAft>
                <a:spcPts val="0"/>
              </a:spcAft>
              <a:buNone/>
            </a:pPr>
            <a:r>
              <a:rPr lang="en" sz="1500">
                <a:solidFill>
                  <a:schemeClr val="dk1"/>
                </a:solidFill>
              </a:rPr>
              <a:t>The </a:t>
            </a:r>
            <a:r>
              <a:rPr lang="en" sz="1500" b="1">
                <a:solidFill>
                  <a:schemeClr val="dk1"/>
                </a:solidFill>
              </a:rPr>
              <a:t>satellite</a:t>
            </a:r>
            <a:r>
              <a:rPr lang="en" sz="1500">
                <a:solidFill>
                  <a:schemeClr val="dk1"/>
                </a:solidFill>
              </a:rPr>
              <a:t> provides supplementary information, such as evidence, context, or explanation.</a:t>
            </a:r>
            <a:endParaRPr sz="1500">
              <a:solidFill>
                <a:schemeClr val="dk1"/>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2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29">
                                            <p:txEl>
                                              <p:pRg st="0" end="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2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22"/>
          <p:cNvSpPr txBox="1"/>
          <p:nvPr/>
        </p:nvSpPr>
        <p:spPr>
          <a:xfrm>
            <a:off x="232246" y="4110675"/>
            <a:ext cx="3172200" cy="677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solidFill>
                  <a:schemeClr val="dk2"/>
                </a:solidFill>
              </a:rPr>
              <a:t>He should have left earlier.</a:t>
            </a:r>
            <a:endParaRPr sz="1800">
              <a:solidFill>
                <a:schemeClr val="dk2"/>
              </a:solidFill>
            </a:endParaRPr>
          </a:p>
          <a:p>
            <a:pPr marL="0" lvl="0" indent="0" algn="ctr" rtl="0">
              <a:spcBef>
                <a:spcPts val="0"/>
              </a:spcBef>
              <a:spcAft>
                <a:spcPts val="0"/>
              </a:spcAft>
              <a:buNone/>
            </a:pPr>
            <a:r>
              <a:rPr lang="en" i="1">
                <a:solidFill>
                  <a:schemeClr val="dk2"/>
                </a:solidFill>
              </a:rPr>
              <a:t>(satellite)</a:t>
            </a:r>
            <a:endParaRPr i="1">
              <a:solidFill>
                <a:schemeClr val="dk2"/>
              </a:solidFill>
            </a:endParaRPr>
          </a:p>
        </p:txBody>
      </p:sp>
      <p:sp>
        <p:nvSpPr>
          <p:cNvPr id="135" name="Google Shape;135;p2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Rhetorical Structure Theory</a:t>
            </a:r>
            <a:endParaRPr/>
          </a:p>
        </p:txBody>
      </p:sp>
      <p:sp>
        <p:nvSpPr>
          <p:cNvPr id="136" name="Google Shape;136;p22"/>
          <p:cNvSpPr txBox="1">
            <a:spLocks noGrp="1"/>
          </p:cNvSpPr>
          <p:nvPr>
            <p:ph type="body" idx="1"/>
          </p:nvPr>
        </p:nvSpPr>
        <p:spPr>
          <a:xfrm>
            <a:off x="311700" y="1152475"/>
            <a:ext cx="8520600" cy="1054500"/>
          </a:xfrm>
          <a:prstGeom prst="rect">
            <a:avLst/>
          </a:prstGeom>
        </p:spPr>
        <p:txBody>
          <a:bodyPr spcFirstLastPara="1" wrap="square" lIns="91425" tIns="91425" rIns="91425" bIns="91425" anchor="t" anchorCtr="0">
            <a:normAutofit fontScale="92500" lnSpcReduction="10000"/>
          </a:bodyPr>
          <a:lstStyle/>
          <a:p>
            <a:pPr marL="0" lvl="0" indent="0" algn="l" rtl="0">
              <a:spcBef>
                <a:spcPts val="0"/>
              </a:spcBef>
              <a:spcAft>
                <a:spcPts val="0"/>
              </a:spcAft>
              <a:buNone/>
            </a:pPr>
            <a:r>
              <a:rPr lang="en"/>
              <a:t>Provides a way of analysing longer chains of thought:</a:t>
            </a:r>
            <a:endParaRPr/>
          </a:p>
          <a:p>
            <a:pPr marL="0" lvl="0" indent="0" algn="l" rtl="0">
              <a:spcBef>
                <a:spcPts val="1200"/>
              </a:spcBef>
              <a:spcAft>
                <a:spcPts val="1200"/>
              </a:spcAft>
              <a:buNone/>
            </a:pPr>
            <a:r>
              <a:rPr lang="en"/>
              <a:t>"John missed the meeting. He was stuck in traffic. He should have left earlier."</a:t>
            </a:r>
            <a:endParaRPr/>
          </a:p>
        </p:txBody>
      </p:sp>
      <p:sp>
        <p:nvSpPr>
          <p:cNvPr id="137" name="Google Shape;137;p22"/>
          <p:cNvSpPr txBox="1"/>
          <p:nvPr/>
        </p:nvSpPr>
        <p:spPr>
          <a:xfrm>
            <a:off x="3182275" y="2624775"/>
            <a:ext cx="2418300" cy="677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solidFill>
                  <a:schemeClr val="dk2"/>
                </a:solidFill>
              </a:rPr>
              <a:t>John missed meeting</a:t>
            </a:r>
            <a:endParaRPr sz="1800">
              <a:solidFill>
                <a:schemeClr val="dk2"/>
              </a:solidFill>
            </a:endParaRPr>
          </a:p>
          <a:p>
            <a:pPr marL="0" lvl="0" indent="0" algn="ctr" rtl="0">
              <a:spcBef>
                <a:spcPts val="0"/>
              </a:spcBef>
              <a:spcAft>
                <a:spcPts val="0"/>
              </a:spcAft>
              <a:buNone/>
            </a:pPr>
            <a:r>
              <a:rPr lang="en" i="1">
                <a:solidFill>
                  <a:schemeClr val="dk2"/>
                </a:solidFill>
              </a:rPr>
              <a:t>(nucleus)</a:t>
            </a:r>
            <a:endParaRPr i="1">
              <a:solidFill>
                <a:schemeClr val="dk2"/>
              </a:solidFill>
            </a:endParaRPr>
          </a:p>
        </p:txBody>
      </p:sp>
      <p:sp>
        <p:nvSpPr>
          <p:cNvPr id="138" name="Google Shape;138;p22"/>
          <p:cNvSpPr txBox="1"/>
          <p:nvPr/>
        </p:nvSpPr>
        <p:spPr>
          <a:xfrm>
            <a:off x="5714089" y="4136075"/>
            <a:ext cx="2517300" cy="677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solidFill>
                  <a:schemeClr val="dk2"/>
                </a:solidFill>
              </a:rPr>
              <a:t>He was stuck in traffic</a:t>
            </a:r>
            <a:endParaRPr sz="1800">
              <a:solidFill>
                <a:schemeClr val="dk2"/>
              </a:solidFill>
            </a:endParaRPr>
          </a:p>
          <a:p>
            <a:pPr marL="0" lvl="0" indent="0" algn="ctr" rtl="0">
              <a:spcBef>
                <a:spcPts val="0"/>
              </a:spcBef>
              <a:spcAft>
                <a:spcPts val="0"/>
              </a:spcAft>
              <a:buNone/>
            </a:pPr>
            <a:r>
              <a:rPr lang="en" i="1">
                <a:solidFill>
                  <a:schemeClr val="dk2"/>
                </a:solidFill>
              </a:rPr>
              <a:t>(satellite)</a:t>
            </a:r>
            <a:endParaRPr i="1">
              <a:solidFill>
                <a:schemeClr val="dk2"/>
              </a:solidFill>
            </a:endParaRPr>
          </a:p>
        </p:txBody>
      </p:sp>
      <p:cxnSp>
        <p:nvCxnSpPr>
          <p:cNvPr id="139" name="Google Shape;139;p22"/>
          <p:cNvCxnSpPr>
            <a:stCxn id="137" idx="3"/>
            <a:endCxn id="138" idx="0"/>
          </p:cNvCxnSpPr>
          <p:nvPr/>
        </p:nvCxnSpPr>
        <p:spPr>
          <a:xfrm>
            <a:off x="5600575" y="2963325"/>
            <a:ext cx="1372200" cy="1172700"/>
          </a:xfrm>
          <a:prstGeom prst="curvedConnector2">
            <a:avLst/>
          </a:prstGeom>
          <a:noFill/>
          <a:ln w="9525" cap="flat" cmpd="sng">
            <a:solidFill>
              <a:schemeClr val="dk2"/>
            </a:solidFill>
            <a:prstDash val="solid"/>
            <a:round/>
            <a:headEnd type="none" w="med" len="med"/>
            <a:tailEnd type="triangle" w="med" len="med"/>
          </a:ln>
        </p:spPr>
      </p:cxnSp>
      <p:sp>
        <p:nvSpPr>
          <p:cNvPr id="140" name="Google Shape;140;p22"/>
          <p:cNvSpPr txBox="1"/>
          <p:nvPr/>
        </p:nvSpPr>
        <p:spPr>
          <a:xfrm>
            <a:off x="6010225" y="3048025"/>
            <a:ext cx="939000" cy="353700"/>
          </a:xfrm>
          <a:prstGeom prst="rect">
            <a:avLst/>
          </a:prstGeom>
          <a:solidFill>
            <a:schemeClr val="lt1"/>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u="sng">
                <a:solidFill>
                  <a:schemeClr val="dk2"/>
                </a:solidFill>
                <a:highlight>
                  <a:srgbClr val="FFFF00"/>
                </a:highlight>
              </a:rPr>
              <a:t>Cause</a:t>
            </a:r>
            <a:endParaRPr sz="1800" u="sng">
              <a:solidFill>
                <a:schemeClr val="dk2"/>
              </a:solidFill>
              <a:highlight>
                <a:srgbClr val="FFFF00"/>
              </a:highlight>
            </a:endParaRPr>
          </a:p>
        </p:txBody>
      </p:sp>
      <p:cxnSp>
        <p:nvCxnSpPr>
          <p:cNvPr id="141" name="Google Shape;141;p22"/>
          <p:cNvCxnSpPr>
            <a:stCxn id="137" idx="1"/>
            <a:endCxn id="134" idx="0"/>
          </p:cNvCxnSpPr>
          <p:nvPr/>
        </p:nvCxnSpPr>
        <p:spPr>
          <a:xfrm flipH="1">
            <a:off x="1818475" y="2963325"/>
            <a:ext cx="1363800" cy="1147500"/>
          </a:xfrm>
          <a:prstGeom prst="curvedConnector2">
            <a:avLst/>
          </a:prstGeom>
          <a:noFill/>
          <a:ln w="9525" cap="flat" cmpd="sng">
            <a:solidFill>
              <a:schemeClr val="dk2"/>
            </a:solidFill>
            <a:prstDash val="solid"/>
            <a:round/>
            <a:headEnd type="none" w="med" len="med"/>
            <a:tailEnd type="triangle" w="med" len="med"/>
          </a:ln>
        </p:spPr>
      </p:cxnSp>
      <p:sp>
        <p:nvSpPr>
          <p:cNvPr id="142" name="Google Shape;142;p22"/>
          <p:cNvSpPr txBox="1"/>
          <p:nvPr/>
        </p:nvSpPr>
        <p:spPr>
          <a:xfrm>
            <a:off x="1707750" y="3302025"/>
            <a:ext cx="1887900" cy="353700"/>
          </a:xfrm>
          <a:prstGeom prst="rect">
            <a:avLst/>
          </a:prstGeom>
          <a:solidFill>
            <a:srgbClr val="FFFFFF"/>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u="sng">
                <a:solidFill>
                  <a:schemeClr val="dk2"/>
                </a:solidFill>
                <a:highlight>
                  <a:srgbClr val="FFFF00"/>
                </a:highlight>
              </a:rPr>
              <a:t>Counterfactual</a:t>
            </a:r>
            <a:endParaRPr sz="1600" u="sng">
              <a:solidFill>
                <a:schemeClr val="dk2"/>
              </a:solidFill>
              <a:highlight>
                <a:srgbClr val="FFFF00"/>
              </a:high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2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Rhetorical Structure Theory</a:t>
            </a:r>
            <a:endParaRPr/>
          </a:p>
        </p:txBody>
      </p:sp>
      <p:pic>
        <p:nvPicPr>
          <p:cNvPr id="148" name="Google Shape;148;p23"/>
          <p:cNvPicPr preferRelativeResize="0"/>
          <p:nvPr/>
        </p:nvPicPr>
        <p:blipFill>
          <a:blip r:embed="rId3">
            <a:alphaModFix/>
          </a:blip>
          <a:stretch>
            <a:fillRect/>
          </a:stretch>
        </p:blipFill>
        <p:spPr>
          <a:xfrm>
            <a:off x="949375" y="1115675"/>
            <a:ext cx="7245238" cy="382097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2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Rhetorical Structure Theory – developed at ISI! (late 80s, then work in early 00s)</a:t>
            </a:r>
            <a:endParaRPr/>
          </a:p>
        </p:txBody>
      </p:sp>
      <p:pic>
        <p:nvPicPr>
          <p:cNvPr id="154" name="Google Shape;154;p24"/>
          <p:cNvPicPr preferRelativeResize="0"/>
          <p:nvPr/>
        </p:nvPicPr>
        <p:blipFill>
          <a:blip r:embed="rId3">
            <a:alphaModFix/>
          </a:blip>
          <a:stretch>
            <a:fillRect/>
          </a:stretch>
        </p:blipFill>
        <p:spPr>
          <a:xfrm>
            <a:off x="152400" y="1401450"/>
            <a:ext cx="8839199" cy="296758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2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
              <a:t>Modern Discourse Theory</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2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Discourse as structural markers</a:t>
            </a:r>
            <a:endParaRPr/>
          </a:p>
        </p:txBody>
      </p:sp>
      <p:pic>
        <p:nvPicPr>
          <p:cNvPr id="165" name="Google Shape;165;p26"/>
          <p:cNvPicPr preferRelativeResize="0"/>
          <p:nvPr/>
        </p:nvPicPr>
        <p:blipFill>
          <a:blip r:embed="rId3">
            <a:alphaModFix/>
          </a:blip>
          <a:stretch>
            <a:fillRect/>
          </a:stretch>
        </p:blipFill>
        <p:spPr>
          <a:xfrm>
            <a:off x="1165426" y="2511900"/>
            <a:ext cx="6813149" cy="2392975"/>
          </a:xfrm>
          <a:prstGeom prst="rect">
            <a:avLst/>
          </a:prstGeom>
          <a:noFill/>
          <a:ln>
            <a:noFill/>
          </a:ln>
        </p:spPr>
      </p:pic>
      <p:sp>
        <p:nvSpPr>
          <p:cNvPr id="166" name="Google Shape;166;p26"/>
          <p:cNvSpPr txBox="1"/>
          <p:nvPr/>
        </p:nvSpPr>
        <p:spPr>
          <a:xfrm>
            <a:off x="817750" y="2000275"/>
            <a:ext cx="6340800" cy="57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News Discourse (Van Dijk, 1989)</a:t>
            </a:r>
            <a:endParaRPr sz="1800">
              <a:solidFill>
                <a:schemeClr val="dk2"/>
              </a:solidFill>
            </a:endParaRPr>
          </a:p>
        </p:txBody>
      </p:sp>
      <p:sp>
        <p:nvSpPr>
          <p:cNvPr id="167" name="Google Shape;167;p26"/>
          <p:cNvSpPr txBox="1"/>
          <p:nvPr/>
        </p:nvSpPr>
        <p:spPr>
          <a:xfrm>
            <a:off x="96575" y="1066800"/>
            <a:ext cx="8967000" cy="975621"/>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200"/>
              </a:spcAft>
              <a:buNone/>
            </a:pPr>
            <a:r>
              <a:rPr lang="en" sz="1200" b="1">
                <a:solidFill>
                  <a:schemeClr val="dk1"/>
                </a:solidFill>
              </a:rPr>
              <a:t>Discourse</a:t>
            </a:r>
            <a:r>
              <a:rPr lang="en" sz="1200">
                <a:solidFill>
                  <a:schemeClr val="dk1"/>
                </a:solidFill>
              </a:rPr>
              <a:t>:</a:t>
            </a:r>
            <a:br>
              <a:rPr lang="en" sz="1200">
                <a:solidFill>
                  <a:schemeClr val="dk1"/>
                </a:solidFill>
              </a:rPr>
            </a:br>
            <a:r>
              <a:rPr lang="en" sz="1200">
                <a:solidFill>
                  <a:schemeClr val="dk1"/>
                </a:solidFill>
              </a:rPr>
              <a:t>The structure and use of language in communication </a:t>
            </a:r>
            <a:r>
              <a:rPr lang="en" sz="1200" b="1">
                <a:solidFill>
                  <a:schemeClr val="dk1"/>
                </a:solidFill>
              </a:rPr>
              <a:t>beyond individual sentences</a:t>
            </a:r>
            <a:r>
              <a:rPr lang="en" sz="1200">
                <a:solidFill>
                  <a:schemeClr val="dk1"/>
                </a:solidFill>
              </a:rPr>
              <a:t>. It involves analyzing how sentences connect to form cohesive and coherent texts or spoken interactions, considering context, purpose, and social dynamics.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Argumentation Discourse (Khatib, 2016)</a:t>
            </a:r>
            <a:endParaRPr/>
          </a:p>
        </p:txBody>
      </p:sp>
      <p:pic>
        <p:nvPicPr>
          <p:cNvPr id="173" name="Google Shape;173;p27"/>
          <p:cNvPicPr preferRelativeResize="0"/>
          <p:nvPr/>
        </p:nvPicPr>
        <p:blipFill>
          <a:blip r:embed="rId3">
            <a:alphaModFix/>
          </a:blip>
          <a:stretch>
            <a:fillRect/>
          </a:stretch>
        </p:blipFill>
        <p:spPr>
          <a:xfrm>
            <a:off x="1098135" y="1017725"/>
            <a:ext cx="6947727" cy="4125776"/>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2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Science Discourse</a:t>
            </a:r>
            <a:endParaRPr/>
          </a:p>
        </p:txBody>
      </p:sp>
      <p:pic>
        <p:nvPicPr>
          <p:cNvPr id="179" name="Google Shape;179;p28"/>
          <p:cNvPicPr preferRelativeResize="0"/>
          <p:nvPr/>
        </p:nvPicPr>
        <p:blipFill rotWithShape="1">
          <a:blip r:embed="rId3">
            <a:alphaModFix/>
          </a:blip>
          <a:srcRect l="2173" t="16498" r="1673" b="16924"/>
          <a:stretch/>
        </p:blipFill>
        <p:spPr>
          <a:xfrm>
            <a:off x="1266775" y="1017725"/>
            <a:ext cx="6994076" cy="4125776"/>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2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Legal Discourse</a:t>
            </a:r>
            <a:endParaRPr/>
          </a:p>
        </p:txBody>
      </p:sp>
      <p:pic>
        <p:nvPicPr>
          <p:cNvPr id="185" name="Google Shape;185;p29"/>
          <p:cNvPicPr preferRelativeResize="0"/>
          <p:nvPr/>
        </p:nvPicPr>
        <p:blipFill>
          <a:blip r:embed="rId3">
            <a:alphaModFix/>
          </a:blip>
          <a:stretch>
            <a:fillRect/>
          </a:stretch>
        </p:blipFill>
        <p:spPr>
          <a:xfrm>
            <a:off x="2152650" y="1156525"/>
            <a:ext cx="4594756" cy="3820975"/>
          </a:xfrm>
          <a:prstGeom prst="rect">
            <a:avLst/>
          </a:prstGeom>
          <a:noFill/>
          <a:ln>
            <a:noFill/>
          </a:ln>
        </p:spPr>
      </p:pic>
      <p:sp>
        <p:nvSpPr>
          <p:cNvPr id="186" name="Google Shape;186;p29"/>
          <p:cNvSpPr txBox="1"/>
          <p:nvPr/>
        </p:nvSpPr>
        <p:spPr>
          <a:xfrm>
            <a:off x="6842975" y="2438400"/>
            <a:ext cx="1967700" cy="1200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chemeClr val="dk1"/>
                </a:solidFill>
              </a:rPr>
              <a:t>Spangher, A., Wu, T.-L., Xue, Z., Hansen, M., &amp; May, J. (2024). </a:t>
            </a:r>
            <a:r>
              <a:rPr lang="en" sz="1100" b="1">
                <a:solidFill>
                  <a:schemeClr val="dk1"/>
                </a:solidFill>
              </a:rPr>
              <a:t>LegalDiscourse: Interpreting when laws apply and who they affect.</a:t>
            </a:r>
            <a:endParaRPr sz="1100" b="1">
              <a:solidFill>
                <a:schemeClr val="dk1"/>
              </a:solidFill>
            </a:endParaRPr>
          </a:p>
          <a:p>
            <a:pPr marL="0" lvl="0" indent="0" algn="l" rtl="0">
              <a:spcBef>
                <a:spcPts val="0"/>
              </a:spcBef>
              <a:spcAft>
                <a:spcPts val="0"/>
              </a:spcAft>
              <a:buNone/>
            </a:pPr>
            <a:r>
              <a:rPr lang="en" sz="1100">
                <a:solidFill>
                  <a:schemeClr val="dk1"/>
                </a:solidFill>
              </a:rPr>
              <a:t>NAACL 2024</a:t>
            </a:r>
            <a:endParaRPr sz="11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31"/>
          <p:cNvSpPr txBox="1">
            <a:spLocks noGrp="1"/>
          </p:cNvSpPr>
          <p:nvPr>
            <p:ph type="title"/>
          </p:nvPr>
        </p:nvSpPr>
        <p:spPr>
          <a:xfrm>
            <a:off x="311700" y="1388850"/>
            <a:ext cx="8520600" cy="841800"/>
          </a:xfrm>
          <a:prstGeom prst="rect">
            <a:avLst/>
          </a:prstGeom>
        </p:spPr>
        <p:txBody>
          <a:bodyPr spcFirstLastPara="1" wrap="square" lIns="91425" tIns="91425" rIns="91425" bIns="91425" anchor="ctr" anchorCtr="0">
            <a:normAutofit fontScale="90000"/>
          </a:bodyPr>
          <a:lstStyle/>
          <a:p>
            <a:pPr marL="0" lvl="0" indent="0" algn="ctr" rtl="0">
              <a:spcBef>
                <a:spcPts val="0"/>
              </a:spcBef>
              <a:spcAft>
                <a:spcPts val="0"/>
              </a:spcAft>
              <a:buNone/>
            </a:pPr>
            <a:r>
              <a:rPr lang="en"/>
              <a:t>What can discourse tell us?</a:t>
            </a:r>
            <a:endParaRPr/>
          </a:p>
          <a:p>
            <a:pPr marL="0" lvl="0" indent="0" algn="ctr" rtl="0">
              <a:spcBef>
                <a:spcPts val="0"/>
              </a:spcBef>
              <a:spcAft>
                <a:spcPts val="0"/>
              </a:spcAft>
              <a:buNone/>
            </a:pPr>
            <a:endParaRPr/>
          </a:p>
          <a:p>
            <a:pPr marL="0" lvl="0" indent="0" algn="ctr" rtl="0">
              <a:spcBef>
                <a:spcPts val="0"/>
              </a:spcBef>
              <a:spcAft>
                <a:spcPts val="0"/>
              </a:spcAft>
              <a:buNone/>
            </a:pPr>
            <a:r>
              <a:rPr lang="en" b="1" u="sng"/>
              <a:t>Insight #1</a:t>
            </a:r>
            <a:r>
              <a:rPr lang="en"/>
              <a:t>: Different discourse-types complement each other.</a:t>
            </a:r>
            <a:endParaRPr/>
          </a:p>
        </p:txBody>
      </p:sp>
      <p:pic>
        <p:nvPicPr>
          <p:cNvPr id="197" name="Google Shape;197;p31"/>
          <p:cNvPicPr preferRelativeResize="0"/>
          <p:nvPr/>
        </p:nvPicPr>
        <p:blipFill>
          <a:blip r:embed="rId3">
            <a:alphaModFix/>
          </a:blip>
          <a:stretch>
            <a:fillRect/>
          </a:stretch>
        </p:blipFill>
        <p:spPr>
          <a:xfrm>
            <a:off x="1310100" y="3175925"/>
            <a:ext cx="6523798" cy="17943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3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u="sng"/>
              <a:t>Task:</a:t>
            </a:r>
            <a:r>
              <a:rPr lang="en"/>
              <a:t> Classify News Discourse</a:t>
            </a:r>
            <a:endParaRPr/>
          </a:p>
        </p:txBody>
      </p:sp>
      <p:grpSp>
        <p:nvGrpSpPr>
          <p:cNvPr id="203" name="Google Shape;203;p32"/>
          <p:cNvGrpSpPr/>
          <p:nvPr/>
        </p:nvGrpSpPr>
        <p:grpSpPr>
          <a:xfrm>
            <a:off x="467637" y="1047804"/>
            <a:ext cx="3296135" cy="3841151"/>
            <a:chOff x="3972815" y="699400"/>
            <a:chExt cx="3296135" cy="4341755"/>
          </a:xfrm>
        </p:grpSpPr>
        <p:grpSp>
          <p:nvGrpSpPr>
            <p:cNvPr id="204" name="Google Shape;204;p32"/>
            <p:cNvGrpSpPr/>
            <p:nvPr/>
          </p:nvGrpSpPr>
          <p:grpSpPr>
            <a:xfrm>
              <a:off x="4093200" y="1173318"/>
              <a:ext cx="3175738" cy="893409"/>
              <a:chOff x="3607437" y="746518"/>
              <a:chExt cx="3175738" cy="893409"/>
            </a:xfrm>
          </p:grpSpPr>
          <p:sp>
            <p:nvSpPr>
              <p:cNvPr id="205" name="Google Shape;205;p32"/>
              <p:cNvSpPr/>
              <p:nvPr/>
            </p:nvSpPr>
            <p:spPr>
              <a:xfrm>
                <a:off x="5060575" y="746518"/>
                <a:ext cx="1722600" cy="420000"/>
              </a:xfrm>
              <a:prstGeom prst="rect">
                <a:avLst/>
              </a:prstGeom>
              <a:solidFill>
                <a:srgbClr val="D9EAD3"/>
              </a:solidFill>
              <a:ln w="9525" cap="flat" cmpd="sng">
                <a:solidFill>
                  <a:srgbClr val="42424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Main Event</a:t>
                </a:r>
                <a:endParaRPr sz="1400" b="0" i="0" u="none" strike="noStrike" cap="none">
                  <a:solidFill>
                    <a:srgbClr val="000000"/>
                  </a:solidFill>
                  <a:latin typeface="Arial"/>
                  <a:ea typeface="Arial"/>
                  <a:cs typeface="Arial"/>
                  <a:sym typeface="Arial"/>
                </a:endParaRPr>
              </a:p>
            </p:txBody>
          </p:sp>
          <p:sp>
            <p:nvSpPr>
              <p:cNvPr id="206" name="Google Shape;206;p32"/>
              <p:cNvSpPr/>
              <p:nvPr/>
            </p:nvSpPr>
            <p:spPr>
              <a:xfrm>
                <a:off x="5060575" y="1219927"/>
                <a:ext cx="1722600" cy="420000"/>
              </a:xfrm>
              <a:prstGeom prst="rect">
                <a:avLst/>
              </a:prstGeom>
              <a:solidFill>
                <a:srgbClr val="CFE2F3"/>
              </a:solidFill>
              <a:ln w="9525" cap="flat" cmpd="sng">
                <a:solidFill>
                  <a:srgbClr val="42424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Consequence</a:t>
                </a:r>
                <a:endParaRPr sz="1400" b="0" i="0" u="none" strike="noStrike" cap="none">
                  <a:solidFill>
                    <a:srgbClr val="000000"/>
                  </a:solidFill>
                  <a:latin typeface="Arial"/>
                  <a:ea typeface="Arial"/>
                  <a:cs typeface="Arial"/>
                  <a:sym typeface="Arial"/>
                </a:endParaRPr>
              </a:p>
            </p:txBody>
          </p:sp>
          <p:sp>
            <p:nvSpPr>
              <p:cNvPr id="207" name="Google Shape;207;p32"/>
              <p:cNvSpPr/>
              <p:nvPr/>
            </p:nvSpPr>
            <p:spPr>
              <a:xfrm>
                <a:off x="4940260" y="813200"/>
                <a:ext cx="128700" cy="788400"/>
              </a:xfrm>
              <a:prstGeom prst="leftBrace">
                <a:avLst>
                  <a:gd name="adj1" fmla="val 50000"/>
                  <a:gd name="adj2" fmla="val 50000"/>
                </a:avLst>
              </a:prstGeom>
              <a:noFill/>
              <a:ln w="9525" cap="flat" cmpd="sng">
                <a:solidFill>
                  <a:srgbClr val="42424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8" name="Google Shape;208;p32"/>
              <p:cNvSpPr txBox="1"/>
              <p:nvPr/>
            </p:nvSpPr>
            <p:spPr>
              <a:xfrm>
                <a:off x="3607437" y="999494"/>
                <a:ext cx="1407600" cy="420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Main Content</a:t>
                </a:r>
                <a:endParaRPr sz="1400" b="0" i="0" u="none" strike="noStrike" cap="none">
                  <a:solidFill>
                    <a:srgbClr val="000000"/>
                  </a:solidFill>
                  <a:latin typeface="Arial"/>
                  <a:ea typeface="Arial"/>
                  <a:cs typeface="Arial"/>
                  <a:sym typeface="Arial"/>
                </a:endParaRPr>
              </a:p>
            </p:txBody>
          </p:sp>
        </p:grpSp>
        <p:grpSp>
          <p:nvGrpSpPr>
            <p:cNvPr id="209" name="Google Shape;209;p32"/>
            <p:cNvGrpSpPr/>
            <p:nvPr/>
          </p:nvGrpSpPr>
          <p:grpSpPr>
            <a:xfrm>
              <a:off x="3972815" y="2182852"/>
              <a:ext cx="3296135" cy="894340"/>
              <a:chOff x="3487040" y="1916152"/>
              <a:chExt cx="3296135" cy="894340"/>
            </a:xfrm>
          </p:grpSpPr>
          <p:sp>
            <p:nvSpPr>
              <p:cNvPr id="210" name="Google Shape;210;p32"/>
              <p:cNvSpPr/>
              <p:nvPr/>
            </p:nvSpPr>
            <p:spPr>
              <a:xfrm>
                <a:off x="5060575" y="1916152"/>
                <a:ext cx="1722600" cy="420000"/>
              </a:xfrm>
              <a:prstGeom prst="rect">
                <a:avLst/>
              </a:prstGeom>
              <a:solidFill>
                <a:srgbClr val="E6B8AF"/>
              </a:solidFill>
              <a:ln w="9525" cap="flat" cmpd="sng">
                <a:solidFill>
                  <a:srgbClr val="42424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Previous Event</a:t>
                </a:r>
                <a:endParaRPr sz="1400" b="0" i="0" u="none" strike="noStrike" cap="none">
                  <a:solidFill>
                    <a:srgbClr val="000000"/>
                  </a:solidFill>
                  <a:latin typeface="Arial"/>
                  <a:ea typeface="Arial"/>
                  <a:cs typeface="Arial"/>
                  <a:sym typeface="Arial"/>
                </a:endParaRPr>
              </a:p>
            </p:txBody>
          </p:sp>
          <p:sp>
            <p:nvSpPr>
              <p:cNvPr id="211" name="Google Shape;211;p32"/>
              <p:cNvSpPr/>
              <p:nvPr/>
            </p:nvSpPr>
            <p:spPr>
              <a:xfrm>
                <a:off x="5060575" y="2390492"/>
                <a:ext cx="1722600" cy="420000"/>
              </a:xfrm>
              <a:prstGeom prst="rect">
                <a:avLst/>
              </a:prstGeom>
              <a:solidFill>
                <a:srgbClr val="FFF2CC"/>
              </a:solidFill>
              <a:ln w="9525" cap="flat" cmpd="sng">
                <a:solidFill>
                  <a:srgbClr val="42424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Current Context</a:t>
                </a:r>
                <a:endParaRPr sz="1400" b="0" i="0" u="none" strike="noStrike" cap="none">
                  <a:solidFill>
                    <a:srgbClr val="000000"/>
                  </a:solidFill>
                  <a:latin typeface="Arial"/>
                  <a:ea typeface="Arial"/>
                  <a:cs typeface="Arial"/>
                  <a:sym typeface="Arial"/>
                </a:endParaRPr>
              </a:p>
            </p:txBody>
          </p:sp>
          <p:sp>
            <p:nvSpPr>
              <p:cNvPr id="212" name="Google Shape;212;p32"/>
              <p:cNvSpPr/>
              <p:nvPr/>
            </p:nvSpPr>
            <p:spPr>
              <a:xfrm>
                <a:off x="4940248" y="1956200"/>
                <a:ext cx="105000" cy="788400"/>
              </a:xfrm>
              <a:prstGeom prst="leftBrace">
                <a:avLst>
                  <a:gd name="adj1" fmla="val 50000"/>
                  <a:gd name="adj2" fmla="val 50000"/>
                </a:avLst>
              </a:prstGeom>
              <a:noFill/>
              <a:ln w="9525" cap="flat" cmpd="sng">
                <a:solidFill>
                  <a:srgbClr val="42424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3" name="Google Shape;213;p32"/>
              <p:cNvSpPr txBox="1"/>
              <p:nvPr/>
            </p:nvSpPr>
            <p:spPr>
              <a:xfrm>
                <a:off x="3487040" y="2116627"/>
                <a:ext cx="1557300" cy="527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Contextualizing</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Content</a:t>
                </a:r>
                <a:endParaRPr sz="1400" b="0" i="0" u="none" strike="noStrike" cap="none">
                  <a:solidFill>
                    <a:srgbClr val="000000"/>
                  </a:solidFill>
                  <a:latin typeface="Arial"/>
                  <a:ea typeface="Arial"/>
                  <a:cs typeface="Arial"/>
                  <a:sym typeface="Arial"/>
                </a:endParaRPr>
              </a:p>
            </p:txBody>
          </p:sp>
        </p:grpSp>
        <p:grpSp>
          <p:nvGrpSpPr>
            <p:cNvPr id="214" name="Google Shape;214;p32"/>
            <p:cNvGrpSpPr/>
            <p:nvPr/>
          </p:nvGrpSpPr>
          <p:grpSpPr>
            <a:xfrm>
              <a:off x="4064098" y="3198149"/>
              <a:ext cx="3204852" cy="1843006"/>
              <a:chOff x="3578323" y="3188624"/>
              <a:chExt cx="3204852" cy="1843006"/>
            </a:xfrm>
          </p:grpSpPr>
          <p:sp>
            <p:nvSpPr>
              <p:cNvPr id="215" name="Google Shape;215;p32"/>
              <p:cNvSpPr/>
              <p:nvPr/>
            </p:nvSpPr>
            <p:spPr>
              <a:xfrm>
                <a:off x="5060575" y="3188624"/>
                <a:ext cx="1722600" cy="420000"/>
              </a:xfrm>
              <a:prstGeom prst="rect">
                <a:avLst/>
              </a:prstGeom>
              <a:solidFill>
                <a:srgbClr val="D9D2E9"/>
              </a:solidFill>
              <a:ln w="9525" cap="flat" cmpd="sng">
                <a:solidFill>
                  <a:srgbClr val="42424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Historical Event</a:t>
                </a:r>
                <a:endParaRPr sz="1400" b="0" i="0" u="none" strike="noStrike" cap="none">
                  <a:solidFill>
                    <a:srgbClr val="000000"/>
                  </a:solidFill>
                  <a:latin typeface="Arial"/>
                  <a:ea typeface="Arial"/>
                  <a:cs typeface="Arial"/>
                  <a:sym typeface="Arial"/>
                </a:endParaRPr>
              </a:p>
            </p:txBody>
          </p:sp>
          <p:sp>
            <p:nvSpPr>
              <p:cNvPr id="216" name="Google Shape;216;p32"/>
              <p:cNvSpPr/>
              <p:nvPr/>
            </p:nvSpPr>
            <p:spPr>
              <a:xfrm>
                <a:off x="5060575" y="3662959"/>
                <a:ext cx="1722600" cy="420000"/>
              </a:xfrm>
              <a:prstGeom prst="rect">
                <a:avLst/>
              </a:prstGeom>
              <a:solidFill>
                <a:srgbClr val="FCE5CD"/>
              </a:solidFill>
              <a:ln w="9525" cap="flat" cmpd="sng">
                <a:solidFill>
                  <a:srgbClr val="42424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Anecdotal Event</a:t>
                </a:r>
                <a:endParaRPr sz="1400" b="0" i="0" u="none" strike="noStrike" cap="none">
                  <a:solidFill>
                    <a:srgbClr val="000000"/>
                  </a:solidFill>
                  <a:latin typeface="Arial"/>
                  <a:ea typeface="Arial"/>
                  <a:cs typeface="Arial"/>
                  <a:sym typeface="Arial"/>
                </a:endParaRPr>
              </a:p>
            </p:txBody>
          </p:sp>
          <p:sp>
            <p:nvSpPr>
              <p:cNvPr id="217" name="Google Shape;217;p32"/>
              <p:cNvSpPr/>
              <p:nvPr/>
            </p:nvSpPr>
            <p:spPr>
              <a:xfrm>
                <a:off x="5060575" y="4137294"/>
                <a:ext cx="1722600" cy="420000"/>
              </a:xfrm>
              <a:prstGeom prst="rect">
                <a:avLst/>
              </a:prstGeom>
              <a:solidFill>
                <a:srgbClr val="D0E0E3"/>
              </a:solidFill>
              <a:ln w="9525" cap="flat" cmpd="sng">
                <a:solidFill>
                  <a:srgbClr val="42424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Evaluation</a:t>
                </a:r>
                <a:endParaRPr sz="1400" b="0" i="0" u="none" strike="noStrike" cap="none">
                  <a:solidFill>
                    <a:srgbClr val="000000"/>
                  </a:solidFill>
                  <a:latin typeface="Arial"/>
                  <a:ea typeface="Arial"/>
                  <a:cs typeface="Arial"/>
                  <a:sym typeface="Arial"/>
                </a:endParaRPr>
              </a:p>
            </p:txBody>
          </p:sp>
          <p:sp>
            <p:nvSpPr>
              <p:cNvPr id="218" name="Google Shape;218;p32"/>
              <p:cNvSpPr/>
              <p:nvPr/>
            </p:nvSpPr>
            <p:spPr>
              <a:xfrm>
                <a:off x="5060575" y="4611630"/>
                <a:ext cx="1722600" cy="420000"/>
              </a:xfrm>
              <a:prstGeom prst="rect">
                <a:avLst/>
              </a:prstGeom>
              <a:solidFill>
                <a:srgbClr val="EAD1DC"/>
              </a:solidFill>
              <a:ln w="9525" cap="flat" cmpd="sng">
                <a:solidFill>
                  <a:srgbClr val="42424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Expectation</a:t>
                </a:r>
                <a:endParaRPr sz="1400" b="0" i="0" u="none" strike="noStrike" cap="none">
                  <a:solidFill>
                    <a:srgbClr val="000000"/>
                  </a:solidFill>
                  <a:latin typeface="Arial"/>
                  <a:ea typeface="Arial"/>
                  <a:cs typeface="Arial"/>
                  <a:sym typeface="Arial"/>
                </a:endParaRPr>
              </a:p>
            </p:txBody>
          </p:sp>
          <p:sp>
            <p:nvSpPr>
              <p:cNvPr id="219" name="Google Shape;219;p32"/>
              <p:cNvSpPr/>
              <p:nvPr/>
            </p:nvSpPr>
            <p:spPr>
              <a:xfrm>
                <a:off x="4933000" y="3251600"/>
                <a:ext cx="120900" cy="1719000"/>
              </a:xfrm>
              <a:prstGeom prst="leftBrace">
                <a:avLst>
                  <a:gd name="adj1" fmla="val 50000"/>
                  <a:gd name="adj2" fmla="val 50000"/>
                </a:avLst>
              </a:prstGeom>
              <a:noFill/>
              <a:ln w="9525" cap="flat" cmpd="sng">
                <a:solidFill>
                  <a:srgbClr val="42424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0" name="Google Shape;220;p32"/>
              <p:cNvSpPr txBox="1"/>
              <p:nvPr/>
            </p:nvSpPr>
            <p:spPr>
              <a:xfrm>
                <a:off x="3578323" y="3699228"/>
                <a:ext cx="1578900" cy="7413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Additional </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Supporting</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Content</a:t>
                </a:r>
                <a:endParaRPr sz="1400" b="0" i="0" u="none" strike="noStrike" cap="none">
                  <a:solidFill>
                    <a:srgbClr val="000000"/>
                  </a:solidFill>
                  <a:latin typeface="Arial"/>
                  <a:ea typeface="Arial"/>
                  <a:cs typeface="Arial"/>
                  <a:sym typeface="Arial"/>
                </a:endParaRPr>
              </a:p>
            </p:txBody>
          </p:sp>
        </p:grpSp>
        <p:sp>
          <p:nvSpPr>
            <p:cNvPr id="221" name="Google Shape;221;p32"/>
            <p:cNvSpPr txBox="1"/>
            <p:nvPr/>
          </p:nvSpPr>
          <p:spPr>
            <a:xfrm>
              <a:off x="5554723" y="699400"/>
              <a:ext cx="1588277" cy="3936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n" sz="1600" b="1" i="0" u="sng" strike="noStrike" cap="none">
                  <a:solidFill>
                    <a:srgbClr val="000000"/>
                  </a:solidFill>
                  <a:latin typeface="Proxima Nova"/>
                  <a:ea typeface="Proxima Nova"/>
                  <a:cs typeface="Proxima Nova"/>
                  <a:sym typeface="Proxima Nova"/>
                </a:rPr>
                <a:t>Label	</a:t>
              </a:r>
              <a:endParaRPr sz="1600" b="1" i="0" u="sng" strike="noStrike" cap="none">
                <a:solidFill>
                  <a:srgbClr val="000000"/>
                </a:solidFill>
                <a:latin typeface="Proxima Nova"/>
                <a:ea typeface="Proxima Nova"/>
                <a:cs typeface="Proxima Nova"/>
                <a:sym typeface="Proxima Nova"/>
              </a:endParaRPr>
            </a:p>
          </p:txBody>
        </p:sp>
        <p:sp>
          <p:nvSpPr>
            <p:cNvPr id="222" name="Google Shape;222;p32"/>
            <p:cNvSpPr txBox="1"/>
            <p:nvPr/>
          </p:nvSpPr>
          <p:spPr>
            <a:xfrm>
              <a:off x="4303200" y="707525"/>
              <a:ext cx="902100" cy="487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b="1" u="sng">
                  <a:latin typeface="Proxima Nova"/>
                  <a:ea typeface="Proxima Nova"/>
                  <a:cs typeface="Proxima Nova"/>
                  <a:sym typeface="Proxima Nova"/>
                </a:rPr>
                <a:t>Type</a:t>
              </a:r>
              <a:endParaRPr/>
            </a:p>
          </p:txBody>
        </p:sp>
      </p:grpSp>
      <p:sp>
        <p:nvSpPr>
          <p:cNvPr id="223" name="Google Shape;223;p32"/>
          <p:cNvSpPr txBox="1"/>
          <p:nvPr/>
        </p:nvSpPr>
        <p:spPr>
          <a:xfrm>
            <a:off x="3901125" y="1114775"/>
            <a:ext cx="5024100" cy="3324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100" u="sng">
                <a:latin typeface="Proxima Nova"/>
                <a:ea typeface="Proxima Nova"/>
                <a:cs typeface="Proxima Nova"/>
                <a:sym typeface="Proxima Nova"/>
              </a:rPr>
              <a:t>Many different discourse datasets are annotated on news!</a:t>
            </a:r>
            <a:endParaRPr sz="2100" u="sng">
              <a:latin typeface="Proxima Nova"/>
              <a:ea typeface="Proxima Nova"/>
              <a:cs typeface="Proxima Nova"/>
              <a:sym typeface="Proxima Nova"/>
            </a:endParaRPr>
          </a:p>
          <a:p>
            <a:pPr marL="0" lvl="0" indent="0" algn="l" rtl="0">
              <a:spcBef>
                <a:spcPts val="0"/>
              </a:spcBef>
              <a:spcAft>
                <a:spcPts val="0"/>
              </a:spcAft>
              <a:buNone/>
            </a:pPr>
            <a:endParaRPr i="1">
              <a:latin typeface="Proxima Nova"/>
              <a:ea typeface="Proxima Nova"/>
              <a:cs typeface="Proxima Nova"/>
              <a:sym typeface="Proxima Nova"/>
            </a:endParaRPr>
          </a:p>
          <a:p>
            <a:pPr marL="914400" lvl="0" indent="-317500" algn="l" rtl="0">
              <a:spcBef>
                <a:spcPts val="1000"/>
              </a:spcBef>
              <a:spcAft>
                <a:spcPts val="0"/>
              </a:spcAft>
              <a:buSzPts val="1400"/>
              <a:buFont typeface="Proxima Nova"/>
              <a:buChar char="●"/>
            </a:pPr>
            <a:r>
              <a:rPr lang="en">
                <a:latin typeface="Proxima Nova"/>
                <a:ea typeface="Proxima Nova"/>
                <a:cs typeface="Proxima Nova"/>
                <a:sym typeface="Proxima Nova"/>
              </a:rPr>
              <a:t>Yarlott, 2018: Van Dijk Schema	</a:t>
            </a:r>
            <a:endParaRPr>
              <a:latin typeface="Proxima Nova"/>
              <a:ea typeface="Proxima Nova"/>
              <a:cs typeface="Proxima Nova"/>
              <a:sym typeface="Proxima Nova"/>
            </a:endParaRPr>
          </a:p>
          <a:p>
            <a:pPr marL="914400" lvl="0" indent="-317500" algn="l" rtl="0">
              <a:spcBef>
                <a:spcPts val="1000"/>
              </a:spcBef>
              <a:spcAft>
                <a:spcPts val="0"/>
              </a:spcAft>
              <a:buSzPts val="1400"/>
              <a:buFont typeface="Proxima Nova"/>
              <a:buChar char="●"/>
            </a:pPr>
            <a:r>
              <a:rPr lang="en">
                <a:latin typeface="Proxima Nova"/>
                <a:ea typeface="Proxima Nova"/>
                <a:cs typeface="Proxima Nova"/>
                <a:sym typeface="Proxima Nova"/>
              </a:rPr>
              <a:t>Choubey, 2020: Van Dijk Schema + </a:t>
            </a:r>
            <a:r>
              <a:rPr lang="en" i="1">
                <a:latin typeface="Proxima Nova"/>
                <a:ea typeface="Proxima Nova"/>
                <a:cs typeface="Proxima Nova"/>
                <a:sym typeface="Proxima Nova"/>
              </a:rPr>
              <a:t>Anecdote</a:t>
            </a:r>
            <a:endParaRPr>
              <a:latin typeface="Proxima Nova"/>
              <a:ea typeface="Proxima Nova"/>
              <a:cs typeface="Proxima Nova"/>
              <a:sym typeface="Proxima Nova"/>
            </a:endParaRPr>
          </a:p>
          <a:p>
            <a:pPr marL="914400" lvl="0" indent="-317500" algn="l" rtl="0">
              <a:spcBef>
                <a:spcPts val="1000"/>
              </a:spcBef>
              <a:spcAft>
                <a:spcPts val="0"/>
              </a:spcAft>
              <a:buSzPts val="1400"/>
              <a:buFont typeface="Proxima Nova"/>
              <a:buChar char="●"/>
            </a:pPr>
            <a:r>
              <a:rPr lang="en">
                <a:latin typeface="Proxima Nova"/>
                <a:ea typeface="Proxima Nova"/>
                <a:cs typeface="Proxima Nova"/>
                <a:sym typeface="Proxima Nova"/>
              </a:rPr>
              <a:t>Spangher, 2021: Van Dijk Schema + </a:t>
            </a:r>
            <a:r>
              <a:rPr lang="en" i="1">
                <a:latin typeface="Proxima Nova"/>
                <a:ea typeface="Proxima Nova"/>
                <a:cs typeface="Proxima Nova"/>
                <a:sym typeface="Proxima Nova"/>
              </a:rPr>
              <a:t>Explanation</a:t>
            </a:r>
            <a:r>
              <a:rPr lang="en">
                <a:latin typeface="Proxima Nova"/>
                <a:ea typeface="Proxima Nova"/>
                <a:cs typeface="Proxima Nova"/>
                <a:sym typeface="Proxima Nova"/>
              </a:rPr>
              <a:t> </a:t>
            </a:r>
            <a:endParaRPr>
              <a:latin typeface="Proxima Nova"/>
              <a:ea typeface="Proxima Nova"/>
              <a:cs typeface="Proxima Nova"/>
              <a:sym typeface="Proxima Nova"/>
            </a:endParaRPr>
          </a:p>
          <a:p>
            <a:pPr marL="914400" lvl="0" indent="-317500" algn="l" rtl="0">
              <a:spcBef>
                <a:spcPts val="1000"/>
              </a:spcBef>
              <a:spcAft>
                <a:spcPts val="0"/>
              </a:spcAft>
              <a:buSzPts val="1400"/>
              <a:buFont typeface="Proxima Nova"/>
              <a:buChar char="●"/>
            </a:pPr>
            <a:r>
              <a:rPr lang="en">
                <a:latin typeface="Proxima Nova"/>
                <a:ea typeface="Proxima Nova"/>
                <a:cs typeface="Proxima Nova"/>
                <a:sym typeface="Proxima Nova"/>
              </a:rPr>
              <a:t>Al Khatib, 2016: Argumentation Schema</a:t>
            </a:r>
            <a:endParaRPr>
              <a:latin typeface="Proxima Nova"/>
              <a:ea typeface="Proxima Nova"/>
              <a:cs typeface="Proxima Nova"/>
              <a:sym typeface="Proxima Nova"/>
            </a:endParaRPr>
          </a:p>
          <a:p>
            <a:pPr marL="914400" lvl="0" indent="-317500" algn="l" rtl="0">
              <a:spcBef>
                <a:spcPts val="1000"/>
              </a:spcBef>
              <a:spcAft>
                <a:spcPts val="0"/>
              </a:spcAft>
              <a:buSzPts val="1400"/>
              <a:buFont typeface="Proxima Nova"/>
              <a:buChar char="●"/>
            </a:pPr>
            <a:r>
              <a:rPr lang="en">
                <a:latin typeface="Proxima Nova"/>
                <a:ea typeface="Proxima Nova"/>
                <a:cs typeface="Proxima Nova"/>
                <a:sym typeface="Proxima Nova"/>
              </a:rPr>
              <a:t>Prasad, 2008: Penn Discourse Treebank (PDTB) </a:t>
            </a:r>
            <a:endParaRPr>
              <a:latin typeface="Proxima Nova"/>
              <a:ea typeface="Proxima Nova"/>
              <a:cs typeface="Proxima Nova"/>
              <a:sym typeface="Proxima Nova"/>
            </a:endParaRPr>
          </a:p>
          <a:p>
            <a:pPr marL="914400" lvl="0" indent="-317500" algn="l" rtl="0">
              <a:spcBef>
                <a:spcPts val="1000"/>
              </a:spcBef>
              <a:spcAft>
                <a:spcPts val="1000"/>
              </a:spcAft>
              <a:buSzPts val="1400"/>
              <a:buFont typeface="Proxima Nova"/>
              <a:buChar char="●"/>
            </a:pPr>
            <a:r>
              <a:rPr lang="en">
                <a:latin typeface="Proxima Nova"/>
                <a:ea typeface="Proxima Nova"/>
                <a:cs typeface="Proxima Nova"/>
                <a:sym typeface="Proxima Nova"/>
              </a:rPr>
              <a:t>Carlson, 2003: Rhetorical Structure Theory Treebank (RST)</a:t>
            </a:r>
            <a:endParaRPr>
              <a:latin typeface="Proxima Nova"/>
              <a:ea typeface="Proxima Nova"/>
              <a:cs typeface="Proxima Nova"/>
              <a:sym typeface="Proxima Nova"/>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Shape 227"/>
        <p:cNvGrpSpPr/>
        <p:nvPr/>
      </p:nvGrpSpPr>
      <p:grpSpPr>
        <a:xfrm>
          <a:off x="0" y="0"/>
          <a:ext cx="0" cy="0"/>
          <a:chOff x="0" y="0"/>
          <a:chExt cx="0" cy="0"/>
        </a:xfrm>
      </p:grpSpPr>
      <p:sp>
        <p:nvSpPr>
          <p:cNvPr id="228" name="Google Shape;228;p3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Multitask Architecture</a:t>
            </a:r>
            <a:endParaRPr/>
          </a:p>
        </p:txBody>
      </p:sp>
      <p:pic>
        <p:nvPicPr>
          <p:cNvPr id="229" name="Google Shape;229;p33"/>
          <p:cNvPicPr preferRelativeResize="0"/>
          <p:nvPr/>
        </p:nvPicPr>
        <p:blipFill>
          <a:blip r:embed="rId3">
            <a:alphaModFix/>
          </a:blip>
          <a:stretch>
            <a:fillRect/>
          </a:stretch>
        </p:blipFill>
        <p:spPr>
          <a:xfrm>
            <a:off x="1752301" y="1181175"/>
            <a:ext cx="5224376" cy="345105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Shape 233"/>
        <p:cNvGrpSpPr/>
        <p:nvPr/>
      </p:nvGrpSpPr>
      <p:grpSpPr>
        <a:xfrm>
          <a:off x="0" y="0"/>
          <a:ext cx="0" cy="0"/>
          <a:chOff x="0" y="0"/>
          <a:chExt cx="0" cy="0"/>
        </a:xfrm>
      </p:grpSpPr>
      <p:sp>
        <p:nvSpPr>
          <p:cNvPr id="234" name="Google Shape;234;p3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Additional Details on Data Processing</a:t>
            </a:r>
            <a:endParaRPr/>
          </a:p>
        </p:txBody>
      </p:sp>
      <p:sp>
        <p:nvSpPr>
          <p:cNvPr id="235" name="Google Shape;235;p3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21</a:t>
            </a:fld>
            <a:endParaRPr/>
          </a:p>
        </p:txBody>
      </p:sp>
      <p:pic>
        <p:nvPicPr>
          <p:cNvPr id="236" name="Google Shape;236;p34"/>
          <p:cNvPicPr preferRelativeResize="0"/>
          <p:nvPr/>
        </p:nvPicPr>
        <p:blipFill rotWithShape="1">
          <a:blip r:embed="rId3">
            <a:alphaModFix/>
          </a:blip>
          <a:srcRect r="46774"/>
          <a:stretch/>
        </p:blipFill>
        <p:spPr>
          <a:xfrm>
            <a:off x="1433526" y="2034958"/>
            <a:ext cx="3190648" cy="1515841"/>
          </a:xfrm>
          <a:prstGeom prst="rect">
            <a:avLst/>
          </a:prstGeom>
          <a:noFill/>
          <a:ln>
            <a:noFill/>
          </a:ln>
        </p:spPr>
      </p:pic>
      <p:pic>
        <p:nvPicPr>
          <p:cNvPr id="237" name="Google Shape;237;p34"/>
          <p:cNvPicPr preferRelativeResize="0"/>
          <p:nvPr/>
        </p:nvPicPr>
        <p:blipFill rotWithShape="1">
          <a:blip r:embed="rId3">
            <a:alphaModFix/>
          </a:blip>
          <a:srcRect l="53527"/>
          <a:stretch/>
        </p:blipFill>
        <p:spPr>
          <a:xfrm>
            <a:off x="4803749" y="1927699"/>
            <a:ext cx="2785804" cy="1515841"/>
          </a:xfrm>
          <a:prstGeom prst="rect">
            <a:avLst/>
          </a:prstGeom>
          <a:noFill/>
          <a:ln>
            <a:noFill/>
          </a:ln>
        </p:spPr>
      </p:pic>
      <p:sp>
        <p:nvSpPr>
          <p:cNvPr id="238" name="Google Shape;238;p34"/>
          <p:cNvSpPr txBox="1"/>
          <p:nvPr/>
        </p:nvSpPr>
        <p:spPr>
          <a:xfrm>
            <a:off x="346925" y="900500"/>
            <a:ext cx="75954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Proxima Nova"/>
                <a:ea typeface="Proxima Nova"/>
                <a:cs typeface="Proxima Nova"/>
                <a:sym typeface="Proxima Nova"/>
              </a:rPr>
              <a:t>PDTB and RST are relational datasets. We need to process them to model them as multilabel datasets.</a:t>
            </a:r>
            <a:endParaRPr>
              <a:latin typeface="Proxima Nova"/>
              <a:ea typeface="Proxima Nova"/>
              <a:cs typeface="Proxima Nova"/>
              <a:sym typeface="Proxima Nova"/>
            </a:endParaRPr>
          </a:p>
        </p:txBody>
      </p:sp>
      <p:sp>
        <p:nvSpPr>
          <p:cNvPr id="239" name="Google Shape;239;p34"/>
          <p:cNvSpPr txBox="1"/>
          <p:nvPr/>
        </p:nvSpPr>
        <p:spPr>
          <a:xfrm>
            <a:off x="346925" y="3962400"/>
            <a:ext cx="82410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Proxima Nova"/>
                <a:ea typeface="Proxima Nova"/>
                <a:cs typeface="Proxima Nova"/>
                <a:sym typeface="Proxima Nova"/>
              </a:rPr>
              <a:t>Additionally, we filter tags in PDTB to only include tags on temporal relations.</a:t>
            </a:r>
            <a:endParaRPr>
              <a:latin typeface="Proxima Nova"/>
              <a:ea typeface="Proxima Nova"/>
              <a:cs typeface="Proxima Nova"/>
              <a:sym typeface="Proxima Nova"/>
            </a:endParaRPr>
          </a:p>
          <a:p>
            <a:pPr marL="0" lvl="0" indent="0" algn="l" rtl="0">
              <a:spcBef>
                <a:spcPts val="0"/>
              </a:spcBef>
              <a:spcAft>
                <a:spcPts val="0"/>
              </a:spcAft>
              <a:buNone/>
            </a:pPr>
            <a:endParaRPr>
              <a:latin typeface="Proxima Nova"/>
              <a:ea typeface="Proxima Nova"/>
              <a:cs typeface="Proxima Nova"/>
              <a:sym typeface="Proxima Nova"/>
            </a:endParaRPr>
          </a:p>
          <a:p>
            <a:pPr marL="0" lvl="0" indent="0" algn="l" rtl="0">
              <a:spcBef>
                <a:spcPts val="0"/>
              </a:spcBef>
              <a:spcAft>
                <a:spcPts val="0"/>
              </a:spcAft>
              <a:buNone/>
            </a:pPr>
            <a:r>
              <a:rPr lang="en">
                <a:latin typeface="Proxima Nova"/>
                <a:ea typeface="Proxima Nova"/>
                <a:cs typeface="Proxima Nova"/>
                <a:sym typeface="Proxima Nova"/>
              </a:rPr>
              <a:t>We experiment with Event Nuggets Dataset from Knowledge Base Population (KBP) 2014/2015. [6]</a:t>
            </a:r>
            <a:endParaRPr>
              <a:latin typeface="Proxima Nova"/>
              <a:ea typeface="Proxima Nova"/>
              <a:cs typeface="Proxima Nova"/>
              <a:sym typeface="Proxima Nov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8"/>
                                        </p:tgtEl>
                                        <p:attrNameLst>
                                          <p:attrName>style.visibility</p:attrName>
                                        </p:attrNameLst>
                                      </p:cBhvr>
                                      <p:to>
                                        <p:strVal val="visible"/>
                                      </p:to>
                                    </p:set>
                                    <p:animEffect transition="in" filter="fade">
                                      <p:cBhvr>
                                        <p:cTn id="7" dur="1000"/>
                                        <p:tgtEl>
                                          <p:spTgt spid="23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6"/>
                                        </p:tgtEl>
                                        <p:attrNameLst>
                                          <p:attrName>style.visibility</p:attrName>
                                        </p:attrNameLst>
                                      </p:cBhvr>
                                      <p:to>
                                        <p:strVal val="visible"/>
                                      </p:to>
                                    </p:set>
                                    <p:animEffect transition="in" filter="fade">
                                      <p:cBhvr>
                                        <p:cTn id="12" dur="1000"/>
                                        <p:tgtEl>
                                          <p:spTgt spid="23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7"/>
                                        </p:tgtEl>
                                        <p:attrNameLst>
                                          <p:attrName>style.visibility</p:attrName>
                                        </p:attrNameLst>
                                      </p:cBhvr>
                                      <p:to>
                                        <p:strVal val="visible"/>
                                      </p:to>
                                    </p:set>
                                    <p:animEffect transition="in" filter="fade">
                                      <p:cBhvr>
                                        <p:cTn id="17" dur="1000"/>
                                        <p:tgtEl>
                                          <p:spTgt spid="23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9">
                                            <p:txEl>
                                              <p:pRg st="0" end="0"/>
                                            </p:txEl>
                                          </p:spTgt>
                                        </p:tgtEl>
                                        <p:attrNameLst>
                                          <p:attrName>style.visibility</p:attrName>
                                        </p:attrNameLst>
                                      </p:cBhvr>
                                      <p:to>
                                        <p:strVal val="visible"/>
                                      </p:to>
                                    </p:set>
                                    <p:animEffect transition="in" filter="fade">
                                      <p:cBhvr>
                                        <p:cTn id="22" dur="1000"/>
                                        <p:tgtEl>
                                          <p:spTgt spid="239">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9">
                                            <p:txEl>
                                              <p:pRg st="1" end="1"/>
                                            </p:txEl>
                                          </p:spTgt>
                                        </p:tgtEl>
                                        <p:attrNameLst>
                                          <p:attrName>style.visibility</p:attrName>
                                        </p:attrNameLst>
                                      </p:cBhvr>
                                      <p:to>
                                        <p:strVal val="visible"/>
                                      </p:to>
                                    </p:set>
                                    <p:animEffect transition="in" filter="fade">
                                      <p:cBhvr>
                                        <p:cTn id="27" dur="1000"/>
                                        <p:tgtEl>
                                          <p:spTgt spid="239">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39">
                                            <p:txEl>
                                              <p:pRg st="2" end="2"/>
                                            </p:txEl>
                                          </p:spTgt>
                                        </p:tgtEl>
                                        <p:attrNameLst>
                                          <p:attrName>style.visibility</p:attrName>
                                        </p:attrNameLst>
                                      </p:cBhvr>
                                      <p:to>
                                        <p:strVal val="visible"/>
                                      </p:to>
                                    </p:set>
                                    <p:animEffect transition="in" filter="fade">
                                      <p:cBhvr>
                                        <p:cTn id="32" dur="1000"/>
                                        <p:tgtEl>
                                          <p:spTgt spid="23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sp>
        <p:nvSpPr>
          <p:cNvPr id="244" name="Google Shape;244;p3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300"/>
              <a:buNone/>
            </a:pPr>
            <a:r>
              <a:rPr lang="en"/>
              <a:t>Multitask Outperforms Baseline and Data Ablations</a:t>
            </a:r>
            <a:endParaRPr/>
          </a:p>
        </p:txBody>
      </p:sp>
      <p:sp>
        <p:nvSpPr>
          <p:cNvPr id="245" name="Google Shape;245;p3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22</a:t>
            </a:fld>
            <a:endParaRPr/>
          </a:p>
        </p:txBody>
      </p:sp>
      <p:pic>
        <p:nvPicPr>
          <p:cNvPr id="246" name="Google Shape;246;p35"/>
          <p:cNvPicPr preferRelativeResize="0"/>
          <p:nvPr/>
        </p:nvPicPr>
        <p:blipFill rotWithShape="1">
          <a:blip r:embed="rId3">
            <a:alphaModFix/>
          </a:blip>
          <a:srcRect t="77833"/>
          <a:stretch/>
        </p:blipFill>
        <p:spPr>
          <a:xfrm>
            <a:off x="2351200" y="3457970"/>
            <a:ext cx="4625474" cy="648900"/>
          </a:xfrm>
          <a:prstGeom prst="rect">
            <a:avLst/>
          </a:prstGeom>
          <a:noFill/>
          <a:ln>
            <a:noFill/>
          </a:ln>
        </p:spPr>
      </p:pic>
      <p:pic>
        <p:nvPicPr>
          <p:cNvPr id="247" name="Google Shape;247;p35"/>
          <p:cNvPicPr preferRelativeResize="0"/>
          <p:nvPr/>
        </p:nvPicPr>
        <p:blipFill rotWithShape="1">
          <a:blip r:embed="rId3">
            <a:alphaModFix/>
          </a:blip>
          <a:srcRect b="42039"/>
          <a:stretch/>
        </p:blipFill>
        <p:spPr>
          <a:xfrm>
            <a:off x="2351200" y="1754100"/>
            <a:ext cx="4625474" cy="169682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Shape 251"/>
        <p:cNvGrpSpPr/>
        <p:nvPr/>
      </p:nvGrpSpPr>
      <p:grpSpPr>
        <a:xfrm>
          <a:off x="0" y="0"/>
          <a:ext cx="0" cy="0"/>
          <a:chOff x="0" y="0"/>
          <a:chExt cx="0" cy="0"/>
        </a:xfrm>
      </p:grpSpPr>
      <p:sp>
        <p:nvSpPr>
          <p:cNvPr id="252" name="Google Shape;252;p3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300"/>
              <a:buNone/>
            </a:pPr>
            <a:r>
              <a:rPr lang="en"/>
              <a:t>Two Data Ablations:</a:t>
            </a:r>
            <a:endParaRPr/>
          </a:p>
        </p:txBody>
      </p:sp>
      <p:sp>
        <p:nvSpPr>
          <p:cNvPr id="253" name="Google Shape;253;p36"/>
          <p:cNvSpPr txBox="1">
            <a:spLocks noGrp="1"/>
          </p:cNvSpPr>
          <p:nvPr>
            <p:ph type="body" idx="4294967295"/>
          </p:nvPr>
        </p:nvSpPr>
        <p:spPr>
          <a:xfrm>
            <a:off x="471900" y="876300"/>
            <a:ext cx="8222100" cy="13335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SzPts val="1800"/>
              <a:buChar char="●"/>
            </a:pPr>
            <a:r>
              <a:rPr lang="en"/>
              <a:t>Training Data Augmentation (TDA) [6]</a:t>
            </a:r>
            <a:endParaRPr/>
          </a:p>
          <a:p>
            <a:pPr marL="914400" lvl="1" indent="-317500" algn="l" rtl="0">
              <a:lnSpc>
                <a:spcPct val="115000"/>
              </a:lnSpc>
              <a:spcBef>
                <a:spcPts val="0"/>
              </a:spcBef>
              <a:spcAft>
                <a:spcPts val="0"/>
              </a:spcAft>
              <a:buSzPts val="1400"/>
              <a:buChar char="○"/>
            </a:pPr>
            <a:r>
              <a:rPr lang="en"/>
              <a:t>For each labeled pair (X, Y) in training set:</a:t>
            </a:r>
            <a:endParaRPr/>
          </a:p>
          <a:p>
            <a:pPr marL="1371600" lvl="2" indent="-317500" algn="l" rtl="0">
              <a:lnSpc>
                <a:spcPct val="115000"/>
              </a:lnSpc>
              <a:spcBef>
                <a:spcPts val="0"/>
              </a:spcBef>
              <a:spcAft>
                <a:spcPts val="0"/>
              </a:spcAft>
              <a:buSzPts val="1400"/>
              <a:buChar char="■"/>
            </a:pPr>
            <a:r>
              <a:rPr lang="en"/>
              <a:t>Generate k augmentations (X’, Y)</a:t>
            </a:r>
            <a:endParaRPr/>
          </a:p>
          <a:p>
            <a:pPr marL="1371600" lvl="2" indent="-317500" algn="l" rtl="0">
              <a:lnSpc>
                <a:spcPct val="115000"/>
              </a:lnSpc>
              <a:spcBef>
                <a:spcPts val="0"/>
              </a:spcBef>
              <a:spcAft>
                <a:spcPts val="0"/>
              </a:spcAft>
              <a:buSzPts val="1400"/>
              <a:buChar char="■"/>
            </a:pPr>
            <a:r>
              <a:rPr lang="en"/>
              <a:t>Add these to the dataset</a:t>
            </a:r>
            <a:endParaRPr/>
          </a:p>
          <a:p>
            <a:pPr marL="914400" lvl="1" indent="-317500" algn="l" rtl="0">
              <a:lnSpc>
                <a:spcPct val="115000"/>
              </a:lnSpc>
              <a:spcBef>
                <a:spcPts val="0"/>
              </a:spcBef>
              <a:spcAft>
                <a:spcPts val="0"/>
              </a:spcAft>
              <a:buSzPts val="1400"/>
              <a:buChar char="○"/>
            </a:pPr>
            <a:r>
              <a:rPr lang="en"/>
              <a:t>Augmentation method: Back-translation (ex. English -&gt; German -&gt; English)</a:t>
            </a:r>
            <a:endParaRPr/>
          </a:p>
        </p:txBody>
      </p:sp>
      <p:sp>
        <p:nvSpPr>
          <p:cNvPr id="254" name="Google Shape;254;p3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23</a:t>
            </a:fld>
            <a:endParaRPr/>
          </a:p>
        </p:txBody>
      </p:sp>
      <p:sp>
        <p:nvSpPr>
          <p:cNvPr id="255" name="Google Shape;255;p36"/>
          <p:cNvSpPr txBox="1"/>
          <p:nvPr/>
        </p:nvSpPr>
        <p:spPr>
          <a:xfrm>
            <a:off x="471900" y="2400300"/>
            <a:ext cx="7750200" cy="857400"/>
          </a:xfrm>
          <a:prstGeom prst="rect">
            <a:avLst/>
          </a:prstGeom>
          <a:noFill/>
          <a:ln>
            <a:noFill/>
          </a:ln>
        </p:spPr>
        <p:txBody>
          <a:bodyPr spcFirstLastPara="1" wrap="square" lIns="91425" tIns="91425" rIns="91425" bIns="91425" anchor="t" anchorCtr="0">
            <a:noAutofit/>
          </a:bodyPr>
          <a:lstStyle/>
          <a:p>
            <a:pPr marL="457200" marR="0" lvl="0" indent="-342900" algn="l" rtl="0">
              <a:lnSpc>
                <a:spcPct val="115000"/>
              </a:lnSpc>
              <a:spcBef>
                <a:spcPts val="0"/>
              </a:spcBef>
              <a:spcAft>
                <a:spcPts val="0"/>
              </a:spcAft>
              <a:buClr>
                <a:srgbClr val="434343"/>
              </a:buClr>
              <a:buSzPts val="1800"/>
              <a:buFont typeface="Proxima Nova"/>
              <a:buChar char="●"/>
            </a:pPr>
            <a:r>
              <a:rPr lang="en" sz="1800">
                <a:solidFill>
                  <a:srgbClr val="434343"/>
                </a:solidFill>
                <a:latin typeface="Proxima Nova"/>
                <a:ea typeface="Proxima Nova"/>
                <a:cs typeface="Proxima Nova"/>
                <a:sym typeface="Proxima Nova"/>
              </a:rPr>
              <a:t>Un</a:t>
            </a:r>
            <a:r>
              <a:rPr lang="en" sz="1800" b="0" i="0" u="none" strike="noStrike" cap="none">
                <a:solidFill>
                  <a:srgbClr val="434343"/>
                </a:solidFill>
                <a:latin typeface="Proxima Nova"/>
                <a:ea typeface="Proxima Nova"/>
                <a:cs typeface="Proxima Nova"/>
                <a:sym typeface="Proxima Nova"/>
              </a:rPr>
              <a:t>supervised Data Augmentation (U</a:t>
            </a:r>
            <a:r>
              <a:rPr lang="en" sz="1800">
                <a:solidFill>
                  <a:srgbClr val="434343"/>
                </a:solidFill>
                <a:latin typeface="Proxima Nova"/>
                <a:ea typeface="Proxima Nova"/>
                <a:cs typeface="Proxima Nova"/>
                <a:sym typeface="Proxima Nova"/>
              </a:rPr>
              <a:t>DA) [7]</a:t>
            </a:r>
            <a:endParaRPr sz="1800" b="0" i="0" u="none" strike="noStrike" cap="none">
              <a:solidFill>
                <a:srgbClr val="434343"/>
              </a:solidFill>
              <a:latin typeface="Proxima Nova"/>
              <a:ea typeface="Proxima Nova"/>
              <a:cs typeface="Proxima Nova"/>
              <a:sym typeface="Proxima Nova"/>
            </a:endParaRPr>
          </a:p>
        </p:txBody>
      </p:sp>
      <p:pic>
        <p:nvPicPr>
          <p:cNvPr id="256" name="Google Shape;256;p36"/>
          <p:cNvPicPr preferRelativeResize="0"/>
          <p:nvPr/>
        </p:nvPicPr>
        <p:blipFill rotWithShape="1">
          <a:blip r:embed="rId3">
            <a:alphaModFix/>
          </a:blip>
          <a:srcRect/>
          <a:stretch/>
        </p:blipFill>
        <p:spPr>
          <a:xfrm>
            <a:off x="1982199" y="2860150"/>
            <a:ext cx="5201500" cy="21336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3">
                                            <p:txEl>
                                              <p:pRg st="0" end="0"/>
                                            </p:txEl>
                                          </p:spTgt>
                                        </p:tgtEl>
                                        <p:attrNameLst>
                                          <p:attrName>style.visibility</p:attrName>
                                        </p:attrNameLst>
                                      </p:cBhvr>
                                      <p:to>
                                        <p:strVal val="visible"/>
                                      </p:to>
                                    </p:set>
                                    <p:animEffect transition="in" filter="fade">
                                      <p:cBhvr>
                                        <p:cTn id="7" dur="1000"/>
                                        <p:tgtEl>
                                          <p:spTgt spid="25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3">
                                            <p:txEl>
                                              <p:pRg st="1" end="1"/>
                                            </p:txEl>
                                          </p:spTgt>
                                        </p:tgtEl>
                                        <p:attrNameLst>
                                          <p:attrName>style.visibility</p:attrName>
                                        </p:attrNameLst>
                                      </p:cBhvr>
                                      <p:to>
                                        <p:strVal val="visible"/>
                                      </p:to>
                                    </p:set>
                                    <p:animEffect transition="in" filter="fade">
                                      <p:cBhvr>
                                        <p:cTn id="12" dur="1000"/>
                                        <p:tgtEl>
                                          <p:spTgt spid="25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3">
                                            <p:txEl>
                                              <p:pRg st="2" end="2"/>
                                            </p:txEl>
                                          </p:spTgt>
                                        </p:tgtEl>
                                        <p:attrNameLst>
                                          <p:attrName>style.visibility</p:attrName>
                                        </p:attrNameLst>
                                      </p:cBhvr>
                                      <p:to>
                                        <p:strVal val="visible"/>
                                      </p:to>
                                    </p:set>
                                    <p:animEffect transition="in" filter="fade">
                                      <p:cBhvr>
                                        <p:cTn id="17" dur="1000"/>
                                        <p:tgtEl>
                                          <p:spTgt spid="25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3">
                                            <p:txEl>
                                              <p:pRg st="3" end="3"/>
                                            </p:txEl>
                                          </p:spTgt>
                                        </p:tgtEl>
                                        <p:attrNameLst>
                                          <p:attrName>style.visibility</p:attrName>
                                        </p:attrNameLst>
                                      </p:cBhvr>
                                      <p:to>
                                        <p:strVal val="visible"/>
                                      </p:to>
                                    </p:set>
                                    <p:animEffect transition="in" filter="fade">
                                      <p:cBhvr>
                                        <p:cTn id="22" dur="1000"/>
                                        <p:tgtEl>
                                          <p:spTgt spid="25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3">
                                            <p:txEl>
                                              <p:pRg st="4" end="4"/>
                                            </p:txEl>
                                          </p:spTgt>
                                        </p:tgtEl>
                                        <p:attrNameLst>
                                          <p:attrName>style.visibility</p:attrName>
                                        </p:attrNameLst>
                                      </p:cBhvr>
                                      <p:to>
                                        <p:strVal val="visible"/>
                                      </p:to>
                                    </p:set>
                                    <p:animEffect transition="in" filter="fade">
                                      <p:cBhvr>
                                        <p:cTn id="27" dur="1000"/>
                                        <p:tgtEl>
                                          <p:spTgt spid="25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55"/>
                                        </p:tgtEl>
                                        <p:attrNameLst>
                                          <p:attrName>style.visibility</p:attrName>
                                        </p:attrNameLst>
                                      </p:cBhvr>
                                      <p:to>
                                        <p:strVal val="visible"/>
                                      </p:to>
                                    </p:set>
                                    <p:animEffect transition="in" filter="fade">
                                      <p:cBhvr>
                                        <p:cTn id="32" dur="1000"/>
                                        <p:tgtEl>
                                          <p:spTgt spid="25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56"/>
                                        </p:tgtEl>
                                        <p:attrNameLst>
                                          <p:attrName>style.visibility</p:attrName>
                                        </p:attrNameLst>
                                      </p:cBhvr>
                                      <p:to>
                                        <p:strVal val="visible"/>
                                      </p:to>
                                    </p:set>
                                    <p:animEffect transition="in" filter="fade">
                                      <p:cBhvr>
                                        <p:cTn id="37" dur="1000"/>
                                        <p:tgtEl>
                                          <p:spTgt spid="2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Shape 260"/>
        <p:cNvGrpSpPr/>
        <p:nvPr/>
      </p:nvGrpSpPr>
      <p:grpSpPr>
        <a:xfrm>
          <a:off x="0" y="0"/>
          <a:ext cx="0" cy="0"/>
          <a:chOff x="0" y="0"/>
          <a:chExt cx="0" cy="0"/>
        </a:xfrm>
      </p:grpSpPr>
      <p:sp>
        <p:nvSpPr>
          <p:cNvPr id="261" name="Google Shape;261;p3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300"/>
              <a:buNone/>
            </a:pPr>
            <a:r>
              <a:rPr lang="en"/>
              <a:t>Multitask Outperforms Baseline and Data Ablations</a:t>
            </a:r>
            <a:endParaRPr/>
          </a:p>
        </p:txBody>
      </p:sp>
      <p:sp>
        <p:nvSpPr>
          <p:cNvPr id="262" name="Google Shape;262;p3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24</a:t>
            </a:fld>
            <a:endParaRPr/>
          </a:p>
        </p:txBody>
      </p:sp>
      <p:pic>
        <p:nvPicPr>
          <p:cNvPr id="263" name="Google Shape;263;p37"/>
          <p:cNvPicPr preferRelativeResize="0"/>
          <p:nvPr/>
        </p:nvPicPr>
        <p:blipFill>
          <a:blip r:embed="rId3">
            <a:alphaModFix/>
          </a:blip>
          <a:stretch>
            <a:fillRect/>
          </a:stretch>
        </p:blipFill>
        <p:spPr>
          <a:xfrm>
            <a:off x="2198812" y="1296900"/>
            <a:ext cx="4625474" cy="292745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Shape 267"/>
        <p:cNvGrpSpPr/>
        <p:nvPr/>
      </p:nvGrpSpPr>
      <p:grpSpPr>
        <a:xfrm>
          <a:off x="0" y="0"/>
          <a:ext cx="0" cy="0"/>
          <a:chOff x="0" y="0"/>
          <a:chExt cx="0" cy="0"/>
        </a:xfrm>
      </p:grpSpPr>
      <p:sp>
        <p:nvSpPr>
          <p:cNvPr id="268" name="Google Shape;268;p3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Multitask Learning Boosts Performance of Low-Support Classes</a:t>
            </a:r>
            <a:endParaRPr/>
          </a:p>
        </p:txBody>
      </p:sp>
      <p:sp>
        <p:nvSpPr>
          <p:cNvPr id="269" name="Google Shape;269;p3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25</a:t>
            </a:fld>
            <a:endParaRPr/>
          </a:p>
        </p:txBody>
      </p:sp>
      <p:pic>
        <p:nvPicPr>
          <p:cNvPr id="270" name="Google Shape;270;p38"/>
          <p:cNvPicPr preferRelativeResize="0"/>
          <p:nvPr/>
        </p:nvPicPr>
        <p:blipFill>
          <a:blip r:embed="rId3">
            <a:alphaModFix/>
          </a:blip>
          <a:stretch>
            <a:fillRect/>
          </a:stretch>
        </p:blipFill>
        <p:spPr>
          <a:xfrm>
            <a:off x="2385911" y="1503175"/>
            <a:ext cx="4372176" cy="29392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Shape 274"/>
        <p:cNvGrpSpPr/>
        <p:nvPr/>
      </p:nvGrpSpPr>
      <p:grpSpPr>
        <a:xfrm>
          <a:off x="0" y="0"/>
          <a:ext cx="0" cy="0"/>
          <a:chOff x="0" y="0"/>
          <a:chExt cx="0" cy="0"/>
        </a:xfrm>
      </p:grpSpPr>
      <p:sp>
        <p:nvSpPr>
          <p:cNvPr id="275" name="Google Shape;275;p39"/>
          <p:cNvSpPr txBox="1">
            <a:spLocks noGrp="1"/>
          </p:cNvSpPr>
          <p:nvPr>
            <p:ph type="title"/>
          </p:nvPr>
        </p:nvSpPr>
        <p:spPr>
          <a:xfrm>
            <a:off x="311700" y="1388850"/>
            <a:ext cx="8520600" cy="841800"/>
          </a:xfrm>
          <a:prstGeom prst="rect">
            <a:avLst/>
          </a:prstGeom>
        </p:spPr>
        <p:txBody>
          <a:bodyPr spcFirstLastPara="1" wrap="square" lIns="91425" tIns="91425" rIns="91425" bIns="91425" anchor="ctr" anchorCtr="0">
            <a:normAutofit fontScale="90000"/>
          </a:bodyPr>
          <a:lstStyle/>
          <a:p>
            <a:pPr marL="0" lvl="0" indent="0" algn="ctr" rtl="0">
              <a:spcBef>
                <a:spcPts val="0"/>
              </a:spcBef>
              <a:spcAft>
                <a:spcPts val="0"/>
              </a:spcAft>
              <a:buNone/>
            </a:pPr>
            <a:r>
              <a:rPr lang="en"/>
              <a:t>What can discourse tell us?</a:t>
            </a:r>
            <a:endParaRPr/>
          </a:p>
          <a:p>
            <a:pPr marL="0" lvl="0" indent="0" algn="ctr" rtl="0">
              <a:spcBef>
                <a:spcPts val="0"/>
              </a:spcBef>
              <a:spcAft>
                <a:spcPts val="0"/>
              </a:spcAft>
              <a:buNone/>
            </a:pPr>
            <a:endParaRPr/>
          </a:p>
          <a:p>
            <a:pPr marL="0" lvl="0" indent="0" algn="ctr" rtl="0">
              <a:spcBef>
                <a:spcPts val="0"/>
              </a:spcBef>
              <a:spcAft>
                <a:spcPts val="0"/>
              </a:spcAft>
              <a:buNone/>
            </a:pPr>
            <a:r>
              <a:rPr lang="en" b="1" u="sng"/>
              <a:t>Insight #1</a:t>
            </a:r>
            <a:r>
              <a:rPr lang="en"/>
              <a:t>: Different discourse-types complement each other.</a:t>
            </a:r>
            <a:endParaRPr/>
          </a:p>
        </p:txBody>
      </p:sp>
      <p:pic>
        <p:nvPicPr>
          <p:cNvPr id="276" name="Google Shape;276;p39"/>
          <p:cNvPicPr preferRelativeResize="0"/>
          <p:nvPr/>
        </p:nvPicPr>
        <p:blipFill>
          <a:blip r:embed="rId3">
            <a:alphaModFix/>
          </a:blip>
          <a:stretch>
            <a:fillRect/>
          </a:stretch>
        </p:blipFill>
        <p:spPr>
          <a:xfrm>
            <a:off x="1310100" y="3175925"/>
            <a:ext cx="6523798" cy="17943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40"/>
          <p:cNvSpPr txBox="1">
            <a:spLocks noGrp="1"/>
          </p:cNvSpPr>
          <p:nvPr>
            <p:ph type="title"/>
          </p:nvPr>
        </p:nvSpPr>
        <p:spPr>
          <a:xfrm>
            <a:off x="311700" y="1388850"/>
            <a:ext cx="8520600" cy="841800"/>
          </a:xfrm>
          <a:prstGeom prst="rect">
            <a:avLst/>
          </a:prstGeom>
        </p:spPr>
        <p:txBody>
          <a:bodyPr spcFirstLastPara="1" wrap="square" lIns="91425" tIns="91425" rIns="91425" bIns="91425" anchor="ctr" anchorCtr="0">
            <a:normAutofit fontScale="90000"/>
          </a:bodyPr>
          <a:lstStyle/>
          <a:p>
            <a:pPr marL="0" lvl="0" indent="0" algn="ctr" rtl="0">
              <a:spcBef>
                <a:spcPts val="0"/>
              </a:spcBef>
              <a:spcAft>
                <a:spcPts val="0"/>
              </a:spcAft>
              <a:buNone/>
            </a:pPr>
            <a:r>
              <a:rPr lang="en"/>
              <a:t>What can discourse tell us?</a:t>
            </a:r>
            <a:endParaRPr/>
          </a:p>
          <a:p>
            <a:pPr marL="0" lvl="0" indent="0" algn="ctr" rtl="0">
              <a:spcBef>
                <a:spcPts val="0"/>
              </a:spcBef>
              <a:spcAft>
                <a:spcPts val="0"/>
              </a:spcAft>
              <a:buNone/>
            </a:pPr>
            <a:endParaRPr/>
          </a:p>
          <a:p>
            <a:pPr marL="0" lvl="0" indent="0" algn="ctr" rtl="0">
              <a:spcBef>
                <a:spcPts val="0"/>
              </a:spcBef>
              <a:spcAft>
                <a:spcPts val="0"/>
              </a:spcAft>
              <a:buNone/>
            </a:pPr>
            <a:r>
              <a:rPr lang="en" b="1" u="sng"/>
              <a:t>Insight #2</a:t>
            </a:r>
            <a:r>
              <a:rPr lang="en"/>
              <a:t>: Discourse Helps Us Structure Text</a:t>
            </a:r>
            <a:endParaRPr/>
          </a:p>
        </p:txBody>
      </p:sp>
      <p:pic>
        <p:nvPicPr>
          <p:cNvPr id="282" name="Google Shape;282;p40"/>
          <p:cNvPicPr preferRelativeResize="0"/>
          <p:nvPr/>
        </p:nvPicPr>
        <p:blipFill>
          <a:blip r:embed="rId3">
            <a:alphaModFix/>
          </a:blip>
          <a:stretch>
            <a:fillRect/>
          </a:stretch>
        </p:blipFill>
        <p:spPr>
          <a:xfrm>
            <a:off x="1045150" y="3064348"/>
            <a:ext cx="7053701" cy="183140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86"/>
        <p:cNvGrpSpPr/>
        <p:nvPr/>
      </p:nvGrpSpPr>
      <p:grpSpPr>
        <a:xfrm>
          <a:off x="0" y="0"/>
          <a:ext cx="0" cy="0"/>
          <a:chOff x="0" y="0"/>
          <a:chExt cx="0" cy="0"/>
        </a:xfrm>
      </p:grpSpPr>
      <p:sp>
        <p:nvSpPr>
          <p:cNvPr id="287" name="Google Shape;287;p41"/>
          <p:cNvSpPr/>
          <p:nvPr/>
        </p:nvSpPr>
        <p:spPr>
          <a:xfrm>
            <a:off x="4442530" y="1146633"/>
            <a:ext cx="363900" cy="405000"/>
          </a:xfrm>
          <a:prstGeom prst="downArrow">
            <a:avLst>
              <a:gd name="adj1" fmla="val 50000"/>
              <a:gd name="adj2" fmla="val 50000"/>
            </a:avLst>
          </a:prstGeom>
          <a:solidFill>
            <a:srgbClr val="C9DAF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88" name="Google Shape;288;p41"/>
          <p:cNvSpPr txBox="1"/>
          <p:nvPr/>
        </p:nvSpPr>
        <p:spPr>
          <a:xfrm>
            <a:off x="551875" y="1550812"/>
            <a:ext cx="2407200" cy="66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700"/>
              <a:buFont typeface="Arial"/>
              <a:buNone/>
            </a:pPr>
            <a:r>
              <a:rPr lang="en" sz="1900" b="1" i="1"/>
              <a:t>Step 1:</a:t>
            </a:r>
            <a:endParaRPr sz="1900" b="1" i="1" u="none" strike="noStrike" cap="none">
              <a:solidFill>
                <a:srgbClr val="000000"/>
              </a:solidFill>
              <a:latin typeface="Arial"/>
              <a:ea typeface="Arial"/>
              <a:cs typeface="Arial"/>
              <a:sym typeface="Arial"/>
            </a:endParaRPr>
          </a:p>
          <a:p>
            <a:pPr marL="457200" marR="0" lvl="0" indent="0" algn="l" rtl="0">
              <a:lnSpc>
                <a:spcPct val="100000"/>
              </a:lnSpc>
              <a:spcBef>
                <a:spcPts val="0"/>
              </a:spcBef>
              <a:spcAft>
                <a:spcPts val="0"/>
              </a:spcAft>
              <a:buClr>
                <a:srgbClr val="000000"/>
              </a:buClr>
              <a:buSzPts val="1600"/>
              <a:buFont typeface="Arial"/>
              <a:buNone/>
            </a:pPr>
            <a:r>
              <a:rPr lang="en" sz="1700" b="0" i="0" u="none" strike="noStrike" cap="none">
                <a:solidFill>
                  <a:srgbClr val="000000"/>
                </a:solidFill>
                <a:latin typeface="Arial"/>
                <a:ea typeface="Arial"/>
                <a:cs typeface="Arial"/>
                <a:sym typeface="Arial"/>
              </a:rPr>
              <a:t>Given data,</a:t>
            </a:r>
            <a:endParaRPr sz="1700" b="0" i="0" u="none" strike="noStrike" cap="none">
              <a:solidFill>
                <a:srgbClr val="000000"/>
              </a:solidFill>
              <a:latin typeface="Arial"/>
              <a:ea typeface="Arial"/>
              <a:cs typeface="Arial"/>
              <a:sym typeface="Arial"/>
            </a:endParaRPr>
          </a:p>
          <a:p>
            <a:pPr marL="457200" marR="0" lvl="0" indent="0" algn="l" rtl="0">
              <a:lnSpc>
                <a:spcPct val="100000"/>
              </a:lnSpc>
              <a:spcBef>
                <a:spcPts val="0"/>
              </a:spcBef>
              <a:spcAft>
                <a:spcPts val="0"/>
              </a:spcAft>
              <a:buClr>
                <a:srgbClr val="000000"/>
              </a:buClr>
              <a:buSzPts val="1600"/>
              <a:buFont typeface="Arial"/>
              <a:buNone/>
            </a:pPr>
            <a:r>
              <a:rPr lang="en" sz="1700" b="0" i="0" u="none" strike="noStrike" cap="none">
                <a:solidFill>
                  <a:srgbClr val="000000"/>
                </a:solidFill>
                <a:latin typeface="Arial"/>
                <a:ea typeface="Arial"/>
                <a:cs typeface="Arial"/>
                <a:sym typeface="Arial"/>
              </a:rPr>
              <a:t>propose article </a:t>
            </a:r>
            <a:endParaRPr sz="1700" b="0" i="0" u="none" strike="noStrike" cap="none">
              <a:solidFill>
                <a:srgbClr val="000000"/>
              </a:solidFill>
              <a:latin typeface="Arial"/>
              <a:ea typeface="Arial"/>
              <a:cs typeface="Arial"/>
              <a:sym typeface="Arial"/>
            </a:endParaRPr>
          </a:p>
          <a:p>
            <a:pPr marL="457200" marR="0" lvl="0" indent="0" algn="l" rtl="0">
              <a:lnSpc>
                <a:spcPct val="100000"/>
              </a:lnSpc>
              <a:spcBef>
                <a:spcPts val="0"/>
              </a:spcBef>
              <a:spcAft>
                <a:spcPts val="0"/>
              </a:spcAft>
              <a:buClr>
                <a:srgbClr val="000000"/>
              </a:buClr>
              <a:buSzPts val="1600"/>
              <a:buFont typeface="Arial"/>
              <a:buNone/>
            </a:pPr>
            <a:r>
              <a:rPr lang="en" sz="1700" b="0" i="0" u="none" strike="noStrike" cap="none">
                <a:solidFill>
                  <a:srgbClr val="000000"/>
                </a:solidFill>
                <a:latin typeface="Arial"/>
                <a:ea typeface="Arial"/>
                <a:cs typeface="Arial"/>
                <a:sym typeface="Arial"/>
              </a:rPr>
              <a:t>structure</a:t>
            </a:r>
            <a:endParaRPr sz="1700" b="0" i="0" u="none" strike="noStrike" cap="none">
              <a:solidFill>
                <a:srgbClr val="000000"/>
              </a:solidFill>
              <a:latin typeface="Arial"/>
              <a:ea typeface="Arial"/>
              <a:cs typeface="Arial"/>
              <a:sym typeface="Arial"/>
            </a:endParaRPr>
          </a:p>
        </p:txBody>
      </p:sp>
      <p:sp>
        <p:nvSpPr>
          <p:cNvPr id="289" name="Google Shape;289;p41"/>
          <p:cNvSpPr/>
          <p:nvPr/>
        </p:nvSpPr>
        <p:spPr>
          <a:xfrm>
            <a:off x="3198047" y="1557634"/>
            <a:ext cx="3011400" cy="3176400"/>
          </a:xfrm>
          <a:prstGeom prst="rect">
            <a:avLst/>
          </a:prstGeom>
          <a:solidFill>
            <a:srgbClr val="FFF2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90" name="Google Shape;290;p41"/>
          <p:cNvSpPr txBox="1"/>
          <p:nvPr/>
        </p:nvSpPr>
        <p:spPr>
          <a:xfrm>
            <a:off x="3264070" y="1593276"/>
            <a:ext cx="2722800" cy="510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700"/>
              <a:buFont typeface="Arial"/>
              <a:buNone/>
            </a:pPr>
            <a:r>
              <a:rPr lang="en" sz="1700" b="0" i="0" u="sng" strike="noStrike" cap="none">
                <a:solidFill>
                  <a:srgbClr val="000000"/>
                </a:solidFill>
                <a:latin typeface="Arial"/>
                <a:ea typeface="Arial"/>
                <a:cs typeface="Arial"/>
                <a:sym typeface="Arial"/>
              </a:rPr>
              <a:t>HEADLINE</a:t>
            </a:r>
            <a:endParaRPr sz="1700" b="0" i="0" u="sng" strike="noStrike" cap="none">
              <a:solidFill>
                <a:srgbClr val="000000"/>
              </a:solidFill>
              <a:latin typeface="Arial"/>
              <a:ea typeface="Arial"/>
              <a:cs typeface="Arial"/>
              <a:sym typeface="Arial"/>
            </a:endParaRPr>
          </a:p>
        </p:txBody>
      </p:sp>
      <p:sp>
        <p:nvSpPr>
          <p:cNvPr id="291" name="Google Shape;291;p41"/>
          <p:cNvSpPr/>
          <p:nvPr/>
        </p:nvSpPr>
        <p:spPr>
          <a:xfrm>
            <a:off x="3304743" y="1981443"/>
            <a:ext cx="2722800" cy="609000"/>
          </a:xfrm>
          <a:prstGeom prst="rect">
            <a:avLst/>
          </a:prstGeom>
          <a:solidFill>
            <a:srgbClr val="F6B26B"/>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600"/>
              <a:buFont typeface="Arial"/>
              <a:buNone/>
            </a:pPr>
            <a:r>
              <a:rPr lang="en" sz="1600" b="0" i="1" u="none" strike="noStrike" cap="none">
                <a:solidFill>
                  <a:srgbClr val="000000"/>
                </a:solidFill>
                <a:latin typeface="Arial"/>
                <a:ea typeface="Arial"/>
                <a:cs typeface="Arial"/>
                <a:sym typeface="Arial"/>
              </a:rPr>
              <a:t>Graf 1:</a:t>
            </a:r>
            <a:r>
              <a:rPr lang="en" sz="1600" b="0" i="0" u="none" strike="noStrike" cap="none">
                <a:solidFill>
                  <a:srgbClr val="000000"/>
                </a:solidFill>
                <a:latin typeface="Arial"/>
                <a:ea typeface="Arial"/>
                <a:cs typeface="Arial"/>
                <a:sym typeface="Arial"/>
              </a:rPr>
              <a:t> Main Event</a:t>
            </a:r>
            <a:endParaRPr sz="1600" b="0" i="0" u="none" strike="noStrike" cap="none">
              <a:solidFill>
                <a:srgbClr val="000000"/>
              </a:solidFill>
              <a:latin typeface="Arial"/>
              <a:ea typeface="Arial"/>
              <a:cs typeface="Arial"/>
              <a:sym typeface="Arial"/>
            </a:endParaRPr>
          </a:p>
        </p:txBody>
      </p:sp>
      <p:sp>
        <p:nvSpPr>
          <p:cNvPr id="292" name="Google Shape;292;p41"/>
          <p:cNvSpPr/>
          <p:nvPr/>
        </p:nvSpPr>
        <p:spPr>
          <a:xfrm>
            <a:off x="3304743" y="3245780"/>
            <a:ext cx="2722800" cy="934200"/>
          </a:xfrm>
          <a:prstGeom prst="rect">
            <a:avLst/>
          </a:prstGeom>
          <a:solidFill>
            <a:srgbClr val="D9EAD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500"/>
              <a:buFont typeface="Arial"/>
              <a:buNone/>
            </a:pPr>
            <a:r>
              <a:rPr lang="en" sz="1500" b="0" i="1" u="none" strike="noStrike" cap="none">
                <a:solidFill>
                  <a:srgbClr val="000000"/>
                </a:solidFill>
                <a:latin typeface="Arial"/>
                <a:ea typeface="Arial"/>
                <a:cs typeface="Arial"/>
                <a:sym typeface="Arial"/>
              </a:rPr>
              <a:t>Graf 3: </a:t>
            </a:r>
            <a:r>
              <a:rPr lang="en" sz="1500" b="0" i="0" u="none" strike="noStrike" cap="none">
                <a:solidFill>
                  <a:srgbClr val="000000"/>
                </a:solidFill>
                <a:latin typeface="Arial"/>
                <a:ea typeface="Arial"/>
                <a:cs typeface="Arial"/>
                <a:sym typeface="Arial"/>
              </a:rPr>
              <a:t>Expectation, Quote</a:t>
            </a:r>
            <a:endParaRPr sz="1500" b="0" i="0" u="none" strike="noStrike" cap="none">
              <a:solidFill>
                <a:srgbClr val="000000"/>
              </a:solidFill>
              <a:latin typeface="Arial"/>
              <a:ea typeface="Arial"/>
              <a:cs typeface="Arial"/>
              <a:sym typeface="Arial"/>
            </a:endParaRPr>
          </a:p>
        </p:txBody>
      </p:sp>
      <p:sp>
        <p:nvSpPr>
          <p:cNvPr id="293" name="Google Shape;293;p41"/>
          <p:cNvSpPr/>
          <p:nvPr/>
        </p:nvSpPr>
        <p:spPr>
          <a:xfrm>
            <a:off x="3311123" y="4238675"/>
            <a:ext cx="2722800" cy="416100"/>
          </a:xfrm>
          <a:prstGeom prst="rect">
            <a:avLst/>
          </a:prstGeom>
          <a:solidFill>
            <a:srgbClr val="D9D2E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500"/>
              <a:buFont typeface="Arial"/>
              <a:buNone/>
            </a:pPr>
            <a:r>
              <a:rPr lang="en" sz="1500" b="0" i="1" u="none" strike="noStrike" cap="none">
                <a:solidFill>
                  <a:srgbClr val="000000"/>
                </a:solidFill>
                <a:latin typeface="Arial"/>
                <a:ea typeface="Arial"/>
                <a:cs typeface="Arial"/>
                <a:sym typeface="Arial"/>
              </a:rPr>
              <a:t>Graf 4:</a:t>
            </a:r>
            <a:r>
              <a:rPr lang="en" sz="1500" b="0" i="0" u="none" strike="noStrike" cap="none">
                <a:solidFill>
                  <a:srgbClr val="000000"/>
                </a:solidFill>
                <a:latin typeface="Arial"/>
                <a:ea typeface="Arial"/>
                <a:cs typeface="Arial"/>
                <a:sym typeface="Arial"/>
              </a:rPr>
              <a:t> History</a:t>
            </a:r>
            <a:endParaRPr sz="1500" b="0" i="0" u="none" strike="noStrike" cap="none">
              <a:solidFill>
                <a:srgbClr val="000000"/>
              </a:solidFill>
              <a:latin typeface="Arial"/>
              <a:ea typeface="Arial"/>
              <a:cs typeface="Arial"/>
              <a:sym typeface="Arial"/>
            </a:endParaRPr>
          </a:p>
        </p:txBody>
      </p:sp>
      <p:sp>
        <p:nvSpPr>
          <p:cNvPr id="294" name="Google Shape;294;p41"/>
          <p:cNvSpPr/>
          <p:nvPr/>
        </p:nvSpPr>
        <p:spPr>
          <a:xfrm>
            <a:off x="3304743" y="2668996"/>
            <a:ext cx="2722800" cy="510300"/>
          </a:xfrm>
          <a:prstGeom prst="rect">
            <a:avLst/>
          </a:prstGeom>
          <a:solidFill>
            <a:srgbClr val="D9D2E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500"/>
              <a:buFont typeface="Arial"/>
              <a:buNone/>
            </a:pPr>
            <a:r>
              <a:rPr lang="en" sz="1500" b="0" i="1" u="none" strike="noStrike" cap="none">
                <a:solidFill>
                  <a:srgbClr val="000000"/>
                </a:solidFill>
                <a:latin typeface="Arial"/>
                <a:ea typeface="Arial"/>
                <a:cs typeface="Arial"/>
                <a:sym typeface="Arial"/>
              </a:rPr>
              <a:t>Graf 2:</a:t>
            </a:r>
            <a:r>
              <a:rPr lang="en" sz="1500" b="0" i="0" u="none" strike="noStrike" cap="none">
                <a:solidFill>
                  <a:srgbClr val="000000"/>
                </a:solidFill>
                <a:latin typeface="Arial"/>
                <a:ea typeface="Arial"/>
                <a:cs typeface="Arial"/>
                <a:sym typeface="Arial"/>
              </a:rPr>
              <a:t> Context</a:t>
            </a:r>
            <a:endParaRPr sz="1500" b="0" i="0" u="none" strike="noStrike" cap="none">
              <a:solidFill>
                <a:srgbClr val="000000"/>
              </a:solidFill>
              <a:latin typeface="Arial"/>
              <a:ea typeface="Arial"/>
              <a:cs typeface="Arial"/>
              <a:sym typeface="Arial"/>
            </a:endParaRPr>
          </a:p>
        </p:txBody>
      </p:sp>
      <p:sp>
        <p:nvSpPr>
          <p:cNvPr id="295" name="Google Shape;295;p41"/>
          <p:cNvSpPr txBox="1"/>
          <p:nvPr/>
        </p:nvSpPr>
        <p:spPr>
          <a:xfrm>
            <a:off x="6403378" y="3070562"/>
            <a:ext cx="1939200" cy="7536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n" sz="1300" b="1" i="1"/>
              <a:t>Step 3:</a:t>
            </a:r>
            <a:endParaRPr sz="1300" b="1" i="1"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600"/>
              <a:buFont typeface="Arial"/>
              <a:buNone/>
            </a:pPr>
            <a:r>
              <a:rPr lang="en" sz="1300" b="0" i="0" u="none" strike="noStrike" cap="none">
                <a:solidFill>
                  <a:srgbClr val="000000"/>
                </a:solidFill>
                <a:latin typeface="Arial"/>
                <a:ea typeface="Arial"/>
                <a:cs typeface="Arial"/>
                <a:sym typeface="Arial"/>
              </a:rPr>
              <a:t>Model for recommending </a:t>
            </a:r>
            <a:endParaRPr sz="13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600"/>
              <a:buFont typeface="Arial"/>
              <a:buNone/>
            </a:pPr>
            <a:r>
              <a:rPr lang="en" sz="1300" b="0" i="0" u="none" strike="noStrike" cap="none">
                <a:solidFill>
                  <a:srgbClr val="000000"/>
                </a:solidFill>
                <a:latin typeface="Arial"/>
                <a:ea typeface="Arial"/>
                <a:cs typeface="Arial"/>
                <a:sym typeface="Arial"/>
              </a:rPr>
              <a:t>sources</a:t>
            </a:r>
            <a:endParaRPr sz="1300" b="0" i="0" u="none" strike="noStrike" cap="none">
              <a:solidFill>
                <a:srgbClr val="000000"/>
              </a:solidFill>
              <a:latin typeface="Arial"/>
              <a:ea typeface="Arial"/>
              <a:cs typeface="Arial"/>
              <a:sym typeface="Arial"/>
            </a:endParaRPr>
          </a:p>
        </p:txBody>
      </p:sp>
      <p:sp>
        <p:nvSpPr>
          <p:cNvPr id="296" name="Google Shape;296;p41"/>
          <p:cNvSpPr txBox="1"/>
          <p:nvPr/>
        </p:nvSpPr>
        <p:spPr>
          <a:xfrm>
            <a:off x="652275" y="3020137"/>
            <a:ext cx="2139000" cy="11409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700"/>
              <a:buFont typeface="Arial"/>
              <a:buNone/>
            </a:pPr>
            <a:r>
              <a:rPr lang="en" b="1" i="1"/>
              <a:t>Step 2:</a:t>
            </a:r>
            <a:endParaRPr sz="1400" b="1" i="1" u="none" strike="noStrike" cap="none">
              <a:solidFill>
                <a:srgbClr val="000000"/>
              </a:solidFill>
              <a:latin typeface="Arial"/>
              <a:ea typeface="Arial"/>
              <a:cs typeface="Arial"/>
              <a:sym typeface="Arial"/>
            </a:endParaRPr>
          </a:p>
          <a:p>
            <a:pPr marL="914400" marR="0" lvl="0" indent="0" algn="l" rtl="0">
              <a:lnSpc>
                <a:spcPct val="100000"/>
              </a:lnSpc>
              <a:spcBef>
                <a:spcPts val="0"/>
              </a:spcBef>
              <a:spcAft>
                <a:spcPts val="0"/>
              </a:spcAft>
              <a:buClr>
                <a:srgbClr val="000000"/>
              </a:buClr>
              <a:buSzPts val="1600"/>
              <a:buFont typeface="Arial"/>
              <a:buNone/>
            </a:pPr>
            <a:r>
              <a:rPr lang="en" sz="1300" b="0" i="0" u="none" strike="noStrike" cap="none">
                <a:solidFill>
                  <a:srgbClr val="000000"/>
                </a:solidFill>
                <a:latin typeface="Arial"/>
                <a:ea typeface="Arial"/>
                <a:cs typeface="Arial"/>
                <a:sym typeface="Arial"/>
              </a:rPr>
              <a:t>Generate background</a:t>
            </a:r>
            <a:endParaRPr sz="1300" b="0" i="0" u="none" strike="noStrike" cap="none">
              <a:solidFill>
                <a:srgbClr val="000000"/>
              </a:solidFill>
              <a:latin typeface="Arial"/>
              <a:ea typeface="Arial"/>
              <a:cs typeface="Arial"/>
              <a:sym typeface="Arial"/>
            </a:endParaRPr>
          </a:p>
          <a:p>
            <a:pPr marL="457200" marR="0" lvl="0" indent="457200" algn="l" rtl="0">
              <a:lnSpc>
                <a:spcPct val="100000"/>
              </a:lnSpc>
              <a:spcBef>
                <a:spcPts val="0"/>
              </a:spcBef>
              <a:spcAft>
                <a:spcPts val="0"/>
              </a:spcAft>
              <a:buClr>
                <a:srgbClr val="000000"/>
              </a:buClr>
              <a:buSzPts val="1600"/>
              <a:buFont typeface="Arial"/>
              <a:buNone/>
            </a:pPr>
            <a:r>
              <a:rPr lang="en" sz="1300" b="0" i="0" u="none" strike="noStrike" cap="none">
                <a:solidFill>
                  <a:srgbClr val="000000"/>
                </a:solidFill>
                <a:latin typeface="Arial"/>
                <a:ea typeface="Arial"/>
                <a:cs typeface="Arial"/>
                <a:sym typeface="Arial"/>
              </a:rPr>
              <a:t>paragraphs</a:t>
            </a:r>
            <a:endParaRPr sz="1300" b="0" i="0" u="none" strike="noStrike" cap="none">
              <a:solidFill>
                <a:srgbClr val="000000"/>
              </a:solidFill>
              <a:latin typeface="Arial"/>
              <a:ea typeface="Arial"/>
              <a:cs typeface="Arial"/>
              <a:sym typeface="Arial"/>
            </a:endParaRPr>
          </a:p>
        </p:txBody>
      </p:sp>
      <p:sp>
        <p:nvSpPr>
          <p:cNvPr id="297" name="Google Shape;297;p41"/>
          <p:cNvSpPr/>
          <p:nvPr/>
        </p:nvSpPr>
        <p:spPr>
          <a:xfrm>
            <a:off x="6304725" y="3395945"/>
            <a:ext cx="79200" cy="546000"/>
          </a:xfrm>
          <a:prstGeom prst="rightBrace">
            <a:avLst>
              <a:gd name="adj1" fmla="val 50000"/>
              <a:gd name="adj2" fmla="val 50000"/>
            </a:avLst>
          </a:prstGeom>
          <a:no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98" name="Google Shape;298;p41"/>
          <p:cNvSpPr/>
          <p:nvPr/>
        </p:nvSpPr>
        <p:spPr>
          <a:xfrm>
            <a:off x="2585575" y="3020489"/>
            <a:ext cx="497988" cy="482707"/>
          </a:xfrm>
          <a:custGeom>
            <a:avLst/>
            <a:gdLst/>
            <a:ahLst/>
            <a:cxnLst/>
            <a:rect l="l" t="t" r="r" b="b"/>
            <a:pathLst>
              <a:path w="14560" h="20985" extrusionOk="0">
                <a:moveTo>
                  <a:pt x="0" y="20891"/>
                </a:moveTo>
                <a:cubicBezTo>
                  <a:pt x="686" y="20891"/>
                  <a:pt x="2849" y="21102"/>
                  <a:pt x="4115" y="20891"/>
                </a:cubicBezTo>
                <a:cubicBezTo>
                  <a:pt x="5381" y="20680"/>
                  <a:pt x="6911" y="21419"/>
                  <a:pt x="7597" y="19625"/>
                </a:cubicBezTo>
                <a:cubicBezTo>
                  <a:pt x="8283" y="17831"/>
                  <a:pt x="8072" y="13189"/>
                  <a:pt x="8230" y="10129"/>
                </a:cubicBezTo>
                <a:cubicBezTo>
                  <a:pt x="8388" y="7069"/>
                  <a:pt x="7491" y="2955"/>
                  <a:pt x="8546" y="1267"/>
                </a:cubicBezTo>
                <a:cubicBezTo>
                  <a:pt x="9601" y="-421"/>
                  <a:pt x="13558" y="211"/>
                  <a:pt x="14560" y="0"/>
                </a:cubicBezTo>
              </a:path>
            </a:pathLst>
          </a:custGeom>
          <a:no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99" name="Google Shape;299;p41"/>
          <p:cNvSpPr/>
          <p:nvPr/>
        </p:nvSpPr>
        <p:spPr>
          <a:xfrm rot="10800000" flipH="1">
            <a:off x="2585575" y="3620469"/>
            <a:ext cx="497988" cy="803568"/>
          </a:xfrm>
          <a:custGeom>
            <a:avLst/>
            <a:gdLst/>
            <a:ahLst/>
            <a:cxnLst/>
            <a:rect l="l" t="t" r="r" b="b"/>
            <a:pathLst>
              <a:path w="14560" h="20985" extrusionOk="0">
                <a:moveTo>
                  <a:pt x="0" y="20891"/>
                </a:moveTo>
                <a:cubicBezTo>
                  <a:pt x="686" y="20891"/>
                  <a:pt x="2849" y="21102"/>
                  <a:pt x="4115" y="20891"/>
                </a:cubicBezTo>
                <a:cubicBezTo>
                  <a:pt x="5381" y="20680"/>
                  <a:pt x="6911" y="21419"/>
                  <a:pt x="7597" y="19625"/>
                </a:cubicBezTo>
                <a:cubicBezTo>
                  <a:pt x="8283" y="17831"/>
                  <a:pt x="8072" y="13189"/>
                  <a:pt x="8230" y="10129"/>
                </a:cubicBezTo>
                <a:cubicBezTo>
                  <a:pt x="8388" y="7069"/>
                  <a:pt x="7491" y="2955"/>
                  <a:pt x="8546" y="1267"/>
                </a:cubicBezTo>
                <a:cubicBezTo>
                  <a:pt x="9601" y="-421"/>
                  <a:pt x="13558" y="211"/>
                  <a:pt x="14560" y="0"/>
                </a:cubicBezTo>
              </a:path>
            </a:pathLst>
          </a:custGeom>
          <a:no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300" name="Google Shape;300;p41"/>
          <p:cNvGrpSpPr/>
          <p:nvPr/>
        </p:nvGrpSpPr>
        <p:grpSpPr>
          <a:xfrm>
            <a:off x="3585520" y="409466"/>
            <a:ext cx="2139111" cy="813813"/>
            <a:chOff x="1222468" y="912935"/>
            <a:chExt cx="1675500" cy="546000"/>
          </a:xfrm>
        </p:grpSpPr>
        <p:sp>
          <p:nvSpPr>
            <p:cNvPr id="301" name="Google Shape;301;p41"/>
            <p:cNvSpPr/>
            <p:nvPr/>
          </p:nvSpPr>
          <p:spPr>
            <a:xfrm>
              <a:off x="1228580" y="912935"/>
              <a:ext cx="1612200" cy="546000"/>
            </a:xfrm>
            <a:prstGeom prst="ellipse">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02" name="Google Shape;302;p41"/>
            <p:cNvSpPr txBox="1"/>
            <p:nvPr/>
          </p:nvSpPr>
          <p:spPr>
            <a:xfrm>
              <a:off x="1222468" y="975932"/>
              <a:ext cx="1675500" cy="447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   { “company”: “Apple Inc.”,</a:t>
              </a:r>
              <a:endParaRPr sz="12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     “datetime”: “01/01/2020”,</a:t>
              </a:r>
              <a:endParaRPr sz="12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      “eps”: “$5” … }</a:t>
              </a:r>
              <a:br>
                <a:rPr lang="en" sz="1200" b="0" i="0" u="none" strike="noStrike" cap="none">
                  <a:solidFill>
                    <a:srgbClr val="000000"/>
                  </a:solidFill>
                  <a:latin typeface="Arial"/>
                  <a:ea typeface="Arial"/>
                  <a:cs typeface="Arial"/>
                  <a:sym typeface="Arial"/>
                </a:rPr>
              </a:br>
              <a:endParaRPr sz="1200" b="0" i="0" u="none" strike="noStrike" cap="none">
                <a:solidFill>
                  <a:srgbClr val="000000"/>
                </a:solidFill>
                <a:latin typeface="Arial"/>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0"/>
                                        </p:tgtEl>
                                        <p:attrNameLst>
                                          <p:attrName>style.visibility</p:attrName>
                                        </p:attrNameLst>
                                      </p:cBhvr>
                                      <p:to>
                                        <p:strVal val="visible"/>
                                      </p:to>
                                    </p:set>
                                    <p:animEffect transition="in" filter="fade">
                                      <p:cBhvr>
                                        <p:cTn id="7" dur="1000"/>
                                        <p:tgtEl>
                                          <p:spTgt spid="3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7"/>
                                        </p:tgtEl>
                                        <p:attrNameLst>
                                          <p:attrName>style.visibility</p:attrName>
                                        </p:attrNameLst>
                                      </p:cBhvr>
                                      <p:to>
                                        <p:strVal val="visible"/>
                                      </p:to>
                                    </p:set>
                                    <p:animEffect transition="in" filter="fade">
                                      <p:cBhvr>
                                        <p:cTn id="12" dur="1000"/>
                                        <p:tgtEl>
                                          <p:spTgt spid="28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1"/>
                                        </p:tgtEl>
                                        <p:attrNameLst>
                                          <p:attrName>style.visibility</p:attrName>
                                        </p:attrNameLst>
                                      </p:cBhvr>
                                      <p:to>
                                        <p:strVal val="visible"/>
                                      </p:to>
                                    </p:set>
                                    <p:animEffect transition="in" filter="fade">
                                      <p:cBhvr>
                                        <p:cTn id="17" dur="1000"/>
                                        <p:tgtEl>
                                          <p:spTgt spid="291"/>
                                        </p:tgtEl>
                                      </p:cBhvr>
                                    </p:animEffect>
                                  </p:childTnLst>
                                </p:cTn>
                              </p:par>
                              <p:par>
                                <p:cTn id="18" presetID="10" presetClass="entr" presetSubtype="0" fill="hold" nodeType="withEffect">
                                  <p:stCondLst>
                                    <p:cond delay="0"/>
                                  </p:stCondLst>
                                  <p:childTnLst>
                                    <p:set>
                                      <p:cBhvr>
                                        <p:cTn id="19" dur="1" fill="hold">
                                          <p:stCondLst>
                                            <p:cond delay="0"/>
                                          </p:stCondLst>
                                        </p:cTn>
                                        <p:tgtEl>
                                          <p:spTgt spid="290"/>
                                        </p:tgtEl>
                                        <p:attrNameLst>
                                          <p:attrName>style.visibility</p:attrName>
                                        </p:attrNameLst>
                                      </p:cBhvr>
                                      <p:to>
                                        <p:strVal val="visible"/>
                                      </p:to>
                                    </p:set>
                                    <p:animEffect transition="in" filter="fade">
                                      <p:cBhvr>
                                        <p:cTn id="20" dur="1000"/>
                                        <p:tgtEl>
                                          <p:spTgt spid="290"/>
                                        </p:tgtEl>
                                      </p:cBhvr>
                                    </p:animEffect>
                                  </p:childTnLst>
                                </p:cTn>
                              </p:par>
                              <p:par>
                                <p:cTn id="21" presetID="10" presetClass="entr" presetSubtype="0" fill="hold" nodeType="withEffect">
                                  <p:stCondLst>
                                    <p:cond delay="0"/>
                                  </p:stCondLst>
                                  <p:childTnLst>
                                    <p:set>
                                      <p:cBhvr>
                                        <p:cTn id="22" dur="1" fill="hold">
                                          <p:stCondLst>
                                            <p:cond delay="0"/>
                                          </p:stCondLst>
                                        </p:cTn>
                                        <p:tgtEl>
                                          <p:spTgt spid="289"/>
                                        </p:tgtEl>
                                        <p:attrNameLst>
                                          <p:attrName>style.visibility</p:attrName>
                                        </p:attrNameLst>
                                      </p:cBhvr>
                                      <p:to>
                                        <p:strVal val="visible"/>
                                      </p:to>
                                    </p:set>
                                    <p:animEffect transition="in" filter="fade">
                                      <p:cBhvr>
                                        <p:cTn id="23" dur="1000"/>
                                        <p:tgtEl>
                                          <p:spTgt spid="289"/>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88"/>
                                        </p:tgtEl>
                                        <p:attrNameLst>
                                          <p:attrName>style.visibility</p:attrName>
                                        </p:attrNameLst>
                                      </p:cBhvr>
                                      <p:to>
                                        <p:strVal val="visible"/>
                                      </p:to>
                                    </p:set>
                                    <p:animEffect transition="in" filter="fade">
                                      <p:cBhvr>
                                        <p:cTn id="28" dur="1000"/>
                                        <p:tgtEl>
                                          <p:spTgt spid="28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92"/>
                                        </p:tgtEl>
                                        <p:attrNameLst>
                                          <p:attrName>style.visibility</p:attrName>
                                        </p:attrNameLst>
                                      </p:cBhvr>
                                      <p:to>
                                        <p:strVal val="visible"/>
                                      </p:to>
                                    </p:set>
                                    <p:animEffect transition="in" filter="fade">
                                      <p:cBhvr>
                                        <p:cTn id="33" dur="1000"/>
                                        <p:tgtEl>
                                          <p:spTgt spid="292"/>
                                        </p:tgtEl>
                                      </p:cBhvr>
                                    </p:animEffect>
                                  </p:childTnLst>
                                </p:cTn>
                              </p:par>
                              <p:par>
                                <p:cTn id="34" presetID="10" presetClass="entr" presetSubtype="0" fill="hold" nodeType="withEffect">
                                  <p:stCondLst>
                                    <p:cond delay="0"/>
                                  </p:stCondLst>
                                  <p:childTnLst>
                                    <p:set>
                                      <p:cBhvr>
                                        <p:cTn id="35" dur="1" fill="hold">
                                          <p:stCondLst>
                                            <p:cond delay="0"/>
                                          </p:stCondLst>
                                        </p:cTn>
                                        <p:tgtEl>
                                          <p:spTgt spid="294"/>
                                        </p:tgtEl>
                                        <p:attrNameLst>
                                          <p:attrName>style.visibility</p:attrName>
                                        </p:attrNameLst>
                                      </p:cBhvr>
                                      <p:to>
                                        <p:strVal val="visible"/>
                                      </p:to>
                                    </p:set>
                                    <p:animEffect transition="in" filter="fade">
                                      <p:cBhvr>
                                        <p:cTn id="36" dur="1000"/>
                                        <p:tgtEl>
                                          <p:spTgt spid="294"/>
                                        </p:tgtEl>
                                      </p:cBhvr>
                                    </p:animEffect>
                                  </p:childTnLst>
                                </p:cTn>
                              </p:par>
                              <p:par>
                                <p:cTn id="37" presetID="10" presetClass="entr" presetSubtype="0" fill="hold" nodeType="withEffect">
                                  <p:stCondLst>
                                    <p:cond delay="0"/>
                                  </p:stCondLst>
                                  <p:childTnLst>
                                    <p:set>
                                      <p:cBhvr>
                                        <p:cTn id="38" dur="1" fill="hold">
                                          <p:stCondLst>
                                            <p:cond delay="0"/>
                                          </p:stCondLst>
                                        </p:cTn>
                                        <p:tgtEl>
                                          <p:spTgt spid="293"/>
                                        </p:tgtEl>
                                        <p:attrNameLst>
                                          <p:attrName>style.visibility</p:attrName>
                                        </p:attrNameLst>
                                      </p:cBhvr>
                                      <p:to>
                                        <p:strVal val="visible"/>
                                      </p:to>
                                    </p:set>
                                    <p:animEffect transition="in" filter="fade">
                                      <p:cBhvr>
                                        <p:cTn id="39" dur="1000"/>
                                        <p:tgtEl>
                                          <p:spTgt spid="293"/>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296"/>
                                        </p:tgtEl>
                                        <p:attrNameLst>
                                          <p:attrName>style.visibility</p:attrName>
                                        </p:attrNameLst>
                                      </p:cBhvr>
                                      <p:to>
                                        <p:strVal val="visible"/>
                                      </p:to>
                                    </p:set>
                                    <p:animEffect transition="in" filter="fade">
                                      <p:cBhvr>
                                        <p:cTn id="44" dur="1000"/>
                                        <p:tgtEl>
                                          <p:spTgt spid="296"/>
                                        </p:tgtEl>
                                      </p:cBhvr>
                                    </p:animEffect>
                                  </p:childTnLst>
                                </p:cTn>
                              </p:par>
                              <p:par>
                                <p:cTn id="45" presetID="10" presetClass="entr" presetSubtype="0" fill="hold" nodeType="withEffect">
                                  <p:stCondLst>
                                    <p:cond delay="0"/>
                                  </p:stCondLst>
                                  <p:childTnLst>
                                    <p:set>
                                      <p:cBhvr>
                                        <p:cTn id="46" dur="1" fill="hold">
                                          <p:stCondLst>
                                            <p:cond delay="0"/>
                                          </p:stCondLst>
                                        </p:cTn>
                                        <p:tgtEl>
                                          <p:spTgt spid="298"/>
                                        </p:tgtEl>
                                        <p:attrNameLst>
                                          <p:attrName>style.visibility</p:attrName>
                                        </p:attrNameLst>
                                      </p:cBhvr>
                                      <p:to>
                                        <p:strVal val="visible"/>
                                      </p:to>
                                    </p:set>
                                    <p:animEffect transition="in" filter="fade">
                                      <p:cBhvr>
                                        <p:cTn id="47" dur="1000"/>
                                        <p:tgtEl>
                                          <p:spTgt spid="298"/>
                                        </p:tgtEl>
                                      </p:cBhvr>
                                    </p:animEffect>
                                  </p:childTnLst>
                                </p:cTn>
                              </p:par>
                              <p:par>
                                <p:cTn id="48" presetID="10" presetClass="entr" presetSubtype="0" fill="hold" nodeType="withEffect">
                                  <p:stCondLst>
                                    <p:cond delay="0"/>
                                  </p:stCondLst>
                                  <p:childTnLst>
                                    <p:set>
                                      <p:cBhvr>
                                        <p:cTn id="49" dur="1" fill="hold">
                                          <p:stCondLst>
                                            <p:cond delay="0"/>
                                          </p:stCondLst>
                                        </p:cTn>
                                        <p:tgtEl>
                                          <p:spTgt spid="299"/>
                                        </p:tgtEl>
                                        <p:attrNameLst>
                                          <p:attrName>style.visibility</p:attrName>
                                        </p:attrNameLst>
                                      </p:cBhvr>
                                      <p:to>
                                        <p:strVal val="visible"/>
                                      </p:to>
                                    </p:set>
                                    <p:animEffect transition="in" filter="fade">
                                      <p:cBhvr>
                                        <p:cTn id="50" dur="1000"/>
                                        <p:tgtEl>
                                          <p:spTgt spid="299"/>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95"/>
                                        </p:tgtEl>
                                        <p:attrNameLst>
                                          <p:attrName>style.visibility</p:attrName>
                                        </p:attrNameLst>
                                      </p:cBhvr>
                                      <p:to>
                                        <p:strVal val="visible"/>
                                      </p:to>
                                    </p:set>
                                    <p:animEffect transition="in" filter="fade">
                                      <p:cBhvr>
                                        <p:cTn id="55" dur="1000"/>
                                        <p:tgtEl>
                                          <p:spTgt spid="295"/>
                                        </p:tgtEl>
                                      </p:cBhvr>
                                    </p:animEffect>
                                  </p:childTnLst>
                                </p:cTn>
                              </p:par>
                              <p:par>
                                <p:cTn id="56" presetID="10" presetClass="entr" presetSubtype="0" fill="hold" nodeType="withEffect">
                                  <p:stCondLst>
                                    <p:cond delay="0"/>
                                  </p:stCondLst>
                                  <p:childTnLst>
                                    <p:set>
                                      <p:cBhvr>
                                        <p:cTn id="57" dur="1" fill="hold">
                                          <p:stCondLst>
                                            <p:cond delay="0"/>
                                          </p:stCondLst>
                                        </p:cTn>
                                        <p:tgtEl>
                                          <p:spTgt spid="297"/>
                                        </p:tgtEl>
                                        <p:attrNameLst>
                                          <p:attrName>style.visibility</p:attrName>
                                        </p:attrNameLst>
                                      </p:cBhvr>
                                      <p:to>
                                        <p:strVal val="visible"/>
                                      </p:to>
                                    </p:set>
                                    <p:animEffect transition="in" filter="fade">
                                      <p:cBhvr>
                                        <p:cTn id="58" dur="1000"/>
                                        <p:tgtEl>
                                          <p:spTgt spid="2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sp>
        <p:nvSpPr>
          <p:cNvPr id="307" name="Google Shape;307;p42"/>
          <p:cNvSpPr txBox="1">
            <a:spLocks noGrp="1"/>
          </p:cNvSpPr>
          <p:nvPr>
            <p:ph type="title"/>
          </p:nvPr>
        </p:nvSpPr>
        <p:spPr>
          <a:xfrm>
            <a:off x="311700" y="445025"/>
            <a:ext cx="8520600" cy="10041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Right now, there’s no good way to control the structure of text generated by language models:</a:t>
            </a:r>
            <a:endParaRPr/>
          </a:p>
        </p:txBody>
      </p:sp>
      <p:pic>
        <p:nvPicPr>
          <p:cNvPr id="308" name="Google Shape;308;p42"/>
          <p:cNvPicPr preferRelativeResize="0"/>
          <p:nvPr/>
        </p:nvPicPr>
        <p:blipFill rotWithShape="1">
          <a:blip r:embed="rId3">
            <a:alphaModFix/>
          </a:blip>
          <a:srcRect l="33701" r="33730"/>
          <a:stretch/>
        </p:blipFill>
        <p:spPr>
          <a:xfrm>
            <a:off x="4934996" y="1562000"/>
            <a:ext cx="3742003" cy="3186726"/>
          </a:xfrm>
          <a:prstGeom prst="rect">
            <a:avLst/>
          </a:prstGeom>
          <a:noFill/>
          <a:ln>
            <a:noFill/>
          </a:ln>
        </p:spPr>
      </p:pic>
      <p:pic>
        <p:nvPicPr>
          <p:cNvPr id="309" name="Google Shape;309;p42"/>
          <p:cNvPicPr preferRelativeResize="0"/>
          <p:nvPr/>
        </p:nvPicPr>
        <p:blipFill rotWithShape="1">
          <a:blip r:embed="rId3">
            <a:alphaModFix/>
          </a:blip>
          <a:srcRect r="66298"/>
          <a:stretch/>
        </p:blipFill>
        <p:spPr>
          <a:xfrm>
            <a:off x="1062675" y="1562000"/>
            <a:ext cx="3872317" cy="3186726"/>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9"/>
                                        </p:tgtEl>
                                        <p:attrNameLst>
                                          <p:attrName>style.visibility</p:attrName>
                                        </p:attrNameLst>
                                      </p:cBhvr>
                                      <p:to>
                                        <p:strVal val="visible"/>
                                      </p:to>
                                    </p:set>
                                    <p:animEffect transition="in" filter="fade">
                                      <p:cBhvr>
                                        <p:cTn id="7" dur="1000"/>
                                        <p:tgtEl>
                                          <p:spTgt spid="30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8"/>
                                        </p:tgtEl>
                                        <p:attrNameLst>
                                          <p:attrName>style.visibility</p:attrName>
                                        </p:attrNameLst>
                                      </p:cBhvr>
                                      <p:to>
                                        <p:strVal val="visible"/>
                                      </p:to>
                                    </p:set>
                                    <p:animEffect transition="in" filter="fade">
                                      <p:cBhvr>
                                        <p:cTn id="12" dur="1000"/>
                                        <p:tgtEl>
                                          <p:spTgt spid="30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Shape 321"/>
        <p:cNvGrpSpPr/>
        <p:nvPr/>
      </p:nvGrpSpPr>
      <p:grpSpPr>
        <a:xfrm>
          <a:off x="0" y="0"/>
          <a:ext cx="0" cy="0"/>
          <a:chOff x="0" y="0"/>
          <a:chExt cx="0" cy="0"/>
        </a:xfrm>
      </p:grpSpPr>
      <p:sp>
        <p:nvSpPr>
          <p:cNvPr id="322" name="Google Shape;322;p4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Controlled Text Generation</a:t>
            </a:r>
            <a:endParaRPr/>
          </a:p>
        </p:txBody>
      </p:sp>
      <p:pic>
        <p:nvPicPr>
          <p:cNvPr id="323" name="Google Shape;323;p44"/>
          <p:cNvPicPr preferRelativeResize="0"/>
          <p:nvPr/>
        </p:nvPicPr>
        <p:blipFill>
          <a:blip r:embed="rId3">
            <a:alphaModFix/>
          </a:blip>
          <a:stretch>
            <a:fillRect/>
          </a:stretch>
        </p:blipFill>
        <p:spPr>
          <a:xfrm>
            <a:off x="1652800" y="2043797"/>
            <a:ext cx="5838401" cy="667350"/>
          </a:xfrm>
          <a:prstGeom prst="rect">
            <a:avLst/>
          </a:prstGeom>
          <a:noFill/>
          <a:ln>
            <a:noFill/>
          </a:ln>
        </p:spPr>
      </p:pic>
      <p:sp>
        <p:nvSpPr>
          <p:cNvPr id="324" name="Google Shape;324;p44"/>
          <p:cNvSpPr txBox="1"/>
          <p:nvPr/>
        </p:nvSpPr>
        <p:spPr>
          <a:xfrm>
            <a:off x="1634175" y="3116050"/>
            <a:ext cx="6177600" cy="1428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X</a:t>
            </a:r>
            <a:r>
              <a:rPr lang="en" sz="1800" baseline="-25000">
                <a:solidFill>
                  <a:schemeClr val="dk2"/>
                </a:solidFill>
              </a:rPr>
              <a:t>i</a:t>
            </a:r>
            <a:r>
              <a:rPr lang="en" sz="1800">
                <a:solidFill>
                  <a:schemeClr val="dk2"/>
                </a:solidFill>
              </a:rPr>
              <a:t> 		is the current word you want to generate</a:t>
            </a:r>
            <a:endParaRPr sz="1800">
              <a:solidFill>
                <a:schemeClr val="dk2"/>
              </a:solidFill>
            </a:endParaRPr>
          </a:p>
          <a:p>
            <a:pPr marL="0" lvl="0" indent="0" algn="l" rtl="0">
              <a:spcBef>
                <a:spcPts val="0"/>
              </a:spcBef>
              <a:spcAft>
                <a:spcPts val="0"/>
              </a:spcAft>
              <a:buNone/>
            </a:pPr>
            <a:r>
              <a:rPr lang="en" sz="1800">
                <a:solidFill>
                  <a:schemeClr val="dk2"/>
                </a:solidFill>
              </a:rPr>
              <a:t>X</a:t>
            </a:r>
            <a:r>
              <a:rPr lang="en" sz="1800" baseline="-25000">
                <a:solidFill>
                  <a:schemeClr val="dk2"/>
                </a:solidFill>
              </a:rPr>
              <a:t>1… i-1</a:t>
            </a:r>
            <a:r>
              <a:rPr lang="en" sz="1800">
                <a:solidFill>
                  <a:schemeClr val="dk2"/>
                </a:solidFill>
              </a:rPr>
              <a:t> 	are the previous words you’ve generated</a:t>
            </a:r>
            <a:endParaRPr sz="1800">
              <a:solidFill>
                <a:schemeClr val="dk2"/>
              </a:solidFill>
            </a:endParaRPr>
          </a:p>
          <a:p>
            <a:pPr marL="0" lvl="0" indent="0" algn="l" rtl="0">
              <a:spcBef>
                <a:spcPts val="0"/>
              </a:spcBef>
              <a:spcAft>
                <a:spcPts val="0"/>
              </a:spcAft>
              <a:buNone/>
            </a:pPr>
            <a:r>
              <a:rPr lang="en" sz="1800">
                <a:solidFill>
                  <a:schemeClr val="dk2"/>
                </a:solidFill>
              </a:rPr>
              <a:t>a 		is the control code</a:t>
            </a:r>
            <a:endParaRPr sz="1800">
              <a:solidFill>
                <a:schemeClr val="dk2"/>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4">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24">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2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Shape 328"/>
        <p:cNvGrpSpPr/>
        <p:nvPr/>
      </p:nvGrpSpPr>
      <p:grpSpPr>
        <a:xfrm>
          <a:off x="0" y="0"/>
          <a:ext cx="0" cy="0"/>
          <a:chOff x="0" y="0"/>
          <a:chExt cx="0" cy="0"/>
        </a:xfrm>
      </p:grpSpPr>
      <p:sp>
        <p:nvSpPr>
          <p:cNvPr id="329" name="Google Shape;329;p4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Controlled Text Generation</a:t>
            </a:r>
            <a:endParaRPr/>
          </a:p>
        </p:txBody>
      </p:sp>
      <p:pic>
        <p:nvPicPr>
          <p:cNvPr id="330" name="Google Shape;330;p45"/>
          <p:cNvPicPr preferRelativeResize="0"/>
          <p:nvPr/>
        </p:nvPicPr>
        <p:blipFill>
          <a:blip r:embed="rId3">
            <a:alphaModFix/>
          </a:blip>
          <a:stretch>
            <a:fillRect/>
          </a:stretch>
        </p:blipFill>
        <p:spPr>
          <a:xfrm>
            <a:off x="152400" y="1306200"/>
            <a:ext cx="8839204" cy="2999632"/>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Shape 334"/>
        <p:cNvGrpSpPr/>
        <p:nvPr/>
      </p:nvGrpSpPr>
      <p:grpSpPr>
        <a:xfrm>
          <a:off x="0" y="0"/>
          <a:ext cx="0" cy="0"/>
          <a:chOff x="0" y="0"/>
          <a:chExt cx="0" cy="0"/>
        </a:xfrm>
      </p:grpSpPr>
      <p:sp>
        <p:nvSpPr>
          <p:cNvPr id="335" name="Google Shape;335;p4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Sequentially Controlled Sequence Generation</a:t>
            </a:r>
            <a:endParaRPr/>
          </a:p>
        </p:txBody>
      </p:sp>
      <p:sp>
        <p:nvSpPr>
          <p:cNvPr id="336" name="Google Shape;336;p4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a:t>Can we control the structure of text using a sequence of tags?</a:t>
            </a:r>
            <a:endParaRPr/>
          </a:p>
        </p:txBody>
      </p:sp>
      <p:sp>
        <p:nvSpPr>
          <p:cNvPr id="337" name="Google Shape;337;p46"/>
          <p:cNvSpPr txBox="1"/>
          <p:nvPr/>
        </p:nvSpPr>
        <p:spPr>
          <a:xfrm>
            <a:off x="148548" y="1988540"/>
            <a:ext cx="8520600" cy="7092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1200"/>
              </a:spcAft>
              <a:buNone/>
            </a:pPr>
            <a:r>
              <a:rPr lang="en" sz="1800">
                <a:solidFill>
                  <a:srgbClr val="595959"/>
                </a:solidFill>
              </a:rPr>
              <a:t>Instead of:                                                                           </a:t>
            </a:r>
            <a:endParaRPr sz="1800" i="1">
              <a:solidFill>
                <a:srgbClr val="595959"/>
              </a:solidFill>
            </a:endParaRPr>
          </a:p>
        </p:txBody>
      </p:sp>
      <p:pic>
        <p:nvPicPr>
          <p:cNvPr id="338" name="Google Shape;338;p46"/>
          <p:cNvPicPr preferRelativeResize="0"/>
          <p:nvPr/>
        </p:nvPicPr>
        <p:blipFill rotWithShape="1">
          <a:blip r:embed="rId3">
            <a:alphaModFix/>
          </a:blip>
          <a:srcRect/>
          <a:stretch/>
        </p:blipFill>
        <p:spPr>
          <a:xfrm>
            <a:off x="2151224" y="1783473"/>
            <a:ext cx="2787960" cy="891875"/>
          </a:xfrm>
          <a:prstGeom prst="rect">
            <a:avLst/>
          </a:prstGeom>
          <a:noFill/>
          <a:ln>
            <a:noFill/>
          </a:ln>
        </p:spPr>
      </p:pic>
      <p:sp>
        <p:nvSpPr>
          <p:cNvPr id="339" name="Google Shape;339;p46"/>
          <p:cNvSpPr txBox="1"/>
          <p:nvPr/>
        </p:nvSpPr>
        <p:spPr>
          <a:xfrm>
            <a:off x="148548" y="2817671"/>
            <a:ext cx="8520600" cy="7092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1200"/>
              </a:spcAft>
              <a:buNone/>
            </a:pPr>
            <a:r>
              <a:rPr lang="en" sz="1800">
                <a:solidFill>
                  <a:srgbClr val="595959"/>
                </a:solidFill>
              </a:rPr>
              <a:t>We have:</a:t>
            </a:r>
            <a:endParaRPr sz="1800">
              <a:solidFill>
                <a:srgbClr val="595959"/>
              </a:solidFill>
            </a:endParaRPr>
          </a:p>
        </p:txBody>
      </p:sp>
      <mc:AlternateContent xmlns:mc="http://schemas.openxmlformats.org/markup-compatibility/2006">
        <mc:Choice xmlns:a14="http://schemas.microsoft.com/office/drawing/2010/main" Requires="a14">
          <p:sp>
            <p:nvSpPr>
              <p:cNvPr id="340" name="Google Shape;340;p46"/>
              <p:cNvSpPr txBox="1"/>
              <p:nvPr/>
            </p:nvSpPr>
            <p:spPr>
              <a:xfrm>
                <a:off x="300948" y="3785300"/>
                <a:ext cx="7853100" cy="12930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700"/>
                  <a:buFont typeface="Arial"/>
                  <a:buNone/>
                </a:pPr>
                <a:r>
                  <a:rPr lang="en" sz="1200" b="0" i="0" u="none" strike="noStrike" cap="none">
                    <a:solidFill>
                      <a:srgbClr val="000000"/>
                    </a:solidFill>
                    <a:latin typeface="Arial"/>
                    <a:ea typeface="Arial"/>
                    <a:cs typeface="Arial"/>
                    <a:sym typeface="Arial"/>
                  </a:rPr>
                  <a:t>Where:</a:t>
                </a:r>
                <a:endParaRPr sz="1200" b="0" i="0" u="none" strike="noStrike" cap="none">
                  <a:solidFill>
                    <a:srgbClr val="000000"/>
                  </a:solidFill>
                  <a:latin typeface="Arial"/>
                  <a:ea typeface="Arial"/>
                  <a:cs typeface="Arial"/>
                  <a:sym typeface="Arial"/>
                </a:endParaRPr>
              </a:p>
              <a:p>
                <a:pPr marL="457200" marR="0" lvl="0" indent="-304800" algn="l" rtl="0">
                  <a:lnSpc>
                    <a:spcPct val="100000"/>
                  </a:lnSpc>
                  <a:spcBef>
                    <a:spcPts val="0"/>
                  </a:spcBef>
                  <a:spcAft>
                    <a:spcPts val="0"/>
                  </a:spcAft>
                  <a:buClr>
                    <a:srgbClr val="000000"/>
                  </a:buClr>
                  <a:buSzPts val="1200"/>
                  <a:buFont typeface="Arial"/>
                  <a:buChar char="●"/>
                </a:pPr>
                <a14:m>
                  <m:oMath xmlns:m="http://schemas.openxmlformats.org/officeDocument/2006/math">
                    <m:acc>
                      <m:accPr>
                        <m:chr m:val="⃗"/>
                        <m:ctrlPr>
                          <a:rPr lang="en" sz="1200" i="1">
                            <a:latin typeface="Cambria Math" panose="02040503050406030204" pitchFamily="18" charset="0"/>
                          </a:rPr>
                        </m:ctrlPr>
                      </m:accPr>
                      <m:e>
                        <m:r>
                          <a:rPr lang="en" sz="1200" i="1">
                            <a:latin typeface="Cambria Math" panose="02040503050406030204" pitchFamily="18" charset="0"/>
                          </a:rPr>
                          <m:t>𝑐</m:t>
                        </m:r>
                      </m:e>
                    </m:acc>
                  </m:oMath>
                </a14:m>
                <a:r>
                  <a:rPr lang="en" sz="1200" b="0" i="0" u="none" strike="noStrike" cap="none">
                    <a:solidFill>
                      <a:srgbClr val="000000"/>
                    </a:solidFill>
                    <a:latin typeface="Arial"/>
                    <a:ea typeface="Arial"/>
                    <a:cs typeface="Arial"/>
                    <a:sym typeface="Arial"/>
                  </a:rPr>
                  <a:t> is a sequence of local control tags</a:t>
                </a:r>
                <a:endParaRPr sz="1200"/>
              </a:p>
              <a:p>
                <a:pPr marL="457200" marR="0" lvl="0" indent="-304800" algn="l" rtl="0">
                  <a:lnSpc>
                    <a:spcPct val="100000"/>
                  </a:lnSpc>
                  <a:spcBef>
                    <a:spcPts val="0"/>
                  </a:spcBef>
                  <a:spcAft>
                    <a:spcPts val="0"/>
                  </a:spcAft>
                  <a:buSzPts val="1200"/>
                  <a:buChar char="●"/>
                </a:pPr>
                <a:r>
                  <a:rPr lang="en" sz="1200"/>
                  <a:t>S is the number of sentences (equal to the number of control codes)</a:t>
                </a:r>
                <a:endParaRPr sz="1200"/>
              </a:p>
              <a:p>
                <a:pPr marL="457200" marR="0" lvl="0" indent="-304800" algn="l" rtl="0">
                  <a:lnSpc>
                    <a:spcPct val="100000"/>
                  </a:lnSpc>
                  <a:spcBef>
                    <a:spcPts val="0"/>
                  </a:spcBef>
                  <a:spcAft>
                    <a:spcPts val="0"/>
                  </a:spcAft>
                  <a:buSzPts val="1200"/>
                  <a:buChar char="●"/>
                </a:pPr>
                <a:r>
                  <a:rPr lang="en" sz="1200"/>
                  <a:t>X</a:t>
                </a:r>
                <a:r>
                  <a:rPr lang="en" sz="1200" baseline="-25000"/>
                  <a:t>&lt;k</a:t>
                </a:r>
                <a:r>
                  <a:rPr lang="en" sz="1200"/>
                  <a:t> are the previous sentences generated</a:t>
                </a:r>
                <a:endParaRPr sz="1200"/>
              </a:p>
              <a:p>
                <a:pPr marL="457200" marR="0" lvl="0" indent="-304800" algn="l" rtl="0">
                  <a:lnSpc>
                    <a:spcPct val="100000"/>
                  </a:lnSpc>
                  <a:spcBef>
                    <a:spcPts val="0"/>
                  </a:spcBef>
                  <a:spcAft>
                    <a:spcPts val="0"/>
                  </a:spcAft>
                  <a:buSzPts val="1200"/>
                  <a:buChar char="●"/>
                </a:pPr>
                <a:r>
                  <a:rPr lang="en" sz="1200"/>
                  <a:t>x</a:t>
                </a:r>
                <a:r>
                  <a:rPr lang="en" sz="1200" baseline="-25000"/>
                  <a:t>&lt;i </a:t>
                </a:r>
                <a:r>
                  <a:rPr lang="en" sz="1200"/>
                  <a:t>are the previous words in the current sentence</a:t>
                </a:r>
                <a:endParaRPr sz="1200"/>
              </a:p>
              <a:p>
                <a:pPr marL="457200" marR="0" lvl="0" indent="-304800" algn="l" rtl="0">
                  <a:lnSpc>
                    <a:spcPct val="100000"/>
                  </a:lnSpc>
                  <a:spcBef>
                    <a:spcPts val="0"/>
                  </a:spcBef>
                  <a:spcAft>
                    <a:spcPts val="0"/>
                  </a:spcAft>
                  <a:buSzPts val="1200"/>
                  <a:buChar char="●"/>
                </a:pPr>
                <a:r>
                  <a:rPr lang="en" sz="1200"/>
                  <a:t>x</a:t>
                </a:r>
                <a:r>
                  <a:rPr lang="en" sz="1200" baseline="-25000"/>
                  <a:t>i</a:t>
                </a:r>
                <a:r>
                  <a:rPr lang="en" sz="1200"/>
                  <a:t> is the current word in the sentence</a:t>
                </a:r>
                <a:endParaRPr sz="1200"/>
              </a:p>
            </p:txBody>
          </p:sp>
        </mc:Choice>
        <mc:Fallback>
          <p:sp>
            <p:nvSpPr>
              <p:cNvPr id="340" name="Google Shape;340;p46"/>
              <p:cNvSpPr txBox="1">
                <a:spLocks noRot="1" noChangeAspect="1" noMove="1" noResize="1" noEditPoints="1" noAdjustHandles="1" noChangeArrowheads="1" noChangeShapeType="1" noTextEdit="1"/>
              </p:cNvSpPr>
              <p:nvPr/>
            </p:nvSpPr>
            <p:spPr>
              <a:xfrm>
                <a:off x="300948" y="3785300"/>
                <a:ext cx="7853100" cy="1293000"/>
              </a:xfrm>
              <a:prstGeom prst="rect">
                <a:avLst/>
              </a:prstGeom>
              <a:blipFill>
                <a:blip r:embed="rId4"/>
                <a:stretch>
                  <a:fillRect/>
                </a:stretch>
              </a:blipFill>
              <a:ln>
                <a:noFill/>
              </a:ln>
            </p:spPr>
            <p:txBody>
              <a:bodyPr/>
              <a:lstStyle/>
              <a:p>
                <a:r>
                  <a:rPr lang="en-US">
                    <a:noFill/>
                  </a:rPr>
                  <a:t> </a:t>
                </a:r>
              </a:p>
            </p:txBody>
          </p:sp>
        </mc:Fallback>
      </mc:AlternateContent>
      <p:pic>
        <p:nvPicPr>
          <p:cNvPr id="341" name="Google Shape;341;p46"/>
          <p:cNvPicPr preferRelativeResize="0"/>
          <p:nvPr/>
        </p:nvPicPr>
        <p:blipFill>
          <a:blip r:embed="rId5">
            <a:alphaModFix/>
          </a:blip>
          <a:stretch>
            <a:fillRect/>
          </a:stretch>
        </p:blipFill>
        <p:spPr>
          <a:xfrm>
            <a:off x="2053250" y="2686922"/>
            <a:ext cx="4560700" cy="95672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7"/>
                                        </p:tgtEl>
                                        <p:attrNameLst>
                                          <p:attrName>style.visibility</p:attrName>
                                        </p:attrNameLst>
                                      </p:cBhvr>
                                      <p:to>
                                        <p:strVal val="visible"/>
                                      </p:to>
                                    </p:set>
                                    <p:animEffect transition="in" filter="fade">
                                      <p:cBhvr>
                                        <p:cTn id="7" dur="1000"/>
                                        <p:tgtEl>
                                          <p:spTgt spid="337"/>
                                        </p:tgtEl>
                                      </p:cBhvr>
                                    </p:animEffect>
                                  </p:childTnLst>
                                </p:cTn>
                              </p:par>
                              <p:par>
                                <p:cTn id="8" presetID="10" presetClass="entr" presetSubtype="0" fill="hold" nodeType="withEffect">
                                  <p:stCondLst>
                                    <p:cond delay="0"/>
                                  </p:stCondLst>
                                  <p:childTnLst>
                                    <p:set>
                                      <p:cBhvr>
                                        <p:cTn id="9" dur="1" fill="hold">
                                          <p:stCondLst>
                                            <p:cond delay="0"/>
                                          </p:stCondLst>
                                        </p:cTn>
                                        <p:tgtEl>
                                          <p:spTgt spid="338"/>
                                        </p:tgtEl>
                                        <p:attrNameLst>
                                          <p:attrName>style.visibility</p:attrName>
                                        </p:attrNameLst>
                                      </p:cBhvr>
                                      <p:to>
                                        <p:strVal val="visible"/>
                                      </p:to>
                                    </p:set>
                                    <p:animEffect transition="in" filter="fade">
                                      <p:cBhvr>
                                        <p:cTn id="10" dur="1000"/>
                                        <p:tgtEl>
                                          <p:spTgt spid="33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39"/>
                                        </p:tgtEl>
                                        <p:attrNameLst>
                                          <p:attrName>style.visibility</p:attrName>
                                        </p:attrNameLst>
                                      </p:cBhvr>
                                      <p:to>
                                        <p:strVal val="visible"/>
                                      </p:to>
                                    </p:set>
                                    <p:animEffect transition="in" filter="fade">
                                      <p:cBhvr>
                                        <p:cTn id="15" dur="1000"/>
                                        <p:tgtEl>
                                          <p:spTgt spid="339"/>
                                        </p:tgtEl>
                                      </p:cBhvr>
                                    </p:animEffect>
                                  </p:childTnLst>
                                </p:cTn>
                              </p:par>
                              <p:par>
                                <p:cTn id="16" presetID="10" presetClass="entr" presetSubtype="0" fill="hold" nodeType="withEffect">
                                  <p:stCondLst>
                                    <p:cond delay="0"/>
                                  </p:stCondLst>
                                  <p:childTnLst>
                                    <p:set>
                                      <p:cBhvr>
                                        <p:cTn id="17" dur="1" fill="hold">
                                          <p:stCondLst>
                                            <p:cond delay="0"/>
                                          </p:stCondLst>
                                        </p:cTn>
                                        <p:tgtEl>
                                          <p:spTgt spid="341"/>
                                        </p:tgtEl>
                                        <p:attrNameLst>
                                          <p:attrName>style.visibility</p:attrName>
                                        </p:attrNameLst>
                                      </p:cBhvr>
                                      <p:to>
                                        <p:strVal val="visible"/>
                                      </p:to>
                                    </p:set>
                                    <p:animEffect transition="in" filter="fade">
                                      <p:cBhvr>
                                        <p:cTn id="18" dur="1000"/>
                                        <p:tgtEl>
                                          <p:spTgt spid="34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40">
                                            <p:txEl>
                                              <p:pRg st="0" end="0"/>
                                            </p:txEl>
                                          </p:spTgt>
                                        </p:tgtEl>
                                        <p:attrNameLst>
                                          <p:attrName>style.visibility</p:attrName>
                                        </p:attrNameLst>
                                      </p:cBhvr>
                                      <p:to>
                                        <p:strVal val="visible"/>
                                      </p:to>
                                    </p:set>
                                    <p:animEffect transition="in" filter="fade">
                                      <p:cBhvr>
                                        <p:cTn id="23" dur="1000"/>
                                        <p:tgtEl>
                                          <p:spTgt spid="340">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40">
                                            <p:txEl>
                                              <p:pRg st="1" end="1"/>
                                            </p:txEl>
                                          </p:spTgt>
                                        </p:tgtEl>
                                        <p:attrNameLst>
                                          <p:attrName>style.visibility</p:attrName>
                                        </p:attrNameLst>
                                      </p:cBhvr>
                                      <p:to>
                                        <p:strVal val="visible"/>
                                      </p:to>
                                    </p:set>
                                    <p:animEffect transition="in" filter="fade">
                                      <p:cBhvr>
                                        <p:cTn id="28" dur="1000"/>
                                        <p:tgtEl>
                                          <p:spTgt spid="340">
                                            <p:txEl>
                                              <p:pRg st="1" end="1"/>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40">
                                            <p:txEl>
                                              <p:pRg st="2" end="2"/>
                                            </p:txEl>
                                          </p:spTgt>
                                        </p:tgtEl>
                                        <p:attrNameLst>
                                          <p:attrName>style.visibility</p:attrName>
                                        </p:attrNameLst>
                                      </p:cBhvr>
                                      <p:to>
                                        <p:strVal val="visible"/>
                                      </p:to>
                                    </p:set>
                                    <p:animEffect transition="in" filter="fade">
                                      <p:cBhvr>
                                        <p:cTn id="33" dur="1000"/>
                                        <p:tgtEl>
                                          <p:spTgt spid="340">
                                            <p:txEl>
                                              <p:pRg st="2" end="2"/>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340">
                                            <p:txEl>
                                              <p:pRg st="3" end="3"/>
                                            </p:txEl>
                                          </p:spTgt>
                                        </p:tgtEl>
                                        <p:attrNameLst>
                                          <p:attrName>style.visibility</p:attrName>
                                        </p:attrNameLst>
                                      </p:cBhvr>
                                      <p:to>
                                        <p:strVal val="visible"/>
                                      </p:to>
                                    </p:set>
                                    <p:animEffect transition="in" filter="fade">
                                      <p:cBhvr>
                                        <p:cTn id="38" dur="1000"/>
                                        <p:tgtEl>
                                          <p:spTgt spid="340">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340">
                                            <p:txEl>
                                              <p:pRg st="4" end="4"/>
                                            </p:txEl>
                                          </p:spTgt>
                                        </p:tgtEl>
                                        <p:attrNameLst>
                                          <p:attrName>style.visibility</p:attrName>
                                        </p:attrNameLst>
                                      </p:cBhvr>
                                      <p:to>
                                        <p:strVal val="visible"/>
                                      </p:to>
                                    </p:set>
                                    <p:animEffect transition="in" filter="fade">
                                      <p:cBhvr>
                                        <p:cTn id="43" dur="1000"/>
                                        <p:tgtEl>
                                          <p:spTgt spid="340">
                                            <p:txEl>
                                              <p:pRg st="4" end="4"/>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40">
                                            <p:txEl>
                                              <p:pRg st="5" end="5"/>
                                            </p:txEl>
                                          </p:spTgt>
                                        </p:tgtEl>
                                        <p:attrNameLst>
                                          <p:attrName>style.visibility</p:attrName>
                                        </p:attrNameLst>
                                      </p:cBhvr>
                                      <p:to>
                                        <p:strVal val="visible"/>
                                      </p:to>
                                    </p:set>
                                    <p:animEffect transition="in" filter="fade">
                                      <p:cBhvr>
                                        <p:cTn id="48" dur="1000"/>
                                        <p:tgtEl>
                                          <p:spTgt spid="340">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Shape 345"/>
        <p:cNvGrpSpPr/>
        <p:nvPr/>
      </p:nvGrpSpPr>
      <p:grpSpPr>
        <a:xfrm>
          <a:off x="0" y="0"/>
          <a:ext cx="0" cy="0"/>
          <a:chOff x="0" y="0"/>
          <a:chExt cx="0" cy="0"/>
        </a:xfrm>
      </p:grpSpPr>
      <p:sp>
        <p:nvSpPr>
          <p:cNvPr id="346" name="Google Shape;346;p4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Factorization:</a:t>
            </a:r>
            <a:endParaRPr/>
          </a:p>
        </p:txBody>
      </p:sp>
      <p:pic>
        <p:nvPicPr>
          <p:cNvPr id="347" name="Google Shape;347;p47"/>
          <p:cNvPicPr preferRelativeResize="0"/>
          <p:nvPr/>
        </p:nvPicPr>
        <p:blipFill>
          <a:blip r:embed="rId3">
            <a:alphaModFix/>
          </a:blip>
          <a:stretch>
            <a:fillRect/>
          </a:stretch>
        </p:blipFill>
        <p:spPr>
          <a:xfrm>
            <a:off x="4381500" y="1203952"/>
            <a:ext cx="3960900" cy="728550"/>
          </a:xfrm>
          <a:prstGeom prst="rect">
            <a:avLst/>
          </a:prstGeom>
          <a:noFill/>
          <a:ln>
            <a:noFill/>
          </a:ln>
        </p:spPr>
      </p:pic>
      <p:pic>
        <p:nvPicPr>
          <p:cNvPr id="348" name="Google Shape;348;p47"/>
          <p:cNvPicPr preferRelativeResize="0"/>
          <p:nvPr/>
        </p:nvPicPr>
        <p:blipFill>
          <a:blip r:embed="rId4">
            <a:alphaModFix/>
          </a:blip>
          <a:stretch>
            <a:fillRect/>
          </a:stretch>
        </p:blipFill>
        <p:spPr>
          <a:xfrm>
            <a:off x="910250" y="1162933"/>
            <a:ext cx="3473027" cy="728550"/>
          </a:xfrm>
          <a:prstGeom prst="rect">
            <a:avLst/>
          </a:prstGeom>
          <a:noFill/>
          <a:ln>
            <a:noFill/>
          </a:ln>
        </p:spPr>
      </p:pic>
      <p:grpSp>
        <p:nvGrpSpPr>
          <p:cNvPr id="349" name="Google Shape;349;p47"/>
          <p:cNvGrpSpPr/>
          <p:nvPr/>
        </p:nvGrpSpPr>
        <p:grpSpPr>
          <a:xfrm>
            <a:off x="1517025" y="2117125"/>
            <a:ext cx="3972275" cy="836275"/>
            <a:chOff x="1517025" y="2117125"/>
            <a:chExt cx="3972275" cy="836275"/>
          </a:xfrm>
        </p:grpSpPr>
        <p:cxnSp>
          <p:nvCxnSpPr>
            <p:cNvPr id="350" name="Google Shape;350;p47"/>
            <p:cNvCxnSpPr/>
            <p:nvPr/>
          </p:nvCxnSpPr>
          <p:spPr>
            <a:xfrm flipH="1">
              <a:off x="4691900" y="2117125"/>
              <a:ext cx="797400" cy="395100"/>
            </a:xfrm>
            <a:prstGeom prst="straightConnector1">
              <a:avLst/>
            </a:prstGeom>
            <a:noFill/>
            <a:ln w="9525" cap="flat" cmpd="sng">
              <a:solidFill>
                <a:schemeClr val="dk2"/>
              </a:solidFill>
              <a:prstDash val="solid"/>
              <a:round/>
              <a:headEnd type="triangle" w="med" len="med"/>
              <a:tailEnd type="none" w="med" len="med"/>
            </a:ln>
          </p:spPr>
        </p:cxnSp>
        <p:sp>
          <p:nvSpPr>
            <p:cNvPr id="351" name="Google Shape;351;p47"/>
            <p:cNvSpPr txBox="1"/>
            <p:nvPr/>
          </p:nvSpPr>
          <p:spPr>
            <a:xfrm>
              <a:off x="1517025" y="2214500"/>
              <a:ext cx="3309000" cy="738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t>Naive language model (GPT2)</a:t>
              </a:r>
              <a:endParaRPr/>
            </a:p>
            <a:p>
              <a:pPr marL="0" lvl="0" indent="0" algn="l" rtl="0">
                <a:spcBef>
                  <a:spcPts val="0"/>
                </a:spcBef>
                <a:spcAft>
                  <a:spcPts val="0"/>
                </a:spcAft>
                <a:buNone/>
              </a:pPr>
              <a:r>
                <a:rPr lang="en" sz="1100" i="1"/>
                <a:t>(except it needs to be able to generate enough words for a full news article ~2048 word pieces)</a:t>
              </a:r>
              <a:endParaRPr sz="1100" i="1"/>
            </a:p>
          </p:txBody>
        </p:sp>
      </p:grpSp>
      <p:grpSp>
        <p:nvGrpSpPr>
          <p:cNvPr id="352" name="Google Shape;352;p47"/>
          <p:cNvGrpSpPr/>
          <p:nvPr/>
        </p:nvGrpSpPr>
        <p:grpSpPr>
          <a:xfrm>
            <a:off x="6074925" y="2103025"/>
            <a:ext cx="2377800" cy="1341000"/>
            <a:chOff x="6074925" y="2103025"/>
            <a:chExt cx="2377800" cy="1341000"/>
          </a:xfrm>
        </p:grpSpPr>
        <p:cxnSp>
          <p:nvCxnSpPr>
            <p:cNvPr id="353" name="Google Shape;353;p47"/>
            <p:cNvCxnSpPr/>
            <p:nvPr/>
          </p:nvCxnSpPr>
          <p:spPr>
            <a:xfrm>
              <a:off x="7450750" y="2103025"/>
              <a:ext cx="7200" cy="437400"/>
            </a:xfrm>
            <a:prstGeom prst="straightConnector1">
              <a:avLst/>
            </a:prstGeom>
            <a:noFill/>
            <a:ln w="9525" cap="flat" cmpd="sng">
              <a:solidFill>
                <a:schemeClr val="dk2"/>
              </a:solidFill>
              <a:prstDash val="solid"/>
              <a:round/>
              <a:headEnd type="triangle" w="med" len="med"/>
              <a:tailEnd type="none" w="med" len="med"/>
            </a:ln>
          </p:spPr>
        </p:cxnSp>
        <p:sp>
          <p:nvSpPr>
            <p:cNvPr id="354" name="Google Shape;354;p47"/>
            <p:cNvSpPr txBox="1"/>
            <p:nvPr/>
          </p:nvSpPr>
          <p:spPr>
            <a:xfrm>
              <a:off x="6074925" y="2674525"/>
              <a:ext cx="2377800" cy="769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t>Discriminator…</a:t>
              </a:r>
              <a:endParaRPr/>
            </a:p>
            <a:p>
              <a:pPr marL="0" lvl="0" indent="0" algn="l" rtl="0">
                <a:spcBef>
                  <a:spcPts val="0"/>
                </a:spcBef>
                <a:spcAft>
                  <a:spcPts val="0"/>
                </a:spcAft>
                <a:buNone/>
              </a:pPr>
              <a:r>
                <a:rPr lang="en" sz="1200" i="1"/>
                <a:t>How do we train a discriminator to predict a vector???</a:t>
              </a:r>
              <a:endParaRPr sz="1200" i="1"/>
            </a:p>
          </p:txBody>
        </p:sp>
      </p:grpSp>
      <p:pic>
        <p:nvPicPr>
          <p:cNvPr id="355" name="Google Shape;355;p47"/>
          <p:cNvPicPr preferRelativeResize="0"/>
          <p:nvPr/>
        </p:nvPicPr>
        <p:blipFill rotWithShape="1">
          <a:blip r:embed="rId5">
            <a:alphaModFix/>
          </a:blip>
          <a:srcRect t="31544"/>
          <a:stretch/>
        </p:blipFill>
        <p:spPr>
          <a:xfrm>
            <a:off x="5301250" y="3464550"/>
            <a:ext cx="3289574" cy="64742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7"/>
                                        </p:tgtEl>
                                        <p:attrNameLst>
                                          <p:attrName>style.visibility</p:attrName>
                                        </p:attrNameLst>
                                      </p:cBhvr>
                                      <p:to>
                                        <p:strVal val="visible"/>
                                      </p:to>
                                    </p:set>
                                    <p:animEffect transition="in" filter="fade">
                                      <p:cBhvr>
                                        <p:cTn id="7" dur="1000"/>
                                        <p:tgtEl>
                                          <p:spTgt spid="34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49"/>
                                        </p:tgtEl>
                                        <p:attrNameLst>
                                          <p:attrName>style.visibility</p:attrName>
                                        </p:attrNameLst>
                                      </p:cBhvr>
                                      <p:to>
                                        <p:strVal val="visible"/>
                                      </p:to>
                                    </p:set>
                                    <p:animEffect transition="in" filter="fade">
                                      <p:cBhvr>
                                        <p:cTn id="12" dur="1000"/>
                                        <p:tgtEl>
                                          <p:spTgt spid="34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2"/>
                                        </p:tgtEl>
                                        <p:attrNameLst>
                                          <p:attrName>style.visibility</p:attrName>
                                        </p:attrNameLst>
                                      </p:cBhvr>
                                      <p:to>
                                        <p:strVal val="visible"/>
                                      </p:to>
                                    </p:set>
                                    <p:animEffect transition="in" filter="fade">
                                      <p:cBhvr>
                                        <p:cTn id="17" dur="1000"/>
                                        <p:tgtEl>
                                          <p:spTgt spid="35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5"/>
                                        </p:tgtEl>
                                        <p:attrNameLst>
                                          <p:attrName>style.visibility</p:attrName>
                                        </p:attrNameLst>
                                      </p:cBhvr>
                                      <p:to>
                                        <p:strVal val="visible"/>
                                      </p:to>
                                    </p:set>
                                    <p:animEffect transition="in" filter="fade">
                                      <p:cBhvr>
                                        <p:cTn id="22" dur="1000"/>
                                        <p:tgtEl>
                                          <p:spTgt spid="3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Shape 359"/>
        <p:cNvGrpSpPr/>
        <p:nvPr/>
      </p:nvGrpSpPr>
      <p:grpSpPr>
        <a:xfrm>
          <a:off x="0" y="0"/>
          <a:ext cx="0" cy="0"/>
          <a:chOff x="0" y="0"/>
          <a:chExt cx="0" cy="0"/>
        </a:xfrm>
      </p:grpSpPr>
      <p:pic>
        <p:nvPicPr>
          <p:cNvPr id="360" name="Google Shape;360;p48"/>
          <p:cNvPicPr preferRelativeResize="0"/>
          <p:nvPr/>
        </p:nvPicPr>
        <p:blipFill>
          <a:blip r:embed="rId3">
            <a:alphaModFix/>
          </a:blip>
          <a:stretch>
            <a:fillRect/>
          </a:stretch>
        </p:blipFill>
        <p:spPr>
          <a:xfrm>
            <a:off x="4327175" y="832039"/>
            <a:ext cx="3960900" cy="728550"/>
          </a:xfrm>
          <a:prstGeom prst="rect">
            <a:avLst/>
          </a:prstGeom>
          <a:noFill/>
          <a:ln>
            <a:noFill/>
          </a:ln>
        </p:spPr>
      </p:pic>
      <p:pic>
        <p:nvPicPr>
          <p:cNvPr id="361" name="Google Shape;361;p48"/>
          <p:cNvPicPr preferRelativeResize="0"/>
          <p:nvPr/>
        </p:nvPicPr>
        <p:blipFill>
          <a:blip r:embed="rId4">
            <a:alphaModFix/>
          </a:blip>
          <a:stretch>
            <a:fillRect/>
          </a:stretch>
        </p:blipFill>
        <p:spPr>
          <a:xfrm>
            <a:off x="855925" y="791021"/>
            <a:ext cx="3473027" cy="728550"/>
          </a:xfrm>
          <a:prstGeom prst="rect">
            <a:avLst/>
          </a:prstGeom>
          <a:noFill/>
          <a:ln>
            <a:noFill/>
          </a:ln>
        </p:spPr>
      </p:pic>
      <p:pic>
        <p:nvPicPr>
          <p:cNvPr id="362" name="Google Shape;362;p48"/>
          <p:cNvPicPr preferRelativeResize="0"/>
          <p:nvPr/>
        </p:nvPicPr>
        <p:blipFill>
          <a:blip r:embed="rId5">
            <a:alphaModFix/>
          </a:blip>
          <a:stretch>
            <a:fillRect/>
          </a:stretch>
        </p:blipFill>
        <p:spPr>
          <a:xfrm>
            <a:off x="2873436" y="1914369"/>
            <a:ext cx="3473024" cy="475566"/>
          </a:xfrm>
          <a:prstGeom prst="rect">
            <a:avLst/>
          </a:prstGeom>
          <a:noFill/>
          <a:ln>
            <a:noFill/>
          </a:ln>
        </p:spPr>
      </p:pic>
      <p:pic>
        <p:nvPicPr>
          <p:cNvPr id="363" name="Google Shape;363;p48"/>
          <p:cNvPicPr preferRelativeResize="0"/>
          <p:nvPr/>
        </p:nvPicPr>
        <p:blipFill>
          <a:blip r:embed="rId6">
            <a:alphaModFix/>
          </a:blip>
          <a:stretch>
            <a:fillRect/>
          </a:stretch>
        </p:blipFill>
        <p:spPr>
          <a:xfrm>
            <a:off x="2794775" y="2319365"/>
            <a:ext cx="3601074" cy="1125799"/>
          </a:xfrm>
          <a:prstGeom prst="rect">
            <a:avLst/>
          </a:prstGeom>
          <a:noFill/>
          <a:ln>
            <a:noFill/>
          </a:ln>
        </p:spPr>
      </p:pic>
      <p:pic>
        <p:nvPicPr>
          <p:cNvPr id="364" name="Google Shape;364;p48"/>
          <p:cNvPicPr preferRelativeResize="0"/>
          <p:nvPr/>
        </p:nvPicPr>
        <p:blipFill>
          <a:blip r:embed="rId7">
            <a:alphaModFix/>
          </a:blip>
          <a:stretch>
            <a:fillRect/>
          </a:stretch>
        </p:blipFill>
        <p:spPr>
          <a:xfrm>
            <a:off x="2873425" y="3406713"/>
            <a:ext cx="3289574" cy="9457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64"/>
                                        </p:tgtEl>
                                        <p:attrNameLst>
                                          <p:attrName>style.visibility</p:attrName>
                                        </p:attrNameLst>
                                      </p:cBhvr>
                                      <p:to>
                                        <p:strVal val="visible"/>
                                      </p:to>
                                    </p:set>
                                    <p:animEffect transition="in" filter="fade">
                                      <p:cBhvr>
                                        <p:cTn id="7" dur="1000"/>
                                        <p:tgtEl>
                                          <p:spTgt spid="36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2"/>
                                        </p:tgtEl>
                                        <p:attrNameLst>
                                          <p:attrName>style.visibility</p:attrName>
                                        </p:attrNameLst>
                                      </p:cBhvr>
                                      <p:to>
                                        <p:strVal val="visible"/>
                                      </p:to>
                                    </p:set>
                                    <p:animEffect transition="in" filter="fade">
                                      <p:cBhvr>
                                        <p:cTn id="12" dur="1000"/>
                                        <p:tgtEl>
                                          <p:spTgt spid="36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3"/>
                                        </p:tgtEl>
                                        <p:attrNameLst>
                                          <p:attrName>style.visibility</p:attrName>
                                        </p:attrNameLst>
                                      </p:cBhvr>
                                      <p:to>
                                        <p:strVal val="visible"/>
                                      </p:to>
                                    </p:set>
                                    <p:animEffect transition="in" filter="fade">
                                      <p:cBhvr>
                                        <p:cTn id="17" dur="1000"/>
                                        <p:tgtEl>
                                          <p:spTgt spid="3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Shape 368"/>
        <p:cNvGrpSpPr/>
        <p:nvPr/>
      </p:nvGrpSpPr>
      <p:grpSpPr>
        <a:xfrm>
          <a:off x="0" y="0"/>
          <a:ext cx="0" cy="0"/>
          <a:chOff x="0" y="0"/>
          <a:chExt cx="0" cy="0"/>
        </a:xfrm>
      </p:grpSpPr>
      <p:sp>
        <p:nvSpPr>
          <p:cNvPr id="369" name="Google Shape;369;p49"/>
          <p:cNvSpPr txBox="1">
            <a:spLocks noGrp="1"/>
          </p:cNvSpPr>
          <p:nvPr>
            <p:ph type="title"/>
          </p:nvPr>
        </p:nvSpPr>
        <p:spPr>
          <a:xfrm>
            <a:off x="196725" y="88600"/>
            <a:ext cx="3013800" cy="796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620"/>
              <a:buNone/>
            </a:pPr>
            <a:r>
              <a:rPr lang="en" sz="2120" b="1" u="sng">
                <a:solidFill>
                  <a:schemeClr val="dk2"/>
                </a:solidFill>
              </a:rPr>
              <a:t>Dataset</a:t>
            </a:r>
            <a:endParaRPr sz="2120" b="1" u="sng">
              <a:solidFill>
                <a:schemeClr val="dk2"/>
              </a:solidFill>
            </a:endParaRPr>
          </a:p>
          <a:p>
            <a:pPr marL="0" lvl="0" indent="0" algn="l" rtl="0">
              <a:lnSpc>
                <a:spcPct val="115000"/>
              </a:lnSpc>
              <a:spcBef>
                <a:spcPts val="0"/>
              </a:spcBef>
              <a:spcAft>
                <a:spcPts val="0"/>
              </a:spcAft>
              <a:buSzPts val="1620"/>
              <a:buNone/>
            </a:pPr>
            <a:r>
              <a:rPr lang="en" sz="2120" i="1">
                <a:solidFill>
                  <a:schemeClr val="dk2"/>
                </a:solidFill>
              </a:rPr>
              <a:t>Van Dijk News Discourse</a:t>
            </a:r>
            <a:endParaRPr sz="2120" i="1">
              <a:solidFill>
                <a:schemeClr val="dk2"/>
              </a:solidFill>
            </a:endParaRPr>
          </a:p>
        </p:txBody>
      </p:sp>
      <p:sp>
        <p:nvSpPr>
          <p:cNvPr id="370" name="Google Shape;370;p49"/>
          <p:cNvSpPr txBox="1">
            <a:spLocks noGrp="1"/>
          </p:cNvSpPr>
          <p:nvPr>
            <p:ph type="body" idx="1"/>
          </p:nvPr>
        </p:nvSpPr>
        <p:spPr>
          <a:xfrm>
            <a:off x="191375" y="2808775"/>
            <a:ext cx="3058200" cy="2293500"/>
          </a:xfrm>
          <a:prstGeom prst="rect">
            <a:avLst/>
          </a:prstGeom>
          <a:noFill/>
          <a:ln>
            <a:noFill/>
          </a:ln>
        </p:spPr>
        <p:txBody>
          <a:bodyPr spcFirstLastPara="1" wrap="square" lIns="91425" tIns="91425" rIns="91425" bIns="91425" anchor="t" anchorCtr="0">
            <a:normAutofit fontScale="70000" lnSpcReduction="20000"/>
          </a:bodyPr>
          <a:lstStyle/>
          <a:p>
            <a:pPr marL="0" lvl="0" indent="0" algn="l" rtl="0">
              <a:lnSpc>
                <a:spcPct val="115000"/>
              </a:lnSpc>
              <a:spcBef>
                <a:spcPts val="1200"/>
              </a:spcBef>
              <a:spcAft>
                <a:spcPts val="0"/>
              </a:spcAft>
              <a:buSzPct val="100000"/>
              <a:buNone/>
            </a:pPr>
            <a:r>
              <a:rPr lang="en" i="1"/>
              <a:t>NewsDiscourse</a:t>
            </a:r>
            <a:r>
              <a:rPr lang="en"/>
              <a:t>:</a:t>
            </a:r>
            <a:r>
              <a:rPr lang="en" i="1"/>
              <a:t> </a:t>
            </a:r>
            <a:r>
              <a:rPr lang="en"/>
              <a:t>800 articles</a:t>
            </a:r>
            <a:endParaRPr/>
          </a:p>
          <a:p>
            <a:pPr marL="0" lvl="0" indent="0" algn="l" rtl="0">
              <a:lnSpc>
                <a:spcPct val="115000"/>
              </a:lnSpc>
              <a:spcBef>
                <a:spcPts val="1200"/>
              </a:spcBef>
              <a:spcAft>
                <a:spcPts val="0"/>
              </a:spcAft>
              <a:buSzPct val="100000"/>
              <a:buNone/>
            </a:pPr>
            <a:r>
              <a:rPr lang="en"/>
              <a:t>9 discourse labels:</a:t>
            </a:r>
            <a:endParaRPr/>
          </a:p>
          <a:p>
            <a:pPr marL="457200" lvl="0" indent="-325755" algn="l" rtl="0">
              <a:lnSpc>
                <a:spcPct val="115000"/>
              </a:lnSpc>
              <a:spcBef>
                <a:spcPts val="1200"/>
              </a:spcBef>
              <a:spcAft>
                <a:spcPts val="0"/>
              </a:spcAft>
              <a:buSzPct val="100000"/>
              <a:buChar char="●"/>
            </a:pPr>
            <a:r>
              <a:rPr lang="en"/>
              <a:t>Main Event</a:t>
            </a:r>
            <a:endParaRPr/>
          </a:p>
          <a:p>
            <a:pPr marL="457200" lvl="0" indent="-325755" algn="l" rtl="0">
              <a:lnSpc>
                <a:spcPct val="115000"/>
              </a:lnSpc>
              <a:spcBef>
                <a:spcPts val="0"/>
              </a:spcBef>
              <a:spcAft>
                <a:spcPts val="0"/>
              </a:spcAft>
              <a:buSzPct val="100000"/>
              <a:buChar char="●"/>
            </a:pPr>
            <a:r>
              <a:rPr lang="en"/>
              <a:t>Background</a:t>
            </a:r>
            <a:endParaRPr/>
          </a:p>
          <a:p>
            <a:pPr marL="457200" lvl="0" indent="-325755" algn="l" rtl="0">
              <a:lnSpc>
                <a:spcPct val="115000"/>
              </a:lnSpc>
              <a:spcBef>
                <a:spcPts val="0"/>
              </a:spcBef>
              <a:spcAft>
                <a:spcPts val="0"/>
              </a:spcAft>
              <a:buSzPct val="100000"/>
              <a:buChar char="●"/>
            </a:pPr>
            <a:r>
              <a:rPr lang="en"/>
              <a:t>Context</a:t>
            </a:r>
            <a:endParaRPr/>
          </a:p>
          <a:p>
            <a:pPr marL="457200" lvl="0" indent="-325755" algn="l" rtl="0">
              <a:lnSpc>
                <a:spcPct val="115000"/>
              </a:lnSpc>
              <a:spcBef>
                <a:spcPts val="0"/>
              </a:spcBef>
              <a:spcAft>
                <a:spcPts val="0"/>
              </a:spcAft>
              <a:buSzPct val="100000"/>
              <a:buChar char="●"/>
            </a:pPr>
            <a:r>
              <a:rPr lang="en"/>
              <a:t>Evaluation</a:t>
            </a:r>
            <a:endParaRPr/>
          </a:p>
          <a:p>
            <a:pPr marL="0" lvl="0" indent="0" algn="l" rtl="0">
              <a:lnSpc>
                <a:spcPct val="115000"/>
              </a:lnSpc>
              <a:spcBef>
                <a:spcPts val="1200"/>
              </a:spcBef>
              <a:spcAft>
                <a:spcPts val="1200"/>
              </a:spcAft>
              <a:buSzPct val="100000"/>
              <a:buNone/>
            </a:pPr>
            <a:r>
              <a:rPr lang="en"/>
              <a:t>Sentence-level annotation</a:t>
            </a:r>
            <a:endParaRPr/>
          </a:p>
        </p:txBody>
      </p:sp>
      <p:grpSp>
        <p:nvGrpSpPr>
          <p:cNvPr id="371" name="Google Shape;371;p49"/>
          <p:cNvGrpSpPr/>
          <p:nvPr/>
        </p:nvGrpSpPr>
        <p:grpSpPr>
          <a:xfrm>
            <a:off x="2704508" y="290725"/>
            <a:ext cx="6401733" cy="4432150"/>
            <a:chOff x="1657212" y="214525"/>
            <a:chExt cx="6401733" cy="4432150"/>
          </a:xfrm>
        </p:grpSpPr>
        <p:sp>
          <p:nvSpPr>
            <p:cNvPr id="372" name="Google Shape;372;p49"/>
            <p:cNvSpPr/>
            <p:nvPr/>
          </p:nvSpPr>
          <p:spPr>
            <a:xfrm flipH="1">
              <a:off x="3207036" y="1398275"/>
              <a:ext cx="101100" cy="571500"/>
            </a:xfrm>
            <a:prstGeom prst="rightBrace">
              <a:avLst>
                <a:gd name="adj1" fmla="val 8333"/>
                <a:gd name="adj2" fmla="val 49147"/>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3" name="Google Shape;373;p49"/>
            <p:cNvSpPr txBox="1"/>
            <p:nvPr/>
          </p:nvSpPr>
          <p:spPr>
            <a:xfrm>
              <a:off x="1657212" y="1449546"/>
              <a:ext cx="1496100" cy="403500"/>
            </a:xfrm>
            <a:prstGeom prst="rect">
              <a:avLst/>
            </a:prstGeom>
            <a:noFill/>
            <a:ln>
              <a:noFill/>
            </a:ln>
          </p:spPr>
          <p:txBody>
            <a:bodyPr spcFirstLastPara="1" wrap="square" lIns="91425" tIns="91425" rIns="91425" bIns="91425" anchor="t" anchorCtr="0">
              <a:noAutofit/>
            </a:bodyPr>
            <a:lstStyle/>
            <a:p>
              <a:pPr marL="0" marR="0" lvl="0" indent="0" algn="r" rtl="0">
                <a:lnSpc>
                  <a:spcPct val="100000"/>
                </a:lnSpc>
                <a:spcBef>
                  <a:spcPts val="0"/>
                </a:spcBef>
                <a:spcAft>
                  <a:spcPts val="0"/>
                </a:spcAft>
                <a:buClr>
                  <a:srgbClr val="000000"/>
                </a:buClr>
                <a:buSzPts val="1400"/>
                <a:buFont typeface="Arial"/>
                <a:buNone/>
              </a:pPr>
              <a:r>
                <a:rPr lang="en" sz="1200" b="0" i="1" u="none" strike="noStrike" cap="none">
                  <a:solidFill>
                    <a:srgbClr val="000000"/>
                  </a:solidFill>
                  <a:latin typeface="Arial"/>
                  <a:ea typeface="Arial"/>
                  <a:cs typeface="Arial"/>
                  <a:sym typeface="Arial"/>
                </a:rPr>
                <a:t>Main </a:t>
              </a:r>
              <a:endParaRPr sz="1200" b="0" i="1" u="none" strike="noStrike" cap="none">
                <a:solidFill>
                  <a:srgbClr val="000000"/>
                </a:solidFill>
                <a:latin typeface="Arial"/>
                <a:ea typeface="Arial"/>
                <a:cs typeface="Arial"/>
                <a:sym typeface="Arial"/>
              </a:endParaRPr>
            </a:p>
            <a:p>
              <a:pPr marL="0" marR="0" lvl="0" indent="0" algn="r" rtl="0">
                <a:lnSpc>
                  <a:spcPct val="100000"/>
                </a:lnSpc>
                <a:spcBef>
                  <a:spcPts val="0"/>
                </a:spcBef>
                <a:spcAft>
                  <a:spcPts val="0"/>
                </a:spcAft>
                <a:buClr>
                  <a:srgbClr val="000000"/>
                </a:buClr>
                <a:buSzPts val="1400"/>
                <a:buFont typeface="Arial"/>
                <a:buNone/>
              </a:pPr>
              <a:r>
                <a:rPr lang="en" sz="1200" b="0" i="1" u="none" strike="noStrike" cap="none">
                  <a:solidFill>
                    <a:srgbClr val="000000"/>
                  </a:solidFill>
                  <a:latin typeface="Arial"/>
                  <a:ea typeface="Arial"/>
                  <a:cs typeface="Arial"/>
                  <a:sym typeface="Arial"/>
                </a:rPr>
                <a:t>Event</a:t>
              </a:r>
              <a:endParaRPr sz="1200" b="0" i="1" u="none" strike="noStrike" cap="none">
                <a:solidFill>
                  <a:srgbClr val="000000"/>
                </a:solidFill>
                <a:latin typeface="Arial"/>
                <a:ea typeface="Arial"/>
                <a:cs typeface="Arial"/>
                <a:sym typeface="Arial"/>
              </a:endParaRPr>
            </a:p>
          </p:txBody>
        </p:sp>
        <p:sp>
          <p:nvSpPr>
            <p:cNvPr id="374" name="Google Shape;374;p49"/>
            <p:cNvSpPr txBox="1"/>
            <p:nvPr/>
          </p:nvSpPr>
          <p:spPr>
            <a:xfrm>
              <a:off x="1657212" y="2290465"/>
              <a:ext cx="1496100" cy="403500"/>
            </a:xfrm>
            <a:prstGeom prst="rect">
              <a:avLst/>
            </a:prstGeom>
            <a:noFill/>
            <a:ln>
              <a:noFill/>
            </a:ln>
          </p:spPr>
          <p:txBody>
            <a:bodyPr spcFirstLastPara="1" wrap="square" lIns="91425" tIns="91425" rIns="91425" bIns="91425" anchor="t" anchorCtr="0">
              <a:noAutofit/>
            </a:bodyPr>
            <a:lstStyle/>
            <a:p>
              <a:pPr marL="0" marR="0" lvl="0" indent="0" algn="r" rtl="0">
                <a:lnSpc>
                  <a:spcPct val="100000"/>
                </a:lnSpc>
                <a:spcBef>
                  <a:spcPts val="0"/>
                </a:spcBef>
                <a:spcAft>
                  <a:spcPts val="0"/>
                </a:spcAft>
                <a:buClr>
                  <a:srgbClr val="000000"/>
                </a:buClr>
                <a:buSzPts val="1400"/>
                <a:buFont typeface="Arial"/>
                <a:buNone/>
              </a:pPr>
              <a:r>
                <a:rPr lang="en" sz="1200" b="0" i="1" u="none" strike="noStrike" cap="none">
                  <a:solidFill>
                    <a:srgbClr val="000000"/>
                  </a:solidFill>
                  <a:latin typeface="Arial"/>
                  <a:ea typeface="Arial"/>
                  <a:cs typeface="Arial"/>
                  <a:sym typeface="Arial"/>
                </a:rPr>
                <a:t>Context</a:t>
              </a:r>
              <a:endParaRPr sz="1200" b="0" i="1" u="none" strike="noStrike" cap="none">
                <a:solidFill>
                  <a:srgbClr val="000000"/>
                </a:solidFill>
                <a:latin typeface="Arial"/>
                <a:ea typeface="Arial"/>
                <a:cs typeface="Arial"/>
                <a:sym typeface="Arial"/>
              </a:endParaRPr>
            </a:p>
          </p:txBody>
        </p:sp>
        <p:sp>
          <p:nvSpPr>
            <p:cNvPr id="375" name="Google Shape;375;p49"/>
            <p:cNvSpPr/>
            <p:nvPr/>
          </p:nvSpPr>
          <p:spPr>
            <a:xfrm flipH="1">
              <a:off x="3207038" y="2086775"/>
              <a:ext cx="101100" cy="571500"/>
            </a:xfrm>
            <a:prstGeom prst="rightBrace">
              <a:avLst>
                <a:gd name="adj1" fmla="val 8333"/>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6" name="Google Shape;376;p49"/>
            <p:cNvSpPr/>
            <p:nvPr/>
          </p:nvSpPr>
          <p:spPr>
            <a:xfrm flipH="1">
              <a:off x="3233136" y="2872400"/>
              <a:ext cx="76200" cy="571500"/>
            </a:xfrm>
            <a:prstGeom prst="rightBrace">
              <a:avLst>
                <a:gd name="adj1" fmla="val 8333"/>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7" name="Google Shape;377;p49"/>
            <p:cNvSpPr txBox="1"/>
            <p:nvPr/>
          </p:nvSpPr>
          <p:spPr>
            <a:xfrm>
              <a:off x="2047907" y="2999876"/>
              <a:ext cx="1069500" cy="403500"/>
            </a:xfrm>
            <a:prstGeom prst="rect">
              <a:avLst/>
            </a:prstGeom>
            <a:noFill/>
            <a:ln>
              <a:noFill/>
            </a:ln>
          </p:spPr>
          <p:txBody>
            <a:bodyPr spcFirstLastPara="1" wrap="square" lIns="91425" tIns="91425" rIns="91425" bIns="91425" anchor="t" anchorCtr="0">
              <a:noAutofit/>
            </a:bodyPr>
            <a:lstStyle/>
            <a:p>
              <a:pPr marL="0" marR="0" lvl="0" indent="0" algn="r" rtl="0">
                <a:lnSpc>
                  <a:spcPct val="100000"/>
                </a:lnSpc>
                <a:spcBef>
                  <a:spcPts val="0"/>
                </a:spcBef>
                <a:spcAft>
                  <a:spcPts val="0"/>
                </a:spcAft>
                <a:buClr>
                  <a:srgbClr val="000000"/>
                </a:buClr>
                <a:buSzPts val="1400"/>
                <a:buFont typeface="Arial"/>
                <a:buNone/>
              </a:pPr>
              <a:r>
                <a:rPr lang="en" sz="1200" b="0" i="1" u="none" strike="noStrike" cap="none">
                  <a:solidFill>
                    <a:srgbClr val="000000"/>
                  </a:solidFill>
                  <a:latin typeface="Arial"/>
                  <a:ea typeface="Arial"/>
                  <a:cs typeface="Arial"/>
                  <a:sym typeface="Arial"/>
                </a:rPr>
                <a:t>Verbal </a:t>
              </a:r>
              <a:endParaRPr sz="1200" b="0" i="1" u="none" strike="noStrike" cap="none">
                <a:solidFill>
                  <a:srgbClr val="000000"/>
                </a:solidFill>
                <a:latin typeface="Arial"/>
                <a:ea typeface="Arial"/>
                <a:cs typeface="Arial"/>
                <a:sym typeface="Arial"/>
              </a:endParaRPr>
            </a:p>
            <a:p>
              <a:pPr marL="0" marR="0" lvl="0" indent="0" algn="r" rtl="0">
                <a:lnSpc>
                  <a:spcPct val="100000"/>
                </a:lnSpc>
                <a:spcBef>
                  <a:spcPts val="0"/>
                </a:spcBef>
                <a:spcAft>
                  <a:spcPts val="0"/>
                </a:spcAft>
                <a:buClr>
                  <a:srgbClr val="000000"/>
                </a:buClr>
                <a:buSzPts val="1400"/>
                <a:buFont typeface="Arial"/>
                <a:buNone/>
              </a:pPr>
              <a:r>
                <a:rPr lang="en" sz="1200" b="0" i="1" u="none" strike="noStrike" cap="none">
                  <a:solidFill>
                    <a:srgbClr val="000000"/>
                  </a:solidFill>
                  <a:latin typeface="Arial"/>
                  <a:ea typeface="Arial"/>
                  <a:cs typeface="Arial"/>
                  <a:sym typeface="Arial"/>
                </a:rPr>
                <a:t>Reaction</a:t>
              </a:r>
              <a:endParaRPr sz="1200" b="0" i="1" u="none" strike="noStrike" cap="none">
                <a:solidFill>
                  <a:srgbClr val="000000"/>
                </a:solidFill>
                <a:latin typeface="Arial"/>
                <a:ea typeface="Arial"/>
                <a:cs typeface="Arial"/>
                <a:sym typeface="Arial"/>
              </a:endParaRPr>
            </a:p>
          </p:txBody>
        </p:sp>
        <p:sp>
          <p:nvSpPr>
            <p:cNvPr id="378" name="Google Shape;378;p49"/>
            <p:cNvSpPr txBox="1"/>
            <p:nvPr/>
          </p:nvSpPr>
          <p:spPr>
            <a:xfrm>
              <a:off x="1657212" y="3801199"/>
              <a:ext cx="1496100" cy="403500"/>
            </a:xfrm>
            <a:prstGeom prst="rect">
              <a:avLst/>
            </a:prstGeom>
            <a:noFill/>
            <a:ln>
              <a:noFill/>
            </a:ln>
          </p:spPr>
          <p:txBody>
            <a:bodyPr spcFirstLastPara="1" wrap="square" lIns="91425" tIns="91425" rIns="91425" bIns="91425" anchor="t" anchorCtr="0">
              <a:noAutofit/>
            </a:bodyPr>
            <a:lstStyle/>
            <a:p>
              <a:pPr marL="0" marR="0" lvl="0" indent="0" algn="r" rtl="0">
                <a:lnSpc>
                  <a:spcPct val="100000"/>
                </a:lnSpc>
                <a:spcBef>
                  <a:spcPts val="0"/>
                </a:spcBef>
                <a:spcAft>
                  <a:spcPts val="0"/>
                </a:spcAft>
                <a:buClr>
                  <a:srgbClr val="000000"/>
                </a:buClr>
                <a:buSzPts val="1400"/>
                <a:buFont typeface="Arial"/>
                <a:buNone/>
              </a:pPr>
              <a:r>
                <a:rPr lang="en" sz="1200" b="0" i="1" u="none" strike="noStrike" cap="none">
                  <a:solidFill>
                    <a:srgbClr val="000000"/>
                  </a:solidFill>
                  <a:latin typeface="Arial"/>
                  <a:ea typeface="Arial"/>
                  <a:cs typeface="Arial"/>
                  <a:sym typeface="Arial"/>
                </a:rPr>
                <a:t>History</a:t>
              </a:r>
              <a:endParaRPr sz="1200" b="0" i="1" u="none" strike="noStrike" cap="none">
                <a:solidFill>
                  <a:srgbClr val="000000"/>
                </a:solidFill>
                <a:latin typeface="Arial"/>
                <a:ea typeface="Arial"/>
                <a:cs typeface="Arial"/>
                <a:sym typeface="Arial"/>
              </a:endParaRPr>
            </a:p>
          </p:txBody>
        </p:sp>
        <p:sp>
          <p:nvSpPr>
            <p:cNvPr id="379" name="Google Shape;379;p49"/>
            <p:cNvSpPr/>
            <p:nvPr/>
          </p:nvSpPr>
          <p:spPr>
            <a:xfrm flipH="1">
              <a:off x="3236475" y="3673725"/>
              <a:ext cx="76200" cy="571500"/>
            </a:xfrm>
            <a:prstGeom prst="rightBrace">
              <a:avLst>
                <a:gd name="adj1" fmla="val 8333"/>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380" name="Google Shape;380;p49"/>
            <p:cNvPicPr preferRelativeResize="0"/>
            <p:nvPr/>
          </p:nvPicPr>
          <p:blipFill rotWithShape="1">
            <a:blip r:embed="rId3">
              <a:alphaModFix/>
            </a:blip>
            <a:srcRect/>
            <a:stretch/>
          </p:blipFill>
          <p:spPr>
            <a:xfrm>
              <a:off x="2686225" y="214525"/>
              <a:ext cx="5080544" cy="1068228"/>
            </a:xfrm>
            <a:prstGeom prst="rect">
              <a:avLst/>
            </a:prstGeom>
            <a:noFill/>
            <a:ln>
              <a:noFill/>
            </a:ln>
          </p:spPr>
        </p:pic>
        <p:pic>
          <p:nvPicPr>
            <p:cNvPr id="381" name="Google Shape;381;p49"/>
            <p:cNvPicPr preferRelativeResize="0"/>
            <p:nvPr/>
          </p:nvPicPr>
          <p:blipFill rotWithShape="1">
            <a:blip r:embed="rId4">
              <a:alphaModFix/>
            </a:blip>
            <a:srcRect/>
            <a:stretch/>
          </p:blipFill>
          <p:spPr>
            <a:xfrm>
              <a:off x="3325819" y="1344395"/>
              <a:ext cx="4733125" cy="683839"/>
            </a:xfrm>
            <a:prstGeom prst="rect">
              <a:avLst/>
            </a:prstGeom>
            <a:noFill/>
            <a:ln>
              <a:noFill/>
            </a:ln>
          </p:spPr>
        </p:pic>
        <p:pic>
          <p:nvPicPr>
            <p:cNvPr id="382" name="Google Shape;382;p49"/>
            <p:cNvPicPr preferRelativeResize="0"/>
            <p:nvPr/>
          </p:nvPicPr>
          <p:blipFill rotWithShape="1">
            <a:blip r:embed="rId5">
              <a:alphaModFix/>
            </a:blip>
            <a:srcRect/>
            <a:stretch/>
          </p:blipFill>
          <p:spPr>
            <a:xfrm>
              <a:off x="3323788" y="2101320"/>
              <a:ext cx="4557581" cy="571517"/>
            </a:xfrm>
            <a:prstGeom prst="rect">
              <a:avLst/>
            </a:prstGeom>
            <a:noFill/>
            <a:ln>
              <a:noFill/>
            </a:ln>
          </p:spPr>
        </p:pic>
        <p:pic>
          <p:nvPicPr>
            <p:cNvPr id="383" name="Google Shape;383;p49"/>
            <p:cNvPicPr preferRelativeResize="0"/>
            <p:nvPr/>
          </p:nvPicPr>
          <p:blipFill rotWithShape="1">
            <a:blip r:embed="rId6">
              <a:alphaModFix/>
            </a:blip>
            <a:srcRect/>
            <a:stretch/>
          </p:blipFill>
          <p:spPr>
            <a:xfrm>
              <a:off x="3325807" y="2816243"/>
              <a:ext cx="4318503" cy="683839"/>
            </a:xfrm>
            <a:prstGeom prst="rect">
              <a:avLst/>
            </a:prstGeom>
            <a:noFill/>
            <a:ln>
              <a:noFill/>
            </a:ln>
          </p:spPr>
        </p:pic>
        <p:pic>
          <p:nvPicPr>
            <p:cNvPr id="384" name="Google Shape;384;p49"/>
            <p:cNvPicPr preferRelativeResize="0"/>
            <p:nvPr/>
          </p:nvPicPr>
          <p:blipFill rotWithShape="1">
            <a:blip r:embed="rId7">
              <a:alphaModFix/>
            </a:blip>
            <a:srcRect/>
            <a:stretch/>
          </p:blipFill>
          <p:spPr>
            <a:xfrm>
              <a:off x="3326063" y="3578448"/>
              <a:ext cx="4500832" cy="1068227"/>
            </a:xfrm>
            <a:prstGeom prst="rect">
              <a:avLst/>
            </a:prstGeom>
            <a:noFill/>
            <a:ln>
              <a:noFill/>
            </a:ln>
          </p:spPr>
        </p:pic>
      </p:grpSp>
      <p:sp>
        <p:nvSpPr>
          <p:cNvPr id="385" name="Google Shape;385;p49"/>
          <p:cNvSpPr txBox="1"/>
          <p:nvPr/>
        </p:nvSpPr>
        <p:spPr>
          <a:xfrm>
            <a:off x="152400" y="1371600"/>
            <a:ext cx="3000000" cy="815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chemeClr val="dk1"/>
                </a:solidFill>
              </a:rPr>
              <a:t>Choubey, Prafulla K., et al. "Discourse as a function of event: Profiling discourse structure in news articles around the main event." ACL. 2020.</a:t>
            </a:r>
            <a:endParaRPr sz="1000">
              <a:solidFill>
                <a:schemeClr val="dk1"/>
              </a:solidFill>
            </a:endParaRPr>
          </a:p>
          <a:p>
            <a:pPr marL="0" lvl="0" indent="0" algn="l" rtl="0">
              <a:spcBef>
                <a:spcPts val="0"/>
              </a:spcBef>
              <a:spcAft>
                <a:spcPts val="0"/>
              </a:spcAft>
              <a:buNone/>
            </a:pPr>
            <a:r>
              <a:rPr lang="en" sz="1100" u="sng">
                <a:solidFill>
                  <a:schemeClr val="accent5"/>
                </a:solidFill>
                <a:hlinkClick r:id="rId8">
                  <a:extLst>
                    <a:ext uri="{A12FA001-AC4F-418D-AE19-62706E023703}">
                      <ahyp:hlinkClr xmlns:ahyp="http://schemas.microsoft.com/office/drawing/2018/hyperlinkcolor" val="tx"/>
                    </a:ext>
                  </a:extLst>
                </a:hlinkClick>
              </a:rPr>
              <a:t>https://aclanthology.org/2020.acl-main.478/</a:t>
            </a:r>
            <a:endParaRPr sz="1000">
              <a:solidFill>
                <a:schemeClr val="dk1"/>
              </a:solidFill>
            </a:endParaRPr>
          </a:p>
        </p:txBody>
      </p:sp>
      <p:sp>
        <p:nvSpPr>
          <p:cNvPr id="386" name="Google Shape;386;p49"/>
          <p:cNvSpPr txBox="1"/>
          <p:nvPr/>
        </p:nvSpPr>
        <p:spPr>
          <a:xfrm>
            <a:off x="152400" y="2133600"/>
            <a:ext cx="3000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chemeClr val="dk1"/>
                </a:solidFill>
              </a:rPr>
              <a:t>Spangher, A., May, J., Shiang, S. R., &amp; Deng, L.</a:t>
            </a:r>
            <a:endParaRPr sz="1000">
              <a:solidFill>
                <a:schemeClr val="dk1"/>
              </a:solidFill>
            </a:endParaRPr>
          </a:p>
          <a:p>
            <a:pPr marL="0" lvl="0" indent="0" algn="l" rtl="0">
              <a:spcBef>
                <a:spcPts val="0"/>
              </a:spcBef>
              <a:spcAft>
                <a:spcPts val="0"/>
              </a:spcAft>
              <a:buNone/>
            </a:pPr>
            <a:r>
              <a:rPr lang="en" sz="1000">
                <a:solidFill>
                  <a:schemeClr val="dk1"/>
                </a:solidFill>
              </a:rPr>
              <a:t>Multitask learning for class-imbalanced discourse </a:t>
            </a:r>
            <a:endParaRPr sz="1000">
              <a:solidFill>
                <a:schemeClr val="dk1"/>
              </a:solidFill>
            </a:endParaRPr>
          </a:p>
          <a:p>
            <a:pPr marL="0" lvl="0" indent="0" algn="l" rtl="0">
              <a:spcBef>
                <a:spcPts val="0"/>
              </a:spcBef>
              <a:spcAft>
                <a:spcPts val="0"/>
              </a:spcAft>
              <a:buNone/>
            </a:pPr>
            <a:r>
              <a:rPr lang="en" sz="1000">
                <a:solidFill>
                  <a:schemeClr val="dk1"/>
                </a:solidFill>
              </a:rPr>
              <a:t>classification. </a:t>
            </a:r>
            <a:r>
              <a:rPr lang="en" sz="1000" u="sng">
                <a:solidFill>
                  <a:schemeClr val="accent5"/>
                </a:solidFill>
                <a:hlinkClick r:id="rId9">
                  <a:extLst>
                    <a:ext uri="{A12FA001-AC4F-418D-AE19-62706E023703}">
                      <ahyp:hlinkClr xmlns:ahyp="http://schemas.microsoft.com/office/drawing/2018/hyperlinkcolor" val="tx"/>
                    </a:ext>
                  </a:extLst>
                </a:hlinkClick>
              </a:rPr>
              <a:t>https://arxiv.org/abs/2101.00389</a:t>
            </a:r>
            <a:endParaRPr sz="1000" i="1">
              <a:solidFill>
                <a:srgbClr val="222222"/>
              </a:solidFill>
              <a:highlight>
                <a:schemeClr val="lt1"/>
              </a:highlight>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Shape 390"/>
        <p:cNvGrpSpPr/>
        <p:nvPr/>
      </p:nvGrpSpPr>
      <p:grpSpPr>
        <a:xfrm>
          <a:off x="0" y="0"/>
          <a:ext cx="0" cy="0"/>
          <a:chOff x="0" y="0"/>
          <a:chExt cx="0" cy="0"/>
        </a:xfrm>
      </p:grpSpPr>
      <p:sp>
        <p:nvSpPr>
          <p:cNvPr id="391" name="Google Shape;391;p5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Results</a:t>
            </a:r>
            <a:endParaRPr/>
          </a:p>
        </p:txBody>
      </p:sp>
      <p:pic>
        <p:nvPicPr>
          <p:cNvPr id="392" name="Google Shape;392;p50"/>
          <p:cNvPicPr preferRelativeResize="0"/>
          <p:nvPr/>
        </p:nvPicPr>
        <p:blipFill>
          <a:blip r:embed="rId3">
            <a:alphaModFix/>
          </a:blip>
          <a:stretch>
            <a:fillRect/>
          </a:stretch>
        </p:blipFill>
        <p:spPr>
          <a:xfrm>
            <a:off x="160863" y="979625"/>
            <a:ext cx="8822277" cy="3820976"/>
          </a:xfrm>
          <a:prstGeom prst="rect">
            <a:avLst/>
          </a:prstGeom>
          <a:noFill/>
          <a:ln>
            <a:noFill/>
          </a:ln>
        </p:spPr>
      </p:pic>
      <p:sp>
        <p:nvSpPr>
          <p:cNvPr id="393" name="Google Shape;393;p50"/>
          <p:cNvSpPr/>
          <p:nvPr/>
        </p:nvSpPr>
        <p:spPr>
          <a:xfrm>
            <a:off x="1178350" y="4085625"/>
            <a:ext cx="7740000" cy="190500"/>
          </a:xfrm>
          <a:prstGeom prst="rect">
            <a:avLst/>
          </a:prstGeom>
          <a:noFill/>
          <a:ln w="3810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 name="TextBox 2">
            <a:extLst>
              <a:ext uri="{FF2B5EF4-FFF2-40B4-BE49-F238E27FC236}">
                <a16:creationId xmlns:a16="http://schemas.microsoft.com/office/drawing/2014/main" id="{770EB458-27DE-6614-35AC-02CB2CF340DB}"/>
              </a:ext>
            </a:extLst>
          </p:cNvPr>
          <p:cNvSpPr txBox="1"/>
          <p:nvPr/>
        </p:nvSpPr>
        <p:spPr>
          <a:xfrm>
            <a:off x="311700" y="147372"/>
            <a:ext cx="4572000" cy="307777"/>
          </a:xfrm>
          <a:prstGeom prst="rect">
            <a:avLst/>
          </a:prstGeom>
          <a:noFill/>
        </p:spPr>
        <p:txBody>
          <a:bodyPr wrap="square">
            <a:spAutoFit/>
          </a:bodyPr>
          <a:lstStyle/>
          <a:p>
            <a:r>
              <a:rPr lang="en-US"/>
              <a:t>https://aclanthology.org/2022.findings-emnlp.509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93"/>
                                        </p:tgtEl>
                                        <p:attrNameLst>
                                          <p:attrName>style.visibility</p:attrName>
                                        </p:attrNameLst>
                                      </p:cBhvr>
                                      <p:to>
                                        <p:strVal val="visible"/>
                                      </p:to>
                                    </p:set>
                                    <p:animEffect transition="in" filter="fade">
                                      <p:cBhvr>
                                        <p:cTn id="7" dur="1000"/>
                                        <p:tgtEl>
                                          <p:spTgt spid="39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FB8F8E7-C719-C7FA-51D3-338D8F602493}"/>
              </a:ext>
            </a:extLst>
          </p:cNvPr>
          <p:cNvSpPr>
            <a:spLocks noGrp="1"/>
          </p:cNvSpPr>
          <p:nvPr>
            <p:ph type="title"/>
          </p:nvPr>
        </p:nvSpPr>
        <p:spPr/>
        <p:txBody>
          <a:bodyPr/>
          <a:lstStyle/>
          <a:p>
            <a:r>
              <a:rPr lang="en-US"/>
              <a:t>Humans don’t like model “creative” output</a:t>
            </a:r>
          </a:p>
        </p:txBody>
      </p:sp>
      <p:pic>
        <p:nvPicPr>
          <p:cNvPr id="6" name="Picture 5">
            <a:extLst>
              <a:ext uri="{FF2B5EF4-FFF2-40B4-BE49-F238E27FC236}">
                <a16:creationId xmlns:a16="http://schemas.microsoft.com/office/drawing/2014/main" id="{973C8092-D0B3-EE64-F484-A4130C570181}"/>
              </a:ext>
            </a:extLst>
          </p:cNvPr>
          <p:cNvPicPr>
            <a:picLocks noChangeAspect="1"/>
          </p:cNvPicPr>
          <p:nvPr/>
        </p:nvPicPr>
        <p:blipFill>
          <a:blip r:embed="rId2"/>
          <a:stretch>
            <a:fillRect/>
          </a:stretch>
        </p:blipFill>
        <p:spPr>
          <a:xfrm>
            <a:off x="4737227" y="981457"/>
            <a:ext cx="3280426" cy="2133796"/>
          </a:xfrm>
          <a:prstGeom prst="rect">
            <a:avLst/>
          </a:prstGeom>
        </p:spPr>
      </p:pic>
      <p:sp>
        <p:nvSpPr>
          <p:cNvPr id="7" name="TextBox 6">
            <a:extLst>
              <a:ext uri="{FF2B5EF4-FFF2-40B4-BE49-F238E27FC236}">
                <a16:creationId xmlns:a16="http://schemas.microsoft.com/office/drawing/2014/main" id="{D3E3E845-5F83-7763-4B1A-52CB0BA83EC8}"/>
              </a:ext>
            </a:extLst>
          </p:cNvPr>
          <p:cNvSpPr txBox="1"/>
          <p:nvPr/>
        </p:nvSpPr>
        <p:spPr>
          <a:xfrm>
            <a:off x="8273005" y="911507"/>
            <a:ext cx="814647" cy="253916"/>
          </a:xfrm>
          <a:prstGeom prst="rect">
            <a:avLst/>
          </a:prstGeom>
          <a:noFill/>
        </p:spPr>
        <p:txBody>
          <a:bodyPr wrap="none" rtlCol="0">
            <a:spAutoFit/>
          </a:bodyPr>
          <a:lstStyle/>
          <a:p>
            <a:r>
              <a:rPr lang="en-US" sz="1050"/>
              <a:t>Likert rank</a:t>
            </a:r>
          </a:p>
        </p:txBody>
      </p:sp>
      <p:sp>
        <p:nvSpPr>
          <p:cNvPr id="8" name="TextBox 7">
            <a:extLst>
              <a:ext uri="{FF2B5EF4-FFF2-40B4-BE49-F238E27FC236}">
                <a16:creationId xmlns:a16="http://schemas.microsoft.com/office/drawing/2014/main" id="{70EC55EC-BB1F-22E2-697C-1A1D607C379B}"/>
              </a:ext>
            </a:extLst>
          </p:cNvPr>
          <p:cNvSpPr txBox="1"/>
          <p:nvPr/>
        </p:nvSpPr>
        <p:spPr>
          <a:xfrm>
            <a:off x="5195361" y="3566916"/>
            <a:ext cx="2626040" cy="253916"/>
          </a:xfrm>
          <a:prstGeom prst="rect">
            <a:avLst/>
          </a:prstGeom>
          <a:noFill/>
        </p:spPr>
        <p:txBody>
          <a:bodyPr wrap="none" rtlCol="0">
            <a:spAutoFit/>
          </a:bodyPr>
          <a:lstStyle/>
          <a:p>
            <a:r>
              <a:rPr lang="en-US" sz="1050" i="1"/>
              <a:t>Art or Artifice?</a:t>
            </a:r>
            <a:r>
              <a:rPr lang="en-US" sz="1050"/>
              <a:t> Chakrabarty et al. CHI ‘24</a:t>
            </a:r>
            <a:endParaRPr lang="en-US" sz="1050" i="1"/>
          </a:p>
        </p:txBody>
      </p:sp>
      <p:pic>
        <p:nvPicPr>
          <p:cNvPr id="9" name="Picture 8">
            <a:extLst>
              <a:ext uri="{FF2B5EF4-FFF2-40B4-BE49-F238E27FC236}">
                <a16:creationId xmlns:a16="http://schemas.microsoft.com/office/drawing/2014/main" id="{86076CAC-3B42-BD6E-490A-E7BF1919D1EF}"/>
              </a:ext>
            </a:extLst>
          </p:cNvPr>
          <p:cNvPicPr>
            <a:picLocks noChangeAspect="1"/>
          </p:cNvPicPr>
          <p:nvPr/>
        </p:nvPicPr>
        <p:blipFill>
          <a:blip r:embed="rId3"/>
          <a:stretch>
            <a:fillRect/>
          </a:stretch>
        </p:blipFill>
        <p:spPr>
          <a:xfrm>
            <a:off x="696122" y="986784"/>
            <a:ext cx="2991687" cy="2580132"/>
          </a:xfrm>
          <a:prstGeom prst="rect">
            <a:avLst/>
          </a:prstGeom>
        </p:spPr>
      </p:pic>
      <p:sp>
        <p:nvSpPr>
          <p:cNvPr id="10" name="TextBox 9">
            <a:extLst>
              <a:ext uri="{FF2B5EF4-FFF2-40B4-BE49-F238E27FC236}">
                <a16:creationId xmlns:a16="http://schemas.microsoft.com/office/drawing/2014/main" id="{31E1219A-6AEB-31CA-2E25-B0C66E3A455F}"/>
              </a:ext>
            </a:extLst>
          </p:cNvPr>
          <p:cNvSpPr txBox="1"/>
          <p:nvPr/>
        </p:nvSpPr>
        <p:spPr>
          <a:xfrm>
            <a:off x="1077799" y="3566916"/>
            <a:ext cx="2610010" cy="253916"/>
          </a:xfrm>
          <a:prstGeom prst="rect">
            <a:avLst/>
          </a:prstGeom>
          <a:noFill/>
        </p:spPr>
        <p:txBody>
          <a:bodyPr wrap="none" rtlCol="0">
            <a:spAutoFit/>
          </a:bodyPr>
          <a:lstStyle/>
          <a:p>
            <a:r>
              <a:rPr lang="en-US" sz="1050" i="1"/>
              <a:t>Pron vs. Prompt</a:t>
            </a:r>
            <a:r>
              <a:rPr lang="en-US" sz="1050"/>
              <a:t> Marco et al. EMNLP ‘24</a:t>
            </a:r>
            <a:endParaRPr lang="en-US" sz="1050" i="1"/>
          </a:p>
        </p:txBody>
      </p:sp>
      <p:sp>
        <p:nvSpPr>
          <p:cNvPr id="11" name="Title 3">
            <a:extLst>
              <a:ext uri="{FF2B5EF4-FFF2-40B4-BE49-F238E27FC236}">
                <a16:creationId xmlns:a16="http://schemas.microsoft.com/office/drawing/2014/main" id="{254CEDD6-3D51-150A-A727-2F6E3F5E8C15}"/>
              </a:ext>
            </a:extLst>
          </p:cNvPr>
          <p:cNvSpPr txBox="1">
            <a:spLocks/>
          </p:cNvSpPr>
          <p:nvPr/>
        </p:nvSpPr>
        <p:spPr bwMode="auto">
          <a:xfrm>
            <a:off x="406139" y="3992083"/>
            <a:ext cx="8229600" cy="4798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ctr" anchorCtr="0" compatLnSpc="1">
            <a:prstTxWarp prst="textNoShape">
              <a:avLst/>
            </a:prstTxWarp>
            <a:noAutofit/>
          </a:bodyPr>
          <a:lstStyle>
            <a:lvl1pPr algn="ctr" rtl="0" eaLnBrk="1" fontAlgn="base" hangingPunct="1">
              <a:spcBef>
                <a:spcPct val="0"/>
              </a:spcBef>
              <a:spcAft>
                <a:spcPct val="0"/>
              </a:spcAft>
              <a:defRPr sz="3600" b="0" i="0" kern="1200" baseline="0">
                <a:solidFill>
                  <a:schemeClr val="tx1"/>
                </a:solidFill>
                <a:latin typeface="+mj-lt"/>
                <a:ea typeface="+mj-ea"/>
                <a:cs typeface="+mj-cs"/>
              </a:defRPr>
            </a:lvl1pPr>
            <a:lvl2pPr algn="ctr" rtl="0" eaLnBrk="1" fontAlgn="base" hangingPunct="1">
              <a:spcBef>
                <a:spcPct val="0"/>
              </a:spcBef>
              <a:spcAft>
                <a:spcPct val="0"/>
              </a:spcAft>
              <a:defRPr sz="3600">
                <a:solidFill>
                  <a:schemeClr val="tx1"/>
                </a:solidFill>
                <a:latin typeface="Calibri" panose="020F0502020204030204" pitchFamily="34" charset="0"/>
              </a:defRPr>
            </a:lvl2pPr>
            <a:lvl3pPr algn="ctr" rtl="0" eaLnBrk="1" fontAlgn="base" hangingPunct="1">
              <a:spcBef>
                <a:spcPct val="0"/>
              </a:spcBef>
              <a:spcAft>
                <a:spcPct val="0"/>
              </a:spcAft>
              <a:defRPr sz="3600">
                <a:solidFill>
                  <a:schemeClr val="tx1"/>
                </a:solidFill>
                <a:latin typeface="Calibri" panose="020F0502020204030204" pitchFamily="34" charset="0"/>
              </a:defRPr>
            </a:lvl3pPr>
            <a:lvl4pPr algn="ctr" rtl="0" eaLnBrk="1" fontAlgn="base" hangingPunct="1">
              <a:spcBef>
                <a:spcPct val="0"/>
              </a:spcBef>
              <a:spcAft>
                <a:spcPct val="0"/>
              </a:spcAft>
              <a:defRPr sz="3600">
                <a:solidFill>
                  <a:schemeClr val="tx1"/>
                </a:solidFill>
                <a:latin typeface="Calibri" panose="020F0502020204030204" pitchFamily="34" charset="0"/>
              </a:defRPr>
            </a:lvl4pPr>
            <a:lvl5pPr algn="ctr" rtl="0" eaLnBrk="1" fontAlgn="base" hangingPunct="1">
              <a:spcBef>
                <a:spcPct val="0"/>
              </a:spcBef>
              <a:spcAft>
                <a:spcPct val="0"/>
              </a:spcAft>
              <a:defRPr sz="3600">
                <a:solidFill>
                  <a:schemeClr val="tx1"/>
                </a:solidFill>
                <a:latin typeface="Calibri" panose="020F0502020204030204" pitchFamily="34" charset="0"/>
              </a:defRPr>
            </a:lvl5pPr>
            <a:lvl6pPr marL="457200" algn="ctr" rtl="0" eaLnBrk="1" fontAlgn="base" hangingPunct="1">
              <a:spcBef>
                <a:spcPct val="0"/>
              </a:spcBef>
              <a:spcAft>
                <a:spcPct val="0"/>
              </a:spcAft>
              <a:defRPr sz="3600">
                <a:solidFill>
                  <a:schemeClr val="tx1"/>
                </a:solidFill>
                <a:latin typeface="Calibri" panose="020F0502020204030204" pitchFamily="34" charset="0"/>
              </a:defRPr>
            </a:lvl6pPr>
            <a:lvl7pPr marL="914400" algn="ctr" rtl="0" eaLnBrk="1" fontAlgn="base" hangingPunct="1">
              <a:spcBef>
                <a:spcPct val="0"/>
              </a:spcBef>
              <a:spcAft>
                <a:spcPct val="0"/>
              </a:spcAft>
              <a:defRPr sz="3600">
                <a:solidFill>
                  <a:schemeClr val="tx1"/>
                </a:solidFill>
                <a:latin typeface="Calibri" panose="020F0502020204030204" pitchFamily="34" charset="0"/>
              </a:defRPr>
            </a:lvl7pPr>
            <a:lvl8pPr marL="1371600" algn="ctr" rtl="0" eaLnBrk="1" fontAlgn="base" hangingPunct="1">
              <a:spcBef>
                <a:spcPct val="0"/>
              </a:spcBef>
              <a:spcAft>
                <a:spcPct val="0"/>
              </a:spcAft>
              <a:defRPr sz="3600">
                <a:solidFill>
                  <a:schemeClr val="tx1"/>
                </a:solidFill>
                <a:latin typeface="Calibri" panose="020F0502020204030204" pitchFamily="34" charset="0"/>
              </a:defRPr>
            </a:lvl8pPr>
            <a:lvl9pPr marL="1828800" algn="ctr" rtl="0" eaLnBrk="1" fontAlgn="base" hangingPunct="1">
              <a:spcBef>
                <a:spcPct val="0"/>
              </a:spcBef>
              <a:spcAft>
                <a:spcPct val="0"/>
              </a:spcAft>
              <a:defRPr sz="3600">
                <a:solidFill>
                  <a:schemeClr val="tx1"/>
                </a:solidFill>
                <a:latin typeface="Calibri" panose="020F0502020204030204" pitchFamily="34" charset="0"/>
              </a:defRPr>
            </a:lvl9pPr>
          </a:lstStyle>
          <a:p>
            <a:r>
              <a:rPr lang="en-US" sz="2700"/>
              <a:t>Why? Can we break down creativity more finely?</a:t>
            </a:r>
          </a:p>
        </p:txBody>
      </p:sp>
    </p:spTree>
    <p:extLst>
      <p:ext uri="{BB962C8B-B14F-4D97-AF65-F5344CB8AC3E}">
        <p14:creationId xmlns:p14="http://schemas.microsoft.com/office/powerpoint/2010/main" val="27614835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68003AAD-9780-0740-894B-6DC541B6607B}"/>
              </a:ext>
            </a:extLst>
          </p:cNvPr>
          <p:cNvSpPr>
            <a:spLocks noGrp="1"/>
          </p:cNvSpPr>
          <p:nvPr>
            <p:ph type="title"/>
          </p:nvPr>
        </p:nvSpPr>
        <p:spPr>
          <a:xfrm>
            <a:off x="473202" y="479640"/>
            <a:ext cx="8042148" cy="492465"/>
          </a:xfrm>
        </p:spPr>
        <p:txBody>
          <a:bodyPr anchor="b">
            <a:noAutofit/>
          </a:bodyPr>
          <a:lstStyle/>
          <a:p>
            <a:r>
              <a:rPr lang="en-US" b="1" dirty="0">
                <a:latin typeface="+mn-lt"/>
              </a:rPr>
              <a:t>Discourse-Level Framework</a:t>
            </a:r>
          </a:p>
        </p:txBody>
      </p:sp>
      <p:sp>
        <p:nvSpPr>
          <p:cNvPr id="3" name="Slide Number Placeholder 2">
            <a:extLst>
              <a:ext uri="{FF2B5EF4-FFF2-40B4-BE49-F238E27FC236}">
                <a16:creationId xmlns:a16="http://schemas.microsoft.com/office/drawing/2014/main" id="{F08FD14F-46B9-5E4B-896B-1D3BEB4ACEAB}"/>
              </a:ext>
            </a:extLst>
          </p:cNvPr>
          <p:cNvSpPr>
            <a:spLocks noGrp="1"/>
          </p:cNvSpPr>
          <p:nvPr>
            <p:ph type="sldNum" sz="quarter" idx="12"/>
          </p:nvPr>
        </p:nvSpPr>
        <p:spPr>
          <a:xfrm>
            <a:off x="6457950" y="4767263"/>
            <a:ext cx="2057400" cy="273844"/>
          </a:xfrm>
          <a:prstGeom prst="rect">
            <a:avLst/>
          </a:prstGeom>
        </p:spPr>
        <p:txBody>
          <a:bodyPr vert="horz" lIns="68580" tIns="34290" rIns="68580" bIns="34290" rtlCol="0" anchor="ctr"/>
          <a:lstStyle>
            <a:defPPr>
              <a:defRPr lang="en-US"/>
            </a:defPPr>
            <a:lvl1pPr marL="0" algn="r" defTabSz="685800" rtl="0" eaLnBrk="1" latinLnBrk="0" hangingPunct="1">
              <a:defRPr sz="900" kern="1200">
                <a:solidFill>
                  <a:schemeClr val="tx1">
                    <a:tint val="75000"/>
                  </a:schemeClr>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fld id="{58EB6138-D2D2-C14F-9AF2-28ABE3A3A064}" type="slidenum">
              <a:rPr lang="en-US" smtClean="0"/>
              <a:pPr/>
              <a:t>38</a:t>
            </a:fld>
            <a:endParaRPr lang="en-US" dirty="0"/>
          </a:p>
        </p:txBody>
      </p:sp>
      <p:sp>
        <p:nvSpPr>
          <p:cNvPr id="6" name="TextBox 5">
            <a:extLst>
              <a:ext uri="{FF2B5EF4-FFF2-40B4-BE49-F238E27FC236}">
                <a16:creationId xmlns:a16="http://schemas.microsoft.com/office/drawing/2014/main" id="{DED9359E-053A-5479-1A4F-4A572898CFFB}"/>
              </a:ext>
            </a:extLst>
          </p:cNvPr>
          <p:cNvSpPr txBox="1"/>
          <p:nvPr/>
        </p:nvSpPr>
        <p:spPr>
          <a:xfrm>
            <a:off x="2035484" y="1507718"/>
            <a:ext cx="5856666" cy="600164"/>
          </a:xfrm>
          <a:prstGeom prst="rect">
            <a:avLst/>
          </a:prstGeom>
          <a:noFill/>
        </p:spPr>
        <p:txBody>
          <a:bodyPr wrap="square">
            <a:spAutoFit/>
          </a:bodyPr>
          <a:lstStyle/>
          <a:p>
            <a:r>
              <a:rPr lang="en-US" sz="1650" dirty="0">
                <a:latin typeface="+mn-lt"/>
              </a:rPr>
              <a:t>How do stories generated by differ in narrative complexity and diversity from human storytelling?</a:t>
            </a:r>
          </a:p>
        </p:txBody>
      </p:sp>
      <p:pic>
        <p:nvPicPr>
          <p:cNvPr id="8" name="Graphic 7" descr="Statistics outline">
            <a:extLst>
              <a:ext uri="{FF2B5EF4-FFF2-40B4-BE49-F238E27FC236}">
                <a16:creationId xmlns:a16="http://schemas.microsoft.com/office/drawing/2014/main" id="{C574C7D0-67F3-5194-D975-8FB6CDE0E3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349684" y="1417484"/>
            <a:ext cx="685800" cy="685800"/>
          </a:xfrm>
          <a:prstGeom prst="rect">
            <a:avLst/>
          </a:prstGeom>
        </p:spPr>
      </p:pic>
      <p:graphicFrame>
        <p:nvGraphicFramePr>
          <p:cNvPr id="9" name="Table 9">
            <a:extLst>
              <a:ext uri="{FF2B5EF4-FFF2-40B4-BE49-F238E27FC236}">
                <a16:creationId xmlns:a16="http://schemas.microsoft.com/office/drawing/2014/main" id="{74AE8A36-A91F-D0E7-9B28-7BBBD1C90C04}"/>
              </a:ext>
            </a:extLst>
          </p:cNvPr>
          <p:cNvGraphicFramePr>
            <a:graphicFrameLocks noGrp="1"/>
          </p:cNvGraphicFramePr>
          <p:nvPr/>
        </p:nvGraphicFramePr>
        <p:xfrm>
          <a:off x="345675" y="2806094"/>
          <a:ext cx="4046919" cy="1304733"/>
        </p:xfrm>
        <a:graphic>
          <a:graphicData uri="http://schemas.openxmlformats.org/drawingml/2006/table">
            <a:tbl>
              <a:tblPr>
                <a:tableStyleId>{0E3FDE45-AF77-4B5C-9715-49D594BDF05E}</a:tableStyleId>
              </a:tblPr>
              <a:tblGrid>
                <a:gridCol w="1685683">
                  <a:extLst>
                    <a:ext uri="{9D8B030D-6E8A-4147-A177-3AD203B41FA5}">
                      <a16:colId xmlns:a16="http://schemas.microsoft.com/office/drawing/2014/main" val="2888252854"/>
                    </a:ext>
                  </a:extLst>
                </a:gridCol>
                <a:gridCol w="2361236">
                  <a:extLst>
                    <a:ext uri="{9D8B030D-6E8A-4147-A177-3AD203B41FA5}">
                      <a16:colId xmlns:a16="http://schemas.microsoft.com/office/drawing/2014/main" val="1997177303"/>
                    </a:ext>
                  </a:extLst>
                </a:gridCol>
              </a:tblGrid>
              <a:tr h="370243">
                <a:tc>
                  <a:txBody>
                    <a:bodyPr/>
                    <a:lstStyle/>
                    <a:p>
                      <a:r>
                        <a:rPr lang="en-US" sz="1700" b="0" dirty="0">
                          <a:latin typeface="Lucida Sans" panose="020B0602030504020204" pitchFamily="34" charset="77"/>
                        </a:rPr>
                        <a:t>1. Macro-Level</a:t>
                      </a:r>
                    </a:p>
                  </a:txBody>
                  <a:tcPr marL="68580" marR="68580" marT="34290" marB="34290">
                    <a:lnL>
                      <a:noFill/>
                    </a:lnL>
                    <a:lnR>
                      <a:noFill/>
                    </a:lnR>
                    <a:lnT w="12700" cmpd="sng">
                      <a:noFill/>
                    </a:lnT>
                    <a:lnB>
                      <a:noFill/>
                    </a:lnB>
                    <a:lnTlToBr w="12700" cmpd="sng">
                      <a:noFill/>
                      <a:prstDash val="solid"/>
                    </a:lnTlToBr>
                    <a:lnBlToTr w="12700" cmpd="sng">
                      <a:noFill/>
                      <a:prstDash val="solid"/>
                    </a:lnBlToTr>
                  </a:tcPr>
                </a:tc>
                <a:tc>
                  <a:txBody>
                    <a:bodyPr/>
                    <a:lstStyle/>
                    <a:p>
                      <a:r>
                        <a:rPr lang="en-US" sz="1700" b="0" dirty="0">
                          <a:latin typeface="Lucida Sans" panose="020B0602030504020204" pitchFamily="34" charset="77"/>
                        </a:rPr>
                        <a:t>Story Arcs </a:t>
                      </a:r>
                    </a:p>
                  </a:txBody>
                  <a:tcPr marL="68580" marR="68580" marT="34290" marB="34290">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110569914"/>
                  </a:ext>
                </a:extLst>
              </a:tr>
              <a:tr h="323609">
                <a:tc>
                  <a:txBody>
                    <a:bodyPr/>
                    <a:lstStyle/>
                    <a:p>
                      <a:r>
                        <a:rPr lang="en-US" sz="1700" b="0" dirty="0">
                          <a:latin typeface="Lucida Sans" panose="020B0602030504020204" pitchFamily="34" charset="77"/>
                        </a:rPr>
                        <a:t>2. Meso-Level</a:t>
                      </a:r>
                    </a:p>
                  </a:txBody>
                  <a:tcPr marL="68580" marR="68580" marT="34290" marB="34290">
                    <a:lnL>
                      <a:noFill/>
                    </a:lnL>
                    <a:lnR>
                      <a:noFill/>
                    </a:lnR>
                    <a:lnT>
                      <a:noFill/>
                    </a:lnT>
                    <a:lnB>
                      <a:noFill/>
                    </a:lnB>
                    <a:lnTlToBr w="12700" cmpd="sng">
                      <a:noFill/>
                      <a:prstDash val="solid"/>
                    </a:lnTlToBr>
                    <a:lnBlToTr w="12700" cmpd="sng">
                      <a:noFill/>
                      <a:prstDash val="solid"/>
                    </a:lnBlToTr>
                  </a:tcPr>
                </a:tc>
                <a:tc>
                  <a:txBody>
                    <a:bodyPr/>
                    <a:lstStyle/>
                    <a:p>
                      <a:r>
                        <a:rPr lang="en-US" sz="1700" b="0" dirty="0">
                          <a:latin typeface="Lucida Sans" panose="020B0602030504020204" pitchFamily="34" charset="77"/>
                        </a:rPr>
                        <a:t>Turning Points</a:t>
                      </a:r>
                    </a:p>
                  </a:txBody>
                  <a:tcPr marL="68580" marR="68580" marT="34290" marB="34290">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256305042"/>
                  </a:ext>
                </a:extLst>
              </a:tr>
              <a:tr h="606830">
                <a:tc>
                  <a:txBody>
                    <a:bodyPr/>
                    <a:lstStyle/>
                    <a:p>
                      <a:r>
                        <a:rPr lang="en-US" sz="1700" b="0" dirty="0">
                          <a:latin typeface="Lucida Sans" panose="020B0602030504020204" pitchFamily="34" charset="77"/>
                        </a:rPr>
                        <a:t>3. Micro-Level</a:t>
                      </a:r>
                    </a:p>
                  </a:txBody>
                  <a:tcPr marL="68580" marR="68580" marT="34290" marB="34290">
                    <a:lnL>
                      <a:noFill/>
                    </a:lnL>
                    <a:lnR>
                      <a:noFill/>
                    </a:lnR>
                    <a:lnT>
                      <a:noFill/>
                    </a:lnT>
                    <a:lnB w="12700" cmpd="sng">
                      <a:noFill/>
                    </a:lnB>
                    <a:lnTlToBr w="12700" cmpd="sng">
                      <a:noFill/>
                      <a:prstDash val="solid"/>
                    </a:lnTlToBr>
                    <a:lnBlToTr w="12700" cmpd="sng">
                      <a:noFill/>
                      <a:prstDash val="solid"/>
                    </a:lnBlToTr>
                  </a:tcPr>
                </a:tc>
                <a:tc>
                  <a:txBody>
                    <a:bodyPr/>
                    <a:lstStyle/>
                    <a:p>
                      <a:r>
                        <a:rPr lang="en-US" sz="1700" b="0" dirty="0">
                          <a:latin typeface="Lucida Sans" panose="020B0602030504020204" pitchFamily="34" charset="77"/>
                        </a:rPr>
                        <a:t>Arousal &amp; Valence </a:t>
                      </a:r>
                    </a:p>
                  </a:txBody>
                  <a:tcPr marL="68580" marR="68580" marT="34290" marB="34290">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43046009"/>
                  </a:ext>
                </a:extLst>
              </a:tr>
            </a:tbl>
          </a:graphicData>
        </a:graphic>
      </p:graphicFrame>
      <p:pic>
        <p:nvPicPr>
          <p:cNvPr id="24" name="Picture 23">
            <a:extLst>
              <a:ext uri="{FF2B5EF4-FFF2-40B4-BE49-F238E27FC236}">
                <a16:creationId xmlns:a16="http://schemas.microsoft.com/office/drawing/2014/main" id="{4662A746-5C4C-15BE-38DE-4E3686F3B4FB}"/>
              </a:ext>
            </a:extLst>
          </p:cNvPr>
          <p:cNvPicPr>
            <a:picLocks noChangeAspect="1"/>
          </p:cNvPicPr>
          <p:nvPr/>
        </p:nvPicPr>
        <p:blipFill>
          <a:blip r:embed="rId5"/>
          <a:stretch>
            <a:fillRect/>
          </a:stretch>
        </p:blipFill>
        <p:spPr>
          <a:xfrm>
            <a:off x="4494276" y="2607011"/>
            <a:ext cx="4314825" cy="1562100"/>
          </a:xfrm>
          <a:prstGeom prst="rect">
            <a:avLst/>
          </a:prstGeom>
        </p:spPr>
      </p:pic>
      <p:sp>
        <p:nvSpPr>
          <p:cNvPr id="25" name="TextBox 24">
            <a:extLst>
              <a:ext uri="{FF2B5EF4-FFF2-40B4-BE49-F238E27FC236}">
                <a16:creationId xmlns:a16="http://schemas.microsoft.com/office/drawing/2014/main" id="{820A3444-48D7-7B62-90C6-8061F178970C}"/>
              </a:ext>
            </a:extLst>
          </p:cNvPr>
          <p:cNvSpPr txBox="1"/>
          <p:nvPr/>
        </p:nvSpPr>
        <p:spPr>
          <a:xfrm>
            <a:off x="552203" y="2304648"/>
            <a:ext cx="3281668" cy="323165"/>
          </a:xfrm>
          <a:prstGeom prst="rect">
            <a:avLst/>
          </a:prstGeom>
          <a:noFill/>
        </p:spPr>
        <p:txBody>
          <a:bodyPr wrap="none" rtlCol="0">
            <a:spAutoFit/>
          </a:bodyPr>
          <a:lstStyle/>
          <a:p>
            <a:r>
              <a:rPr lang="en-US" sz="1500" b="1" dirty="0">
                <a:solidFill>
                  <a:schemeClr val="accent2">
                    <a:lumMod val="75000"/>
                  </a:schemeClr>
                </a:solidFill>
                <a:latin typeface="+mn-lt"/>
              </a:rPr>
              <a:t>Three aspects of plot progression</a:t>
            </a:r>
          </a:p>
        </p:txBody>
      </p:sp>
      <p:sp>
        <p:nvSpPr>
          <p:cNvPr id="4" name="TextBox 3">
            <a:extLst>
              <a:ext uri="{FF2B5EF4-FFF2-40B4-BE49-F238E27FC236}">
                <a16:creationId xmlns:a16="http://schemas.microsoft.com/office/drawing/2014/main" id="{53BD9153-94C0-C205-9C2B-A337E362AB85}"/>
              </a:ext>
            </a:extLst>
          </p:cNvPr>
          <p:cNvSpPr txBox="1"/>
          <p:nvPr/>
        </p:nvSpPr>
        <p:spPr>
          <a:xfrm>
            <a:off x="1361051" y="4677500"/>
            <a:ext cx="4855816" cy="415498"/>
          </a:xfrm>
          <a:prstGeom prst="rect">
            <a:avLst/>
          </a:prstGeom>
          <a:noFill/>
        </p:spPr>
        <p:txBody>
          <a:bodyPr wrap="none" rtlCol="0">
            <a:spAutoFit/>
          </a:bodyPr>
          <a:lstStyle/>
          <a:p>
            <a:r>
              <a:rPr lang="en-US" sz="1050" i="1"/>
              <a:t>Are Large Language Models Capable of Generating Human-Level Narratives?</a:t>
            </a:r>
          </a:p>
          <a:p>
            <a:r>
              <a:rPr lang="en-US" sz="1050"/>
              <a:t>Tian, ... May, ... et al. EMNLP ’24. </a:t>
            </a:r>
            <a:r>
              <a:rPr lang="en-US" sz="1050" b="1"/>
              <a:t>Outstanding Paper Award</a:t>
            </a:r>
            <a:endParaRPr lang="en-US" sz="1050" i="1"/>
          </a:p>
        </p:txBody>
      </p:sp>
      <p:pic>
        <p:nvPicPr>
          <p:cNvPr id="2" name="Google Shape;420;p53">
            <a:extLst>
              <a:ext uri="{FF2B5EF4-FFF2-40B4-BE49-F238E27FC236}">
                <a16:creationId xmlns:a16="http://schemas.microsoft.com/office/drawing/2014/main" id="{9665477D-2F4A-6C2D-5649-D80A901DDA27}"/>
              </a:ext>
            </a:extLst>
          </p:cNvPr>
          <p:cNvPicPr preferRelativeResize="0"/>
          <p:nvPr/>
        </p:nvPicPr>
        <p:blipFill>
          <a:blip r:embed="rId6">
            <a:alphaModFix/>
          </a:blip>
          <a:stretch>
            <a:fillRect/>
          </a:stretch>
        </p:blipFill>
        <p:spPr>
          <a:xfrm>
            <a:off x="473202" y="4367225"/>
            <a:ext cx="697159" cy="673882"/>
          </a:xfrm>
          <a:prstGeom prst="rect">
            <a:avLst/>
          </a:prstGeom>
          <a:noFill/>
          <a:ln>
            <a:noFill/>
          </a:ln>
        </p:spPr>
      </p:pic>
    </p:spTree>
    <p:extLst>
      <p:ext uri="{BB962C8B-B14F-4D97-AF65-F5344CB8AC3E}">
        <p14:creationId xmlns:p14="http://schemas.microsoft.com/office/powerpoint/2010/main" val="5356916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68003AAD-9780-0740-894B-6DC541B6607B}"/>
              </a:ext>
            </a:extLst>
          </p:cNvPr>
          <p:cNvSpPr>
            <a:spLocks noGrp="1"/>
          </p:cNvSpPr>
          <p:nvPr>
            <p:ph type="title"/>
          </p:nvPr>
        </p:nvSpPr>
        <p:spPr>
          <a:xfrm>
            <a:off x="473202" y="135443"/>
            <a:ext cx="8042148" cy="492465"/>
          </a:xfrm>
        </p:spPr>
        <p:txBody>
          <a:bodyPr anchor="b">
            <a:noAutofit/>
          </a:bodyPr>
          <a:lstStyle/>
          <a:p>
            <a:r>
              <a:rPr lang="en-US" b="1" dirty="0">
                <a:latin typeface="+mn-lt"/>
              </a:rPr>
              <a:t>1 – Story Arc (Macro-Level)</a:t>
            </a:r>
          </a:p>
        </p:txBody>
      </p:sp>
      <p:sp>
        <p:nvSpPr>
          <p:cNvPr id="6" name="Content Placeholder 2">
            <a:extLst>
              <a:ext uri="{FF2B5EF4-FFF2-40B4-BE49-F238E27FC236}">
                <a16:creationId xmlns:a16="http://schemas.microsoft.com/office/drawing/2014/main" id="{3A81FD2B-46A0-BD4F-AAAB-C8BA2BBF7770}"/>
              </a:ext>
            </a:extLst>
          </p:cNvPr>
          <p:cNvSpPr>
            <a:spLocks noGrp="1"/>
          </p:cNvSpPr>
          <p:nvPr>
            <p:ph idx="1"/>
          </p:nvPr>
        </p:nvSpPr>
        <p:spPr>
          <a:xfrm>
            <a:off x="688575" y="3806005"/>
            <a:ext cx="7337968" cy="709588"/>
          </a:xfrm>
        </p:spPr>
        <p:txBody>
          <a:bodyPr anchor="t">
            <a:normAutofit fontScale="92500" lnSpcReduction="10000"/>
          </a:bodyPr>
          <a:lstStyle/>
          <a:p>
            <a:pPr marL="0" indent="0">
              <a:lnSpc>
                <a:spcPct val="150000"/>
              </a:lnSpc>
              <a:buNone/>
            </a:pPr>
            <a:r>
              <a:rPr lang="en-US" sz="1350" dirty="0">
                <a:solidFill>
                  <a:schemeClr val="accent2"/>
                </a:solidFill>
              </a:rPr>
              <a:t>Story arc types </a:t>
            </a:r>
            <a:r>
              <a:rPr lang="en-US" sz="1350" dirty="0"/>
              <a:t>that are derived from Vonnegut (1995) and are characterized by transformations of the story’s protagonist(s) across the plot progression.</a:t>
            </a:r>
            <a:endParaRPr lang="en-US" sz="1350" dirty="0">
              <a:solidFill>
                <a:schemeClr val="accent2"/>
              </a:solidFill>
            </a:endParaRPr>
          </a:p>
        </p:txBody>
      </p:sp>
      <p:sp>
        <p:nvSpPr>
          <p:cNvPr id="3" name="Slide Number Placeholder 2">
            <a:extLst>
              <a:ext uri="{FF2B5EF4-FFF2-40B4-BE49-F238E27FC236}">
                <a16:creationId xmlns:a16="http://schemas.microsoft.com/office/drawing/2014/main" id="{F08FD14F-46B9-5E4B-896B-1D3BEB4ACEAB}"/>
              </a:ext>
            </a:extLst>
          </p:cNvPr>
          <p:cNvSpPr>
            <a:spLocks noGrp="1"/>
          </p:cNvSpPr>
          <p:nvPr>
            <p:ph type="sldNum" sz="quarter" idx="12"/>
          </p:nvPr>
        </p:nvSpPr>
        <p:spPr>
          <a:xfrm>
            <a:off x="6457950" y="4767263"/>
            <a:ext cx="2057400" cy="273844"/>
          </a:xfrm>
          <a:prstGeom prst="rect">
            <a:avLst/>
          </a:prstGeom>
        </p:spPr>
        <p:txBody>
          <a:bodyPr vert="horz" lIns="68580" tIns="34290" rIns="68580" bIns="34290" rtlCol="0" anchor="ctr"/>
          <a:lstStyle>
            <a:defPPr>
              <a:defRPr lang="en-US"/>
            </a:defPPr>
            <a:lvl1pPr marL="0" algn="r" defTabSz="685800" rtl="0" eaLnBrk="1" latinLnBrk="0" hangingPunct="1">
              <a:defRPr sz="900" kern="1200">
                <a:solidFill>
                  <a:schemeClr val="tx1">
                    <a:tint val="75000"/>
                  </a:schemeClr>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fld id="{58EB6138-D2D2-C14F-9AF2-28ABE3A3A064}" type="slidenum">
              <a:rPr lang="en-US" smtClean="0"/>
              <a:pPr/>
              <a:t>39</a:t>
            </a:fld>
            <a:endParaRPr lang="en-US"/>
          </a:p>
        </p:txBody>
      </p:sp>
      <p:pic>
        <p:nvPicPr>
          <p:cNvPr id="7" name="Picture 6">
            <a:extLst>
              <a:ext uri="{FF2B5EF4-FFF2-40B4-BE49-F238E27FC236}">
                <a16:creationId xmlns:a16="http://schemas.microsoft.com/office/drawing/2014/main" id="{89B33A7F-BD35-0830-F7AD-C425719A8671}"/>
              </a:ext>
            </a:extLst>
          </p:cNvPr>
          <p:cNvPicPr>
            <a:picLocks noChangeAspect="1"/>
          </p:cNvPicPr>
          <p:nvPr/>
        </p:nvPicPr>
        <p:blipFill>
          <a:blip r:embed="rId3"/>
          <a:stretch>
            <a:fillRect/>
          </a:stretch>
        </p:blipFill>
        <p:spPr>
          <a:xfrm>
            <a:off x="547555" y="1677830"/>
            <a:ext cx="7825839" cy="2042869"/>
          </a:xfrm>
          <a:prstGeom prst="rect">
            <a:avLst/>
          </a:prstGeom>
        </p:spPr>
      </p:pic>
      <p:pic>
        <p:nvPicPr>
          <p:cNvPr id="8194" name="Picture 2" descr="Kurt Vonnegut on The Shapes of Stories ...">
            <a:extLst>
              <a:ext uri="{FF2B5EF4-FFF2-40B4-BE49-F238E27FC236}">
                <a16:creationId xmlns:a16="http://schemas.microsoft.com/office/drawing/2014/main" id="{BCE8EE12-4720-5493-D064-CA229FA3720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2286" y="583844"/>
            <a:ext cx="2509739" cy="113805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EB74A44-BAB1-EC9A-DD06-7F3F4EFEC705}"/>
              </a:ext>
            </a:extLst>
          </p:cNvPr>
          <p:cNvSpPr txBox="1"/>
          <p:nvPr/>
        </p:nvSpPr>
        <p:spPr>
          <a:xfrm>
            <a:off x="3725243" y="908054"/>
            <a:ext cx="1848583" cy="415498"/>
          </a:xfrm>
          <a:prstGeom prst="rect">
            <a:avLst/>
          </a:prstGeom>
          <a:noFill/>
        </p:spPr>
        <p:txBody>
          <a:bodyPr wrap="none" rtlCol="0">
            <a:spAutoFit/>
          </a:bodyPr>
          <a:lstStyle/>
          <a:p>
            <a:r>
              <a:rPr lang="en-US" sz="1050"/>
              <a:t>“shapes of stories”</a:t>
            </a:r>
          </a:p>
          <a:p>
            <a:r>
              <a:rPr lang="en-US" sz="1050"/>
              <a:t>(worth a watch on youtube!)</a:t>
            </a:r>
          </a:p>
        </p:txBody>
      </p:sp>
    </p:spTree>
    <p:extLst>
      <p:ext uri="{BB962C8B-B14F-4D97-AF65-F5344CB8AC3E}">
        <p14:creationId xmlns:p14="http://schemas.microsoft.com/office/powerpoint/2010/main" val="195996743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68003AAD-9780-0740-894B-6DC541B6607B}"/>
              </a:ext>
            </a:extLst>
          </p:cNvPr>
          <p:cNvSpPr>
            <a:spLocks noGrp="1"/>
          </p:cNvSpPr>
          <p:nvPr>
            <p:ph type="title"/>
          </p:nvPr>
        </p:nvSpPr>
        <p:spPr>
          <a:xfrm>
            <a:off x="473202" y="219536"/>
            <a:ext cx="8042148" cy="492465"/>
          </a:xfrm>
        </p:spPr>
        <p:txBody>
          <a:bodyPr anchor="b">
            <a:noAutofit/>
          </a:bodyPr>
          <a:lstStyle/>
          <a:p>
            <a:r>
              <a:rPr lang="en-US" b="1" dirty="0">
                <a:latin typeface="+mn-lt"/>
              </a:rPr>
              <a:t>2 – Turning Point (Meso-Level)</a:t>
            </a:r>
          </a:p>
        </p:txBody>
      </p:sp>
      <p:sp>
        <p:nvSpPr>
          <p:cNvPr id="6" name="Content Placeholder 2">
            <a:extLst>
              <a:ext uri="{FF2B5EF4-FFF2-40B4-BE49-F238E27FC236}">
                <a16:creationId xmlns:a16="http://schemas.microsoft.com/office/drawing/2014/main" id="{3A81FD2B-46A0-BD4F-AAAB-C8BA2BBF7770}"/>
              </a:ext>
            </a:extLst>
          </p:cNvPr>
          <p:cNvSpPr>
            <a:spLocks noGrp="1"/>
          </p:cNvSpPr>
          <p:nvPr>
            <p:ph idx="1"/>
          </p:nvPr>
        </p:nvSpPr>
        <p:spPr>
          <a:xfrm>
            <a:off x="268826" y="4006287"/>
            <a:ext cx="5122083" cy="709588"/>
          </a:xfrm>
        </p:spPr>
        <p:txBody>
          <a:bodyPr anchor="t">
            <a:noAutofit/>
          </a:bodyPr>
          <a:lstStyle/>
          <a:p>
            <a:pPr marL="0" indent="0">
              <a:lnSpc>
                <a:spcPct val="150000"/>
              </a:lnSpc>
              <a:buNone/>
            </a:pPr>
            <a:r>
              <a:rPr lang="en-US" sz="1350" dirty="0">
                <a:solidFill>
                  <a:schemeClr val="accent2"/>
                </a:solidFill>
              </a:rPr>
              <a:t>Turning Point (TP) Types: </a:t>
            </a:r>
            <a:r>
              <a:rPr lang="en-US" sz="1350" dirty="0"/>
              <a:t>a turning point is an event that significantly influences a plot progression.</a:t>
            </a:r>
          </a:p>
        </p:txBody>
      </p:sp>
      <p:sp>
        <p:nvSpPr>
          <p:cNvPr id="3" name="Slide Number Placeholder 2">
            <a:extLst>
              <a:ext uri="{FF2B5EF4-FFF2-40B4-BE49-F238E27FC236}">
                <a16:creationId xmlns:a16="http://schemas.microsoft.com/office/drawing/2014/main" id="{F08FD14F-46B9-5E4B-896B-1D3BEB4ACEAB}"/>
              </a:ext>
            </a:extLst>
          </p:cNvPr>
          <p:cNvSpPr>
            <a:spLocks noGrp="1"/>
          </p:cNvSpPr>
          <p:nvPr>
            <p:ph type="sldNum" sz="quarter" idx="12"/>
          </p:nvPr>
        </p:nvSpPr>
        <p:spPr>
          <a:xfrm>
            <a:off x="6457950" y="4767263"/>
            <a:ext cx="2057400" cy="273844"/>
          </a:xfrm>
          <a:prstGeom prst="rect">
            <a:avLst/>
          </a:prstGeom>
        </p:spPr>
        <p:txBody>
          <a:bodyPr vert="horz" lIns="68580" tIns="34290" rIns="68580" bIns="34290" rtlCol="0" anchor="ctr"/>
          <a:lstStyle>
            <a:defPPr>
              <a:defRPr lang="en-US"/>
            </a:defPPr>
            <a:lvl1pPr marL="0" algn="r" defTabSz="685800" rtl="0" eaLnBrk="1" latinLnBrk="0" hangingPunct="1">
              <a:defRPr sz="900" kern="1200">
                <a:solidFill>
                  <a:schemeClr val="tx1">
                    <a:tint val="75000"/>
                  </a:schemeClr>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fld id="{58EB6138-D2D2-C14F-9AF2-28ABE3A3A064}" type="slidenum">
              <a:rPr lang="en-US" smtClean="0"/>
              <a:pPr/>
              <a:t>40</a:t>
            </a:fld>
            <a:endParaRPr lang="en-US"/>
          </a:p>
        </p:txBody>
      </p:sp>
      <p:graphicFrame>
        <p:nvGraphicFramePr>
          <p:cNvPr id="7" name="Table 7">
            <a:extLst>
              <a:ext uri="{FF2B5EF4-FFF2-40B4-BE49-F238E27FC236}">
                <a16:creationId xmlns:a16="http://schemas.microsoft.com/office/drawing/2014/main" id="{D73816F7-83BE-B271-AF57-8A7BEAB2CD71}"/>
              </a:ext>
            </a:extLst>
          </p:cNvPr>
          <p:cNvGraphicFramePr>
            <a:graphicFrameLocks noGrp="1"/>
          </p:cNvGraphicFramePr>
          <p:nvPr>
            <p:extLst>
              <p:ext uri="{D42A27DB-BD31-4B8C-83A1-F6EECF244321}">
                <p14:modId xmlns:p14="http://schemas.microsoft.com/office/powerpoint/2010/main" val="2763547770"/>
              </p:ext>
            </p:extLst>
          </p:nvPr>
        </p:nvGraphicFramePr>
        <p:xfrm>
          <a:off x="285589" y="988746"/>
          <a:ext cx="4812329" cy="2511753"/>
        </p:xfrm>
        <a:graphic>
          <a:graphicData uri="http://schemas.openxmlformats.org/drawingml/2006/table">
            <a:tbl>
              <a:tblPr firstRow="1" bandRow="1">
                <a:tableStyleId>{0E3FDE45-AF77-4B5C-9715-49D594BDF05E}</a:tableStyleId>
              </a:tblPr>
              <a:tblGrid>
                <a:gridCol w="1593952">
                  <a:extLst>
                    <a:ext uri="{9D8B030D-6E8A-4147-A177-3AD203B41FA5}">
                      <a16:colId xmlns:a16="http://schemas.microsoft.com/office/drawing/2014/main" val="701274687"/>
                    </a:ext>
                  </a:extLst>
                </a:gridCol>
                <a:gridCol w="3218377">
                  <a:extLst>
                    <a:ext uri="{9D8B030D-6E8A-4147-A177-3AD203B41FA5}">
                      <a16:colId xmlns:a16="http://schemas.microsoft.com/office/drawing/2014/main" val="303896508"/>
                    </a:ext>
                  </a:extLst>
                </a:gridCol>
              </a:tblGrid>
              <a:tr h="260823">
                <a:tc>
                  <a:txBody>
                    <a:bodyPr/>
                    <a:lstStyle/>
                    <a:p>
                      <a:r>
                        <a:rPr lang="en-US" sz="1100" dirty="0">
                          <a:latin typeface="Lucida Sans" panose="020B0602030504020204" pitchFamily="34" charset="77"/>
                        </a:rPr>
                        <a:t>Turning Point (TP)</a:t>
                      </a:r>
                    </a:p>
                  </a:txBody>
                  <a:tcPr marL="68580" marR="68580" marT="34290" marB="34290"/>
                </a:tc>
                <a:tc>
                  <a:txBody>
                    <a:bodyPr/>
                    <a:lstStyle/>
                    <a:p>
                      <a:r>
                        <a:rPr lang="en-US" sz="1100" dirty="0">
                          <a:latin typeface="Lucida Sans" panose="020B0602030504020204" pitchFamily="34" charset="77"/>
                        </a:rPr>
                        <a:t>Description</a:t>
                      </a:r>
                    </a:p>
                  </a:txBody>
                  <a:tcPr marL="68580" marR="68580" marT="34290" marB="34290"/>
                </a:tc>
                <a:extLst>
                  <a:ext uri="{0D108BD9-81ED-4DB2-BD59-A6C34878D82A}">
                    <a16:rowId xmlns:a16="http://schemas.microsoft.com/office/drawing/2014/main" val="4264861132"/>
                  </a:ext>
                </a:extLst>
              </a:tr>
              <a:tr h="450186">
                <a:tc>
                  <a:txBody>
                    <a:bodyPr/>
                    <a:lstStyle/>
                    <a:p>
                      <a:r>
                        <a:rPr lang="en-US" sz="1100" dirty="0">
                          <a:latin typeface="Lucida Sans" panose="020B0602030504020204" pitchFamily="34" charset="77"/>
                        </a:rPr>
                        <a:t>TP1 - Opportunity</a:t>
                      </a:r>
                    </a:p>
                  </a:txBody>
                  <a:tcPr marL="68580" marR="68580" marT="34290" marB="34290"/>
                </a:tc>
                <a:tc>
                  <a:txBody>
                    <a:bodyPr/>
                    <a:lstStyle/>
                    <a:p>
                      <a:r>
                        <a:rPr lang="en-US" sz="1100" dirty="0">
                          <a:latin typeface="Lucida Sans" panose="020B0602030504020204" pitchFamily="34" charset="77"/>
                        </a:rPr>
                        <a:t>The introductory event that sets the stage for the narrative.</a:t>
                      </a:r>
                    </a:p>
                  </a:txBody>
                  <a:tcPr marL="68580" marR="68580" marT="34290" marB="34290"/>
                </a:tc>
                <a:extLst>
                  <a:ext uri="{0D108BD9-81ED-4DB2-BD59-A6C34878D82A}">
                    <a16:rowId xmlns:a16="http://schemas.microsoft.com/office/drawing/2014/main" val="2872503873"/>
                  </a:ext>
                </a:extLst>
              </a:tr>
              <a:tr h="450186">
                <a:tc>
                  <a:txBody>
                    <a:bodyPr/>
                    <a:lstStyle/>
                    <a:p>
                      <a:r>
                        <a:rPr lang="en-US" sz="1100" dirty="0">
                          <a:latin typeface="Lucida Sans" panose="020B0602030504020204" pitchFamily="34" charset="77"/>
                        </a:rPr>
                        <a:t>TP2 - Change of Plans</a:t>
                      </a:r>
                    </a:p>
                  </a:txBody>
                  <a:tcPr marL="68580" marR="68580" marT="34290" marB="34290"/>
                </a:tc>
                <a:tc>
                  <a:txBody>
                    <a:bodyPr/>
                    <a:lstStyle/>
                    <a:p>
                      <a:r>
                        <a:rPr lang="en-US" sz="1100" dirty="0">
                          <a:latin typeface="Lucida Sans" panose="020B0602030504020204" pitchFamily="34" charset="77"/>
                        </a:rPr>
                        <a:t>A pivotal moment where the main goal of the narrative is defined or altered.</a:t>
                      </a:r>
                    </a:p>
                  </a:txBody>
                  <a:tcPr marL="68580" marR="68580" marT="34290" marB="34290"/>
                </a:tc>
                <a:extLst>
                  <a:ext uri="{0D108BD9-81ED-4DB2-BD59-A6C34878D82A}">
                    <a16:rowId xmlns:a16="http://schemas.microsoft.com/office/drawing/2014/main" val="154011909"/>
                  </a:ext>
                </a:extLst>
              </a:tr>
              <a:tr h="450186">
                <a:tc>
                  <a:txBody>
                    <a:bodyPr/>
                    <a:lstStyle/>
                    <a:p>
                      <a:r>
                        <a:rPr lang="en-US" sz="1100" dirty="0">
                          <a:latin typeface="Lucida Sans" panose="020B0602030504020204" pitchFamily="34" charset="77"/>
                        </a:rPr>
                        <a:t>TP3 - Point of No Return</a:t>
                      </a:r>
                    </a:p>
                  </a:txBody>
                  <a:tcPr marL="68580" marR="68580" marT="34290" marB="34290"/>
                </a:tc>
                <a:tc>
                  <a:txBody>
                    <a:bodyPr/>
                    <a:lstStyle/>
                    <a:p>
                      <a:r>
                        <a:rPr lang="en-US" sz="1100" dirty="0">
                          <a:latin typeface="Lucida Sans" panose="020B0602030504020204" pitchFamily="34" charset="77"/>
                        </a:rPr>
                        <a:t>The commitment point beyond which the protagonists are invested in goals</a:t>
                      </a:r>
                    </a:p>
                  </a:txBody>
                  <a:tcPr marL="68580" marR="68580" marT="34290" marB="34290"/>
                </a:tc>
                <a:extLst>
                  <a:ext uri="{0D108BD9-81ED-4DB2-BD59-A6C34878D82A}">
                    <a16:rowId xmlns:a16="http://schemas.microsoft.com/office/drawing/2014/main" val="3713590402"/>
                  </a:ext>
                </a:extLst>
              </a:tr>
              <a:tr h="450186">
                <a:tc>
                  <a:txBody>
                    <a:bodyPr/>
                    <a:lstStyle/>
                    <a:p>
                      <a:r>
                        <a:rPr lang="en-US" sz="1100" dirty="0">
                          <a:latin typeface="Lucida Sans" panose="020B0602030504020204" pitchFamily="34" charset="77"/>
                        </a:rPr>
                        <a:t>TP4 - Major Setback</a:t>
                      </a:r>
                    </a:p>
                  </a:txBody>
                  <a:tcPr marL="68580" marR="68580" marT="34290" marB="34290"/>
                </a:tc>
                <a:tc>
                  <a:txBody>
                    <a:bodyPr/>
                    <a:lstStyle/>
                    <a:p>
                      <a:r>
                        <a:rPr lang="en-US" sz="1100" dirty="0">
                          <a:latin typeface="Lucida Sans" panose="020B0602030504020204" pitchFamily="34" charset="77"/>
                        </a:rPr>
                        <a:t>A critical juncture where the protagonists face significant challenges or failures.</a:t>
                      </a:r>
                    </a:p>
                  </a:txBody>
                  <a:tcPr marL="68580" marR="68580" marT="34290" marB="34290"/>
                </a:tc>
                <a:extLst>
                  <a:ext uri="{0D108BD9-81ED-4DB2-BD59-A6C34878D82A}">
                    <a16:rowId xmlns:a16="http://schemas.microsoft.com/office/drawing/2014/main" val="2959157467"/>
                  </a:ext>
                </a:extLst>
              </a:tr>
              <a:tr h="450186">
                <a:tc>
                  <a:txBody>
                    <a:bodyPr/>
                    <a:lstStyle/>
                    <a:p>
                      <a:r>
                        <a:rPr lang="en-US" sz="1100" dirty="0">
                          <a:latin typeface="Lucida Sans" panose="020B0602030504020204" pitchFamily="34" charset="77"/>
                        </a:rPr>
                        <a:t>TP5 - Climax</a:t>
                      </a:r>
                    </a:p>
                  </a:txBody>
                  <a:tcPr marL="68580" marR="68580" marT="34290" marB="34290"/>
                </a:tc>
                <a:tc>
                  <a:txBody>
                    <a:bodyPr/>
                    <a:lstStyle/>
                    <a:p>
                      <a:r>
                        <a:rPr lang="en-US" sz="1100" dirty="0">
                          <a:latin typeface="Lucida Sans" panose="020B0602030504020204" pitchFamily="34" charset="77"/>
                        </a:rPr>
                        <a:t>The peak of the narrative arc, encompassing the resolution of the central conflict.</a:t>
                      </a:r>
                    </a:p>
                  </a:txBody>
                  <a:tcPr marL="68580" marR="68580" marT="34290" marB="34290"/>
                </a:tc>
                <a:extLst>
                  <a:ext uri="{0D108BD9-81ED-4DB2-BD59-A6C34878D82A}">
                    <a16:rowId xmlns:a16="http://schemas.microsoft.com/office/drawing/2014/main" val="2479579834"/>
                  </a:ext>
                </a:extLst>
              </a:tr>
            </a:tbl>
          </a:graphicData>
        </a:graphic>
      </p:graphicFrame>
      <p:sp>
        <p:nvSpPr>
          <p:cNvPr id="4" name="Rounded Rectangle 3">
            <a:extLst>
              <a:ext uri="{FF2B5EF4-FFF2-40B4-BE49-F238E27FC236}">
                <a16:creationId xmlns:a16="http://schemas.microsoft.com/office/drawing/2014/main" id="{1F7A24C5-4A22-DDBA-FBBA-1C325342567B}"/>
              </a:ext>
            </a:extLst>
          </p:cNvPr>
          <p:cNvSpPr/>
          <p:nvPr/>
        </p:nvSpPr>
        <p:spPr>
          <a:xfrm>
            <a:off x="5595845" y="1110016"/>
            <a:ext cx="2046937" cy="5555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a:t>Burnham and Raoul break into a house</a:t>
            </a:r>
          </a:p>
        </p:txBody>
      </p:sp>
      <p:sp>
        <p:nvSpPr>
          <p:cNvPr id="8" name="Rounded Rectangle 7">
            <a:extLst>
              <a:ext uri="{FF2B5EF4-FFF2-40B4-BE49-F238E27FC236}">
                <a16:creationId xmlns:a16="http://schemas.microsoft.com/office/drawing/2014/main" id="{5A78EB1C-FC8A-909C-1869-EC7330BFB880}"/>
              </a:ext>
            </a:extLst>
          </p:cNvPr>
          <p:cNvSpPr/>
          <p:nvPr/>
        </p:nvSpPr>
        <p:spPr>
          <a:xfrm>
            <a:off x="5595845" y="1776090"/>
            <a:ext cx="2046937" cy="5555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a:t>Meg and Sarah run into their panic room</a:t>
            </a:r>
          </a:p>
        </p:txBody>
      </p:sp>
      <p:sp>
        <p:nvSpPr>
          <p:cNvPr id="9" name="Rounded Rectangle 8">
            <a:extLst>
              <a:ext uri="{FF2B5EF4-FFF2-40B4-BE49-F238E27FC236}">
                <a16:creationId xmlns:a16="http://schemas.microsoft.com/office/drawing/2014/main" id="{F95CECF3-F8C3-F56C-5E02-8FFED4352AB7}"/>
              </a:ext>
            </a:extLst>
          </p:cNvPr>
          <p:cNvSpPr/>
          <p:nvPr/>
        </p:nvSpPr>
        <p:spPr>
          <a:xfrm>
            <a:off x="5595845" y="2473365"/>
            <a:ext cx="2046937" cy="5555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a:t>Sarah has a seizure</a:t>
            </a:r>
          </a:p>
        </p:txBody>
      </p:sp>
      <p:sp>
        <p:nvSpPr>
          <p:cNvPr id="10" name="Rounded Rectangle 9">
            <a:extLst>
              <a:ext uri="{FF2B5EF4-FFF2-40B4-BE49-F238E27FC236}">
                <a16:creationId xmlns:a16="http://schemas.microsoft.com/office/drawing/2014/main" id="{B3A63A3C-DBF4-A968-9246-BD30AD6AF681}"/>
              </a:ext>
            </a:extLst>
          </p:cNvPr>
          <p:cNvSpPr/>
          <p:nvPr/>
        </p:nvSpPr>
        <p:spPr>
          <a:xfrm>
            <a:off x="5595845" y="3165124"/>
            <a:ext cx="2046937" cy="5555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a:t>Meg lies to the police to save Sarah’s life </a:t>
            </a:r>
          </a:p>
        </p:txBody>
      </p:sp>
      <p:sp>
        <p:nvSpPr>
          <p:cNvPr id="11" name="Rounded Rectangle 10">
            <a:extLst>
              <a:ext uri="{FF2B5EF4-FFF2-40B4-BE49-F238E27FC236}">
                <a16:creationId xmlns:a16="http://schemas.microsoft.com/office/drawing/2014/main" id="{A8CBE602-82C1-825A-819B-3207D942C951}"/>
              </a:ext>
            </a:extLst>
          </p:cNvPr>
          <p:cNvSpPr/>
          <p:nvPr/>
        </p:nvSpPr>
        <p:spPr>
          <a:xfrm>
            <a:off x="5595845" y="3824048"/>
            <a:ext cx="2046937" cy="5555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a:t>Burnham shoots Raoul before Raoul can shoot Meg</a:t>
            </a:r>
          </a:p>
        </p:txBody>
      </p:sp>
      <p:sp>
        <p:nvSpPr>
          <p:cNvPr id="12" name="TextBox 11">
            <a:extLst>
              <a:ext uri="{FF2B5EF4-FFF2-40B4-BE49-F238E27FC236}">
                <a16:creationId xmlns:a16="http://schemas.microsoft.com/office/drawing/2014/main" id="{8451CDDD-3FE8-1B94-9C2D-FCC858795099}"/>
              </a:ext>
            </a:extLst>
          </p:cNvPr>
          <p:cNvSpPr txBox="1"/>
          <p:nvPr/>
        </p:nvSpPr>
        <p:spPr>
          <a:xfrm>
            <a:off x="5920450" y="4361081"/>
            <a:ext cx="2412840" cy="253916"/>
          </a:xfrm>
          <a:prstGeom prst="rect">
            <a:avLst/>
          </a:prstGeom>
          <a:noFill/>
        </p:spPr>
        <p:txBody>
          <a:bodyPr wrap="none" rtlCol="0">
            <a:spAutoFit/>
          </a:bodyPr>
          <a:lstStyle/>
          <a:p>
            <a:r>
              <a:rPr lang="en-US" sz="1050"/>
              <a:t>(Adapted from Papalampidi et al. ‘19)</a:t>
            </a:r>
          </a:p>
        </p:txBody>
      </p:sp>
      <p:sp>
        <p:nvSpPr>
          <p:cNvPr id="13" name="TextBox 12">
            <a:extLst>
              <a:ext uri="{FF2B5EF4-FFF2-40B4-BE49-F238E27FC236}">
                <a16:creationId xmlns:a16="http://schemas.microsoft.com/office/drawing/2014/main" id="{5C7411BE-4F65-A68A-C262-9335103926DA}"/>
              </a:ext>
            </a:extLst>
          </p:cNvPr>
          <p:cNvSpPr txBox="1"/>
          <p:nvPr/>
        </p:nvSpPr>
        <p:spPr>
          <a:xfrm>
            <a:off x="5920450" y="706937"/>
            <a:ext cx="2776722" cy="253916"/>
          </a:xfrm>
          <a:prstGeom prst="rect">
            <a:avLst/>
          </a:prstGeom>
          <a:noFill/>
        </p:spPr>
        <p:txBody>
          <a:bodyPr wrap="none" rtlCol="0">
            <a:spAutoFit/>
          </a:bodyPr>
          <a:lstStyle/>
          <a:p>
            <a:r>
              <a:rPr lang="en-US" sz="1050"/>
              <a:t>Panic Room (Fincher, Foster, Whitaker ‘02)</a:t>
            </a:r>
          </a:p>
        </p:txBody>
      </p:sp>
      <p:pic>
        <p:nvPicPr>
          <p:cNvPr id="9218" name="Picture 2">
            <a:extLst>
              <a:ext uri="{FF2B5EF4-FFF2-40B4-BE49-F238E27FC236}">
                <a16:creationId xmlns:a16="http://schemas.microsoft.com/office/drawing/2014/main" id="{A20F5D40-BE22-AB0E-F5EB-85382478ECF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9290" r="28236"/>
          <a:stretch/>
        </p:blipFill>
        <p:spPr bwMode="auto">
          <a:xfrm>
            <a:off x="7713165" y="1199402"/>
            <a:ext cx="1310202" cy="3084698"/>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a:extLst>
              <a:ext uri="{FF2B5EF4-FFF2-40B4-BE49-F238E27FC236}">
                <a16:creationId xmlns:a16="http://schemas.microsoft.com/office/drawing/2014/main" id="{F03E5D8C-0031-D5F0-4F9C-571DD9FB87C7}"/>
              </a:ext>
            </a:extLst>
          </p:cNvPr>
          <p:cNvSpPr/>
          <p:nvPr/>
        </p:nvSpPr>
        <p:spPr>
          <a:xfrm>
            <a:off x="268827" y="2182700"/>
            <a:ext cx="5185169" cy="186008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5" name="Rectangle 14">
            <a:extLst>
              <a:ext uri="{FF2B5EF4-FFF2-40B4-BE49-F238E27FC236}">
                <a16:creationId xmlns:a16="http://schemas.microsoft.com/office/drawing/2014/main" id="{EF3C5168-9F72-D884-8EDF-A13F767F07A1}"/>
              </a:ext>
            </a:extLst>
          </p:cNvPr>
          <p:cNvSpPr/>
          <p:nvPr/>
        </p:nvSpPr>
        <p:spPr>
          <a:xfrm>
            <a:off x="276665" y="1723577"/>
            <a:ext cx="5185169" cy="234068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6" name="Rectangle 15">
            <a:extLst>
              <a:ext uri="{FF2B5EF4-FFF2-40B4-BE49-F238E27FC236}">
                <a16:creationId xmlns:a16="http://schemas.microsoft.com/office/drawing/2014/main" id="{CB028D0E-CE22-1217-FC42-0AFBDCE498AF}"/>
              </a:ext>
            </a:extLst>
          </p:cNvPr>
          <p:cNvSpPr/>
          <p:nvPr/>
        </p:nvSpPr>
        <p:spPr>
          <a:xfrm>
            <a:off x="268827" y="2631069"/>
            <a:ext cx="5185169" cy="140692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7" name="Rectangle 16">
            <a:extLst>
              <a:ext uri="{FF2B5EF4-FFF2-40B4-BE49-F238E27FC236}">
                <a16:creationId xmlns:a16="http://schemas.microsoft.com/office/drawing/2014/main" id="{69C1FCE8-1BDF-1992-AAA6-103E93F7ED1A}"/>
              </a:ext>
            </a:extLst>
          </p:cNvPr>
          <p:cNvSpPr/>
          <p:nvPr/>
        </p:nvSpPr>
        <p:spPr>
          <a:xfrm>
            <a:off x="276664" y="3104905"/>
            <a:ext cx="5185169" cy="70958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a:p>
        </p:txBody>
      </p:sp>
    </p:spTree>
    <p:extLst>
      <p:ext uri="{BB962C8B-B14F-4D97-AF65-F5344CB8AC3E}">
        <p14:creationId xmlns:p14="http://schemas.microsoft.com/office/powerpoint/2010/main" val="36417166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8" grpId="0" animBg="1"/>
      <p:bldP spid="9" grpId="0" animBg="1"/>
      <p:bldP spid="10" grpId="0" animBg="1"/>
      <p:bldP spid="11" grpId="0" animBg="1"/>
      <p:bldP spid="14" grpId="0" animBg="1"/>
      <p:bldP spid="15" grpId="0" animBg="1"/>
      <p:bldP spid="16" grpId="0" animBg="1"/>
      <p:bldP spid="17"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68003AAD-9780-0740-894B-6DC541B6607B}"/>
              </a:ext>
            </a:extLst>
          </p:cNvPr>
          <p:cNvSpPr>
            <a:spLocks noGrp="1"/>
          </p:cNvSpPr>
          <p:nvPr>
            <p:ph type="title"/>
          </p:nvPr>
        </p:nvSpPr>
        <p:spPr>
          <a:xfrm>
            <a:off x="473202" y="479640"/>
            <a:ext cx="8042148" cy="492465"/>
          </a:xfrm>
        </p:spPr>
        <p:txBody>
          <a:bodyPr anchor="b">
            <a:noAutofit/>
          </a:bodyPr>
          <a:lstStyle/>
          <a:p>
            <a:r>
              <a:rPr lang="en-US" b="1" dirty="0">
                <a:latin typeface="+mn-lt"/>
              </a:rPr>
              <a:t>3 – Affective Dimensions (Micro-Level)</a:t>
            </a:r>
          </a:p>
        </p:txBody>
      </p:sp>
      <p:sp>
        <p:nvSpPr>
          <p:cNvPr id="3" name="Slide Number Placeholder 2">
            <a:extLst>
              <a:ext uri="{FF2B5EF4-FFF2-40B4-BE49-F238E27FC236}">
                <a16:creationId xmlns:a16="http://schemas.microsoft.com/office/drawing/2014/main" id="{F08FD14F-46B9-5E4B-896B-1D3BEB4ACEAB}"/>
              </a:ext>
            </a:extLst>
          </p:cNvPr>
          <p:cNvSpPr>
            <a:spLocks noGrp="1"/>
          </p:cNvSpPr>
          <p:nvPr>
            <p:ph type="sldNum" sz="quarter" idx="12"/>
          </p:nvPr>
        </p:nvSpPr>
        <p:spPr>
          <a:xfrm>
            <a:off x="6457950" y="4767263"/>
            <a:ext cx="2057400" cy="273844"/>
          </a:xfrm>
          <a:prstGeom prst="rect">
            <a:avLst/>
          </a:prstGeom>
        </p:spPr>
        <p:txBody>
          <a:bodyPr vert="horz" lIns="68580" tIns="34290" rIns="68580" bIns="34290" rtlCol="0" anchor="ctr"/>
          <a:lstStyle>
            <a:defPPr>
              <a:defRPr lang="en-US"/>
            </a:defPPr>
            <a:lvl1pPr marL="0" algn="r" defTabSz="685800" rtl="0" eaLnBrk="1" latinLnBrk="0" hangingPunct="1">
              <a:defRPr sz="900" kern="1200">
                <a:solidFill>
                  <a:schemeClr val="tx1">
                    <a:tint val="75000"/>
                  </a:schemeClr>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fld id="{58EB6138-D2D2-C14F-9AF2-28ABE3A3A064}" type="slidenum">
              <a:rPr lang="en-US" smtClean="0"/>
              <a:pPr/>
              <a:t>41</a:t>
            </a:fld>
            <a:endParaRPr lang="en-US"/>
          </a:p>
        </p:txBody>
      </p:sp>
      <p:sp>
        <p:nvSpPr>
          <p:cNvPr id="8" name="Content Placeholder 7">
            <a:extLst>
              <a:ext uri="{FF2B5EF4-FFF2-40B4-BE49-F238E27FC236}">
                <a16:creationId xmlns:a16="http://schemas.microsoft.com/office/drawing/2014/main" id="{BA982830-ACE3-1F81-5E9C-300FE34D6A62}"/>
              </a:ext>
            </a:extLst>
          </p:cNvPr>
          <p:cNvSpPr>
            <a:spLocks noGrp="1"/>
          </p:cNvSpPr>
          <p:nvPr>
            <p:ph idx="1"/>
          </p:nvPr>
        </p:nvSpPr>
        <p:spPr>
          <a:xfrm>
            <a:off x="596967" y="2089742"/>
            <a:ext cx="3975034" cy="1543205"/>
          </a:xfrm>
        </p:spPr>
        <p:txBody>
          <a:bodyPr>
            <a:normAutofit fontScale="85000" lnSpcReduction="20000"/>
          </a:bodyPr>
          <a:lstStyle/>
          <a:p>
            <a:pPr marL="0" indent="0">
              <a:buNone/>
            </a:pPr>
            <a:r>
              <a:rPr lang="en-US" dirty="0"/>
              <a:t>For each sentence …</a:t>
            </a:r>
          </a:p>
          <a:p>
            <a:r>
              <a:rPr lang="en-US" dirty="0">
                <a:highlight>
                  <a:srgbClr val="F8BCA2"/>
                </a:highlight>
              </a:rPr>
              <a:t>Arousal:</a:t>
            </a:r>
            <a:r>
              <a:rPr lang="en-US" dirty="0"/>
              <a:t> </a:t>
            </a:r>
          </a:p>
          <a:p>
            <a:pPr lvl="1"/>
            <a:r>
              <a:rPr lang="en-US" dirty="0"/>
              <a:t>intensity of emotions conveyed</a:t>
            </a:r>
            <a:endParaRPr lang="en-US" sz="2100" dirty="0"/>
          </a:p>
          <a:p>
            <a:r>
              <a:rPr lang="en-US" dirty="0">
                <a:highlight>
                  <a:srgbClr val="F8BCA2"/>
                </a:highlight>
              </a:rPr>
              <a:t>Valence: </a:t>
            </a:r>
          </a:p>
          <a:p>
            <a:pPr lvl="1"/>
            <a:r>
              <a:rPr lang="en-US" dirty="0"/>
              <a:t>positivity or negativity of the emotions expressed</a:t>
            </a:r>
          </a:p>
        </p:txBody>
      </p:sp>
      <p:pic>
        <p:nvPicPr>
          <p:cNvPr id="7170" name="Picture 2">
            <a:extLst>
              <a:ext uri="{FF2B5EF4-FFF2-40B4-BE49-F238E27FC236}">
                <a16:creationId xmlns:a16="http://schemas.microsoft.com/office/drawing/2014/main" id="{D97ACD66-FE42-C100-D0D5-0216288652A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17984" y="1368438"/>
            <a:ext cx="3797366" cy="2590499"/>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FCA7F114-2971-71D2-0C60-A876586AB6CB}"/>
              </a:ext>
            </a:extLst>
          </p:cNvPr>
          <p:cNvSpPr txBox="1"/>
          <p:nvPr/>
        </p:nvSpPr>
        <p:spPr>
          <a:xfrm>
            <a:off x="5766519" y="3947601"/>
            <a:ext cx="1689886" cy="253916"/>
          </a:xfrm>
          <a:prstGeom prst="rect">
            <a:avLst/>
          </a:prstGeom>
          <a:noFill/>
        </p:spPr>
        <p:txBody>
          <a:bodyPr wrap="none" rtlCol="0">
            <a:spAutoFit/>
          </a:bodyPr>
          <a:lstStyle/>
          <a:p>
            <a:r>
              <a:rPr lang="en-US" sz="1050"/>
              <a:t>from Yu et al. NAACL ‘16</a:t>
            </a:r>
          </a:p>
        </p:txBody>
      </p:sp>
      <p:sp>
        <p:nvSpPr>
          <p:cNvPr id="7" name="Content Placeholder 7">
            <a:extLst>
              <a:ext uri="{FF2B5EF4-FFF2-40B4-BE49-F238E27FC236}">
                <a16:creationId xmlns:a16="http://schemas.microsoft.com/office/drawing/2014/main" id="{C6097987-17A1-0A24-BB28-CCCDAD4AB942}"/>
              </a:ext>
            </a:extLst>
          </p:cNvPr>
          <p:cNvSpPr txBox="1">
            <a:spLocks/>
          </p:cNvSpPr>
          <p:nvPr/>
        </p:nvSpPr>
        <p:spPr bwMode="auto">
          <a:xfrm>
            <a:off x="596966" y="3701368"/>
            <a:ext cx="2858240" cy="4924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normAutofit fontScale="77500" lnSpcReduction="20000"/>
          </a:bodyPr>
          <a:lstStyle>
            <a:lvl1pPr marL="342900" indent="-342900" algn="l" rtl="0" eaLnBrk="1" fontAlgn="base" hangingPunct="1">
              <a:spcBef>
                <a:spcPct val="20000"/>
              </a:spcBef>
              <a:spcAft>
                <a:spcPct val="0"/>
              </a:spcAft>
              <a:buFont typeface="Arial" panose="020B0604020202020204" pitchFamily="34" charset="0"/>
              <a:buChar char="•"/>
              <a:defRPr sz="28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100" dirty="0"/>
              <a:t>Labeled with NRC VAD lexicon (Mohammad, ‘18)</a:t>
            </a:r>
          </a:p>
        </p:txBody>
      </p:sp>
    </p:spTree>
    <p:extLst>
      <p:ext uri="{BB962C8B-B14F-4D97-AF65-F5344CB8AC3E}">
        <p14:creationId xmlns:p14="http://schemas.microsoft.com/office/powerpoint/2010/main" val="213976279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68003AAD-9780-0740-894B-6DC541B6607B}"/>
              </a:ext>
            </a:extLst>
          </p:cNvPr>
          <p:cNvSpPr>
            <a:spLocks noGrp="1"/>
          </p:cNvSpPr>
          <p:nvPr>
            <p:ph type="title"/>
          </p:nvPr>
        </p:nvSpPr>
        <p:spPr>
          <a:xfrm>
            <a:off x="473202" y="479640"/>
            <a:ext cx="8042148" cy="492465"/>
          </a:xfrm>
        </p:spPr>
        <p:txBody>
          <a:bodyPr anchor="b">
            <a:noAutofit/>
          </a:bodyPr>
          <a:lstStyle/>
          <a:p>
            <a:r>
              <a:rPr lang="en-US" b="1" dirty="0">
                <a:latin typeface="+mn-lt"/>
              </a:rPr>
              <a:t>Study Procedure</a:t>
            </a:r>
          </a:p>
        </p:txBody>
      </p:sp>
      <p:sp>
        <p:nvSpPr>
          <p:cNvPr id="3" name="Slide Number Placeholder 2">
            <a:extLst>
              <a:ext uri="{FF2B5EF4-FFF2-40B4-BE49-F238E27FC236}">
                <a16:creationId xmlns:a16="http://schemas.microsoft.com/office/drawing/2014/main" id="{F08FD14F-46B9-5E4B-896B-1D3BEB4ACEAB}"/>
              </a:ext>
            </a:extLst>
          </p:cNvPr>
          <p:cNvSpPr>
            <a:spLocks noGrp="1"/>
          </p:cNvSpPr>
          <p:nvPr>
            <p:ph type="sldNum" sz="quarter" idx="12"/>
          </p:nvPr>
        </p:nvSpPr>
        <p:spPr>
          <a:xfrm>
            <a:off x="6457950" y="4767263"/>
            <a:ext cx="2057400" cy="273844"/>
          </a:xfrm>
          <a:prstGeom prst="rect">
            <a:avLst/>
          </a:prstGeom>
        </p:spPr>
        <p:txBody>
          <a:bodyPr vert="horz" lIns="68580" tIns="34290" rIns="68580" bIns="34290" rtlCol="0" anchor="ctr"/>
          <a:lstStyle>
            <a:defPPr>
              <a:defRPr lang="en-US"/>
            </a:defPPr>
            <a:lvl1pPr marL="0" algn="r" defTabSz="685800" rtl="0" eaLnBrk="1" latinLnBrk="0" hangingPunct="1">
              <a:defRPr sz="900" kern="1200">
                <a:solidFill>
                  <a:schemeClr val="tx1">
                    <a:tint val="75000"/>
                  </a:schemeClr>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fld id="{58EB6138-D2D2-C14F-9AF2-28ABE3A3A064}" type="slidenum">
              <a:rPr lang="en-US" smtClean="0"/>
              <a:pPr/>
              <a:t>42</a:t>
            </a:fld>
            <a:endParaRPr lang="en-US"/>
          </a:p>
        </p:txBody>
      </p:sp>
      <p:sp>
        <p:nvSpPr>
          <p:cNvPr id="6" name="TextBox 5">
            <a:extLst>
              <a:ext uri="{FF2B5EF4-FFF2-40B4-BE49-F238E27FC236}">
                <a16:creationId xmlns:a16="http://schemas.microsoft.com/office/drawing/2014/main" id="{CE5DAACE-F78E-42E3-125E-B3706CAFE960}"/>
              </a:ext>
            </a:extLst>
          </p:cNvPr>
          <p:cNvSpPr txBox="1"/>
          <p:nvPr/>
        </p:nvSpPr>
        <p:spPr>
          <a:xfrm>
            <a:off x="473202" y="1214495"/>
            <a:ext cx="6186309" cy="369332"/>
          </a:xfrm>
          <a:prstGeom prst="rect">
            <a:avLst/>
          </a:prstGeom>
          <a:noFill/>
        </p:spPr>
        <p:txBody>
          <a:bodyPr wrap="none" rtlCol="0">
            <a:spAutoFit/>
          </a:bodyPr>
          <a:lstStyle/>
          <a:p>
            <a:r>
              <a:rPr lang="en-US" sz="1800" b="1" dirty="0">
                <a:latin typeface="+mn-lt"/>
              </a:rPr>
              <a:t>Create/Obtain Human &amp; Model Narratives From Movies</a:t>
            </a:r>
          </a:p>
        </p:txBody>
      </p:sp>
      <p:sp>
        <p:nvSpPr>
          <p:cNvPr id="7" name="TextBox 6">
            <a:extLst>
              <a:ext uri="{FF2B5EF4-FFF2-40B4-BE49-F238E27FC236}">
                <a16:creationId xmlns:a16="http://schemas.microsoft.com/office/drawing/2014/main" id="{E135B1D9-C5ED-D7BC-C19E-B887395FD45B}"/>
              </a:ext>
            </a:extLst>
          </p:cNvPr>
          <p:cNvSpPr txBox="1"/>
          <p:nvPr/>
        </p:nvSpPr>
        <p:spPr>
          <a:xfrm>
            <a:off x="473202" y="2827160"/>
            <a:ext cx="1402948" cy="369332"/>
          </a:xfrm>
          <a:prstGeom prst="rect">
            <a:avLst/>
          </a:prstGeom>
          <a:noFill/>
        </p:spPr>
        <p:txBody>
          <a:bodyPr wrap="none" rtlCol="0">
            <a:spAutoFit/>
          </a:bodyPr>
          <a:lstStyle/>
          <a:p>
            <a:r>
              <a:rPr lang="en-US" sz="1800" b="1" dirty="0">
                <a:latin typeface="+mn-lt"/>
              </a:rPr>
              <a:t>Annotation</a:t>
            </a:r>
          </a:p>
        </p:txBody>
      </p:sp>
      <p:graphicFrame>
        <p:nvGraphicFramePr>
          <p:cNvPr id="8" name="Table 9">
            <a:extLst>
              <a:ext uri="{FF2B5EF4-FFF2-40B4-BE49-F238E27FC236}">
                <a16:creationId xmlns:a16="http://schemas.microsoft.com/office/drawing/2014/main" id="{72C790FF-DFD8-8E93-D167-B8228AC962B3}"/>
              </a:ext>
            </a:extLst>
          </p:cNvPr>
          <p:cNvGraphicFramePr>
            <a:graphicFrameLocks noGrp="1"/>
          </p:cNvGraphicFramePr>
          <p:nvPr/>
        </p:nvGraphicFramePr>
        <p:xfrm>
          <a:off x="722592" y="3368693"/>
          <a:ext cx="5666851" cy="1501140"/>
        </p:xfrm>
        <a:graphic>
          <a:graphicData uri="http://schemas.openxmlformats.org/drawingml/2006/table">
            <a:tbl>
              <a:tblPr firstRow="1" bandRow="1">
                <a:tableStyleId>{0E3FDE45-AF77-4B5C-9715-49D594BDF05E}</a:tableStyleId>
              </a:tblPr>
              <a:tblGrid>
                <a:gridCol w="2267522">
                  <a:extLst>
                    <a:ext uri="{9D8B030D-6E8A-4147-A177-3AD203B41FA5}">
                      <a16:colId xmlns:a16="http://schemas.microsoft.com/office/drawing/2014/main" val="2888252854"/>
                    </a:ext>
                  </a:extLst>
                </a:gridCol>
                <a:gridCol w="3399329">
                  <a:extLst>
                    <a:ext uri="{9D8B030D-6E8A-4147-A177-3AD203B41FA5}">
                      <a16:colId xmlns:a16="http://schemas.microsoft.com/office/drawing/2014/main" val="1997177303"/>
                    </a:ext>
                  </a:extLst>
                </a:gridCol>
              </a:tblGrid>
              <a:tr h="320040">
                <a:tc>
                  <a:txBody>
                    <a:bodyPr/>
                    <a:lstStyle/>
                    <a:p>
                      <a:r>
                        <a:rPr lang="en-US" sz="1700" b="0" dirty="0">
                          <a:latin typeface="Lucida Sans" panose="020B0602030504020204" pitchFamily="34" charset="77"/>
                        </a:rPr>
                        <a:t>1. Story Arcs</a:t>
                      </a:r>
                    </a:p>
                  </a:txBody>
                  <a:tcPr marL="68580" marR="68580" marT="34290" marB="34290"/>
                </a:tc>
                <a:tc>
                  <a:txBody>
                    <a:bodyPr/>
                    <a:lstStyle/>
                    <a:p>
                      <a:r>
                        <a:rPr lang="en-US" sz="1700" b="0" dirty="0">
                          <a:latin typeface="Lucida Sans" panose="020B0602030504020204" pitchFamily="34" charset="77"/>
                        </a:rPr>
                        <a:t>Human Expert (with/after TP)</a:t>
                      </a:r>
                    </a:p>
                  </a:txBody>
                  <a:tcPr marL="68580" marR="68580" marT="34290" marB="34290"/>
                </a:tc>
                <a:extLst>
                  <a:ext uri="{0D108BD9-81ED-4DB2-BD59-A6C34878D82A}">
                    <a16:rowId xmlns:a16="http://schemas.microsoft.com/office/drawing/2014/main" val="4110569914"/>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700" b="0" dirty="0">
                          <a:latin typeface="Lucida Sans" panose="020B0602030504020204" pitchFamily="34" charset="77"/>
                        </a:rPr>
                        <a:t>2. Turning Points</a:t>
                      </a:r>
                    </a:p>
                  </a:txBody>
                  <a:tcPr marL="68580" marR="68580" marT="34290" marB="34290"/>
                </a:tc>
                <a:tc>
                  <a:txBody>
                    <a:bodyPr/>
                    <a:lstStyle/>
                    <a:p>
                      <a:r>
                        <a:rPr lang="en-US" sz="1700" b="0" dirty="0">
                          <a:latin typeface="Lucida Sans" panose="020B0602030504020204" pitchFamily="34" charset="77"/>
                        </a:rPr>
                        <a:t>Human Expert</a:t>
                      </a:r>
                    </a:p>
                  </a:txBody>
                  <a:tcPr marL="68580" marR="68580" marT="34290" marB="34290"/>
                </a:tc>
                <a:extLst>
                  <a:ext uri="{0D108BD9-81ED-4DB2-BD59-A6C34878D82A}">
                    <a16:rowId xmlns:a16="http://schemas.microsoft.com/office/drawing/2014/main" val="2256305042"/>
                  </a:ext>
                </a:extLst>
              </a:tr>
              <a:tr h="5715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700" b="0" dirty="0">
                          <a:latin typeface="Lucida Sans" panose="020B0602030504020204" pitchFamily="34" charset="77"/>
                        </a:rPr>
                        <a:t>3. Arousal &amp; Valence </a:t>
                      </a:r>
                    </a:p>
                  </a:txBody>
                  <a:tcPr marL="68580" marR="68580" marT="34290" marB="34290"/>
                </a:tc>
                <a:tc>
                  <a:txBody>
                    <a:bodyPr/>
                    <a:lstStyle/>
                    <a:p>
                      <a:r>
                        <a:rPr lang="en-US" sz="1700" b="0" dirty="0">
                          <a:latin typeface="Lucida Sans" panose="020B0602030504020204" pitchFamily="34" charset="77"/>
                        </a:rPr>
                        <a:t>Smoothed lexicon analysis over generated relevant adjectives</a:t>
                      </a:r>
                    </a:p>
                  </a:txBody>
                  <a:tcPr marL="68580" marR="68580" marT="34290" marB="34290"/>
                </a:tc>
                <a:extLst>
                  <a:ext uri="{0D108BD9-81ED-4DB2-BD59-A6C34878D82A}">
                    <a16:rowId xmlns:a16="http://schemas.microsoft.com/office/drawing/2014/main" val="3043046009"/>
                  </a:ext>
                </a:extLst>
              </a:tr>
            </a:tbl>
          </a:graphicData>
        </a:graphic>
      </p:graphicFrame>
      <p:sp>
        <p:nvSpPr>
          <p:cNvPr id="10" name="TextBox 9">
            <a:extLst>
              <a:ext uri="{FF2B5EF4-FFF2-40B4-BE49-F238E27FC236}">
                <a16:creationId xmlns:a16="http://schemas.microsoft.com/office/drawing/2014/main" id="{1B52EC7D-10DF-B368-B0F4-E2A3FAE3117D}"/>
              </a:ext>
            </a:extLst>
          </p:cNvPr>
          <p:cNvSpPr txBox="1"/>
          <p:nvPr/>
        </p:nvSpPr>
        <p:spPr>
          <a:xfrm>
            <a:off x="653653" y="1671888"/>
            <a:ext cx="6954441" cy="1200329"/>
          </a:xfrm>
          <a:prstGeom prst="rect">
            <a:avLst/>
          </a:prstGeom>
          <a:noFill/>
        </p:spPr>
        <p:txBody>
          <a:bodyPr wrap="square" rtlCol="0">
            <a:spAutoFit/>
          </a:bodyPr>
          <a:lstStyle/>
          <a:p>
            <a:pPr marL="257175" indent="-257175">
              <a:buFont typeface="Arial" panose="020B0604020202020204" pitchFamily="34" charset="0"/>
              <a:buChar char="•"/>
            </a:pPr>
            <a:r>
              <a:rPr lang="en-US" sz="1800" dirty="0">
                <a:latin typeface="+mn-lt"/>
              </a:rPr>
              <a:t>Condensed movie synopses (not super popular ones)</a:t>
            </a:r>
          </a:p>
          <a:p>
            <a:pPr marL="257175" indent="-257175">
              <a:buFont typeface="Arial" panose="020B0604020202020204" pitchFamily="34" charset="0"/>
              <a:buChar char="•"/>
            </a:pPr>
            <a:r>
              <a:rPr lang="en-US" sz="1800" dirty="0">
                <a:latin typeface="+mn-lt"/>
              </a:rPr>
              <a:t>Model and human share the initial setups</a:t>
            </a:r>
          </a:p>
          <a:p>
            <a:pPr marL="257175" indent="-257175">
              <a:buFont typeface="Arial" panose="020B0604020202020204" pitchFamily="34" charset="0"/>
              <a:buChar char="•"/>
            </a:pPr>
            <a:r>
              <a:rPr lang="en-US" sz="1800" dirty="0">
                <a:latin typeface="+mn-lt"/>
              </a:rPr>
              <a:t>Model generates plans for outline and characters as intermediate steps, then generates whole (new) story </a:t>
            </a:r>
          </a:p>
        </p:txBody>
      </p:sp>
      <p:sp>
        <p:nvSpPr>
          <p:cNvPr id="4" name="TextBox 3">
            <a:extLst>
              <a:ext uri="{FF2B5EF4-FFF2-40B4-BE49-F238E27FC236}">
                <a16:creationId xmlns:a16="http://schemas.microsoft.com/office/drawing/2014/main" id="{6C048D50-D174-8980-1F19-5F2AA078C185}"/>
              </a:ext>
            </a:extLst>
          </p:cNvPr>
          <p:cNvSpPr txBox="1"/>
          <p:nvPr/>
        </p:nvSpPr>
        <p:spPr>
          <a:xfrm>
            <a:off x="5964514" y="878191"/>
            <a:ext cx="2717411" cy="415498"/>
          </a:xfrm>
          <a:prstGeom prst="rect">
            <a:avLst/>
          </a:prstGeom>
          <a:noFill/>
        </p:spPr>
        <p:txBody>
          <a:bodyPr wrap="none" rtlCol="0">
            <a:spAutoFit/>
          </a:bodyPr>
          <a:lstStyle/>
          <a:p>
            <a:r>
              <a:rPr lang="en-US" sz="1050"/>
              <a:t>“Films are our culture’s </a:t>
            </a:r>
            <a:r>
              <a:rPr lang="en-US" sz="1050" i="1"/>
              <a:t>Gesamtkunstwerk</a:t>
            </a:r>
            <a:r>
              <a:rPr lang="en-US" sz="1050"/>
              <a:t>”</a:t>
            </a:r>
          </a:p>
          <a:p>
            <a:r>
              <a:rPr lang="en-US" sz="1050"/>
              <a:t>-- Annette Michelson, </a:t>
            </a:r>
            <a:r>
              <a:rPr lang="en-US" sz="1050" i="1"/>
              <a:t>October</a:t>
            </a:r>
            <a:r>
              <a:rPr lang="en-US" sz="1050"/>
              <a:t>, 1991</a:t>
            </a:r>
          </a:p>
        </p:txBody>
      </p:sp>
    </p:spTree>
    <p:extLst>
      <p:ext uri="{BB962C8B-B14F-4D97-AF65-F5344CB8AC3E}">
        <p14:creationId xmlns:p14="http://schemas.microsoft.com/office/powerpoint/2010/main" val="142507982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81E7DD17-D2E9-5B8F-1330-A29B8FF5149B}"/>
              </a:ext>
            </a:extLst>
          </p:cNvPr>
          <p:cNvPicPr>
            <a:picLocks noChangeAspect="1"/>
          </p:cNvPicPr>
          <p:nvPr/>
        </p:nvPicPr>
        <p:blipFill>
          <a:blip r:embed="rId3"/>
          <a:stretch>
            <a:fillRect/>
          </a:stretch>
        </p:blipFill>
        <p:spPr>
          <a:xfrm>
            <a:off x="218625" y="1208083"/>
            <a:ext cx="6323696" cy="3644908"/>
          </a:xfrm>
          <a:prstGeom prst="rect">
            <a:avLst/>
          </a:prstGeom>
        </p:spPr>
      </p:pic>
      <p:sp>
        <p:nvSpPr>
          <p:cNvPr id="5" name="Title 1">
            <a:extLst>
              <a:ext uri="{FF2B5EF4-FFF2-40B4-BE49-F238E27FC236}">
                <a16:creationId xmlns:a16="http://schemas.microsoft.com/office/drawing/2014/main" id="{68003AAD-9780-0740-894B-6DC541B6607B}"/>
              </a:ext>
            </a:extLst>
          </p:cNvPr>
          <p:cNvSpPr>
            <a:spLocks noGrp="1"/>
          </p:cNvSpPr>
          <p:nvPr>
            <p:ph type="title"/>
          </p:nvPr>
        </p:nvSpPr>
        <p:spPr>
          <a:xfrm>
            <a:off x="473202" y="332681"/>
            <a:ext cx="8042148" cy="492465"/>
          </a:xfrm>
        </p:spPr>
        <p:txBody>
          <a:bodyPr anchor="b">
            <a:noAutofit/>
          </a:bodyPr>
          <a:lstStyle/>
          <a:p>
            <a:r>
              <a:rPr lang="en-US" b="1" dirty="0"/>
              <a:t>Human vs. AI Turning Point Positions</a:t>
            </a:r>
          </a:p>
        </p:txBody>
      </p:sp>
      <p:sp>
        <p:nvSpPr>
          <p:cNvPr id="6" name="Content Placeholder 2">
            <a:extLst>
              <a:ext uri="{FF2B5EF4-FFF2-40B4-BE49-F238E27FC236}">
                <a16:creationId xmlns:a16="http://schemas.microsoft.com/office/drawing/2014/main" id="{3A81FD2B-46A0-BD4F-AAAB-C8BA2BBF7770}"/>
              </a:ext>
            </a:extLst>
          </p:cNvPr>
          <p:cNvSpPr>
            <a:spLocks noGrp="1"/>
          </p:cNvSpPr>
          <p:nvPr>
            <p:ph idx="1"/>
          </p:nvPr>
        </p:nvSpPr>
        <p:spPr>
          <a:xfrm>
            <a:off x="6542321" y="1806042"/>
            <a:ext cx="2252359" cy="1036901"/>
          </a:xfrm>
        </p:spPr>
        <p:txBody>
          <a:bodyPr anchor="t">
            <a:noAutofit/>
          </a:bodyPr>
          <a:lstStyle/>
          <a:p>
            <a:pPr marL="0" indent="0">
              <a:lnSpc>
                <a:spcPct val="150000"/>
              </a:lnSpc>
              <a:buNone/>
            </a:pPr>
            <a:r>
              <a:rPr lang="en-US" sz="1500" dirty="0">
                <a:solidFill>
                  <a:schemeClr val="accent2"/>
                </a:solidFill>
                <a:latin typeface="+mj-lt"/>
              </a:rPr>
              <a:t>Models incorrectly pace their storytelling relative to human writers. </a:t>
            </a:r>
          </a:p>
        </p:txBody>
      </p:sp>
      <p:sp>
        <p:nvSpPr>
          <p:cNvPr id="3" name="Slide Number Placeholder 2">
            <a:extLst>
              <a:ext uri="{FF2B5EF4-FFF2-40B4-BE49-F238E27FC236}">
                <a16:creationId xmlns:a16="http://schemas.microsoft.com/office/drawing/2014/main" id="{F08FD14F-46B9-5E4B-896B-1D3BEB4ACEAB}"/>
              </a:ext>
            </a:extLst>
          </p:cNvPr>
          <p:cNvSpPr>
            <a:spLocks noGrp="1"/>
          </p:cNvSpPr>
          <p:nvPr>
            <p:ph type="sldNum" sz="quarter" idx="12"/>
          </p:nvPr>
        </p:nvSpPr>
        <p:spPr>
          <a:xfrm>
            <a:off x="6457950" y="4767263"/>
            <a:ext cx="2057400" cy="273844"/>
          </a:xfrm>
          <a:prstGeom prst="rect">
            <a:avLst/>
          </a:prstGeom>
        </p:spPr>
        <p:txBody>
          <a:bodyPr vert="horz" lIns="68580" tIns="34290" rIns="68580" bIns="34290" rtlCol="0" anchor="ctr"/>
          <a:lstStyle>
            <a:defPPr>
              <a:defRPr lang="en-US"/>
            </a:defPPr>
            <a:lvl1pPr marL="0" algn="r" defTabSz="685800" rtl="0" eaLnBrk="1" latinLnBrk="0" hangingPunct="1">
              <a:defRPr sz="900" kern="1200">
                <a:solidFill>
                  <a:schemeClr val="tx1">
                    <a:tint val="75000"/>
                  </a:schemeClr>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fld id="{58EB6138-D2D2-C14F-9AF2-28ABE3A3A064}" type="slidenum">
              <a:rPr lang="en-US" smtClean="0"/>
              <a:pPr/>
              <a:t>43</a:t>
            </a:fld>
            <a:endParaRPr lang="en-US"/>
          </a:p>
        </p:txBody>
      </p:sp>
      <p:sp>
        <p:nvSpPr>
          <p:cNvPr id="7" name="Freeform 6">
            <a:extLst>
              <a:ext uri="{FF2B5EF4-FFF2-40B4-BE49-F238E27FC236}">
                <a16:creationId xmlns:a16="http://schemas.microsoft.com/office/drawing/2014/main" id="{A0230547-1C60-3EC3-0EEB-5FF6E9E621A9}"/>
              </a:ext>
            </a:extLst>
          </p:cNvPr>
          <p:cNvSpPr/>
          <p:nvPr/>
        </p:nvSpPr>
        <p:spPr>
          <a:xfrm>
            <a:off x="925159" y="2481914"/>
            <a:ext cx="1914896" cy="1316709"/>
          </a:xfrm>
          <a:custGeom>
            <a:avLst/>
            <a:gdLst>
              <a:gd name="connsiteX0" fmla="*/ 3206338 w 3598224"/>
              <a:gd name="connsiteY0" fmla="*/ 0 h 2173185"/>
              <a:gd name="connsiteX1" fmla="*/ 3087585 w 3598224"/>
              <a:gd name="connsiteY1" fmla="*/ 11876 h 2173185"/>
              <a:gd name="connsiteX2" fmla="*/ 2315689 w 3598224"/>
              <a:gd name="connsiteY2" fmla="*/ 23751 h 2173185"/>
              <a:gd name="connsiteX3" fmla="*/ 2232561 w 3598224"/>
              <a:gd name="connsiteY3" fmla="*/ 47502 h 2173185"/>
              <a:gd name="connsiteX4" fmla="*/ 2101933 w 3598224"/>
              <a:gd name="connsiteY4" fmla="*/ 71252 h 2173185"/>
              <a:gd name="connsiteX5" fmla="*/ 1923803 w 3598224"/>
              <a:gd name="connsiteY5" fmla="*/ 130629 h 2173185"/>
              <a:gd name="connsiteX6" fmla="*/ 1638795 w 3598224"/>
              <a:gd name="connsiteY6" fmla="*/ 225631 h 2173185"/>
              <a:gd name="connsiteX7" fmla="*/ 1531917 w 3598224"/>
              <a:gd name="connsiteY7" fmla="*/ 273133 h 2173185"/>
              <a:gd name="connsiteX8" fmla="*/ 1425039 w 3598224"/>
              <a:gd name="connsiteY8" fmla="*/ 308759 h 2173185"/>
              <a:gd name="connsiteX9" fmla="*/ 1163782 w 3598224"/>
              <a:gd name="connsiteY9" fmla="*/ 439387 h 2173185"/>
              <a:gd name="connsiteX10" fmla="*/ 1009403 w 3598224"/>
              <a:gd name="connsiteY10" fmla="*/ 510639 h 2173185"/>
              <a:gd name="connsiteX11" fmla="*/ 760021 w 3598224"/>
              <a:gd name="connsiteY11" fmla="*/ 700644 h 2173185"/>
              <a:gd name="connsiteX12" fmla="*/ 522515 w 3598224"/>
              <a:gd name="connsiteY12" fmla="*/ 926276 h 2173185"/>
              <a:gd name="connsiteX13" fmla="*/ 451263 w 3598224"/>
              <a:gd name="connsiteY13" fmla="*/ 1009403 h 2173185"/>
              <a:gd name="connsiteX14" fmla="*/ 249382 w 3598224"/>
              <a:gd name="connsiteY14" fmla="*/ 1235034 h 2173185"/>
              <a:gd name="connsiteX15" fmla="*/ 201881 w 3598224"/>
              <a:gd name="connsiteY15" fmla="*/ 1294411 h 2173185"/>
              <a:gd name="connsiteX16" fmla="*/ 106878 w 3598224"/>
              <a:gd name="connsiteY16" fmla="*/ 1413164 h 2173185"/>
              <a:gd name="connsiteX17" fmla="*/ 47502 w 3598224"/>
              <a:gd name="connsiteY17" fmla="*/ 1472540 h 2173185"/>
              <a:gd name="connsiteX18" fmla="*/ 23751 w 3598224"/>
              <a:gd name="connsiteY18" fmla="*/ 1520042 h 2173185"/>
              <a:gd name="connsiteX19" fmla="*/ 0 w 3598224"/>
              <a:gd name="connsiteY19" fmla="*/ 1615044 h 2173185"/>
              <a:gd name="connsiteX20" fmla="*/ 59377 w 3598224"/>
              <a:gd name="connsiteY20" fmla="*/ 1852551 h 2173185"/>
              <a:gd name="connsiteX21" fmla="*/ 106878 w 3598224"/>
              <a:gd name="connsiteY21" fmla="*/ 1900052 h 2173185"/>
              <a:gd name="connsiteX22" fmla="*/ 273133 w 3598224"/>
              <a:gd name="connsiteY22" fmla="*/ 2006930 h 2173185"/>
              <a:gd name="connsiteX23" fmla="*/ 819398 w 3598224"/>
              <a:gd name="connsiteY23" fmla="*/ 2149434 h 2173185"/>
              <a:gd name="connsiteX24" fmla="*/ 1128156 w 3598224"/>
              <a:gd name="connsiteY24" fmla="*/ 2173185 h 2173185"/>
              <a:gd name="connsiteX25" fmla="*/ 2006930 w 3598224"/>
              <a:gd name="connsiteY25" fmla="*/ 2161309 h 2173185"/>
              <a:gd name="connsiteX26" fmla="*/ 2576946 w 3598224"/>
              <a:gd name="connsiteY26" fmla="*/ 2018805 h 2173185"/>
              <a:gd name="connsiteX27" fmla="*/ 3230089 w 3598224"/>
              <a:gd name="connsiteY27" fmla="*/ 1674421 h 2173185"/>
              <a:gd name="connsiteX28" fmla="*/ 3443845 w 3598224"/>
              <a:gd name="connsiteY28" fmla="*/ 1472540 h 2173185"/>
              <a:gd name="connsiteX29" fmla="*/ 3515096 w 3598224"/>
              <a:gd name="connsiteY29" fmla="*/ 1389413 h 2173185"/>
              <a:gd name="connsiteX30" fmla="*/ 3538847 w 3598224"/>
              <a:gd name="connsiteY30" fmla="*/ 1330037 h 2173185"/>
              <a:gd name="connsiteX31" fmla="*/ 3574473 w 3598224"/>
              <a:gd name="connsiteY31" fmla="*/ 1270660 h 2173185"/>
              <a:gd name="connsiteX32" fmla="*/ 3598224 w 3598224"/>
              <a:gd name="connsiteY32" fmla="*/ 1175657 h 2173185"/>
              <a:gd name="connsiteX33" fmla="*/ 3574473 w 3598224"/>
              <a:gd name="connsiteY33" fmla="*/ 938151 h 2173185"/>
              <a:gd name="connsiteX34" fmla="*/ 3526972 w 3598224"/>
              <a:gd name="connsiteY34" fmla="*/ 878774 h 2173185"/>
              <a:gd name="connsiteX35" fmla="*/ 3467595 w 3598224"/>
              <a:gd name="connsiteY35" fmla="*/ 795647 h 2173185"/>
              <a:gd name="connsiteX36" fmla="*/ 3230089 w 3598224"/>
              <a:gd name="connsiteY36" fmla="*/ 534390 h 2173185"/>
              <a:gd name="connsiteX37" fmla="*/ 3170712 w 3598224"/>
              <a:gd name="connsiteY37" fmla="*/ 486889 h 2173185"/>
              <a:gd name="connsiteX38" fmla="*/ 3099460 w 3598224"/>
              <a:gd name="connsiteY38" fmla="*/ 415637 h 2173185"/>
              <a:gd name="connsiteX39" fmla="*/ 2968832 w 3598224"/>
              <a:gd name="connsiteY39" fmla="*/ 320634 h 2173185"/>
              <a:gd name="connsiteX40" fmla="*/ 2873829 w 3598224"/>
              <a:gd name="connsiteY40" fmla="*/ 273133 h 2173185"/>
              <a:gd name="connsiteX41" fmla="*/ 2778826 w 3598224"/>
              <a:gd name="connsiteY41" fmla="*/ 249382 h 2173185"/>
              <a:gd name="connsiteX42" fmla="*/ 2743200 w 3598224"/>
              <a:gd name="connsiteY42" fmla="*/ 225631 h 2173185"/>
              <a:gd name="connsiteX43" fmla="*/ 2660073 w 3598224"/>
              <a:gd name="connsiteY43" fmla="*/ 213756 h 217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3598224" h="2173185">
                <a:moveTo>
                  <a:pt x="3206338" y="0"/>
                </a:moveTo>
                <a:cubicBezTo>
                  <a:pt x="3166754" y="3959"/>
                  <a:pt x="3127353" y="10816"/>
                  <a:pt x="3087585" y="11876"/>
                </a:cubicBezTo>
                <a:cubicBezTo>
                  <a:pt x="2830347" y="18736"/>
                  <a:pt x="2572795" y="13038"/>
                  <a:pt x="2315689" y="23751"/>
                </a:cubicBezTo>
                <a:cubicBezTo>
                  <a:pt x="2286896" y="24951"/>
                  <a:pt x="2260693" y="41251"/>
                  <a:pt x="2232561" y="47502"/>
                </a:cubicBezTo>
                <a:cubicBezTo>
                  <a:pt x="2189358" y="57103"/>
                  <a:pt x="2144986" y="61001"/>
                  <a:pt x="2101933" y="71252"/>
                </a:cubicBezTo>
                <a:cubicBezTo>
                  <a:pt x="1945517" y="108494"/>
                  <a:pt x="2030446" y="93856"/>
                  <a:pt x="1923803" y="130629"/>
                </a:cubicBezTo>
                <a:cubicBezTo>
                  <a:pt x="1829132" y="163274"/>
                  <a:pt x="1730305" y="184959"/>
                  <a:pt x="1638795" y="225631"/>
                </a:cubicBezTo>
                <a:cubicBezTo>
                  <a:pt x="1603169" y="241465"/>
                  <a:pt x="1568252" y="259002"/>
                  <a:pt x="1531917" y="273133"/>
                </a:cubicBezTo>
                <a:cubicBezTo>
                  <a:pt x="1496917" y="286744"/>
                  <a:pt x="1459906" y="294812"/>
                  <a:pt x="1425039" y="308759"/>
                </a:cubicBezTo>
                <a:cubicBezTo>
                  <a:pt x="1269475" y="370985"/>
                  <a:pt x="1315435" y="363560"/>
                  <a:pt x="1163782" y="439387"/>
                </a:cubicBezTo>
                <a:cubicBezTo>
                  <a:pt x="1113089" y="464733"/>
                  <a:pt x="1056987" y="479850"/>
                  <a:pt x="1009403" y="510639"/>
                </a:cubicBezTo>
                <a:cubicBezTo>
                  <a:pt x="921663" y="567412"/>
                  <a:pt x="839368" y="632632"/>
                  <a:pt x="760021" y="700644"/>
                </a:cubicBezTo>
                <a:cubicBezTo>
                  <a:pt x="645965" y="798407"/>
                  <a:pt x="654192" y="787669"/>
                  <a:pt x="522515" y="926276"/>
                </a:cubicBezTo>
                <a:cubicBezTo>
                  <a:pt x="497379" y="952735"/>
                  <a:pt x="475924" y="982501"/>
                  <a:pt x="451263" y="1009403"/>
                </a:cubicBezTo>
                <a:cubicBezTo>
                  <a:pt x="249116" y="1229924"/>
                  <a:pt x="647812" y="761896"/>
                  <a:pt x="249382" y="1235034"/>
                </a:cubicBezTo>
                <a:cubicBezTo>
                  <a:pt x="233056" y="1254422"/>
                  <a:pt x="219804" y="1276489"/>
                  <a:pt x="201881" y="1294411"/>
                </a:cubicBezTo>
                <a:cubicBezTo>
                  <a:pt x="25081" y="1471208"/>
                  <a:pt x="240276" y="1246415"/>
                  <a:pt x="106878" y="1413164"/>
                </a:cubicBezTo>
                <a:cubicBezTo>
                  <a:pt x="89393" y="1435021"/>
                  <a:pt x="64686" y="1450446"/>
                  <a:pt x="47502" y="1472540"/>
                </a:cubicBezTo>
                <a:cubicBezTo>
                  <a:pt x="36633" y="1486514"/>
                  <a:pt x="30724" y="1503770"/>
                  <a:pt x="23751" y="1520042"/>
                </a:cubicBezTo>
                <a:cubicBezTo>
                  <a:pt x="10059" y="1551991"/>
                  <a:pt x="6970" y="1580199"/>
                  <a:pt x="0" y="1615044"/>
                </a:cubicBezTo>
                <a:cubicBezTo>
                  <a:pt x="19792" y="1694213"/>
                  <a:pt x="30723" y="1776141"/>
                  <a:pt x="59377" y="1852551"/>
                </a:cubicBezTo>
                <a:cubicBezTo>
                  <a:pt x="67239" y="1873517"/>
                  <a:pt x="90142" y="1885175"/>
                  <a:pt x="106878" y="1900052"/>
                </a:cubicBezTo>
                <a:cubicBezTo>
                  <a:pt x="157068" y="1944665"/>
                  <a:pt x="210040" y="1980822"/>
                  <a:pt x="273133" y="2006930"/>
                </a:cubicBezTo>
                <a:cubicBezTo>
                  <a:pt x="467997" y="2087564"/>
                  <a:pt x="605155" y="2120593"/>
                  <a:pt x="819398" y="2149434"/>
                </a:cubicBezTo>
                <a:cubicBezTo>
                  <a:pt x="921699" y="2163205"/>
                  <a:pt x="1025237" y="2165268"/>
                  <a:pt x="1128156" y="2173185"/>
                </a:cubicBezTo>
                <a:lnTo>
                  <a:pt x="2006930" y="2161309"/>
                </a:lnTo>
                <a:cubicBezTo>
                  <a:pt x="2150697" y="2149652"/>
                  <a:pt x="2410901" y="2088719"/>
                  <a:pt x="2576946" y="2018805"/>
                </a:cubicBezTo>
                <a:cubicBezTo>
                  <a:pt x="2756095" y="1943374"/>
                  <a:pt x="3085825" y="1804259"/>
                  <a:pt x="3230089" y="1674421"/>
                </a:cubicBezTo>
                <a:cubicBezTo>
                  <a:pt x="3316397" y="1596743"/>
                  <a:pt x="3366463" y="1555450"/>
                  <a:pt x="3443845" y="1472540"/>
                </a:cubicBezTo>
                <a:cubicBezTo>
                  <a:pt x="3468746" y="1445860"/>
                  <a:pt x="3491346" y="1417122"/>
                  <a:pt x="3515096" y="1389413"/>
                </a:cubicBezTo>
                <a:cubicBezTo>
                  <a:pt x="3523013" y="1369621"/>
                  <a:pt x="3529314" y="1349103"/>
                  <a:pt x="3538847" y="1330037"/>
                </a:cubicBezTo>
                <a:cubicBezTo>
                  <a:pt x="3549169" y="1309392"/>
                  <a:pt x="3566187" y="1292203"/>
                  <a:pt x="3574473" y="1270660"/>
                </a:cubicBezTo>
                <a:cubicBezTo>
                  <a:pt x="3586191" y="1240193"/>
                  <a:pt x="3598224" y="1175657"/>
                  <a:pt x="3598224" y="1175657"/>
                </a:cubicBezTo>
                <a:cubicBezTo>
                  <a:pt x="3590307" y="1096488"/>
                  <a:pt x="3593041" y="1015518"/>
                  <a:pt x="3574473" y="938151"/>
                </a:cubicBezTo>
                <a:cubicBezTo>
                  <a:pt x="3568558" y="913504"/>
                  <a:pt x="3542180" y="899051"/>
                  <a:pt x="3526972" y="878774"/>
                </a:cubicBezTo>
                <a:cubicBezTo>
                  <a:pt x="3506541" y="851533"/>
                  <a:pt x="3488695" y="822374"/>
                  <a:pt x="3467595" y="795647"/>
                </a:cubicBezTo>
                <a:cubicBezTo>
                  <a:pt x="3412000" y="725227"/>
                  <a:pt x="3302937" y="592668"/>
                  <a:pt x="3230089" y="534390"/>
                </a:cubicBezTo>
                <a:cubicBezTo>
                  <a:pt x="3210297" y="518556"/>
                  <a:pt x="3189467" y="503939"/>
                  <a:pt x="3170712" y="486889"/>
                </a:cubicBezTo>
                <a:cubicBezTo>
                  <a:pt x="3145858" y="464295"/>
                  <a:pt x="3124313" y="438231"/>
                  <a:pt x="3099460" y="415637"/>
                </a:cubicBezTo>
                <a:cubicBezTo>
                  <a:pt x="3067305" y="386405"/>
                  <a:pt x="3005415" y="341538"/>
                  <a:pt x="2968832" y="320634"/>
                </a:cubicBezTo>
                <a:cubicBezTo>
                  <a:pt x="2938091" y="303068"/>
                  <a:pt x="2908177" y="281720"/>
                  <a:pt x="2873829" y="273133"/>
                </a:cubicBezTo>
                <a:lnTo>
                  <a:pt x="2778826" y="249382"/>
                </a:lnTo>
                <a:cubicBezTo>
                  <a:pt x="2766951" y="241465"/>
                  <a:pt x="2756318" y="231253"/>
                  <a:pt x="2743200" y="225631"/>
                </a:cubicBezTo>
                <a:cubicBezTo>
                  <a:pt x="2708771" y="210876"/>
                  <a:pt x="2694126" y="213756"/>
                  <a:pt x="2660073" y="213756"/>
                </a:cubicBezTo>
              </a:path>
            </a:pathLst>
          </a:custGeom>
          <a:ln w="19050"/>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sz="1050"/>
          </a:p>
        </p:txBody>
      </p:sp>
      <p:sp>
        <p:nvSpPr>
          <p:cNvPr id="9" name="TextBox 8">
            <a:extLst>
              <a:ext uri="{FF2B5EF4-FFF2-40B4-BE49-F238E27FC236}">
                <a16:creationId xmlns:a16="http://schemas.microsoft.com/office/drawing/2014/main" id="{F8C75C27-8240-F10B-D645-C4F3AC2CDA74}"/>
              </a:ext>
            </a:extLst>
          </p:cNvPr>
          <p:cNvSpPr txBox="1"/>
          <p:nvPr/>
        </p:nvSpPr>
        <p:spPr>
          <a:xfrm>
            <a:off x="1094314" y="2004172"/>
            <a:ext cx="2104160" cy="646331"/>
          </a:xfrm>
          <a:prstGeom prst="rect">
            <a:avLst/>
          </a:prstGeom>
          <a:noFill/>
        </p:spPr>
        <p:txBody>
          <a:bodyPr wrap="square">
            <a:spAutoFit/>
          </a:bodyPr>
          <a:lstStyle/>
          <a:p>
            <a:r>
              <a:rPr lang="en-US" sz="1800" b="1" dirty="0">
                <a:solidFill>
                  <a:schemeClr val="accent2"/>
                </a:solidFill>
                <a:latin typeface="Lucida Sans" panose="020B0602030504020204" pitchFamily="34" charset="77"/>
              </a:rPr>
              <a:t>Learned correct pacing</a:t>
            </a:r>
            <a:endParaRPr lang="en-US" sz="1800" b="1" dirty="0"/>
          </a:p>
        </p:txBody>
      </p:sp>
      <p:sp>
        <p:nvSpPr>
          <p:cNvPr id="11" name="Freeform 10">
            <a:extLst>
              <a:ext uri="{FF2B5EF4-FFF2-40B4-BE49-F238E27FC236}">
                <a16:creationId xmlns:a16="http://schemas.microsoft.com/office/drawing/2014/main" id="{CAEB7888-B815-C36E-14D7-29EC64CB447D}"/>
              </a:ext>
            </a:extLst>
          </p:cNvPr>
          <p:cNvSpPr/>
          <p:nvPr/>
        </p:nvSpPr>
        <p:spPr>
          <a:xfrm>
            <a:off x="4544540" y="1786867"/>
            <a:ext cx="1531917" cy="1950522"/>
          </a:xfrm>
          <a:custGeom>
            <a:avLst/>
            <a:gdLst>
              <a:gd name="connsiteX0" fmla="*/ 1888177 w 2042556"/>
              <a:gd name="connsiteY0" fmla="*/ 2639 h 2496457"/>
              <a:gd name="connsiteX1" fmla="*/ 1151906 w 2042556"/>
              <a:gd name="connsiteY1" fmla="*/ 2639 h 2496457"/>
              <a:gd name="connsiteX2" fmla="*/ 819397 w 2042556"/>
              <a:gd name="connsiteY2" fmla="*/ 14515 h 2496457"/>
              <a:gd name="connsiteX3" fmla="*/ 617517 w 2042556"/>
              <a:gd name="connsiteY3" fmla="*/ 85766 h 2496457"/>
              <a:gd name="connsiteX4" fmla="*/ 570016 w 2042556"/>
              <a:gd name="connsiteY4" fmla="*/ 109517 h 2496457"/>
              <a:gd name="connsiteX5" fmla="*/ 486888 w 2042556"/>
              <a:gd name="connsiteY5" fmla="*/ 133268 h 2496457"/>
              <a:gd name="connsiteX6" fmla="*/ 451262 w 2042556"/>
              <a:gd name="connsiteY6" fmla="*/ 168894 h 2496457"/>
              <a:gd name="connsiteX7" fmla="*/ 391886 w 2042556"/>
              <a:gd name="connsiteY7" fmla="*/ 192644 h 2496457"/>
              <a:gd name="connsiteX8" fmla="*/ 344384 w 2042556"/>
              <a:gd name="connsiteY8" fmla="*/ 263896 h 2496457"/>
              <a:gd name="connsiteX9" fmla="*/ 308758 w 2042556"/>
              <a:gd name="connsiteY9" fmla="*/ 311398 h 2496457"/>
              <a:gd name="connsiteX10" fmla="*/ 261257 w 2042556"/>
              <a:gd name="connsiteY10" fmla="*/ 418276 h 2496457"/>
              <a:gd name="connsiteX11" fmla="*/ 178130 w 2042556"/>
              <a:gd name="connsiteY11" fmla="*/ 608281 h 2496457"/>
              <a:gd name="connsiteX12" fmla="*/ 106878 w 2042556"/>
              <a:gd name="connsiteY12" fmla="*/ 810161 h 2496457"/>
              <a:gd name="connsiteX13" fmla="*/ 95003 w 2042556"/>
              <a:gd name="connsiteY13" fmla="*/ 893289 h 2496457"/>
              <a:gd name="connsiteX14" fmla="*/ 83127 w 2042556"/>
              <a:gd name="connsiteY14" fmla="*/ 928915 h 2496457"/>
              <a:gd name="connsiteX15" fmla="*/ 71252 w 2042556"/>
              <a:gd name="connsiteY15" fmla="*/ 976416 h 2496457"/>
              <a:gd name="connsiteX16" fmla="*/ 47501 w 2042556"/>
              <a:gd name="connsiteY16" fmla="*/ 1071418 h 2496457"/>
              <a:gd name="connsiteX17" fmla="*/ 23751 w 2042556"/>
              <a:gd name="connsiteY17" fmla="*/ 1225798 h 2496457"/>
              <a:gd name="connsiteX18" fmla="*/ 11875 w 2042556"/>
              <a:gd name="connsiteY18" fmla="*/ 1285174 h 2496457"/>
              <a:gd name="connsiteX19" fmla="*/ 0 w 2042556"/>
              <a:gd name="connsiteY19" fmla="*/ 1356426 h 2496457"/>
              <a:gd name="connsiteX20" fmla="*/ 11875 w 2042556"/>
              <a:gd name="connsiteY20" fmla="*/ 1724561 h 2496457"/>
              <a:gd name="connsiteX21" fmla="*/ 23751 w 2042556"/>
              <a:gd name="connsiteY21" fmla="*/ 1783938 h 2496457"/>
              <a:gd name="connsiteX22" fmla="*/ 47501 w 2042556"/>
              <a:gd name="connsiteY22" fmla="*/ 1843315 h 2496457"/>
              <a:gd name="connsiteX23" fmla="*/ 83127 w 2042556"/>
              <a:gd name="connsiteY23" fmla="*/ 1962068 h 2496457"/>
              <a:gd name="connsiteX24" fmla="*/ 106878 w 2042556"/>
              <a:gd name="connsiteY24" fmla="*/ 1997694 h 2496457"/>
              <a:gd name="connsiteX25" fmla="*/ 142504 w 2042556"/>
              <a:gd name="connsiteY25" fmla="*/ 2057070 h 2496457"/>
              <a:gd name="connsiteX26" fmla="*/ 273132 w 2042556"/>
              <a:gd name="connsiteY26" fmla="*/ 2175824 h 2496457"/>
              <a:gd name="connsiteX27" fmla="*/ 368135 w 2042556"/>
              <a:gd name="connsiteY27" fmla="*/ 2247076 h 2496457"/>
              <a:gd name="connsiteX28" fmla="*/ 629392 w 2042556"/>
              <a:gd name="connsiteY28" fmla="*/ 2401455 h 2496457"/>
              <a:gd name="connsiteX29" fmla="*/ 712519 w 2042556"/>
              <a:gd name="connsiteY29" fmla="*/ 2448956 h 2496457"/>
              <a:gd name="connsiteX30" fmla="*/ 866899 w 2042556"/>
              <a:gd name="connsiteY30" fmla="*/ 2496457 h 2496457"/>
              <a:gd name="connsiteX31" fmla="*/ 1223158 w 2042556"/>
              <a:gd name="connsiteY31" fmla="*/ 2460831 h 2496457"/>
              <a:gd name="connsiteX32" fmla="*/ 1330036 w 2042556"/>
              <a:gd name="connsiteY32" fmla="*/ 2377704 h 2496457"/>
              <a:gd name="connsiteX33" fmla="*/ 1401288 w 2042556"/>
              <a:gd name="connsiteY33" fmla="*/ 2306452 h 2496457"/>
              <a:gd name="connsiteX34" fmla="*/ 1460665 w 2042556"/>
              <a:gd name="connsiteY34" fmla="*/ 2223325 h 2496457"/>
              <a:gd name="connsiteX35" fmla="*/ 1508166 w 2042556"/>
              <a:gd name="connsiteY35" fmla="*/ 2128322 h 2496457"/>
              <a:gd name="connsiteX36" fmla="*/ 1567543 w 2042556"/>
              <a:gd name="connsiteY36" fmla="*/ 1985818 h 2496457"/>
              <a:gd name="connsiteX37" fmla="*/ 1579418 w 2042556"/>
              <a:gd name="connsiteY37" fmla="*/ 1938317 h 2496457"/>
              <a:gd name="connsiteX38" fmla="*/ 1626919 w 2042556"/>
              <a:gd name="connsiteY38" fmla="*/ 1819564 h 2496457"/>
              <a:gd name="connsiteX39" fmla="*/ 1638795 w 2042556"/>
              <a:gd name="connsiteY39" fmla="*/ 1772063 h 2496457"/>
              <a:gd name="connsiteX40" fmla="*/ 1650670 w 2042556"/>
              <a:gd name="connsiteY40" fmla="*/ 1736437 h 2496457"/>
              <a:gd name="connsiteX41" fmla="*/ 1674421 w 2042556"/>
              <a:gd name="connsiteY41" fmla="*/ 1641434 h 2496457"/>
              <a:gd name="connsiteX42" fmla="*/ 1686296 w 2042556"/>
              <a:gd name="connsiteY42" fmla="*/ 1593933 h 2496457"/>
              <a:gd name="connsiteX43" fmla="*/ 1793174 w 2042556"/>
              <a:gd name="connsiteY43" fmla="*/ 1320800 h 2496457"/>
              <a:gd name="connsiteX44" fmla="*/ 1828800 w 2042556"/>
              <a:gd name="connsiteY44" fmla="*/ 1249548 h 2496457"/>
              <a:gd name="connsiteX45" fmla="*/ 1888177 w 2042556"/>
              <a:gd name="connsiteY45" fmla="*/ 1047668 h 2496457"/>
              <a:gd name="connsiteX46" fmla="*/ 1923803 w 2042556"/>
              <a:gd name="connsiteY46" fmla="*/ 976416 h 2496457"/>
              <a:gd name="connsiteX47" fmla="*/ 1983179 w 2042556"/>
              <a:gd name="connsiteY47" fmla="*/ 774535 h 2496457"/>
              <a:gd name="connsiteX48" fmla="*/ 2006930 w 2042556"/>
              <a:gd name="connsiteY48" fmla="*/ 703283 h 2496457"/>
              <a:gd name="connsiteX49" fmla="*/ 2018805 w 2042556"/>
              <a:gd name="connsiteY49" fmla="*/ 667657 h 2496457"/>
              <a:gd name="connsiteX50" fmla="*/ 2042556 w 2042556"/>
              <a:gd name="connsiteY50" fmla="*/ 560779 h 2496457"/>
              <a:gd name="connsiteX51" fmla="*/ 2030681 w 2042556"/>
              <a:gd name="connsiteY51" fmla="*/ 370774 h 2496457"/>
              <a:gd name="connsiteX52" fmla="*/ 1995055 w 2042556"/>
              <a:gd name="connsiteY52" fmla="*/ 299522 h 2496457"/>
              <a:gd name="connsiteX53" fmla="*/ 1947553 w 2042556"/>
              <a:gd name="connsiteY53" fmla="*/ 192644 h 2496457"/>
              <a:gd name="connsiteX54" fmla="*/ 1935678 w 2042556"/>
              <a:gd name="connsiteY54" fmla="*/ 145143 h 2496457"/>
              <a:gd name="connsiteX55" fmla="*/ 1876301 w 2042556"/>
              <a:gd name="connsiteY55" fmla="*/ 38265 h 2496457"/>
              <a:gd name="connsiteX56" fmla="*/ 1888177 w 2042556"/>
              <a:gd name="connsiteY56" fmla="*/ 2639 h 2496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2042556" h="2496457">
                <a:moveTo>
                  <a:pt x="1888177" y="2639"/>
                </a:moveTo>
                <a:cubicBezTo>
                  <a:pt x="1767445" y="-3299"/>
                  <a:pt x="1919725" y="2639"/>
                  <a:pt x="1151906" y="2639"/>
                </a:cubicBezTo>
                <a:cubicBezTo>
                  <a:pt x="1040999" y="2639"/>
                  <a:pt x="930233" y="10556"/>
                  <a:pt x="819397" y="14515"/>
                </a:cubicBezTo>
                <a:cubicBezTo>
                  <a:pt x="727119" y="32970"/>
                  <a:pt x="733886" y="27580"/>
                  <a:pt x="617517" y="85766"/>
                </a:cubicBezTo>
                <a:cubicBezTo>
                  <a:pt x="601683" y="93683"/>
                  <a:pt x="586653" y="103467"/>
                  <a:pt x="570016" y="109517"/>
                </a:cubicBezTo>
                <a:cubicBezTo>
                  <a:pt x="542933" y="119366"/>
                  <a:pt x="514597" y="125351"/>
                  <a:pt x="486888" y="133268"/>
                </a:cubicBezTo>
                <a:cubicBezTo>
                  <a:pt x="475013" y="145143"/>
                  <a:pt x="465504" y="159993"/>
                  <a:pt x="451262" y="168894"/>
                </a:cubicBezTo>
                <a:cubicBezTo>
                  <a:pt x="433186" y="180192"/>
                  <a:pt x="407818" y="178482"/>
                  <a:pt x="391886" y="192644"/>
                </a:cubicBezTo>
                <a:cubicBezTo>
                  <a:pt x="370551" y="211608"/>
                  <a:pt x="361511" y="241060"/>
                  <a:pt x="344384" y="263896"/>
                </a:cubicBezTo>
                <a:lnTo>
                  <a:pt x="308758" y="311398"/>
                </a:lnTo>
                <a:cubicBezTo>
                  <a:pt x="283628" y="386790"/>
                  <a:pt x="312786" y="304912"/>
                  <a:pt x="261257" y="418276"/>
                </a:cubicBezTo>
                <a:cubicBezTo>
                  <a:pt x="232650" y="481211"/>
                  <a:pt x="201138" y="543091"/>
                  <a:pt x="178130" y="608281"/>
                </a:cubicBezTo>
                <a:lnTo>
                  <a:pt x="106878" y="810161"/>
                </a:lnTo>
                <a:cubicBezTo>
                  <a:pt x="102920" y="837870"/>
                  <a:pt x="100492" y="865842"/>
                  <a:pt x="95003" y="893289"/>
                </a:cubicBezTo>
                <a:cubicBezTo>
                  <a:pt x="92548" y="905564"/>
                  <a:pt x="86566" y="916879"/>
                  <a:pt x="83127" y="928915"/>
                </a:cubicBezTo>
                <a:cubicBezTo>
                  <a:pt x="78643" y="944608"/>
                  <a:pt x="74792" y="960484"/>
                  <a:pt x="71252" y="976416"/>
                </a:cubicBezTo>
                <a:cubicBezTo>
                  <a:pt x="52146" y="1062393"/>
                  <a:pt x="68722" y="1007759"/>
                  <a:pt x="47501" y="1071418"/>
                </a:cubicBezTo>
                <a:cubicBezTo>
                  <a:pt x="39584" y="1122878"/>
                  <a:pt x="32310" y="1174441"/>
                  <a:pt x="23751" y="1225798"/>
                </a:cubicBezTo>
                <a:cubicBezTo>
                  <a:pt x="20433" y="1245707"/>
                  <a:pt x="15486" y="1265316"/>
                  <a:pt x="11875" y="1285174"/>
                </a:cubicBezTo>
                <a:cubicBezTo>
                  <a:pt x="7568" y="1308864"/>
                  <a:pt x="3958" y="1332675"/>
                  <a:pt x="0" y="1356426"/>
                </a:cubicBezTo>
                <a:cubicBezTo>
                  <a:pt x="3958" y="1479138"/>
                  <a:pt x="5065" y="1601975"/>
                  <a:pt x="11875" y="1724561"/>
                </a:cubicBezTo>
                <a:cubicBezTo>
                  <a:pt x="12995" y="1744714"/>
                  <a:pt x="17951" y="1764605"/>
                  <a:pt x="23751" y="1783938"/>
                </a:cubicBezTo>
                <a:cubicBezTo>
                  <a:pt x="29876" y="1804356"/>
                  <a:pt x="40760" y="1823092"/>
                  <a:pt x="47501" y="1843315"/>
                </a:cubicBezTo>
                <a:cubicBezTo>
                  <a:pt x="70525" y="1912387"/>
                  <a:pt x="46430" y="1879499"/>
                  <a:pt x="83127" y="1962068"/>
                </a:cubicBezTo>
                <a:cubicBezTo>
                  <a:pt x="88924" y="1975110"/>
                  <a:pt x="99314" y="1985591"/>
                  <a:pt x="106878" y="1997694"/>
                </a:cubicBezTo>
                <a:cubicBezTo>
                  <a:pt x="119111" y="2017267"/>
                  <a:pt x="127595" y="2039450"/>
                  <a:pt x="142504" y="2057070"/>
                </a:cubicBezTo>
                <a:cubicBezTo>
                  <a:pt x="236053" y="2167628"/>
                  <a:pt x="203922" y="2125490"/>
                  <a:pt x="273132" y="2175824"/>
                </a:cubicBezTo>
                <a:cubicBezTo>
                  <a:pt x="305145" y="2199107"/>
                  <a:pt x="335429" y="2224777"/>
                  <a:pt x="368135" y="2247076"/>
                </a:cubicBezTo>
                <a:cubicBezTo>
                  <a:pt x="577033" y="2389506"/>
                  <a:pt x="468552" y="2315674"/>
                  <a:pt x="629392" y="2401455"/>
                </a:cubicBezTo>
                <a:cubicBezTo>
                  <a:pt x="657551" y="2416473"/>
                  <a:pt x="682888" y="2437104"/>
                  <a:pt x="712519" y="2448956"/>
                </a:cubicBezTo>
                <a:cubicBezTo>
                  <a:pt x="762509" y="2468952"/>
                  <a:pt x="815439" y="2480623"/>
                  <a:pt x="866899" y="2496457"/>
                </a:cubicBezTo>
                <a:cubicBezTo>
                  <a:pt x="985652" y="2484582"/>
                  <a:pt x="1107553" y="2490473"/>
                  <a:pt x="1223158" y="2460831"/>
                </a:cubicBezTo>
                <a:cubicBezTo>
                  <a:pt x="1266877" y="2449621"/>
                  <a:pt x="1298122" y="2409618"/>
                  <a:pt x="1330036" y="2377704"/>
                </a:cubicBezTo>
                <a:cubicBezTo>
                  <a:pt x="1353787" y="2353953"/>
                  <a:pt x="1381135" y="2333323"/>
                  <a:pt x="1401288" y="2306452"/>
                </a:cubicBezTo>
                <a:cubicBezTo>
                  <a:pt x="1413368" y="2290345"/>
                  <a:pt x="1449090" y="2244547"/>
                  <a:pt x="1460665" y="2223325"/>
                </a:cubicBezTo>
                <a:cubicBezTo>
                  <a:pt x="1477619" y="2192243"/>
                  <a:pt x="1494548" y="2161004"/>
                  <a:pt x="1508166" y="2128322"/>
                </a:cubicBezTo>
                <a:cubicBezTo>
                  <a:pt x="1527958" y="2080821"/>
                  <a:pt x="1555062" y="2035741"/>
                  <a:pt x="1567543" y="1985818"/>
                </a:cubicBezTo>
                <a:cubicBezTo>
                  <a:pt x="1571501" y="1969984"/>
                  <a:pt x="1573929" y="1953687"/>
                  <a:pt x="1579418" y="1938317"/>
                </a:cubicBezTo>
                <a:cubicBezTo>
                  <a:pt x="1593757" y="1898167"/>
                  <a:pt x="1616578" y="1860925"/>
                  <a:pt x="1626919" y="1819564"/>
                </a:cubicBezTo>
                <a:cubicBezTo>
                  <a:pt x="1630878" y="1803730"/>
                  <a:pt x="1634311" y="1787756"/>
                  <a:pt x="1638795" y="1772063"/>
                </a:cubicBezTo>
                <a:cubicBezTo>
                  <a:pt x="1642234" y="1760027"/>
                  <a:pt x="1647376" y="1748514"/>
                  <a:pt x="1650670" y="1736437"/>
                </a:cubicBezTo>
                <a:cubicBezTo>
                  <a:pt x="1659259" y="1704945"/>
                  <a:pt x="1666504" y="1673102"/>
                  <a:pt x="1674421" y="1641434"/>
                </a:cubicBezTo>
                <a:cubicBezTo>
                  <a:pt x="1678379" y="1625600"/>
                  <a:pt x="1680349" y="1609132"/>
                  <a:pt x="1686296" y="1593933"/>
                </a:cubicBezTo>
                <a:cubicBezTo>
                  <a:pt x="1721922" y="1502889"/>
                  <a:pt x="1749452" y="1408245"/>
                  <a:pt x="1793174" y="1320800"/>
                </a:cubicBezTo>
                <a:cubicBezTo>
                  <a:pt x="1805049" y="1297049"/>
                  <a:pt x="1818938" y="1274203"/>
                  <a:pt x="1828800" y="1249548"/>
                </a:cubicBezTo>
                <a:cubicBezTo>
                  <a:pt x="1949379" y="948100"/>
                  <a:pt x="1790447" y="1321309"/>
                  <a:pt x="1888177" y="1047668"/>
                </a:cubicBezTo>
                <a:cubicBezTo>
                  <a:pt x="1897108" y="1022661"/>
                  <a:pt x="1914623" y="1001333"/>
                  <a:pt x="1923803" y="976416"/>
                </a:cubicBezTo>
                <a:cubicBezTo>
                  <a:pt x="2019437" y="716839"/>
                  <a:pt x="1945110" y="901431"/>
                  <a:pt x="1983179" y="774535"/>
                </a:cubicBezTo>
                <a:cubicBezTo>
                  <a:pt x="1990373" y="750555"/>
                  <a:pt x="1999013" y="727034"/>
                  <a:pt x="2006930" y="703283"/>
                </a:cubicBezTo>
                <a:cubicBezTo>
                  <a:pt x="2010888" y="691408"/>
                  <a:pt x="2015769" y="679801"/>
                  <a:pt x="2018805" y="667657"/>
                </a:cubicBezTo>
                <a:cubicBezTo>
                  <a:pt x="2035577" y="600574"/>
                  <a:pt x="2027480" y="636160"/>
                  <a:pt x="2042556" y="560779"/>
                </a:cubicBezTo>
                <a:cubicBezTo>
                  <a:pt x="2038598" y="497444"/>
                  <a:pt x="2037324" y="433884"/>
                  <a:pt x="2030681" y="370774"/>
                </a:cubicBezTo>
                <a:cubicBezTo>
                  <a:pt x="2026201" y="328215"/>
                  <a:pt x="2012170" y="338030"/>
                  <a:pt x="1995055" y="299522"/>
                </a:cubicBezTo>
                <a:cubicBezTo>
                  <a:pt x="1938530" y="172339"/>
                  <a:pt x="2001302" y="273267"/>
                  <a:pt x="1947553" y="192644"/>
                </a:cubicBezTo>
                <a:cubicBezTo>
                  <a:pt x="1943595" y="176810"/>
                  <a:pt x="1942977" y="159741"/>
                  <a:pt x="1935678" y="145143"/>
                </a:cubicBezTo>
                <a:cubicBezTo>
                  <a:pt x="1891454" y="56695"/>
                  <a:pt x="1892722" y="103944"/>
                  <a:pt x="1876301" y="38265"/>
                </a:cubicBezTo>
                <a:cubicBezTo>
                  <a:pt x="1875341" y="34425"/>
                  <a:pt x="2008909" y="8577"/>
                  <a:pt x="1888177" y="2639"/>
                </a:cubicBezTo>
                <a:close/>
              </a:path>
            </a:pathLst>
          </a:cu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3" name="TextBox 12">
            <a:extLst>
              <a:ext uri="{FF2B5EF4-FFF2-40B4-BE49-F238E27FC236}">
                <a16:creationId xmlns:a16="http://schemas.microsoft.com/office/drawing/2014/main" id="{1022995F-0C82-FC1A-BF30-9908B9D416D7}"/>
              </a:ext>
            </a:extLst>
          </p:cNvPr>
          <p:cNvSpPr txBox="1"/>
          <p:nvPr/>
        </p:nvSpPr>
        <p:spPr>
          <a:xfrm>
            <a:off x="4858639" y="3134958"/>
            <a:ext cx="1725242" cy="923330"/>
          </a:xfrm>
          <a:prstGeom prst="rect">
            <a:avLst/>
          </a:prstGeom>
          <a:noFill/>
        </p:spPr>
        <p:txBody>
          <a:bodyPr wrap="square">
            <a:spAutoFit/>
          </a:bodyPr>
          <a:lstStyle/>
          <a:p>
            <a:r>
              <a:rPr lang="en-US" sz="1800" b="1" dirty="0">
                <a:solidFill>
                  <a:schemeClr val="accent1"/>
                </a:solidFill>
                <a:latin typeface="Lucida Sans" panose="020B0602030504020204" pitchFamily="34" charset="77"/>
              </a:rPr>
              <a:t>Struggle to unfold adequately  </a:t>
            </a:r>
            <a:endParaRPr lang="en-US" sz="1800" b="1" dirty="0">
              <a:solidFill>
                <a:schemeClr val="accent1"/>
              </a:solidFill>
            </a:endParaRPr>
          </a:p>
        </p:txBody>
      </p:sp>
      <p:sp>
        <p:nvSpPr>
          <p:cNvPr id="2" name="Alternate Process 1">
            <a:extLst>
              <a:ext uri="{FF2B5EF4-FFF2-40B4-BE49-F238E27FC236}">
                <a16:creationId xmlns:a16="http://schemas.microsoft.com/office/drawing/2014/main" id="{C0FB7697-9F3A-0FB4-B693-C90B725683B3}"/>
              </a:ext>
            </a:extLst>
          </p:cNvPr>
          <p:cNvSpPr/>
          <p:nvPr/>
        </p:nvSpPr>
        <p:spPr>
          <a:xfrm>
            <a:off x="3940641" y="4352564"/>
            <a:ext cx="2601679" cy="500427"/>
          </a:xfrm>
          <a:prstGeom prst="flowChartAlternateProcess">
            <a:avLst/>
          </a:prstGeom>
          <a:noFill/>
          <a:ln>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sz="1050"/>
          </a:p>
        </p:txBody>
      </p:sp>
      <p:sp>
        <p:nvSpPr>
          <p:cNvPr id="14" name="TextBox 13">
            <a:extLst>
              <a:ext uri="{FF2B5EF4-FFF2-40B4-BE49-F238E27FC236}">
                <a16:creationId xmlns:a16="http://schemas.microsoft.com/office/drawing/2014/main" id="{583E0E2A-C51D-FEFE-FBBF-01244645572A}"/>
              </a:ext>
            </a:extLst>
          </p:cNvPr>
          <p:cNvSpPr txBox="1"/>
          <p:nvPr/>
        </p:nvSpPr>
        <p:spPr>
          <a:xfrm>
            <a:off x="6542320" y="3230200"/>
            <a:ext cx="2601680" cy="1088247"/>
          </a:xfrm>
          <a:prstGeom prst="rect">
            <a:avLst/>
          </a:prstGeom>
          <a:noFill/>
        </p:spPr>
        <p:txBody>
          <a:bodyPr wrap="square">
            <a:spAutoFit/>
          </a:bodyPr>
          <a:lstStyle/>
          <a:p>
            <a:pPr>
              <a:lnSpc>
                <a:spcPct val="150000"/>
              </a:lnSpc>
            </a:pPr>
            <a:r>
              <a:rPr lang="en-US" sz="1500" dirty="0">
                <a:latin typeface="+mj-lt"/>
              </a:rPr>
              <a:t>e.g. “deus ex machina” turns that are not adequately justified or “earned.”</a:t>
            </a:r>
          </a:p>
        </p:txBody>
      </p:sp>
      <p:sp>
        <p:nvSpPr>
          <p:cNvPr id="15" name="TextBox 14">
            <a:extLst>
              <a:ext uri="{FF2B5EF4-FFF2-40B4-BE49-F238E27FC236}">
                <a16:creationId xmlns:a16="http://schemas.microsoft.com/office/drawing/2014/main" id="{0D44B7CF-07A3-E4BA-FF3F-F60EC44689B2}"/>
              </a:ext>
            </a:extLst>
          </p:cNvPr>
          <p:cNvSpPr txBox="1"/>
          <p:nvPr/>
        </p:nvSpPr>
        <p:spPr>
          <a:xfrm>
            <a:off x="4333068" y="4782662"/>
            <a:ext cx="2710999" cy="323165"/>
          </a:xfrm>
          <a:prstGeom prst="rect">
            <a:avLst/>
          </a:prstGeom>
          <a:noFill/>
        </p:spPr>
        <p:txBody>
          <a:bodyPr wrap="none" rtlCol="0">
            <a:spAutoFit/>
          </a:bodyPr>
          <a:lstStyle/>
          <a:p>
            <a:r>
              <a:rPr lang="en-US" sz="1500" dirty="0">
                <a:solidFill>
                  <a:srgbClr val="FF0000"/>
                </a:solidFill>
                <a:latin typeface="+mj-lt"/>
              </a:rPr>
              <a:t>Too early in machine outputs!</a:t>
            </a:r>
          </a:p>
        </p:txBody>
      </p:sp>
    </p:spTree>
    <p:extLst>
      <p:ext uri="{BB962C8B-B14F-4D97-AF65-F5344CB8AC3E}">
        <p14:creationId xmlns:p14="http://schemas.microsoft.com/office/powerpoint/2010/main" val="2493578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p:bldP spid="11" grpId="0" animBg="1"/>
      <p:bldP spid="13" grpId="0"/>
      <p:bldP spid="2" grpId="0" animBg="1"/>
      <p:bldP spid="15"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68003AAD-9780-0740-894B-6DC541B6607B}"/>
              </a:ext>
            </a:extLst>
          </p:cNvPr>
          <p:cNvSpPr>
            <a:spLocks noGrp="1"/>
          </p:cNvSpPr>
          <p:nvPr>
            <p:ph type="title"/>
          </p:nvPr>
        </p:nvSpPr>
        <p:spPr>
          <a:xfrm>
            <a:off x="473202" y="479640"/>
            <a:ext cx="8042148" cy="492465"/>
          </a:xfrm>
        </p:spPr>
        <p:txBody>
          <a:bodyPr anchor="b">
            <a:noAutofit/>
          </a:bodyPr>
          <a:lstStyle/>
          <a:p>
            <a:r>
              <a:rPr lang="en-US" b="1" dirty="0"/>
              <a:t>Arousal &amp; Valence</a:t>
            </a:r>
          </a:p>
        </p:txBody>
      </p:sp>
      <p:sp>
        <p:nvSpPr>
          <p:cNvPr id="3" name="Slide Number Placeholder 2">
            <a:extLst>
              <a:ext uri="{FF2B5EF4-FFF2-40B4-BE49-F238E27FC236}">
                <a16:creationId xmlns:a16="http://schemas.microsoft.com/office/drawing/2014/main" id="{F08FD14F-46B9-5E4B-896B-1D3BEB4ACEAB}"/>
              </a:ext>
            </a:extLst>
          </p:cNvPr>
          <p:cNvSpPr>
            <a:spLocks noGrp="1"/>
          </p:cNvSpPr>
          <p:nvPr>
            <p:ph type="sldNum" sz="quarter" idx="12"/>
          </p:nvPr>
        </p:nvSpPr>
        <p:spPr>
          <a:xfrm>
            <a:off x="6457950" y="4767263"/>
            <a:ext cx="2057400" cy="273844"/>
          </a:xfrm>
          <a:prstGeom prst="rect">
            <a:avLst/>
          </a:prstGeom>
        </p:spPr>
        <p:txBody>
          <a:bodyPr vert="horz" lIns="68580" tIns="34290" rIns="68580" bIns="34290" rtlCol="0" anchor="ctr"/>
          <a:lstStyle>
            <a:defPPr>
              <a:defRPr lang="en-US"/>
            </a:defPPr>
            <a:lvl1pPr marL="0" algn="r" defTabSz="685800" rtl="0" eaLnBrk="1" latinLnBrk="0" hangingPunct="1">
              <a:defRPr sz="900" kern="1200">
                <a:solidFill>
                  <a:schemeClr val="tx1">
                    <a:tint val="75000"/>
                  </a:schemeClr>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fld id="{58EB6138-D2D2-C14F-9AF2-28ABE3A3A064}" type="slidenum">
              <a:rPr lang="en-US" smtClean="0"/>
              <a:pPr/>
              <a:t>44</a:t>
            </a:fld>
            <a:endParaRPr lang="en-US"/>
          </a:p>
        </p:txBody>
      </p:sp>
      <p:pic>
        <p:nvPicPr>
          <p:cNvPr id="7" name="Picture 6">
            <a:extLst>
              <a:ext uri="{FF2B5EF4-FFF2-40B4-BE49-F238E27FC236}">
                <a16:creationId xmlns:a16="http://schemas.microsoft.com/office/drawing/2014/main" id="{8EA0B605-052C-758A-D4CE-924CD1254A7F}"/>
              </a:ext>
            </a:extLst>
          </p:cNvPr>
          <p:cNvPicPr>
            <a:picLocks noChangeAspect="1"/>
          </p:cNvPicPr>
          <p:nvPr/>
        </p:nvPicPr>
        <p:blipFill>
          <a:blip r:embed="rId3"/>
          <a:stretch>
            <a:fillRect/>
          </a:stretch>
        </p:blipFill>
        <p:spPr>
          <a:xfrm>
            <a:off x="477456" y="1545724"/>
            <a:ext cx="3331514" cy="2234804"/>
          </a:xfrm>
          <a:prstGeom prst="rect">
            <a:avLst/>
          </a:prstGeom>
        </p:spPr>
      </p:pic>
      <p:pic>
        <p:nvPicPr>
          <p:cNvPr id="12" name="Picture 11">
            <a:extLst>
              <a:ext uri="{FF2B5EF4-FFF2-40B4-BE49-F238E27FC236}">
                <a16:creationId xmlns:a16="http://schemas.microsoft.com/office/drawing/2014/main" id="{8827EA17-0C27-416C-F451-66FE0BF8E444}"/>
              </a:ext>
            </a:extLst>
          </p:cNvPr>
          <p:cNvPicPr>
            <a:picLocks noChangeAspect="1"/>
          </p:cNvPicPr>
          <p:nvPr/>
        </p:nvPicPr>
        <p:blipFill>
          <a:blip r:embed="rId4"/>
          <a:stretch>
            <a:fillRect/>
          </a:stretch>
        </p:blipFill>
        <p:spPr>
          <a:xfrm>
            <a:off x="4357504" y="1612591"/>
            <a:ext cx="3260705" cy="2235912"/>
          </a:xfrm>
          <a:prstGeom prst="rect">
            <a:avLst/>
          </a:prstGeom>
        </p:spPr>
      </p:pic>
      <p:sp>
        <p:nvSpPr>
          <p:cNvPr id="8" name="TextBox 7">
            <a:extLst>
              <a:ext uri="{FF2B5EF4-FFF2-40B4-BE49-F238E27FC236}">
                <a16:creationId xmlns:a16="http://schemas.microsoft.com/office/drawing/2014/main" id="{1C56F390-F21E-C3F7-9DA4-884AA0829E1E}"/>
              </a:ext>
            </a:extLst>
          </p:cNvPr>
          <p:cNvSpPr txBox="1"/>
          <p:nvPr/>
        </p:nvSpPr>
        <p:spPr>
          <a:xfrm>
            <a:off x="379693" y="1063682"/>
            <a:ext cx="3586499" cy="369332"/>
          </a:xfrm>
          <a:prstGeom prst="rect">
            <a:avLst/>
          </a:prstGeom>
          <a:noFill/>
        </p:spPr>
        <p:txBody>
          <a:bodyPr wrap="square">
            <a:spAutoFit/>
          </a:bodyPr>
          <a:lstStyle/>
          <a:p>
            <a:r>
              <a:rPr lang="en-US" sz="1800" dirty="0">
                <a:highlight>
                  <a:srgbClr val="F8BCA2"/>
                </a:highlight>
                <a:latin typeface="+mj-lt"/>
              </a:rPr>
              <a:t>Arousal:</a:t>
            </a:r>
            <a:r>
              <a:rPr lang="en-US" sz="1800" dirty="0">
                <a:latin typeface="+mj-lt"/>
              </a:rPr>
              <a:t>  intensity of emotions</a:t>
            </a:r>
            <a:endParaRPr lang="en-US" sz="2700" dirty="0">
              <a:latin typeface="+mj-lt"/>
            </a:endParaRPr>
          </a:p>
        </p:txBody>
      </p:sp>
      <p:sp>
        <p:nvSpPr>
          <p:cNvPr id="11" name="TextBox 10">
            <a:extLst>
              <a:ext uri="{FF2B5EF4-FFF2-40B4-BE49-F238E27FC236}">
                <a16:creationId xmlns:a16="http://schemas.microsoft.com/office/drawing/2014/main" id="{0B746491-8BB8-04BD-CD76-8D4D1CEEC0D7}"/>
              </a:ext>
            </a:extLst>
          </p:cNvPr>
          <p:cNvSpPr txBox="1"/>
          <p:nvPr/>
        </p:nvSpPr>
        <p:spPr>
          <a:xfrm>
            <a:off x="4494276" y="989343"/>
            <a:ext cx="3771900" cy="646331"/>
          </a:xfrm>
          <a:prstGeom prst="rect">
            <a:avLst/>
          </a:prstGeom>
          <a:noFill/>
        </p:spPr>
        <p:txBody>
          <a:bodyPr wrap="square">
            <a:spAutoFit/>
          </a:bodyPr>
          <a:lstStyle/>
          <a:p>
            <a:r>
              <a:rPr lang="en-US" sz="1800" dirty="0">
                <a:highlight>
                  <a:srgbClr val="F8BCA2"/>
                </a:highlight>
                <a:latin typeface="+mj-lt"/>
              </a:rPr>
              <a:t>Valence:  </a:t>
            </a:r>
            <a:r>
              <a:rPr lang="en-US" sz="1800" dirty="0">
                <a:latin typeface="+mj-lt"/>
              </a:rPr>
              <a:t>positivity or negativity of the emotions </a:t>
            </a:r>
          </a:p>
        </p:txBody>
      </p:sp>
      <p:sp>
        <p:nvSpPr>
          <p:cNvPr id="13" name="Line Callout 1 12">
            <a:extLst>
              <a:ext uri="{FF2B5EF4-FFF2-40B4-BE49-F238E27FC236}">
                <a16:creationId xmlns:a16="http://schemas.microsoft.com/office/drawing/2014/main" id="{D10D4881-D270-EE7D-11A8-76C4ADD1C8C7}"/>
              </a:ext>
            </a:extLst>
          </p:cNvPr>
          <p:cNvSpPr/>
          <p:nvPr/>
        </p:nvSpPr>
        <p:spPr>
          <a:xfrm>
            <a:off x="379693" y="3916321"/>
            <a:ext cx="3586499" cy="548909"/>
          </a:xfrm>
          <a:prstGeom prst="borderCallout1">
            <a:avLst>
              <a:gd name="adj1" fmla="val -10097"/>
              <a:gd name="adj2" fmla="val 89005"/>
              <a:gd name="adj3" fmla="val -114406"/>
              <a:gd name="adj4" fmla="val 7424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00" dirty="0">
                <a:latin typeface="Lucida Sans" panose="020B0602030504020204" pitchFamily="34" charset="77"/>
              </a:rPr>
              <a:t>Poor pacing, low intensity leads to flat narratives without suspense!</a:t>
            </a:r>
            <a:endParaRPr lang="en-US" sz="1500" dirty="0">
              <a:solidFill>
                <a:schemeClr val="accent2"/>
              </a:solidFill>
              <a:latin typeface="Lucida Sans" panose="020B0602030504020204" pitchFamily="34" charset="77"/>
            </a:endParaRPr>
          </a:p>
        </p:txBody>
      </p:sp>
      <p:sp>
        <p:nvSpPr>
          <p:cNvPr id="14" name="Line Callout 1 13">
            <a:extLst>
              <a:ext uri="{FF2B5EF4-FFF2-40B4-BE49-F238E27FC236}">
                <a16:creationId xmlns:a16="http://schemas.microsoft.com/office/drawing/2014/main" id="{D2B31154-C954-1E22-5C74-D8A2418AE3AE}"/>
              </a:ext>
            </a:extLst>
          </p:cNvPr>
          <p:cNvSpPr/>
          <p:nvPr/>
        </p:nvSpPr>
        <p:spPr>
          <a:xfrm>
            <a:off x="4588992" y="3973656"/>
            <a:ext cx="3029217" cy="515333"/>
          </a:xfrm>
          <a:prstGeom prst="borderCallout1">
            <a:avLst>
              <a:gd name="adj1" fmla="val -10097"/>
              <a:gd name="adj2" fmla="val 89005"/>
              <a:gd name="adj3" fmla="val -410955"/>
              <a:gd name="adj4" fmla="val 9029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dirty="0">
                <a:latin typeface="Lucida Sans" panose="020B0602030504020204" pitchFamily="34" charset="77"/>
              </a:rPr>
              <a:t>Bias toward positive endings!</a:t>
            </a:r>
          </a:p>
        </p:txBody>
      </p:sp>
    </p:spTree>
    <p:extLst>
      <p:ext uri="{BB962C8B-B14F-4D97-AF65-F5344CB8AC3E}">
        <p14:creationId xmlns:p14="http://schemas.microsoft.com/office/powerpoint/2010/main" val="519095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animBg="1"/>
      <p:bldP spid="14"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68003AAD-9780-0740-894B-6DC541B6607B}"/>
              </a:ext>
            </a:extLst>
          </p:cNvPr>
          <p:cNvSpPr>
            <a:spLocks noGrp="1"/>
          </p:cNvSpPr>
          <p:nvPr>
            <p:ph type="title"/>
          </p:nvPr>
        </p:nvSpPr>
        <p:spPr>
          <a:xfrm>
            <a:off x="473202" y="62435"/>
            <a:ext cx="8042148" cy="492465"/>
          </a:xfrm>
        </p:spPr>
        <p:txBody>
          <a:bodyPr anchor="b">
            <a:noAutofit/>
          </a:bodyPr>
          <a:lstStyle/>
          <a:p>
            <a:r>
              <a:rPr lang="en-US" b="1" dirty="0"/>
              <a:t>LLMs lack narrative diversity!</a:t>
            </a:r>
          </a:p>
        </p:txBody>
      </p:sp>
      <p:sp>
        <p:nvSpPr>
          <p:cNvPr id="3" name="Slide Number Placeholder 2">
            <a:extLst>
              <a:ext uri="{FF2B5EF4-FFF2-40B4-BE49-F238E27FC236}">
                <a16:creationId xmlns:a16="http://schemas.microsoft.com/office/drawing/2014/main" id="{F08FD14F-46B9-5E4B-896B-1D3BEB4ACEAB}"/>
              </a:ext>
            </a:extLst>
          </p:cNvPr>
          <p:cNvSpPr>
            <a:spLocks noGrp="1"/>
          </p:cNvSpPr>
          <p:nvPr>
            <p:ph type="sldNum" sz="quarter" idx="12"/>
          </p:nvPr>
        </p:nvSpPr>
        <p:spPr>
          <a:xfrm>
            <a:off x="6457950" y="4767263"/>
            <a:ext cx="2057400" cy="273844"/>
          </a:xfrm>
          <a:prstGeom prst="rect">
            <a:avLst/>
          </a:prstGeom>
        </p:spPr>
        <p:txBody>
          <a:bodyPr vert="horz" lIns="68580" tIns="34290" rIns="68580" bIns="34290" rtlCol="0" anchor="ctr"/>
          <a:lstStyle>
            <a:defPPr>
              <a:defRPr lang="en-US"/>
            </a:defPPr>
            <a:lvl1pPr marL="0" algn="r" defTabSz="685800" rtl="0" eaLnBrk="1" latinLnBrk="0" hangingPunct="1">
              <a:defRPr sz="900" kern="1200">
                <a:solidFill>
                  <a:schemeClr val="tx1">
                    <a:tint val="75000"/>
                  </a:schemeClr>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fld id="{58EB6138-D2D2-C14F-9AF2-28ABE3A3A064}" type="slidenum">
              <a:rPr lang="en-US" smtClean="0"/>
              <a:pPr/>
              <a:t>45</a:t>
            </a:fld>
            <a:endParaRPr lang="en-US"/>
          </a:p>
        </p:txBody>
      </p:sp>
      <p:pic>
        <p:nvPicPr>
          <p:cNvPr id="7" name="Picture 6">
            <a:extLst>
              <a:ext uri="{FF2B5EF4-FFF2-40B4-BE49-F238E27FC236}">
                <a16:creationId xmlns:a16="http://schemas.microsoft.com/office/drawing/2014/main" id="{880736F1-170F-C6EF-A5A2-FCF311FDBFE5}"/>
              </a:ext>
            </a:extLst>
          </p:cNvPr>
          <p:cNvPicPr>
            <a:picLocks noChangeAspect="1"/>
          </p:cNvPicPr>
          <p:nvPr/>
        </p:nvPicPr>
        <p:blipFill>
          <a:blip r:embed="rId3"/>
          <a:stretch>
            <a:fillRect/>
          </a:stretch>
        </p:blipFill>
        <p:spPr>
          <a:xfrm>
            <a:off x="1220136" y="671192"/>
            <a:ext cx="6499019" cy="4298072"/>
          </a:xfrm>
          <a:prstGeom prst="rect">
            <a:avLst/>
          </a:prstGeom>
        </p:spPr>
      </p:pic>
      <p:sp>
        <p:nvSpPr>
          <p:cNvPr id="2" name="Alternate Process 1">
            <a:extLst>
              <a:ext uri="{FF2B5EF4-FFF2-40B4-BE49-F238E27FC236}">
                <a16:creationId xmlns:a16="http://schemas.microsoft.com/office/drawing/2014/main" id="{EB00B401-8ECE-53CE-4CE8-89C2B0E56B13}"/>
              </a:ext>
            </a:extLst>
          </p:cNvPr>
          <p:cNvSpPr/>
          <p:nvPr/>
        </p:nvSpPr>
        <p:spPr>
          <a:xfrm>
            <a:off x="5262888" y="1476124"/>
            <a:ext cx="435611" cy="520058"/>
          </a:xfrm>
          <a:custGeom>
            <a:avLst/>
            <a:gdLst>
              <a:gd name="csX0" fmla="*/ 0 w 435611"/>
              <a:gd name="csY0" fmla="*/ 72602 h 520058"/>
              <a:gd name="csX1" fmla="*/ 72602 w 435611"/>
              <a:gd name="csY1" fmla="*/ 0 h 520058"/>
              <a:gd name="csX2" fmla="*/ 363009 w 435611"/>
              <a:gd name="csY2" fmla="*/ 0 h 520058"/>
              <a:gd name="csX3" fmla="*/ 435611 w 435611"/>
              <a:gd name="csY3" fmla="*/ 72602 h 520058"/>
              <a:gd name="csX4" fmla="*/ 435611 w 435611"/>
              <a:gd name="csY4" fmla="*/ 447456 h 520058"/>
              <a:gd name="csX5" fmla="*/ 363009 w 435611"/>
              <a:gd name="csY5" fmla="*/ 520058 h 520058"/>
              <a:gd name="csX6" fmla="*/ 72602 w 435611"/>
              <a:gd name="csY6" fmla="*/ 520058 h 520058"/>
              <a:gd name="csX7" fmla="*/ 0 w 435611"/>
              <a:gd name="csY7" fmla="*/ 447456 h 520058"/>
              <a:gd name="csX8" fmla="*/ 0 w 435611"/>
              <a:gd name="csY8" fmla="*/ 72602 h 52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35611" h="520058" extrusionOk="0">
                <a:moveTo>
                  <a:pt x="0" y="72602"/>
                </a:moveTo>
                <a:cubicBezTo>
                  <a:pt x="-3714" y="30214"/>
                  <a:pt x="25463" y="2643"/>
                  <a:pt x="72602" y="0"/>
                </a:cubicBezTo>
                <a:cubicBezTo>
                  <a:pt x="202793" y="-10025"/>
                  <a:pt x="304003" y="11569"/>
                  <a:pt x="363009" y="0"/>
                </a:cubicBezTo>
                <a:cubicBezTo>
                  <a:pt x="401654" y="1418"/>
                  <a:pt x="435238" y="34568"/>
                  <a:pt x="435611" y="72602"/>
                </a:cubicBezTo>
                <a:cubicBezTo>
                  <a:pt x="440383" y="242636"/>
                  <a:pt x="441528" y="262005"/>
                  <a:pt x="435611" y="447456"/>
                </a:cubicBezTo>
                <a:cubicBezTo>
                  <a:pt x="436695" y="487682"/>
                  <a:pt x="404806" y="516559"/>
                  <a:pt x="363009" y="520058"/>
                </a:cubicBezTo>
                <a:cubicBezTo>
                  <a:pt x="230083" y="515484"/>
                  <a:pt x="212291" y="528618"/>
                  <a:pt x="72602" y="520058"/>
                </a:cubicBezTo>
                <a:cubicBezTo>
                  <a:pt x="31696" y="512346"/>
                  <a:pt x="-3668" y="492651"/>
                  <a:pt x="0" y="447456"/>
                </a:cubicBezTo>
                <a:cubicBezTo>
                  <a:pt x="-9447" y="276632"/>
                  <a:pt x="29698" y="182173"/>
                  <a:pt x="0" y="72602"/>
                </a:cubicBezTo>
                <a:close/>
              </a:path>
            </a:pathLst>
          </a:custGeom>
          <a:noFill/>
          <a:ln w="41275">
            <a:solidFill>
              <a:schemeClr val="accent1"/>
            </a:solidFill>
            <a:extLst>
              <a:ext uri="{C807C97D-BFC1-408E-A445-0C87EB9F89A2}">
                <ask:lineSketchStyleProps xmlns:ask="http://schemas.microsoft.com/office/drawing/2018/sketchyshapes" sd="1219033472">
                  <a:prstGeom prst="flowChartAlternateProcess">
                    <a:avLst/>
                  </a:prstGeom>
                  <ask:type>
                    <ask:lineSketchCurved/>
                  </ask:type>
                </ask:lineSketchStyleProps>
              </a:ext>
            </a:extLst>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sz="1050"/>
          </a:p>
        </p:txBody>
      </p:sp>
      <p:sp>
        <p:nvSpPr>
          <p:cNvPr id="8" name="Alternate Process 7">
            <a:extLst>
              <a:ext uri="{FF2B5EF4-FFF2-40B4-BE49-F238E27FC236}">
                <a16:creationId xmlns:a16="http://schemas.microsoft.com/office/drawing/2014/main" id="{3ABF08D4-E101-324A-FABC-76FF9BD55471}"/>
              </a:ext>
            </a:extLst>
          </p:cNvPr>
          <p:cNvSpPr/>
          <p:nvPr/>
        </p:nvSpPr>
        <p:spPr>
          <a:xfrm>
            <a:off x="6246685" y="1455712"/>
            <a:ext cx="435611" cy="520058"/>
          </a:xfrm>
          <a:custGeom>
            <a:avLst/>
            <a:gdLst>
              <a:gd name="csX0" fmla="*/ 0 w 435611"/>
              <a:gd name="csY0" fmla="*/ 72602 h 520058"/>
              <a:gd name="csX1" fmla="*/ 72602 w 435611"/>
              <a:gd name="csY1" fmla="*/ 0 h 520058"/>
              <a:gd name="csX2" fmla="*/ 363009 w 435611"/>
              <a:gd name="csY2" fmla="*/ 0 h 520058"/>
              <a:gd name="csX3" fmla="*/ 435611 w 435611"/>
              <a:gd name="csY3" fmla="*/ 72602 h 520058"/>
              <a:gd name="csX4" fmla="*/ 435611 w 435611"/>
              <a:gd name="csY4" fmla="*/ 447456 h 520058"/>
              <a:gd name="csX5" fmla="*/ 363009 w 435611"/>
              <a:gd name="csY5" fmla="*/ 520058 h 520058"/>
              <a:gd name="csX6" fmla="*/ 72602 w 435611"/>
              <a:gd name="csY6" fmla="*/ 520058 h 520058"/>
              <a:gd name="csX7" fmla="*/ 0 w 435611"/>
              <a:gd name="csY7" fmla="*/ 447456 h 520058"/>
              <a:gd name="csX8" fmla="*/ 0 w 435611"/>
              <a:gd name="csY8" fmla="*/ 72602 h 52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35611" h="520058" extrusionOk="0">
                <a:moveTo>
                  <a:pt x="0" y="72602"/>
                </a:moveTo>
                <a:cubicBezTo>
                  <a:pt x="-720" y="33768"/>
                  <a:pt x="30188" y="-957"/>
                  <a:pt x="72602" y="0"/>
                </a:cubicBezTo>
                <a:cubicBezTo>
                  <a:pt x="179975" y="-11307"/>
                  <a:pt x="242048" y="-1821"/>
                  <a:pt x="363009" y="0"/>
                </a:cubicBezTo>
                <a:cubicBezTo>
                  <a:pt x="396223" y="2301"/>
                  <a:pt x="434058" y="34342"/>
                  <a:pt x="435611" y="72602"/>
                </a:cubicBezTo>
                <a:cubicBezTo>
                  <a:pt x="467879" y="234236"/>
                  <a:pt x="463388" y="321748"/>
                  <a:pt x="435611" y="447456"/>
                </a:cubicBezTo>
                <a:cubicBezTo>
                  <a:pt x="437220" y="486024"/>
                  <a:pt x="410672" y="520557"/>
                  <a:pt x="363009" y="520058"/>
                </a:cubicBezTo>
                <a:cubicBezTo>
                  <a:pt x="330866" y="542603"/>
                  <a:pt x="119255" y="494178"/>
                  <a:pt x="72602" y="520058"/>
                </a:cubicBezTo>
                <a:cubicBezTo>
                  <a:pt x="39391" y="521057"/>
                  <a:pt x="-4000" y="485727"/>
                  <a:pt x="0" y="447456"/>
                </a:cubicBezTo>
                <a:cubicBezTo>
                  <a:pt x="-13563" y="385365"/>
                  <a:pt x="30804" y="179059"/>
                  <a:pt x="0" y="72602"/>
                </a:cubicBezTo>
                <a:close/>
              </a:path>
            </a:pathLst>
          </a:custGeom>
          <a:noFill/>
          <a:ln w="41275">
            <a:solidFill>
              <a:schemeClr val="accent1"/>
            </a:solidFill>
            <a:extLst>
              <a:ext uri="{C807C97D-BFC1-408E-A445-0C87EB9F89A2}">
                <ask:lineSketchStyleProps xmlns:ask="http://schemas.microsoft.com/office/drawing/2018/sketchyshapes" sd="981765707">
                  <a:prstGeom prst="flowChartAlternateProcess">
                    <a:avLst/>
                  </a:prstGeom>
                  <ask:type>
                    <ask:lineSketchCurved/>
                  </ask:type>
                </ask:lineSketchStyleProps>
              </a:ext>
            </a:extLst>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sz="1050"/>
          </a:p>
        </p:txBody>
      </p:sp>
      <p:sp>
        <p:nvSpPr>
          <p:cNvPr id="9" name="Alternate Process 8">
            <a:extLst>
              <a:ext uri="{FF2B5EF4-FFF2-40B4-BE49-F238E27FC236}">
                <a16:creationId xmlns:a16="http://schemas.microsoft.com/office/drawing/2014/main" id="{3E8F165A-6066-58AC-DAF4-412BB916CA8C}"/>
              </a:ext>
            </a:extLst>
          </p:cNvPr>
          <p:cNvSpPr/>
          <p:nvPr/>
        </p:nvSpPr>
        <p:spPr>
          <a:xfrm>
            <a:off x="4768949" y="1876171"/>
            <a:ext cx="917303" cy="520058"/>
          </a:xfrm>
          <a:custGeom>
            <a:avLst/>
            <a:gdLst>
              <a:gd name="csX0" fmla="*/ 0 w 917303"/>
              <a:gd name="csY0" fmla="*/ 86676 h 520058"/>
              <a:gd name="csX1" fmla="*/ 86676 w 917303"/>
              <a:gd name="csY1" fmla="*/ 0 h 520058"/>
              <a:gd name="csX2" fmla="*/ 830627 w 917303"/>
              <a:gd name="csY2" fmla="*/ 0 h 520058"/>
              <a:gd name="csX3" fmla="*/ 917303 w 917303"/>
              <a:gd name="csY3" fmla="*/ 86676 h 520058"/>
              <a:gd name="csX4" fmla="*/ 917303 w 917303"/>
              <a:gd name="csY4" fmla="*/ 433382 h 520058"/>
              <a:gd name="csX5" fmla="*/ 830627 w 917303"/>
              <a:gd name="csY5" fmla="*/ 520058 h 520058"/>
              <a:gd name="csX6" fmla="*/ 86676 w 917303"/>
              <a:gd name="csY6" fmla="*/ 520058 h 520058"/>
              <a:gd name="csX7" fmla="*/ 0 w 917303"/>
              <a:gd name="csY7" fmla="*/ 433382 h 520058"/>
              <a:gd name="csX8" fmla="*/ 0 w 917303"/>
              <a:gd name="csY8" fmla="*/ 86676 h 52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17303" h="520058" extrusionOk="0">
                <a:moveTo>
                  <a:pt x="0" y="86676"/>
                </a:moveTo>
                <a:cubicBezTo>
                  <a:pt x="-4028" y="31377"/>
                  <a:pt x="45196" y="-2850"/>
                  <a:pt x="86676" y="0"/>
                </a:cubicBezTo>
                <a:cubicBezTo>
                  <a:pt x="255913" y="-45103"/>
                  <a:pt x="665714" y="-32949"/>
                  <a:pt x="830627" y="0"/>
                </a:cubicBezTo>
                <a:cubicBezTo>
                  <a:pt x="874114" y="-3804"/>
                  <a:pt x="925703" y="35684"/>
                  <a:pt x="917303" y="86676"/>
                </a:cubicBezTo>
                <a:cubicBezTo>
                  <a:pt x="920559" y="191148"/>
                  <a:pt x="892583" y="278179"/>
                  <a:pt x="917303" y="433382"/>
                </a:cubicBezTo>
                <a:cubicBezTo>
                  <a:pt x="918339" y="482117"/>
                  <a:pt x="876367" y="517387"/>
                  <a:pt x="830627" y="520058"/>
                </a:cubicBezTo>
                <a:cubicBezTo>
                  <a:pt x="522798" y="539649"/>
                  <a:pt x="349734" y="504784"/>
                  <a:pt x="86676" y="520058"/>
                </a:cubicBezTo>
                <a:cubicBezTo>
                  <a:pt x="38820" y="515871"/>
                  <a:pt x="-9011" y="484336"/>
                  <a:pt x="0" y="433382"/>
                </a:cubicBezTo>
                <a:cubicBezTo>
                  <a:pt x="-16448" y="334209"/>
                  <a:pt x="8256" y="138284"/>
                  <a:pt x="0" y="86676"/>
                </a:cubicBezTo>
                <a:close/>
              </a:path>
            </a:pathLst>
          </a:custGeom>
          <a:noFill/>
          <a:ln w="25400">
            <a:solidFill>
              <a:srgbClr val="FF0000"/>
            </a:solidFill>
            <a:extLst>
              <a:ext uri="{C807C97D-BFC1-408E-A445-0C87EB9F89A2}">
                <ask:lineSketchStyleProps xmlns:ask="http://schemas.microsoft.com/office/drawing/2018/sketchyshapes" sd="3978248048">
                  <a:prstGeom prst="flowChartAlternateProcess">
                    <a:avLst/>
                  </a:prstGeom>
                  <ask:type>
                    <ask:lineSketchCurved/>
                  </ask:type>
                </ask:lineSketchStyleProps>
              </a:ext>
            </a:extLst>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sz="1050"/>
          </a:p>
        </p:txBody>
      </p:sp>
      <p:sp>
        <p:nvSpPr>
          <p:cNvPr id="10" name="Alternate Process 9">
            <a:extLst>
              <a:ext uri="{FF2B5EF4-FFF2-40B4-BE49-F238E27FC236}">
                <a16:creationId xmlns:a16="http://schemas.microsoft.com/office/drawing/2014/main" id="{077897E9-8F26-124C-5E50-550BA605A48C}"/>
              </a:ext>
            </a:extLst>
          </p:cNvPr>
          <p:cNvSpPr/>
          <p:nvPr/>
        </p:nvSpPr>
        <p:spPr>
          <a:xfrm rot="4618499">
            <a:off x="5849266" y="3085216"/>
            <a:ext cx="917303" cy="520058"/>
          </a:xfrm>
          <a:custGeom>
            <a:avLst/>
            <a:gdLst>
              <a:gd name="csX0" fmla="*/ 0 w 917303"/>
              <a:gd name="csY0" fmla="*/ 86676 h 520058"/>
              <a:gd name="csX1" fmla="*/ 86676 w 917303"/>
              <a:gd name="csY1" fmla="*/ 0 h 520058"/>
              <a:gd name="csX2" fmla="*/ 830627 w 917303"/>
              <a:gd name="csY2" fmla="*/ 0 h 520058"/>
              <a:gd name="csX3" fmla="*/ 917303 w 917303"/>
              <a:gd name="csY3" fmla="*/ 86676 h 520058"/>
              <a:gd name="csX4" fmla="*/ 917303 w 917303"/>
              <a:gd name="csY4" fmla="*/ 433382 h 520058"/>
              <a:gd name="csX5" fmla="*/ 830627 w 917303"/>
              <a:gd name="csY5" fmla="*/ 520058 h 520058"/>
              <a:gd name="csX6" fmla="*/ 86676 w 917303"/>
              <a:gd name="csY6" fmla="*/ 520058 h 520058"/>
              <a:gd name="csX7" fmla="*/ 0 w 917303"/>
              <a:gd name="csY7" fmla="*/ 433382 h 520058"/>
              <a:gd name="csX8" fmla="*/ 0 w 917303"/>
              <a:gd name="csY8" fmla="*/ 86676 h 52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17303" h="520058" extrusionOk="0">
                <a:moveTo>
                  <a:pt x="0" y="86676"/>
                </a:moveTo>
                <a:cubicBezTo>
                  <a:pt x="-4028" y="31377"/>
                  <a:pt x="45196" y="-2850"/>
                  <a:pt x="86676" y="0"/>
                </a:cubicBezTo>
                <a:cubicBezTo>
                  <a:pt x="255913" y="-45103"/>
                  <a:pt x="665714" y="-32949"/>
                  <a:pt x="830627" y="0"/>
                </a:cubicBezTo>
                <a:cubicBezTo>
                  <a:pt x="874114" y="-3804"/>
                  <a:pt x="925703" y="35684"/>
                  <a:pt x="917303" y="86676"/>
                </a:cubicBezTo>
                <a:cubicBezTo>
                  <a:pt x="920559" y="191148"/>
                  <a:pt x="892583" y="278179"/>
                  <a:pt x="917303" y="433382"/>
                </a:cubicBezTo>
                <a:cubicBezTo>
                  <a:pt x="918339" y="482117"/>
                  <a:pt x="876367" y="517387"/>
                  <a:pt x="830627" y="520058"/>
                </a:cubicBezTo>
                <a:cubicBezTo>
                  <a:pt x="522798" y="539649"/>
                  <a:pt x="349734" y="504784"/>
                  <a:pt x="86676" y="520058"/>
                </a:cubicBezTo>
                <a:cubicBezTo>
                  <a:pt x="38820" y="515871"/>
                  <a:pt x="-9011" y="484336"/>
                  <a:pt x="0" y="433382"/>
                </a:cubicBezTo>
                <a:cubicBezTo>
                  <a:pt x="-16448" y="334209"/>
                  <a:pt x="8256" y="138284"/>
                  <a:pt x="0" y="86676"/>
                </a:cubicBezTo>
                <a:close/>
              </a:path>
            </a:pathLst>
          </a:custGeom>
          <a:noFill/>
          <a:ln w="25400">
            <a:solidFill>
              <a:srgbClr val="FF0000"/>
            </a:solidFill>
            <a:extLst>
              <a:ext uri="{C807C97D-BFC1-408E-A445-0C87EB9F89A2}">
                <ask:lineSketchStyleProps xmlns:ask="http://schemas.microsoft.com/office/drawing/2018/sketchyshapes" sd="3978248048">
                  <a:prstGeom prst="flowChartAlternateProcess">
                    <a:avLst/>
                  </a:prstGeom>
                  <ask:type>
                    <ask:lineSketchCurved/>
                  </ask:type>
                </ask:lineSketchStyleProps>
              </a:ext>
            </a:extLst>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sz="1050"/>
          </a:p>
        </p:txBody>
      </p:sp>
      <p:sp>
        <p:nvSpPr>
          <p:cNvPr id="11" name="TextBox 10">
            <a:extLst>
              <a:ext uri="{FF2B5EF4-FFF2-40B4-BE49-F238E27FC236}">
                <a16:creationId xmlns:a16="http://schemas.microsoft.com/office/drawing/2014/main" id="{51C73482-D455-E5D1-E1E5-01388DB1C268}"/>
              </a:ext>
            </a:extLst>
          </p:cNvPr>
          <p:cNvSpPr txBox="1"/>
          <p:nvPr/>
        </p:nvSpPr>
        <p:spPr>
          <a:xfrm>
            <a:off x="7086601" y="2588508"/>
            <a:ext cx="2057400" cy="1384995"/>
          </a:xfrm>
          <a:prstGeom prst="rect">
            <a:avLst/>
          </a:prstGeom>
          <a:noFill/>
        </p:spPr>
        <p:txBody>
          <a:bodyPr wrap="square" rtlCol="0">
            <a:spAutoFit/>
          </a:bodyPr>
          <a:lstStyle/>
          <a:p>
            <a:r>
              <a:rPr lang="en-US" sz="2100" dirty="0">
                <a:solidFill>
                  <a:srgbClr val="FF0000"/>
                </a:solidFill>
                <a:latin typeface="+mj-lt"/>
              </a:rPr>
              <a:t>Simpler plots (↑29%) </a:t>
            </a:r>
            <a:r>
              <a:rPr lang="en-US" sz="2100" dirty="0">
                <a:latin typeface="+mj-lt"/>
              </a:rPr>
              <a:t>and fewer </a:t>
            </a:r>
            <a:r>
              <a:rPr lang="en-US" sz="2100" dirty="0">
                <a:solidFill>
                  <a:schemeClr val="accent1"/>
                </a:solidFill>
                <a:latin typeface="+mj-lt"/>
              </a:rPr>
              <a:t>negative plots (↓ 22%)</a:t>
            </a:r>
          </a:p>
        </p:txBody>
      </p:sp>
    </p:spTree>
    <p:extLst>
      <p:ext uri="{BB962C8B-B14F-4D97-AF65-F5344CB8AC3E}">
        <p14:creationId xmlns:p14="http://schemas.microsoft.com/office/powerpoint/2010/main" val="2567718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8" grpId="0" animBg="1"/>
      <p:bldP spid="9" grpId="0" animBg="1"/>
      <p:bldP spid="10"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FE25AF3-0A87-77D8-DF0E-4057F23A82F1}"/>
              </a:ext>
            </a:extLst>
          </p:cNvPr>
          <p:cNvSpPr>
            <a:spLocks noGrp="1"/>
          </p:cNvSpPr>
          <p:nvPr>
            <p:ph type="sldNum" sz="quarter" idx="12"/>
          </p:nvPr>
        </p:nvSpPr>
        <p:spPr>
          <a:xfrm>
            <a:off x="6457950" y="4767263"/>
            <a:ext cx="2057400" cy="273844"/>
          </a:xfrm>
          <a:prstGeom prst="rect">
            <a:avLst/>
          </a:prstGeom>
        </p:spPr>
        <p:txBody>
          <a:bodyPr vert="horz" lIns="68580" tIns="34290" rIns="68580" bIns="34290" rtlCol="0" anchor="ctr"/>
          <a:lstStyle>
            <a:defPPr>
              <a:defRPr lang="en-US"/>
            </a:defPPr>
            <a:lvl1pPr marL="0" algn="r" defTabSz="685800" rtl="0" eaLnBrk="1" latinLnBrk="0" hangingPunct="1">
              <a:defRPr sz="900" kern="1200">
                <a:solidFill>
                  <a:schemeClr val="tx1">
                    <a:tint val="75000"/>
                  </a:schemeClr>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fld id="{58EB6138-D2D2-C14F-9AF2-28ABE3A3A064}" type="slidenum">
              <a:rPr lang="en-US" smtClean="0"/>
              <a:pPr/>
              <a:t>46</a:t>
            </a:fld>
            <a:endParaRPr lang="en-US"/>
          </a:p>
        </p:txBody>
      </p:sp>
      <p:sp>
        <p:nvSpPr>
          <p:cNvPr id="5" name="TextBox 4">
            <a:extLst>
              <a:ext uri="{FF2B5EF4-FFF2-40B4-BE49-F238E27FC236}">
                <a16:creationId xmlns:a16="http://schemas.microsoft.com/office/drawing/2014/main" id="{0A8A85E1-C70B-BFAA-5A7F-0E12F778EEC1}"/>
              </a:ext>
            </a:extLst>
          </p:cNvPr>
          <p:cNvSpPr txBox="1"/>
          <p:nvPr/>
        </p:nvSpPr>
        <p:spPr>
          <a:xfrm>
            <a:off x="882071" y="1498379"/>
            <a:ext cx="7379858" cy="2169825"/>
          </a:xfrm>
          <a:prstGeom prst="rect">
            <a:avLst/>
          </a:prstGeom>
          <a:noFill/>
        </p:spPr>
        <p:txBody>
          <a:bodyPr wrap="square">
            <a:spAutoFit/>
          </a:bodyPr>
          <a:lstStyle/>
          <a:p>
            <a:pPr algn="ctr"/>
            <a:r>
              <a:rPr lang="en-US" sz="4500" b="1" dirty="0">
                <a:blipFill>
                  <a:blip r:embed="rId3"/>
                  <a:tile tx="6350" ty="-127000" sx="65000" sy="64000" flip="none" algn="tl"/>
                </a:blipFill>
              </a:rPr>
              <a:t>If we include discourse, will that make for a better storyteller?</a:t>
            </a:r>
            <a:endParaRPr lang="en-CN" sz="4500" b="1" dirty="0">
              <a:blipFill>
                <a:blip r:embed="rId3"/>
                <a:tile tx="6350" ty="-127000" sx="65000" sy="64000" flip="none" algn="tl"/>
              </a:blipFill>
            </a:endParaRPr>
          </a:p>
        </p:txBody>
      </p:sp>
    </p:spTree>
    <p:extLst>
      <p:ext uri="{BB962C8B-B14F-4D97-AF65-F5344CB8AC3E}">
        <p14:creationId xmlns:p14="http://schemas.microsoft.com/office/powerpoint/2010/main" val="93276516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68003AAD-9780-0740-894B-6DC541B6607B}"/>
              </a:ext>
            </a:extLst>
          </p:cNvPr>
          <p:cNvSpPr>
            <a:spLocks noGrp="1"/>
          </p:cNvSpPr>
          <p:nvPr>
            <p:ph type="title"/>
          </p:nvPr>
        </p:nvSpPr>
        <p:spPr>
          <a:xfrm>
            <a:off x="473202" y="479640"/>
            <a:ext cx="8042148" cy="492465"/>
          </a:xfrm>
        </p:spPr>
        <p:txBody>
          <a:bodyPr anchor="b">
            <a:noAutofit/>
          </a:bodyPr>
          <a:lstStyle/>
          <a:p>
            <a:r>
              <a:rPr lang="en-US" b="1" dirty="0">
                <a:latin typeface="Lucida Sans" panose="020B0602030504020204" pitchFamily="34" charset="77"/>
              </a:rPr>
              <a:t>More captivating AI Story-Telling</a:t>
            </a:r>
          </a:p>
        </p:txBody>
      </p:sp>
      <p:sp>
        <p:nvSpPr>
          <p:cNvPr id="3" name="Slide Number Placeholder 2">
            <a:extLst>
              <a:ext uri="{FF2B5EF4-FFF2-40B4-BE49-F238E27FC236}">
                <a16:creationId xmlns:a16="http://schemas.microsoft.com/office/drawing/2014/main" id="{F08FD14F-46B9-5E4B-896B-1D3BEB4ACEAB}"/>
              </a:ext>
            </a:extLst>
          </p:cNvPr>
          <p:cNvSpPr>
            <a:spLocks noGrp="1"/>
          </p:cNvSpPr>
          <p:nvPr>
            <p:ph type="sldNum" sz="quarter" idx="12"/>
          </p:nvPr>
        </p:nvSpPr>
        <p:spPr>
          <a:xfrm>
            <a:off x="6457950" y="4767263"/>
            <a:ext cx="2057400" cy="273844"/>
          </a:xfrm>
          <a:prstGeom prst="rect">
            <a:avLst/>
          </a:prstGeom>
        </p:spPr>
        <p:txBody>
          <a:bodyPr vert="horz" lIns="68580" tIns="34290" rIns="68580" bIns="34290" rtlCol="0" anchor="ctr"/>
          <a:lstStyle>
            <a:defPPr>
              <a:defRPr lang="en-US"/>
            </a:defPPr>
            <a:lvl1pPr marL="0" algn="r" defTabSz="685800" rtl="0" eaLnBrk="1" latinLnBrk="0" hangingPunct="1">
              <a:defRPr sz="900" kern="1200">
                <a:solidFill>
                  <a:schemeClr val="tx1">
                    <a:tint val="75000"/>
                  </a:schemeClr>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fld id="{58EB6138-D2D2-C14F-9AF2-28ABE3A3A064}" type="slidenum">
              <a:rPr lang="en-US" smtClean="0"/>
              <a:pPr/>
              <a:t>47</a:t>
            </a:fld>
            <a:endParaRPr lang="en-US"/>
          </a:p>
        </p:txBody>
      </p:sp>
      <p:sp>
        <p:nvSpPr>
          <p:cNvPr id="9" name="TextBox 8">
            <a:extLst>
              <a:ext uri="{FF2B5EF4-FFF2-40B4-BE49-F238E27FC236}">
                <a16:creationId xmlns:a16="http://schemas.microsoft.com/office/drawing/2014/main" id="{F6E49133-A422-3F70-51B3-21113F3BDA46}"/>
              </a:ext>
            </a:extLst>
          </p:cNvPr>
          <p:cNvSpPr txBox="1"/>
          <p:nvPr/>
        </p:nvSpPr>
        <p:spPr>
          <a:xfrm>
            <a:off x="1884466" y="1371476"/>
            <a:ext cx="6354041" cy="1338828"/>
          </a:xfrm>
          <a:prstGeom prst="rect">
            <a:avLst/>
          </a:prstGeom>
          <a:noFill/>
        </p:spPr>
        <p:txBody>
          <a:bodyPr wrap="square">
            <a:spAutoFit/>
          </a:bodyPr>
          <a:lstStyle/>
          <a:p>
            <a:r>
              <a:rPr lang="en-US" sz="1800" b="1" dirty="0">
                <a:latin typeface="Lucida Sans" panose="020B0602030504020204" pitchFamily="34" charset="77"/>
              </a:rPr>
              <a:t>Planning and reasoning about TP in the story outline </a:t>
            </a:r>
          </a:p>
          <a:p>
            <a:pPr marL="257175" indent="-257175">
              <a:buFont typeface="Arial" panose="020B0604020202020204" pitchFamily="34" charset="0"/>
              <a:buChar char="•"/>
            </a:pPr>
            <a:r>
              <a:rPr lang="en-US" sz="1500" dirty="0">
                <a:latin typeface="Lucida Sans" panose="020B0602030504020204" pitchFamily="34" charset="77"/>
              </a:rPr>
              <a:t>improves </a:t>
            </a:r>
            <a:r>
              <a:rPr lang="en-US" sz="1500" dirty="0">
                <a:highlight>
                  <a:srgbClr val="F8BCA2"/>
                </a:highlight>
                <a:latin typeface="Lucida Sans" panose="020B0602030504020204" pitchFamily="34" charset="77"/>
              </a:rPr>
              <a:t>overall narrative construction</a:t>
            </a:r>
          </a:p>
          <a:p>
            <a:pPr marL="257175" indent="-257175">
              <a:buFont typeface="Arial" panose="020B0604020202020204" pitchFamily="34" charset="0"/>
              <a:buChar char="•"/>
            </a:pPr>
            <a:r>
              <a:rPr lang="en-US" sz="1500" dirty="0">
                <a:latin typeface="Lucida Sans" panose="020B0602030504020204" pitchFamily="34" charset="77"/>
              </a:rPr>
              <a:t>reduce </a:t>
            </a:r>
            <a:r>
              <a:rPr lang="en-US" sz="1500" dirty="0">
                <a:highlight>
                  <a:srgbClr val="F8BCA2"/>
                </a:highlight>
                <a:latin typeface="Lucida Sans" panose="020B0602030504020204" pitchFamily="34" charset="77"/>
              </a:rPr>
              <a:t>plot holes </a:t>
            </a:r>
          </a:p>
          <a:p>
            <a:pPr marL="257175" indent="-257175">
              <a:buFont typeface="Arial" panose="020B0604020202020204" pitchFamily="34" charset="0"/>
              <a:buChar char="•"/>
            </a:pPr>
            <a:r>
              <a:rPr lang="en-US" sz="1500" dirty="0">
                <a:latin typeface="Lucida Sans" panose="020B0602030504020204" pitchFamily="34" charset="77"/>
              </a:rPr>
              <a:t>enhance </a:t>
            </a:r>
            <a:r>
              <a:rPr lang="en-US" sz="1500" dirty="0">
                <a:highlight>
                  <a:srgbClr val="F8BCA2"/>
                </a:highlight>
                <a:latin typeface="Lucida Sans" panose="020B0602030504020204" pitchFamily="34" charset="77"/>
              </a:rPr>
              <a:t>suspense and emotion </a:t>
            </a:r>
            <a:r>
              <a:rPr lang="en-US" sz="1500" dirty="0">
                <a:latin typeface="Lucida Sans" panose="020B0602030504020204" pitchFamily="34" charset="77"/>
              </a:rPr>
              <a:t>provocation</a:t>
            </a:r>
          </a:p>
        </p:txBody>
      </p:sp>
      <p:pic>
        <p:nvPicPr>
          <p:cNvPr id="10" name="Picture 9">
            <a:extLst>
              <a:ext uri="{FF2B5EF4-FFF2-40B4-BE49-F238E27FC236}">
                <a16:creationId xmlns:a16="http://schemas.microsoft.com/office/drawing/2014/main" id="{9CAAEE66-0594-A480-8C94-6831FD17CB5C}"/>
              </a:ext>
            </a:extLst>
          </p:cNvPr>
          <p:cNvPicPr>
            <a:picLocks noChangeAspect="1"/>
          </p:cNvPicPr>
          <p:nvPr/>
        </p:nvPicPr>
        <p:blipFill>
          <a:blip r:embed="rId3"/>
          <a:stretch>
            <a:fillRect/>
          </a:stretch>
        </p:blipFill>
        <p:spPr>
          <a:xfrm>
            <a:off x="473202" y="2662356"/>
            <a:ext cx="7765305" cy="1751161"/>
          </a:xfrm>
          <a:prstGeom prst="rect">
            <a:avLst/>
          </a:prstGeom>
        </p:spPr>
      </p:pic>
      <p:pic>
        <p:nvPicPr>
          <p:cNvPr id="6" name="Graphic 5" descr="Comment Heart outline">
            <a:extLst>
              <a:ext uri="{FF2B5EF4-FFF2-40B4-BE49-F238E27FC236}">
                <a16:creationId xmlns:a16="http://schemas.microsoft.com/office/drawing/2014/main" id="{D132B707-CAF1-B3D9-28EB-BEADD0E7D16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30185" y="1336367"/>
            <a:ext cx="685800" cy="685800"/>
          </a:xfrm>
          <a:prstGeom prst="rect">
            <a:avLst/>
          </a:prstGeom>
        </p:spPr>
      </p:pic>
      <p:sp>
        <p:nvSpPr>
          <p:cNvPr id="11" name="Rounded Rectangle 10">
            <a:extLst>
              <a:ext uri="{FF2B5EF4-FFF2-40B4-BE49-F238E27FC236}">
                <a16:creationId xmlns:a16="http://schemas.microsoft.com/office/drawing/2014/main" id="{9868548C-8D38-A9EB-B36E-5DA0D6D7B1E4}"/>
              </a:ext>
            </a:extLst>
          </p:cNvPr>
          <p:cNvSpPr/>
          <p:nvPr/>
        </p:nvSpPr>
        <p:spPr>
          <a:xfrm>
            <a:off x="600253" y="3429000"/>
            <a:ext cx="8070545" cy="400793"/>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algn="ctr"/>
            <a:endParaRPr lang="en-US" sz="1050"/>
          </a:p>
        </p:txBody>
      </p:sp>
      <p:pic>
        <p:nvPicPr>
          <p:cNvPr id="12" name="Graphic 11" descr="Comment Like outline">
            <a:extLst>
              <a:ext uri="{FF2B5EF4-FFF2-40B4-BE49-F238E27FC236}">
                <a16:creationId xmlns:a16="http://schemas.microsoft.com/office/drawing/2014/main" id="{1D9DBB75-DFED-576D-A5DB-7F1C5E7320B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96292" y="2744685"/>
            <a:ext cx="613063" cy="613063"/>
          </a:xfrm>
          <a:prstGeom prst="rect">
            <a:avLst/>
          </a:prstGeom>
        </p:spPr>
      </p:pic>
    </p:spTree>
    <p:extLst>
      <p:ext uri="{BB962C8B-B14F-4D97-AF65-F5344CB8AC3E}">
        <p14:creationId xmlns:p14="http://schemas.microsoft.com/office/powerpoint/2010/main" val="21913242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dissolve">
                                      <p:cBhvr>
                                        <p:cTn id="7" dur="500"/>
                                        <p:tgtEl>
                                          <p:spTgt spid="12"/>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dissolve">
                                      <p:cBhvr>
                                        <p:cTn id="10" dur="500"/>
                                        <p:tgtEl>
                                          <p:spTgt spid="11"/>
                                        </p:tgtEl>
                                      </p:cBhvr>
                                    </p:animEffect>
                                  </p:childTnLst>
                                </p:cTn>
                              </p:par>
                              <p:par>
                                <p:cTn id="11" presetID="9" presetClass="entr" presetSubtype="0" fill="hold" nodeType="with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dissolve">
                                      <p:cBhvr>
                                        <p:cTn id="13" dur="500"/>
                                        <p:tgtEl>
                                          <p:spTgt spid="9">
                                            <p:txEl>
                                              <p:pRg st="1" end="1"/>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9">
                                            <p:txEl>
                                              <p:pRg st="2" end="2"/>
                                            </p:txEl>
                                          </p:spTgt>
                                        </p:tgtEl>
                                        <p:attrNameLst>
                                          <p:attrName>style.visibility</p:attrName>
                                        </p:attrNameLst>
                                      </p:cBhvr>
                                      <p:to>
                                        <p:strVal val="visible"/>
                                      </p:to>
                                    </p:set>
                                    <p:animEffect transition="in" filter="dissolve">
                                      <p:cBhvr>
                                        <p:cTn id="16" dur="500"/>
                                        <p:tgtEl>
                                          <p:spTgt spid="9">
                                            <p:txEl>
                                              <p:pRg st="2" end="2"/>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animEffect transition="in" filter="dissolve">
                                      <p:cBhvr>
                                        <p:cTn id="19"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Shape 397"/>
        <p:cNvGrpSpPr/>
        <p:nvPr/>
      </p:nvGrpSpPr>
      <p:grpSpPr>
        <a:xfrm>
          <a:off x="0" y="0"/>
          <a:ext cx="0" cy="0"/>
          <a:chOff x="0" y="0"/>
          <a:chExt cx="0" cy="0"/>
        </a:xfrm>
      </p:grpSpPr>
      <p:sp>
        <p:nvSpPr>
          <p:cNvPr id="398" name="Google Shape;398;p5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Ongoing Work</a:t>
            </a:r>
            <a:endParaRPr/>
          </a:p>
        </p:txBody>
      </p:sp>
      <p:sp>
        <p:nvSpPr>
          <p:cNvPr id="399" name="Google Shape;399;p51"/>
          <p:cNvSpPr txBox="1">
            <a:spLocks noGrp="1"/>
          </p:cNvSpPr>
          <p:nvPr>
            <p:ph type="body" idx="1"/>
          </p:nvPr>
        </p:nvSpPr>
        <p:spPr>
          <a:xfrm>
            <a:off x="311700" y="1152475"/>
            <a:ext cx="42603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Jialiang, Tenghao, Alex, Muhao</a:t>
            </a:r>
            <a:endParaRPr/>
          </a:p>
          <a:p>
            <a:pPr marL="0" lvl="0" indent="0" algn="l" rtl="0">
              <a:spcBef>
                <a:spcPts val="1200"/>
              </a:spcBef>
              <a:spcAft>
                <a:spcPts val="0"/>
              </a:spcAft>
              <a:buNone/>
            </a:pPr>
            <a:endParaRPr/>
          </a:p>
          <a:p>
            <a:pPr marL="0" lvl="0" indent="0" algn="l" rtl="0">
              <a:spcBef>
                <a:spcPts val="1200"/>
              </a:spcBef>
              <a:spcAft>
                <a:spcPts val="1200"/>
              </a:spcAft>
              <a:buNone/>
            </a:pPr>
            <a:r>
              <a:rPr lang="en"/>
              <a:t>Using genetic algorithms and GPT4 to generate summaries with specific kinds of structure</a:t>
            </a:r>
            <a:endParaRPr/>
          </a:p>
        </p:txBody>
      </p:sp>
      <p:grpSp>
        <p:nvGrpSpPr>
          <p:cNvPr id="400" name="Google Shape;400;p51"/>
          <p:cNvGrpSpPr/>
          <p:nvPr/>
        </p:nvGrpSpPr>
        <p:grpSpPr>
          <a:xfrm>
            <a:off x="5234625" y="255825"/>
            <a:ext cx="3497100" cy="4675500"/>
            <a:chOff x="5234625" y="255825"/>
            <a:chExt cx="3497100" cy="4675500"/>
          </a:xfrm>
        </p:grpSpPr>
        <p:sp>
          <p:nvSpPr>
            <p:cNvPr id="401" name="Google Shape;401;p51"/>
            <p:cNvSpPr/>
            <p:nvPr/>
          </p:nvSpPr>
          <p:spPr>
            <a:xfrm>
              <a:off x="6453825" y="1779825"/>
              <a:ext cx="1211100" cy="1796100"/>
            </a:xfrm>
            <a:prstGeom prst="rect">
              <a:avLst/>
            </a:prstGeom>
            <a:solidFill>
              <a:srgbClr val="FFF2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t>News article</a:t>
              </a:r>
              <a:endParaRPr sz="1800"/>
            </a:p>
          </p:txBody>
        </p:sp>
        <p:sp>
          <p:nvSpPr>
            <p:cNvPr id="402" name="Google Shape;402;p51"/>
            <p:cNvSpPr/>
            <p:nvPr/>
          </p:nvSpPr>
          <p:spPr>
            <a:xfrm>
              <a:off x="5234625" y="255825"/>
              <a:ext cx="1211100" cy="1094100"/>
            </a:xfrm>
            <a:prstGeom prst="rect">
              <a:avLst/>
            </a:prstGeom>
            <a:solidFill>
              <a:srgbClr val="D0E0E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t>Facebook Post</a:t>
              </a:r>
              <a:endParaRPr sz="1800"/>
            </a:p>
          </p:txBody>
        </p:sp>
        <p:sp>
          <p:nvSpPr>
            <p:cNvPr id="403" name="Google Shape;403;p51"/>
            <p:cNvSpPr/>
            <p:nvPr/>
          </p:nvSpPr>
          <p:spPr>
            <a:xfrm>
              <a:off x="7368225" y="255825"/>
              <a:ext cx="1211100" cy="1094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t>Tweet</a:t>
              </a:r>
              <a:endParaRPr sz="1800"/>
            </a:p>
          </p:txBody>
        </p:sp>
        <p:sp>
          <p:nvSpPr>
            <p:cNvPr id="404" name="Google Shape;404;p51"/>
            <p:cNvSpPr/>
            <p:nvPr/>
          </p:nvSpPr>
          <p:spPr>
            <a:xfrm>
              <a:off x="7520625" y="3837225"/>
              <a:ext cx="1211100" cy="1094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t>LinkedIn</a:t>
              </a:r>
              <a:endParaRPr sz="1800"/>
            </a:p>
          </p:txBody>
        </p:sp>
        <p:cxnSp>
          <p:nvCxnSpPr>
            <p:cNvPr id="405" name="Google Shape;405;p51"/>
            <p:cNvCxnSpPr/>
            <p:nvPr/>
          </p:nvCxnSpPr>
          <p:spPr>
            <a:xfrm rot="10800000">
              <a:off x="6199475" y="1356775"/>
              <a:ext cx="414900" cy="414900"/>
            </a:xfrm>
            <a:prstGeom prst="straightConnector1">
              <a:avLst/>
            </a:prstGeom>
            <a:noFill/>
            <a:ln w="9525" cap="flat" cmpd="sng">
              <a:solidFill>
                <a:schemeClr val="dk2"/>
              </a:solidFill>
              <a:prstDash val="solid"/>
              <a:round/>
              <a:headEnd type="none" w="med" len="med"/>
              <a:tailEnd type="triangle" w="med" len="med"/>
            </a:ln>
          </p:spPr>
        </p:cxnSp>
        <p:cxnSp>
          <p:nvCxnSpPr>
            <p:cNvPr id="406" name="Google Shape;406;p51"/>
            <p:cNvCxnSpPr/>
            <p:nvPr/>
          </p:nvCxnSpPr>
          <p:spPr>
            <a:xfrm rot="10800000" flipH="1">
              <a:off x="7417200" y="1376475"/>
              <a:ext cx="243900" cy="422400"/>
            </a:xfrm>
            <a:prstGeom prst="straightConnector1">
              <a:avLst/>
            </a:prstGeom>
            <a:noFill/>
            <a:ln w="9525" cap="flat" cmpd="sng">
              <a:solidFill>
                <a:schemeClr val="dk2"/>
              </a:solidFill>
              <a:prstDash val="solid"/>
              <a:round/>
              <a:headEnd type="none" w="med" len="med"/>
              <a:tailEnd type="triangle" w="med" len="med"/>
            </a:ln>
          </p:spPr>
        </p:cxnSp>
        <p:cxnSp>
          <p:nvCxnSpPr>
            <p:cNvPr id="407" name="Google Shape;407;p51"/>
            <p:cNvCxnSpPr>
              <a:endCxn id="404" idx="0"/>
            </p:cNvCxnSpPr>
            <p:nvPr/>
          </p:nvCxnSpPr>
          <p:spPr>
            <a:xfrm>
              <a:off x="7580475" y="3554325"/>
              <a:ext cx="545700" cy="282900"/>
            </a:xfrm>
            <a:prstGeom prst="straightConnector1">
              <a:avLst/>
            </a:prstGeom>
            <a:noFill/>
            <a:ln w="9525" cap="flat" cmpd="sng">
              <a:solidFill>
                <a:schemeClr val="dk2"/>
              </a:solidFill>
              <a:prstDash val="solid"/>
              <a:round/>
              <a:headEnd type="none" w="med" len="med"/>
              <a:tailEnd type="triangl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Shape 411"/>
        <p:cNvGrpSpPr/>
        <p:nvPr/>
      </p:nvGrpSpPr>
      <p:grpSpPr>
        <a:xfrm>
          <a:off x="0" y="0"/>
          <a:ext cx="0" cy="0"/>
          <a:chOff x="0" y="0"/>
          <a:chExt cx="0" cy="0"/>
        </a:xfrm>
      </p:grpSpPr>
      <p:sp>
        <p:nvSpPr>
          <p:cNvPr id="412" name="Google Shape;412;p52"/>
          <p:cNvSpPr txBox="1">
            <a:spLocks noGrp="1"/>
          </p:cNvSpPr>
          <p:nvPr>
            <p:ph type="title"/>
          </p:nvPr>
        </p:nvSpPr>
        <p:spPr>
          <a:xfrm>
            <a:off x="311700" y="1388850"/>
            <a:ext cx="8520600" cy="841800"/>
          </a:xfrm>
          <a:prstGeom prst="rect">
            <a:avLst/>
          </a:prstGeom>
        </p:spPr>
        <p:txBody>
          <a:bodyPr spcFirstLastPara="1" wrap="square" lIns="91425" tIns="91425" rIns="91425" bIns="91425" anchor="ctr" anchorCtr="0">
            <a:normAutofit fontScale="90000"/>
          </a:bodyPr>
          <a:lstStyle/>
          <a:p>
            <a:pPr marL="0" lvl="0" indent="0" algn="ctr" rtl="0">
              <a:spcBef>
                <a:spcPts val="0"/>
              </a:spcBef>
              <a:spcAft>
                <a:spcPts val="0"/>
              </a:spcAft>
              <a:buNone/>
            </a:pPr>
            <a:r>
              <a:rPr lang="en"/>
              <a:t>What can discourse tell us?</a:t>
            </a:r>
            <a:endParaRPr/>
          </a:p>
          <a:p>
            <a:pPr marL="0" lvl="0" indent="0" algn="ctr" rtl="0">
              <a:spcBef>
                <a:spcPts val="0"/>
              </a:spcBef>
              <a:spcAft>
                <a:spcPts val="0"/>
              </a:spcAft>
              <a:buNone/>
            </a:pPr>
            <a:endParaRPr/>
          </a:p>
          <a:p>
            <a:pPr marL="0" lvl="0" indent="0" algn="ctr" rtl="0">
              <a:spcBef>
                <a:spcPts val="0"/>
              </a:spcBef>
              <a:spcAft>
                <a:spcPts val="0"/>
              </a:spcAft>
              <a:buNone/>
            </a:pPr>
            <a:r>
              <a:rPr lang="en" b="1" u="sng"/>
              <a:t>Insight #2</a:t>
            </a:r>
            <a:r>
              <a:rPr lang="en"/>
              <a:t>: Discourse Helps Us Structure Text</a:t>
            </a:r>
            <a:endParaRPr/>
          </a:p>
        </p:txBody>
      </p:sp>
      <p:pic>
        <p:nvPicPr>
          <p:cNvPr id="413" name="Google Shape;413;p52"/>
          <p:cNvPicPr preferRelativeResize="0"/>
          <p:nvPr/>
        </p:nvPicPr>
        <p:blipFill>
          <a:blip r:embed="rId3">
            <a:alphaModFix/>
          </a:blip>
          <a:stretch>
            <a:fillRect/>
          </a:stretch>
        </p:blipFill>
        <p:spPr>
          <a:xfrm>
            <a:off x="1045150" y="3064348"/>
            <a:ext cx="7053701" cy="1831400"/>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53"/>
          <p:cNvSpPr txBox="1">
            <a:spLocks noGrp="1"/>
          </p:cNvSpPr>
          <p:nvPr>
            <p:ph type="title"/>
          </p:nvPr>
        </p:nvSpPr>
        <p:spPr>
          <a:xfrm>
            <a:off x="311700" y="1388850"/>
            <a:ext cx="8520600" cy="841800"/>
          </a:xfrm>
          <a:prstGeom prst="rect">
            <a:avLst/>
          </a:prstGeom>
        </p:spPr>
        <p:txBody>
          <a:bodyPr spcFirstLastPara="1" wrap="square" lIns="91425" tIns="91425" rIns="91425" bIns="91425" anchor="ctr" anchorCtr="0">
            <a:normAutofit fontScale="90000"/>
          </a:bodyPr>
          <a:lstStyle/>
          <a:p>
            <a:pPr marL="0" lvl="0" indent="0" algn="ctr" rtl="0">
              <a:spcBef>
                <a:spcPts val="0"/>
              </a:spcBef>
              <a:spcAft>
                <a:spcPts val="0"/>
              </a:spcAft>
              <a:buNone/>
            </a:pPr>
            <a:r>
              <a:rPr lang="en"/>
              <a:t>What can discourse tell us?</a:t>
            </a:r>
            <a:endParaRPr/>
          </a:p>
          <a:p>
            <a:pPr marL="0" lvl="0" indent="0" algn="ctr" rtl="0">
              <a:spcBef>
                <a:spcPts val="0"/>
              </a:spcBef>
              <a:spcAft>
                <a:spcPts val="0"/>
              </a:spcAft>
              <a:buNone/>
            </a:pPr>
            <a:endParaRPr/>
          </a:p>
          <a:p>
            <a:pPr marL="0" lvl="0" indent="0" algn="ctr" rtl="0">
              <a:spcBef>
                <a:spcPts val="0"/>
              </a:spcBef>
              <a:spcAft>
                <a:spcPts val="0"/>
              </a:spcAft>
              <a:buNone/>
            </a:pPr>
            <a:r>
              <a:rPr lang="en" b="1" u="sng"/>
              <a:t>Insight #3</a:t>
            </a:r>
            <a:r>
              <a:rPr lang="en"/>
              <a:t>: Discourse Can Help Us Plan</a:t>
            </a:r>
            <a:endParaRPr/>
          </a:p>
        </p:txBody>
      </p:sp>
      <p:pic>
        <p:nvPicPr>
          <p:cNvPr id="419" name="Google Shape;419;p53"/>
          <p:cNvPicPr preferRelativeResize="0"/>
          <p:nvPr/>
        </p:nvPicPr>
        <p:blipFill>
          <a:blip r:embed="rId3">
            <a:alphaModFix/>
          </a:blip>
          <a:stretch>
            <a:fillRect/>
          </a:stretch>
        </p:blipFill>
        <p:spPr>
          <a:xfrm>
            <a:off x="1262126" y="2955400"/>
            <a:ext cx="6619749" cy="1981276"/>
          </a:xfrm>
          <a:prstGeom prst="rect">
            <a:avLst/>
          </a:prstGeom>
          <a:noFill/>
          <a:ln>
            <a:noFill/>
          </a:ln>
        </p:spPr>
      </p:pic>
      <p:pic>
        <p:nvPicPr>
          <p:cNvPr id="420" name="Google Shape;420;p53"/>
          <p:cNvPicPr preferRelativeResize="0"/>
          <p:nvPr/>
        </p:nvPicPr>
        <p:blipFill>
          <a:blip r:embed="rId4">
            <a:alphaModFix/>
          </a:blip>
          <a:stretch>
            <a:fillRect/>
          </a:stretch>
        </p:blipFill>
        <p:spPr>
          <a:xfrm>
            <a:off x="206850" y="3352775"/>
            <a:ext cx="1186525" cy="1186525"/>
          </a:xfrm>
          <a:prstGeom prst="rect">
            <a:avLst/>
          </a:prstGeom>
          <a:noFill/>
          <a:ln>
            <a:noFill/>
          </a:ln>
        </p:spPr>
      </p:pic>
      <p:sp>
        <p:nvSpPr>
          <p:cNvPr id="2" name="TextBox 1">
            <a:extLst>
              <a:ext uri="{FF2B5EF4-FFF2-40B4-BE49-F238E27FC236}">
                <a16:creationId xmlns:a16="http://schemas.microsoft.com/office/drawing/2014/main" id="{1B0AAF51-C450-4175-3A5B-DDF25756743D}"/>
              </a:ext>
            </a:extLst>
          </p:cNvPr>
          <p:cNvSpPr txBox="1"/>
          <p:nvPr/>
        </p:nvSpPr>
        <p:spPr>
          <a:xfrm>
            <a:off x="311700" y="4852555"/>
            <a:ext cx="1051891" cy="307777"/>
          </a:xfrm>
          <a:prstGeom prst="rect">
            <a:avLst/>
          </a:prstGeom>
          <a:noFill/>
        </p:spPr>
        <p:txBody>
          <a:bodyPr wrap="none" rtlCol="0">
            <a:spAutoFit/>
          </a:bodyPr>
          <a:lstStyle/>
          <a:p>
            <a:r>
              <a:rPr lang="en-US"/>
              <a:t>EMNLP 24</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5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News Coverage</a:t>
            </a:r>
            <a:endParaRPr/>
          </a:p>
        </p:txBody>
      </p:sp>
      <p:grpSp>
        <p:nvGrpSpPr>
          <p:cNvPr id="426" name="Google Shape;426;p54"/>
          <p:cNvGrpSpPr/>
          <p:nvPr/>
        </p:nvGrpSpPr>
        <p:grpSpPr>
          <a:xfrm>
            <a:off x="246250" y="1861475"/>
            <a:ext cx="6971000" cy="870900"/>
            <a:chOff x="246250" y="1404275"/>
            <a:chExt cx="6971000" cy="870900"/>
          </a:xfrm>
        </p:grpSpPr>
        <p:sp>
          <p:nvSpPr>
            <p:cNvPr id="427" name="Google Shape;427;p54"/>
            <p:cNvSpPr/>
            <p:nvPr/>
          </p:nvSpPr>
          <p:spPr>
            <a:xfrm>
              <a:off x="1926750" y="1404275"/>
              <a:ext cx="870900" cy="870900"/>
            </a:xfrm>
            <a:prstGeom prst="ellipse">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500"/>
                <a:t>a</a:t>
              </a:r>
              <a:r>
                <a:rPr lang="en" sz="2500" baseline="-25000"/>
                <a:t>1</a:t>
              </a:r>
              <a:endParaRPr sz="2500" baseline="-25000"/>
            </a:p>
          </p:txBody>
        </p:sp>
        <p:sp>
          <p:nvSpPr>
            <p:cNvPr id="428" name="Google Shape;428;p54"/>
            <p:cNvSpPr/>
            <p:nvPr/>
          </p:nvSpPr>
          <p:spPr>
            <a:xfrm>
              <a:off x="3450750" y="1404275"/>
              <a:ext cx="870900" cy="870900"/>
            </a:xfrm>
            <a:prstGeom prst="ellipse">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500"/>
                <a:t>a</a:t>
              </a:r>
              <a:r>
                <a:rPr lang="en" sz="2500" baseline="-25000"/>
                <a:t>2</a:t>
              </a:r>
              <a:endParaRPr sz="2500" baseline="-25000"/>
            </a:p>
          </p:txBody>
        </p:sp>
        <p:sp>
          <p:nvSpPr>
            <p:cNvPr id="429" name="Google Shape;429;p54"/>
            <p:cNvSpPr/>
            <p:nvPr/>
          </p:nvSpPr>
          <p:spPr>
            <a:xfrm>
              <a:off x="4898550" y="1404275"/>
              <a:ext cx="870900" cy="870900"/>
            </a:xfrm>
            <a:prstGeom prst="ellipse">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500"/>
                <a:t>a</a:t>
              </a:r>
              <a:r>
                <a:rPr lang="en" sz="2500" baseline="-25000"/>
                <a:t>3</a:t>
              </a:r>
              <a:endParaRPr sz="2500" baseline="-25000"/>
            </a:p>
          </p:txBody>
        </p:sp>
        <p:sp>
          <p:nvSpPr>
            <p:cNvPr id="430" name="Google Shape;430;p54"/>
            <p:cNvSpPr/>
            <p:nvPr/>
          </p:nvSpPr>
          <p:spPr>
            <a:xfrm>
              <a:off x="6346350" y="1404275"/>
              <a:ext cx="870900" cy="870900"/>
            </a:xfrm>
            <a:prstGeom prst="ellipse">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500"/>
                <a:t>a</a:t>
              </a:r>
              <a:r>
                <a:rPr lang="en" sz="2500" baseline="-25000"/>
                <a:t>4</a:t>
              </a:r>
              <a:endParaRPr sz="2500" baseline="-25000"/>
            </a:p>
          </p:txBody>
        </p:sp>
        <p:cxnSp>
          <p:nvCxnSpPr>
            <p:cNvPr id="431" name="Google Shape;431;p54"/>
            <p:cNvCxnSpPr>
              <a:stCxn id="427" idx="6"/>
              <a:endCxn id="428" idx="2"/>
            </p:cNvCxnSpPr>
            <p:nvPr/>
          </p:nvCxnSpPr>
          <p:spPr>
            <a:xfrm>
              <a:off x="2797650" y="1839725"/>
              <a:ext cx="653100" cy="0"/>
            </a:xfrm>
            <a:prstGeom prst="straightConnector1">
              <a:avLst/>
            </a:prstGeom>
            <a:noFill/>
            <a:ln w="9525" cap="flat" cmpd="sng">
              <a:solidFill>
                <a:schemeClr val="dk2"/>
              </a:solidFill>
              <a:prstDash val="solid"/>
              <a:round/>
              <a:headEnd type="none" w="med" len="med"/>
              <a:tailEnd type="triangle" w="med" len="med"/>
            </a:ln>
          </p:spPr>
        </p:cxnSp>
        <p:cxnSp>
          <p:nvCxnSpPr>
            <p:cNvPr id="432" name="Google Shape;432;p54"/>
            <p:cNvCxnSpPr>
              <a:stCxn id="428" idx="6"/>
              <a:endCxn id="429" idx="2"/>
            </p:cNvCxnSpPr>
            <p:nvPr/>
          </p:nvCxnSpPr>
          <p:spPr>
            <a:xfrm>
              <a:off x="4321650" y="1839725"/>
              <a:ext cx="576900" cy="0"/>
            </a:xfrm>
            <a:prstGeom prst="straightConnector1">
              <a:avLst/>
            </a:prstGeom>
            <a:noFill/>
            <a:ln w="9525" cap="flat" cmpd="sng">
              <a:solidFill>
                <a:schemeClr val="dk2"/>
              </a:solidFill>
              <a:prstDash val="solid"/>
              <a:round/>
              <a:headEnd type="none" w="med" len="med"/>
              <a:tailEnd type="triangle" w="med" len="med"/>
            </a:ln>
          </p:spPr>
        </p:cxnSp>
        <p:cxnSp>
          <p:nvCxnSpPr>
            <p:cNvPr id="433" name="Google Shape;433;p54"/>
            <p:cNvCxnSpPr>
              <a:stCxn id="429" idx="6"/>
              <a:endCxn id="430" idx="2"/>
            </p:cNvCxnSpPr>
            <p:nvPr/>
          </p:nvCxnSpPr>
          <p:spPr>
            <a:xfrm>
              <a:off x="5769450" y="1839725"/>
              <a:ext cx="576900" cy="0"/>
            </a:xfrm>
            <a:prstGeom prst="straightConnector1">
              <a:avLst/>
            </a:prstGeom>
            <a:noFill/>
            <a:ln w="9525" cap="flat" cmpd="sng">
              <a:solidFill>
                <a:schemeClr val="dk2"/>
              </a:solidFill>
              <a:prstDash val="solid"/>
              <a:round/>
              <a:headEnd type="none" w="med" len="med"/>
              <a:tailEnd type="triangle" w="med" len="med"/>
            </a:ln>
          </p:spPr>
        </p:cxnSp>
        <p:sp>
          <p:nvSpPr>
            <p:cNvPr id="434" name="Google Shape;434;p54"/>
            <p:cNvSpPr txBox="1"/>
            <p:nvPr/>
          </p:nvSpPr>
          <p:spPr>
            <a:xfrm>
              <a:off x="246250" y="1657375"/>
              <a:ext cx="1306200" cy="57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u="sng">
                  <a:solidFill>
                    <a:schemeClr val="dk2"/>
                  </a:solidFill>
                </a:rPr>
                <a:t>actions:</a:t>
              </a:r>
              <a:endParaRPr sz="1800" b="1" u="sng">
                <a:solidFill>
                  <a:schemeClr val="dk2"/>
                </a:solidFill>
              </a:endParaRPr>
            </a:p>
          </p:txBody>
        </p:sp>
      </p:grpSp>
      <p:grpSp>
        <p:nvGrpSpPr>
          <p:cNvPr id="435" name="Google Shape;435;p54"/>
          <p:cNvGrpSpPr/>
          <p:nvPr/>
        </p:nvGrpSpPr>
        <p:grpSpPr>
          <a:xfrm>
            <a:off x="3450750" y="2732375"/>
            <a:ext cx="3800550" cy="1145721"/>
            <a:chOff x="3450750" y="2424854"/>
            <a:chExt cx="3800550" cy="1145721"/>
          </a:xfrm>
        </p:grpSpPr>
        <p:grpSp>
          <p:nvGrpSpPr>
            <p:cNvPr id="436" name="Google Shape;436;p54"/>
            <p:cNvGrpSpPr/>
            <p:nvPr/>
          </p:nvGrpSpPr>
          <p:grpSpPr>
            <a:xfrm>
              <a:off x="3450750" y="2699675"/>
              <a:ext cx="2326864" cy="870900"/>
              <a:chOff x="3450750" y="2699675"/>
              <a:chExt cx="2326864" cy="870900"/>
            </a:xfrm>
          </p:grpSpPr>
          <p:sp>
            <p:nvSpPr>
              <p:cNvPr id="437" name="Google Shape;437;p54"/>
              <p:cNvSpPr/>
              <p:nvPr/>
            </p:nvSpPr>
            <p:spPr>
              <a:xfrm>
                <a:off x="3450750" y="2699675"/>
                <a:ext cx="870900" cy="8709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500"/>
                  <a:t>d</a:t>
                </a:r>
                <a:r>
                  <a:rPr lang="en" sz="2500" baseline="-25000"/>
                  <a:t>1</a:t>
                </a:r>
                <a:endParaRPr sz="2500" baseline="-25000"/>
              </a:p>
            </p:txBody>
          </p:sp>
          <p:sp>
            <p:nvSpPr>
              <p:cNvPr id="438" name="Google Shape;438;p54"/>
              <p:cNvSpPr/>
              <p:nvPr/>
            </p:nvSpPr>
            <p:spPr>
              <a:xfrm>
                <a:off x="4906714" y="2699675"/>
                <a:ext cx="870900" cy="8709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500"/>
                  <a:t>d</a:t>
                </a:r>
                <a:r>
                  <a:rPr lang="en" sz="2500" baseline="-25000"/>
                  <a:t>2</a:t>
                </a:r>
                <a:endParaRPr sz="2500" baseline="-25000"/>
              </a:p>
            </p:txBody>
          </p:sp>
        </p:grpSp>
        <p:cxnSp>
          <p:nvCxnSpPr>
            <p:cNvPr id="439" name="Google Shape;439;p54"/>
            <p:cNvCxnSpPr>
              <a:stCxn id="437" idx="6"/>
              <a:endCxn id="438" idx="2"/>
            </p:cNvCxnSpPr>
            <p:nvPr/>
          </p:nvCxnSpPr>
          <p:spPr>
            <a:xfrm>
              <a:off x="4321650" y="3135125"/>
              <a:ext cx="585000" cy="0"/>
            </a:xfrm>
            <a:prstGeom prst="straightConnector1">
              <a:avLst/>
            </a:prstGeom>
            <a:noFill/>
            <a:ln w="9525" cap="flat" cmpd="sng">
              <a:solidFill>
                <a:schemeClr val="dk2"/>
              </a:solidFill>
              <a:prstDash val="solid"/>
              <a:round/>
              <a:headEnd type="none" w="med" len="med"/>
              <a:tailEnd type="triangle" w="med" len="med"/>
            </a:ln>
          </p:spPr>
        </p:cxnSp>
        <p:cxnSp>
          <p:nvCxnSpPr>
            <p:cNvPr id="440" name="Google Shape;440;p54"/>
            <p:cNvCxnSpPr>
              <a:stCxn id="428" idx="4"/>
              <a:endCxn id="437" idx="0"/>
            </p:cNvCxnSpPr>
            <p:nvPr/>
          </p:nvCxnSpPr>
          <p:spPr>
            <a:xfrm>
              <a:off x="3886200" y="2424854"/>
              <a:ext cx="0" cy="274800"/>
            </a:xfrm>
            <a:prstGeom prst="straightConnector1">
              <a:avLst/>
            </a:prstGeom>
            <a:noFill/>
            <a:ln w="9525" cap="flat" cmpd="sng">
              <a:solidFill>
                <a:schemeClr val="dk2"/>
              </a:solidFill>
              <a:prstDash val="solid"/>
              <a:round/>
              <a:headEnd type="none" w="med" len="med"/>
              <a:tailEnd type="triangle" w="med" len="med"/>
            </a:ln>
          </p:spPr>
        </p:cxnSp>
        <p:cxnSp>
          <p:nvCxnSpPr>
            <p:cNvPr id="441" name="Google Shape;441;p54"/>
            <p:cNvCxnSpPr>
              <a:stCxn id="429" idx="4"/>
              <a:endCxn id="438" idx="0"/>
            </p:cNvCxnSpPr>
            <p:nvPr/>
          </p:nvCxnSpPr>
          <p:spPr>
            <a:xfrm>
              <a:off x="5334000" y="2424854"/>
              <a:ext cx="8100" cy="274800"/>
            </a:xfrm>
            <a:prstGeom prst="straightConnector1">
              <a:avLst/>
            </a:prstGeom>
            <a:noFill/>
            <a:ln w="9525" cap="flat" cmpd="sng">
              <a:solidFill>
                <a:schemeClr val="dk2"/>
              </a:solidFill>
              <a:prstDash val="solid"/>
              <a:round/>
              <a:headEnd type="none" w="med" len="med"/>
              <a:tailEnd type="triangle" w="med" len="med"/>
            </a:ln>
          </p:spPr>
        </p:cxnSp>
        <p:cxnSp>
          <p:nvCxnSpPr>
            <p:cNvPr id="442" name="Google Shape;442;p54"/>
            <p:cNvCxnSpPr>
              <a:stCxn id="430" idx="4"/>
              <a:endCxn id="438" idx="0"/>
            </p:cNvCxnSpPr>
            <p:nvPr/>
          </p:nvCxnSpPr>
          <p:spPr>
            <a:xfrm flipH="1">
              <a:off x="5342100" y="2424854"/>
              <a:ext cx="1439700" cy="274800"/>
            </a:xfrm>
            <a:prstGeom prst="straightConnector1">
              <a:avLst/>
            </a:prstGeom>
            <a:noFill/>
            <a:ln w="9525" cap="flat" cmpd="sng">
              <a:solidFill>
                <a:schemeClr val="dk2"/>
              </a:solidFill>
              <a:prstDash val="solid"/>
              <a:round/>
              <a:headEnd type="none" w="med" len="med"/>
              <a:tailEnd type="triangle" w="med" len="med"/>
            </a:ln>
          </p:spPr>
        </p:cxnSp>
        <p:sp>
          <p:nvSpPr>
            <p:cNvPr id="443" name="Google Shape;443;p54"/>
            <p:cNvSpPr txBox="1"/>
            <p:nvPr/>
          </p:nvSpPr>
          <p:spPr>
            <a:xfrm>
              <a:off x="5931300" y="2871125"/>
              <a:ext cx="1320000" cy="42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a:t>
              </a:r>
              <a:endParaRPr sz="1800">
                <a:solidFill>
                  <a:schemeClr val="dk2"/>
                </a:solidFill>
              </a:endParaRPr>
            </a:p>
          </p:txBody>
        </p:sp>
      </p:grpSp>
      <p:sp>
        <p:nvSpPr>
          <p:cNvPr id="444" name="Google Shape;444;p54"/>
          <p:cNvSpPr txBox="1"/>
          <p:nvPr/>
        </p:nvSpPr>
        <p:spPr>
          <a:xfrm>
            <a:off x="7302900" y="2032925"/>
            <a:ext cx="1320000" cy="42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a:t>
            </a:r>
            <a:endParaRPr sz="1800">
              <a:solidFill>
                <a:schemeClr val="dk2"/>
              </a:solidFill>
            </a:endParaRPr>
          </a:p>
        </p:txBody>
      </p:sp>
      <p:sp>
        <p:nvSpPr>
          <p:cNvPr id="445" name="Google Shape;445;p54"/>
          <p:cNvSpPr txBox="1"/>
          <p:nvPr/>
        </p:nvSpPr>
        <p:spPr>
          <a:xfrm>
            <a:off x="246250" y="3260296"/>
            <a:ext cx="1510500" cy="57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u="sng">
                <a:solidFill>
                  <a:schemeClr val="dk2"/>
                </a:solidFill>
              </a:rPr>
              <a:t>discourse:</a:t>
            </a:r>
            <a:endParaRPr sz="1800" b="1" u="sng">
              <a:solidFill>
                <a:schemeClr val="dk2"/>
              </a:solidFill>
            </a:endParaRPr>
          </a:p>
        </p:txBody>
      </p:sp>
      <p:grpSp>
        <p:nvGrpSpPr>
          <p:cNvPr id="446" name="Google Shape;446;p54"/>
          <p:cNvGrpSpPr/>
          <p:nvPr/>
        </p:nvGrpSpPr>
        <p:grpSpPr>
          <a:xfrm>
            <a:off x="246250" y="3878096"/>
            <a:ext cx="7157450" cy="880186"/>
            <a:chOff x="246250" y="3788289"/>
            <a:chExt cx="7157450" cy="880186"/>
          </a:xfrm>
        </p:grpSpPr>
        <p:sp>
          <p:nvSpPr>
            <p:cNvPr id="447" name="Google Shape;447;p54"/>
            <p:cNvSpPr/>
            <p:nvPr/>
          </p:nvSpPr>
          <p:spPr>
            <a:xfrm>
              <a:off x="3166329" y="4152911"/>
              <a:ext cx="422400" cy="422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54"/>
            <p:cNvSpPr txBox="1"/>
            <p:nvPr/>
          </p:nvSpPr>
          <p:spPr>
            <a:xfrm>
              <a:off x="3190480" y="4155582"/>
              <a:ext cx="422400" cy="42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2"/>
                  </a:solidFill>
                </a:rPr>
                <a:t>w</a:t>
              </a:r>
              <a:r>
                <a:rPr lang="en" sz="1600" baseline="-25000">
                  <a:solidFill>
                    <a:schemeClr val="dk2"/>
                  </a:solidFill>
                </a:rPr>
                <a:t>1</a:t>
              </a:r>
              <a:endParaRPr sz="1600" baseline="-25000">
                <a:solidFill>
                  <a:schemeClr val="dk2"/>
                </a:solidFill>
              </a:endParaRPr>
            </a:p>
          </p:txBody>
        </p:sp>
        <p:cxnSp>
          <p:nvCxnSpPr>
            <p:cNvPr id="449" name="Google Shape;449;p54"/>
            <p:cNvCxnSpPr>
              <a:stCxn id="447" idx="6"/>
              <a:endCxn id="450" idx="1"/>
            </p:cNvCxnSpPr>
            <p:nvPr/>
          </p:nvCxnSpPr>
          <p:spPr>
            <a:xfrm rot="10800000" flipH="1">
              <a:off x="3588729" y="4353311"/>
              <a:ext cx="176100" cy="10800"/>
            </a:xfrm>
            <a:prstGeom prst="straightConnector1">
              <a:avLst/>
            </a:prstGeom>
            <a:noFill/>
            <a:ln w="9525" cap="flat" cmpd="sng">
              <a:solidFill>
                <a:schemeClr val="dk2"/>
              </a:solidFill>
              <a:prstDash val="solid"/>
              <a:round/>
              <a:headEnd type="none" w="med" len="med"/>
              <a:tailEnd type="triangle" w="med" len="med"/>
            </a:ln>
          </p:spPr>
        </p:cxnSp>
        <p:sp>
          <p:nvSpPr>
            <p:cNvPr id="451" name="Google Shape;451;p54"/>
            <p:cNvSpPr/>
            <p:nvPr/>
          </p:nvSpPr>
          <p:spPr>
            <a:xfrm>
              <a:off x="3775929" y="4152911"/>
              <a:ext cx="422400" cy="422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52" name="Google Shape;452;p54"/>
            <p:cNvCxnSpPr>
              <a:stCxn id="451" idx="6"/>
            </p:cNvCxnSpPr>
            <p:nvPr/>
          </p:nvCxnSpPr>
          <p:spPr>
            <a:xfrm rot="10800000" flipH="1">
              <a:off x="4198329" y="4353311"/>
              <a:ext cx="176100" cy="10800"/>
            </a:xfrm>
            <a:prstGeom prst="straightConnector1">
              <a:avLst/>
            </a:prstGeom>
            <a:noFill/>
            <a:ln w="9525" cap="flat" cmpd="sng">
              <a:solidFill>
                <a:schemeClr val="dk2"/>
              </a:solidFill>
              <a:prstDash val="solid"/>
              <a:round/>
              <a:headEnd type="none" w="med" len="med"/>
              <a:tailEnd type="triangle" w="med" len="med"/>
            </a:ln>
          </p:spPr>
        </p:cxnSp>
        <p:sp>
          <p:nvSpPr>
            <p:cNvPr id="453" name="Google Shape;453;p54"/>
            <p:cNvSpPr/>
            <p:nvPr/>
          </p:nvSpPr>
          <p:spPr>
            <a:xfrm>
              <a:off x="4385529" y="4152911"/>
              <a:ext cx="422400" cy="422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54" name="Google Shape;454;p54"/>
            <p:cNvCxnSpPr>
              <a:stCxn id="453" idx="6"/>
            </p:cNvCxnSpPr>
            <p:nvPr/>
          </p:nvCxnSpPr>
          <p:spPr>
            <a:xfrm rot="10800000" flipH="1">
              <a:off x="4807929" y="4353311"/>
              <a:ext cx="176100" cy="10800"/>
            </a:xfrm>
            <a:prstGeom prst="straightConnector1">
              <a:avLst/>
            </a:prstGeom>
            <a:noFill/>
            <a:ln w="9525" cap="flat" cmpd="sng">
              <a:solidFill>
                <a:schemeClr val="dk2"/>
              </a:solidFill>
              <a:prstDash val="solid"/>
              <a:round/>
              <a:headEnd type="none" w="med" len="med"/>
              <a:tailEnd type="triangle" w="med" len="med"/>
            </a:ln>
          </p:spPr>
        </p:cxnSp>
        <p:sp>
          <p:nvSpPr>
            <p:cNvPr id="455" name="Google Shape;455;p54"/>
            <p:cNvSpPr/>
            <p:nvPr/>
          </p:nvSpPr>
          <p:spPr>
            <a:xfrm>
              <a:off x="4995129" y="4152911"/>
              <a:ext cx="422400" cy="422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56" name="Google Shape;456;p54"/>
            <p:cNvCxnSpPr>
              <a:stCxn id="455" idx="6"/>
            </p:cNvCxnSpPr>
            <p:nvPr/>
          </p:nvCxnSpPr>
          <p:spPr>
            <a:xfrm rot="10800000" flipH="1">
              <a:off x="5417529" y="4353311"/>
              <a:ext cx="176100" cy="10800"/>
            </a:xfrm>
            <a:prstGeom prst="straightConnector1">
              <a:avLst/>
            </a:prstGeom>
            <a:noFill/>
            <a:ln w="9525" cap="flat" cmpd="sng">
              <a:solidFill>
                <a:schemeClr val="dk2"/>
              </a:solidFill>
              <a:prstDash val="solid"/>
              <a:round/>
              <a:headEnd type="none" w="med" len="med"/>
              <a:tailEnd type="triangle" w="med" len="med"/>
            </a:ln>
          </p:spPr>
        </p:cxnSp>
        <p:sp>
          <p:nvSpPr>
            <p:cNvPr id="457" name="Google Shape;457;p54"/>
            <p:cNvSpPr/>
            <p:nvPr/>
          </p:nvSpPr>
          <p:spPr>
            <a:xfrm>
              <a:off x="5604729" y="4152911"/>
              <a:ext cx="422400" cy="422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54"/>
            <p:cNvSpPr txBox="1"/>
            <p:nvPr/>
          </p:nvSpPr>
          <p:spPr>
            <a:xfrm>
              <a:off x="3800080" y="4155582"/>
              <a:ext cx="422400" cy="42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2"/>
                  </a:solidFill>
                </a:rPr>
                <a:t>w</a:t>
              </a:r>
              <a:r>
                <a:rPr lang="en" sz="1600" baseline="-25000">
                  <a:solidFill>
                    <a:schemeClr val="dk2"/>
                  </a:solidFill>
                </a:rPr>
                <a:t>2</a:t>
              </a:r>
              <a:endParaRPr sz="1600" baseline="-25000">
                <a:solidFill>
                  <a:schemeClr val="dk2"/>
                </a:solidFill>
              </a:endParaRPr>
            </a:p>
          </p:txBody>
        </p:sp>
        <p:sp>
          <p:nvSpPr>
            <p:cNvPr id="459" name="Google Shape;459;p54"/>
            <p:cNvSpPr txBox="1"/>
            <p:nvPr/>
          </p:nvSpPr>
          <p:spPr>
            <a:xfrm>
              <a:off x="4409680" y="4155582"/>
              <a:ext cx="422400" cy="42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2"/>
                  </a:solidFill>
                </a:rPr>
                <a:t>w</a:t>
              </a:r>
              <a:r>
                <a:rPr lang="en" sz="1600" baseline="-25000">
                  <a:solidFill>
                    <a:schemeClr val="dk2"/>
                  </a:solidFill>
                </a:rPr>
                <a:t>3</a:t>
              </a:r>
              <a:endParaRPr sz="1600" baseline="-25000">
                <a:solidFill>
                  <a:schemeClr val="dk2"/>
                </a:solidFill>
              </a:endParaRPr>
            </a:p>
          </p:txBody>
        </p:sp>
        <p:sp>
          <p:nvSpPr>
            <p:cNvPr id="460" name="Google Shape;460;p54"/>
            <p:cNvSpPr txBox="1"/>
            <p:nvPr/>
          </p:nvSpPr>
          <p:spPr>
            <a:xfrm>
              <a:off x="5019280" y="4155582"/>
              <a:ext cx="422400" cy="42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2"/>
                  </a:solidFill>
                </a:rPr>
                <a:t>w</a:t>
              </a:r>
              <a:r>
                <a:rPr lang="en" sz="1600" baseline="-25000">
                  <a:solidFill>
                    <a:schemeClr val="dk2"/>
                  </a:solidFill>
                </a:rPr>
                <a:t>4</a:t>
              </a:r>
              <a:endParaRPr sz="1600" baseline="-25000">
                <a:solidFill>
                  <a:schemeClr val="dk2"/>
                </a:solidFill>
              </a:endParaRPr>
            </a:p>
          </p:txBody>
        </p:sp>
        <p:cxnSp>
          <p:nvCxnSpPr>
            <p:cNvPr id="461" name="Google Shape;461;p54"/>
            <p:cNvCxnSpPr>
              <a:stCxn id="437" idx="4"/>
              <a:endCxn id="448" idx="0"/>
            </p:cNvCxnSpPr>
            <p:nvPr/>
          </p:nvCxnSpPr>
          <p:spPr>
            <a:xfrm flipH="1">
              <a:off x="3401700" y="3788289"/>
              <a:ext cx="484500" cy="367200"/>
            </a:xfrm>
            <a:prstGeom prst="straightConnector1">
              <a:avLst/>
            </a:prstGeom>
            <a:noFill/>
            <a:ln w="9525" cap="flat" cmpd="sng">
              <a:solidFill>
                <a:schemeClr val="dk2"/>
              </a:solidFill>
              <a:prstDash val="solid"/>
              <a:round/>
              <a:headEnd type="none" w="med" len="med"/>
              <a:tailEnd type="triangle" w="med" len="med"/>
            </a:ln>
          </p:spPr>
        </p:cxnSp>
        <p:cxnSp>
          <p:nvCxnSpPr>
            <p:cNvPr id="462" name="Google Shape;462;p54"/>
            <p:cNvCxnSpPr>
              <a:stCxn id="437" idx="4"/>
              <a:endCxn id="458" idx="0"/>
            </p:cNvCxnSpPr>
            <p:nvPr/>
          </p:nvCxnSpPr>
          <p:spPr>
            <a:xfrm>
              <a:off x="3886200" y="3788289"/>
              <a:ext cx="125100" cy="367200"/>
            </a:xfrm>
            <a:prstGeom prst="straightConnector1">
              <a:avLst/>
            </a:prstGeom>
            <a:noFill/>
            <a:ln w="9525" cap="flat" cmpd="sng">
              <a:solidFill>
                <a:schemeClr val="dk2"/>
              </a:solidFill>
              <a:prstDash val="solid"/>
              <a:round/>
              <a:headEnd type="none" w="med" len="med"/>
              <a:tailEnd type="triangle" w="med" len="med"/>
            </a:ln>
          </p:spPr>
        </p:cxnSp>
        <p:cxnSp>
          <p:nvCxnSpPr>
            <p:cNvPr id="463" name="Google Shape;463;p54"/>
            <p:cNvCxnSpPr>
              <a:stCxn id="437" idx="4"/>
              <a:endCxn id="459" idx="0"/>
            </p:cNvCxnSpPr>
            <p:nvPr/>
          </p:nvCxnSpPr>
          <p:spPr>
            <a:xfrm>
              <a:off x="3886200" y="3788289"/>
              <a:ext cx="734700" cy="367200"/>
            </a:xfrm>
            <a:prstGeom prst="straightConnector1">
              <a:avLst/>
            </a:prstGeom>
            <a:noFill/>
            <a:ln w="9525" cap="flat" cmpd="sng">
              <a:solidFill>
                <a:schemeClr val="dk2"/>
              </a:solidFill>
              <a:prstDash val="solid"/>
              <a:round/>
              <a:headEnd type="none" w="med" len="med"/>
              <a:tailEnd type="triangle" w="med" len="med"/>
            </a:ln>
          </p:spPr>
        </p:cxnSp>
        <p:cxnSp>
          <p:nvCxnSpPr>
            <p:cNvPr id="464" name="Google Shape;464;p54"/>
            <p:cNvCxnSpPr>
              <a:stCxn id="438" idx="4"/>
              <a:endCxn id="460" idx="0"/>
            </p:cNvCxnSpPr>
            <p:nvPr/>
          </p:nvCxnSpPr>
          <p:spPr>
            <a:xfrm flipH="1">
              <a:off x="5230564" y="3788289"/>
              <a:ext cx="111600" cy="367200"/>
            </a:xfrm>
            <a:prstGeom prst="straightConnector1">
              <a:avLst/>
            </a:prstGeom>
            <a:noFill/>
            <a:ln w="9525" cap="flat" cmpd="sng">
              <a:solidFill>
                <a:schemeClr val="dk2"/>
              </a:solidFill>
              <a:prstDash val="solid"/>
              <a:round/>
              <a:headEnd type="none" w="med" len="med"/>
              <a:tailEnd type="triangle" w="med" len="med"/>
            </a:ln>
          </p:spPr>
        </p:cxnSp>
        <p:cxnSp>
          <p:nvCxnSpPr>
            <p:cNvPr id="465" name="Google Shape;465;p54"/>
            <p:cNvCxnSpPr>
              <a:stCxn id="438" idx="4"/>
              <a:endCxn id="457" idx="0"/>
            </p:cNvCxnSpPr>
            <p:nvPr/>
          </p:nvCxnSpPr>
          <p:spPr>
            <a:xfrm>
              <a:off x="5342164" y="3788289"/>
              <a:ext cx="473700" cy="364500"/>
            </a:xfrm>
            <a:prstGeom prst="straightConnector1">
              <a:avLst/>
            </a:prstGeom>
            <a:noFill/>
            <a:ln w="9525" cap="flat" cmpd="sng">
              <a:solidFill>
                <a:schemeClr val="dk2"/>
              </a:solidFill>
              <a:prstDash val="solid"/>
              <a:round/>
              <a:headEnd type="none" w="med" len="med"/>
              <a:tailEnd type="triangle" w="med" len="med"/>
            </a:ln>
          </p:spPr>
        </p:cxnSp>
        <p:sp>
          <p:nvSpPr>
            <p:cNvPr id="466" name="Google Shape;466;p54"/>
            <p:cNvSpPr txBox="1"/>
            <p:nvPr/>
          </p:nvSpPr>
          <p:spPr>
            <a:xfrm>
              <a:off x="6083700" y="4014125"/>
              <a:ext cx="1320000" cy="42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a:t>
              </a:r>
              <a:endParaRPr sz="1800">
                <a:solidFill>
                  <a:schemeClr val="dk2"/>
                </a:solidFill>
              </a:endParaRPr>
            </a:p>
          </p:txBody>
        </p:sp>
        <p:sp>
          <p:nvSpPr>
            <p:cNvPr id="467" name="Google Shape;467;p54"/>
            <p:cNvSpPr txBox="1"/>
            <p:nvPr/>
          </p:nvSpPr>
          <p:spPr>
            <a:xfrm>
              <a:off x="246250" y="4095775"/>
              <a:ext cx="1510500" cy="57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u="sng">
                  <a:solidFill>
                    <a:schemeClr val="dk2"/>
                  </a:solidFill>
                </a:rPr>
                <a:t>words:</a:t>
              </a:r>
              <a:endParaRPr sz="1800" b="1" u="sng">
                <a:solidFill>
                  <a:schemeClr val="dk2"/>
                </a:solidFill>
              </a:endParaRPr>
            </a:p>
          </p:txBody>
        </p:sp>
      </p:grpSp>
      <p:grpSp>
        <p:nvGrpSpPr>
          <p:cNvPr id="468" name="Google Shape;468;p54"/>
          <p:cNvGrpSpPr/>
          <p:nvPr/>
        </p:nvGrpSpPr>
        <p:grpSpPr>
          <a:xfrm>
            <a:off x="578250" y="1202900"/>
            <a:ext cx="1872541" cy="664025"/>
            <a:chOff x="578250" y="1202900"/>
            <a:chExt cx="1872541" cy="664025"/>
          </a:xfrm>
        </p:grpSpPr>
        <p:sp>
          <p:nvSpPr>
            <p:cNvPr id="469" name="Google Shape;469;p54"/>
            <p:cNvSpPr txBox="1"/>
            <p:nvPr/>
          </p:nvSpPr>
          <p:spPr>
            <a:xfrm>
              <a:off x="578250" y="1202900"/>
              <a:ext cx="1850700" cy="42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Calling a source</a:t>
              </a:r>
              <a:endParaRPr sz="1800">
                <a:solidFill>
                  <a:schemeClr val="dk2"/>
                </a:solidFill>
              </a:endParaRPr>
            </a:p>
          </p:txBody>
        </p:sp>
        <p:sp>
          <p:nvSpPr>
            <p:cNvPr id="470" name="Google Shape;470;p54"/>
            <p:cNvSpPr/>
            <p:nvPr/>
          </p:nvSpPr>
          <p:spPr>
            <a:xfrm>
              <a:off x="2290491" y="1404275"/>
              <a:ext cx="160300" cy="462650"/>
            </a:xfrm>
            <a:custGeom>
              <a:avLst/>
              <a:gdLst/>
              <a:ahLst/>
              <a:cxnLst/>
              <a:rect l="l" t="t" r="r" b="b"/>
              <a:pathLst>
                <a:path w="6412" h="18506" extrusionOk="0">
                  <a:moveTo>
                    <a:pt x="3683" y="0"/>
                  </a:moveTo>
                  <a:cubicBezTo>
                    <a:pt x="6172" y="1661"/>
                    <a:pt x="6807" y="5871"/>
                    <a:pt x="5860" y="8709"/>
                  </a:cubicBezTo>
                  <a:cubicBezTo>
                    <a:pt x="4677" y="12253"/>
                    <a:pt x="-1252" y="15164"/>
                    <a:pt x="417" y="18506"/>
                  </a:cubicBezTo>
                </a:path>
              </a:pathLst>
            </a:custGeom>
            <a:noFill/>
            <a:ln w="9525" cap="flat" cmpd="sng">
              <a:solidFill>
                <a:schemeClr val="dk2"/>
              </a:solidFill>
              <a:prstDash val="solid"/>
              <a:round/>
              <a:headEnd type="none" w="med" len="med"/>
              <a:tailEnd type="triangle" w="med" len="med"/>
            </a:ln>
          </p:spPr>
          <p:txBody>
            <a:bodyPr/>
            <a:lstStyle/>
            <a:p>
              <a:endParaRPr lang="en-US"/>
            </a:p>
          </p:txBody>
        </p:sp>
      </p:grpSp>
      <p:grpSp>
        <p:nvGrpSpPr>
          <p:cNvPr id="471" name="Google Shape;471;p54"/>
          <p:cNvGrpSpPr/>
          <p:nvPr/>
        </p:nvGrpSpPr>
        <p:grpSpPr>
          <a:xfrm>
            <a:off x="2635650" y="1202900"/>
            <a:ext cx="1850700" cy="786475"/>
            <a:chOff x="2635650" y="1202900"/>
            <a:chExt cx="1850700" cy="786475"/>
          </a:xfrm>
        </p:grpSpPr>
        <p:sp>
          <p:nvSpPr>
            <p:cNvPr id="472" name="Google Shape;472;p54"/>
            <p:cNvSpPr txBox="1"/>
            <p:nvPr/>
          </p:nvSpPr>
          <p:spPr>
            <a:xfrm>
              <a:off x="2635650" y="1202900"/>
              <a:ext cx="1850700" cy="42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Calling another source</a:t>
              </a:r>
              <a:endParaRPr sz="1800">
                <a:solidFill>
                  <a:schemeClr val="dk2"/>
                </a:solidFill>
              </a:endParaRPr>
            </a:p>
          </p:txBody>
        </p:sp>
        <p:sp>
          <p:nvSpPr>
            <p:cNvPr id="473" name="Google Shape;473;p54"/>
            <p:cNvSpPr/>
            <p:nvPr/>
          </p:nvSpPr>
          <p:spPr>
            <a:xfrm>
              <a:off x="4165100" y="1431500"/>
              <a:ext cx="280600" cy="557875"/>
            </a:xfrm>
            <a:custGeom>
              <a:avLst/>
              <a:gdLst/>
              <a:ahLst/>
              <a:cxnLst/>
              <a:rect l="l" t="t" r="r" b="b"/>
              <a:pathLst>
                <a:path w="11224" h="22315" extrusionOk="0">
                  <a:moveTo>
                    <a:pt x="6531" y="0"/>
                  </a:moveTo>
                  <a:cubicBezTo>
                    <a:pt x="11298" y="3176"/>
                    <a:pt x="12359" y="11749"/>
                    <a:pt x="9797" y="16873"/>
                  </a:cubicBezTo>
                  <a:cubicBezTo>
                    <a:pt x="8126" y="20214"/>
                    <a:pt x="2642" y="19673"/>
                    <a:pt x="0" y="22315"/>
                  </a:cubicBezTo>
                </a:path>
              </a:pathLst>
            </a:custGeom>
            <a:noFill/>
            <a:ln w="9525" cap="flat" cmpd="sng">
              <a:solidFill>
                <a:schemeClr val="dk2"/>
              </a:solidFill>
              <a:prstDash val="solid"/>
              <a:round/>
              <a:headEnd type="none" w="med" len="med"/>
              <a:tailEnd type="triangle" w="med" len="med"/>
            </a:ln>
          </p:spPr>
          <p:txBody>
            <a:bodyPr/>
            <a:lstStyle/>
            <a:p>
              <a:endParaRPr lang="en-US"/>
            </a:p>
          </p:txBody>
        </p:sp>
      </p:grpSp>
      <p:grpSp>
        <p:nvGrpSpPr>
          <p:cNvPr id="474" name="Google Shape;474;p54"/>
          <p:cNvGrpSpPr/>
          <p:nvPr/>
        </p:nvGrpSpPr>
        <p:grpSpPr>
          <a:xfrm>
            <a:off x="4616850" y="1050500"/>
            <a:ext cx="1850700" cy="1006905"/>
            <a:chOff x="4616850" y="1050500"/>
            <a:chExt cx="1850700" cy="1006905"/>
          </a:xfrm>
        </p:grpSpPr>
        <p:sp>
          <p:nvSpPr>
            <p:cNvPr id="475" name="Google Shape;475;p54"/>
            <p:cNvSpPr txBox="1"/>
            <p:nvPr/>
          </p:nvSpPr>
          <p:spPr>
            <a:xfrm>
              <a:off x="4616850" y="1050500"/>
              <a:ext cx="1850700" cy="42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Finding background</a:t>
              </a:r>
              <a:endParaRPr sz="1800">
                <a:solidFill>
                  <a:schemeClr val="dk2"/>
                </a:solidFill>
              </a:endParaRPr>
            </a:p>
          </p:txBody>
        </p:sp>
        <p:sp>
          <p:nvSpPr>
            <p:cNvPr id="476" name="Google Shape;476;p54"/>
            <p:cNvSpPr/>
            <p:nvPr/>
          </p:nvSpPr>
          <p:spPr>
            <a:xfrm>
              <a:off x="5702700" y="1336655"/>
              <a:ext cx="624900" cy="720750"/>
            </a:xfrm>
            <a:custGeom>
              <a:avLst/>
              <a:gdLst/>
              <a:ahLst/>
              <a:cxnLst/>
              <a:rect l="l" t="t" r="r" b="b"/>
              <a:pathLst>
                <a:path w="24996" h="28830" extrusionOk="0">
                  <a:moveTo>
                    <a:pt x="9253" y="528"/>
                  </a:moveTo>
                  <a:cubicBezTo>
                    <a:pt x="13607" y="528"/>
                    <a:pt x="18092" y="-528"/>
                    <a:pt x="22316" y="528"/>
                  </a:cubicBezTo>
                  <a:cubicBezTo>
                    <a:pt x="25562" y="1339"/>
                    <a:pt x="24966" y="7013"/>
                    <a:pt x="24493" y="10325"/>
                  </a:cubicBezTo>
                  <a:cubicBezTo>
                    <a:pt x="23708" y="15823"/>
                    <a:pt x="19309" y="21326"/>
                    <a:pt x="14152" y="23388"/>
                  </a:cubicBezTo>
                  <a:cubicBezTo>
                    <a:pt x="9459" y="25264"/>
                    <a:pt x="3577" y="25260"/>
                    <a:pt x="0" y="28831"/>
                  </a:cubicBezTo>
                </a:path>
              </a:pathLst>
            </a:custGeom>
            <a:noFill/>
            <a:ln w="9525" cap="flat" cmpd="sng">
              <a:solidFill>
                <a:schemeClr val="dk2"/>
              </a:solidFill>
              <a:prstDash val="solid"/>
              <a:round/>
              <a:headEnd type="none" w="med" len="med"/>
              <a:tailEnd type="triangle" w="med" len="med"/>
            </a:ln>
          </p:spPr>
          <p:txBody>
            <a:bodyPr/>
            <a:lstStyle/>
            <a:p>
              <a:endParaRPr lang="en-US"/>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6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7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7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3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4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80"/>
        <p:cNvGrpSpPr/>
        <p:nvPr/>
      </p:nvGrpSpPr>
      <p:grpSpPr>
        <a:xfrm>
          <a:off x="0" y="0"/>
          <a:ext cx="0" cy="0"/>
          <a:chOff x="0" y="0"/>
          <a:chExt cx="0" cy="0"/>
        </a:xfrm>
      </p:grpSpPr>
      <p:sp>
        <p:nvSpPr>
          <p:cNvPr id="481" name="Google Shape;481;p55"/>
          <p:cNvSpPr txBox="1">
            <a:spLocks noGrp="1"/>
          </p:cNvSpPr>
          <p:nvPr>
            <p:ph type="title"/>
          </p:nvPr>
        </p:nvSpPr>
        <p:spPr>
          <a:xfrm>
            <a:off x="831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News Coverage of Press Releases</a:t>
            </a:r>
            <a:endParaRPr/>
          </a:p>
        </p:txBody>
      </p:sp>
      <p:grpSp>
        <p:nvGrpSpPr>
          <p:cNvPr id="482" name="Google Shape;482;p55"/>
          <p:cNvGrpSpPr/>
          <p:nvPr/>
        </p:nvGrpSpPr>
        <p:grpSpPr>
          <a:xfrm>
            <a:off x="-5762000" y="1187325"/>
            <a:ext cx="10633251" cy="2768850"/>
            <a:chOff x="-5838200" y="1512950"/>
            <a:chExt cx="10633251" cy="2768850"/>
          </a:xfrm>
        </p:grpSpPr>
        <p:pic>
          <p:nvPicPr>
            <p:cNvPr id="483" name="Google Shape;483;p55"/>
            <p:cNvPicPr preferRelativeResize="0"/>
            <p:nvPr/>
          </p:nvPicPr>
          <p:blipFill rotWithShape="1">
            <a:blip r:embed="rId3">
              <a:alphaModFix/>
            </a:blip>
            <a:srcRect t="59051"/>
            <a:stretch/>
          </p:blipFill>
          <p:spPr>
            <a:xfrm>
              <a:off x="9975" y="2932375"/>
              <a:ext cx="4785076" cy="1349426"/>
            </a:xfrm>
            <a:prstGeom prst="rect">
              <a:avLst/>
            </a:prstGeom>
            <a:noFill/>
            <a:ln>
              <a:noFill/>
            </a:ln>
          </p:spPr>
        </p:pic>
        <p:grpSp>
          <p:nvGrpSpPr>
            <p:cNvPr id="484" name="Google Shape;484;p55"/>
            <p:cNvGrpSpPr/>
            <p:nvPr/>
          </p:nvGrpSpPr>
          <p:grpSpPr>
            <a:xfrm>
              <a:off x="9975" y="1512950"/>
              <a:ext cx="4785076" cy="1490044"/>
              <a:chOff x="9975" y="1284350"/>
              <a:chExt cx="4785076" cy="1490044"/>
            </a:xfrm>
          </p:grpSpPr>
          <p:pic>
            <p:nvPicPr>
              <p:cNvPr id="485" name="Google Shape;485;p55"/>
              <p:cNvPicPr preferRelativeResize="0"/>
              <p:nvPr/>
            </p:nvPicPr>
            <p:blipFill rotWithShape="1">
              <a:blip r:embed="rId3">
                <a:alphaModFix/>
              </a:blip>
              <a:srcRect b="57303"/>
              <a:stretch/>
            </p:blipFill>
            <p:spPr>
              <a:xfrm>
                <a:off x="9975" y="1367369"/>
                <a:ext cx="4785076" cy="1407025"/>
              </a:xfrm>
              <a:prstGeom prst="rect">
                <a:avLst/>
              </a:prstGeom>
              <a:noFill/>
              <a:ln>
                <a:noFill/>
              </a:ln>
            </p:spPr>
          </p:pic>
          <p:sp>
            <p:nvSpPr>
              <p:cNvPr id="486" name="Google Shape;486;p55"/>
              <p:cNvSpPr/>
              <p:nvPr/>
            </p:nvSpPr>
            <p:spPr>
              <a:xfrm>
                <a:off x="3846350" y="1284350"/>
                <a:ext cx="914700" cy="3111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487" name="Google Shape;487;p55"/>
            <p:cNvSpPr/>
            <p:nvPr/>
          </p:nvSpPr>
          <p:spPr>
            <a:xfrm>
              <a:off x="-2333000" y="3540000"/>
              <a:ext cx="1106400" cy="169800"/>
            </a:xfrm>
            <a:prstGeom prst="rect">
              <a:avLst/>
            </a:prstGeom>
            <a:solidFill>
              <a:srgbClr val="F10202">
                <a:alpha val="1962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88" name="Google Shape;488;p55"/>
            <p:cNvSpPr/>
            <p:nvPr/>
          </p:nvSpPr>
          <p:spPr>
            <a:xfrm>
              <a:off x="-5838200" y="3540000"/>
              <a:ext cx="1046700" cy="169800"/>
            </a:xfrm>
            <a:prstGeom prst="rect">
              <a:avLst/>
            </a:prstGeom>
            <a:solidFill>
              <a:srgbClr val="F10202">
                <a:alpha val="1962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489" name="Google Shape;489;p55"/>
          <p:cNvSpPr/>
          <p:nvPr/>
        </p:nvSpPr>
        <p:spPr>
          <a:xfrm>
            <a:off x="4838814" y="2399825"/>
            <a:ext cx="328800" cy="349800"/>
          </a:xfrm>
          <a:prstGeom prst="rightArrow">
            <a:avLst>
              <a:gd name="adj1" fmla="val 50000"/>
              <a:gd name="adj2" fmla="val 50000"/>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90" name="Google Shape;490;p55"/>
          <p:cNvSpPr/>
          <p:nvPr/>
        </p:nvSpPr>
        <p:spPr>
          <a:xfrm>
            <a:off x="-4237250" y="3387400"/>
            <a:ext cx="1762043" cy="745325"/>
          </a:xfrm>
          <a:custGeom>
            <a:avLst/>
            <a:gdLst/>
            <a:ahLst/>
            <a:cxnLst/>
            <a:rect l="l" t="t" r="r" b="b"/>
            <a:pathLst>
              <a:path w="37871" h="29813" extrusionOk="0">
                <a:moveTo>
                  <a:pt x="37871" y="0"/>
                </a:moveTo>
                <a:cubicBezTo>
                  <a:pt x="37871" y="8903"/>
                  <a:pt x="24958" y="13501"/>
                  <a:pt x="16369" y="15844"/>
                </a:cubicBezTo>
                <a:cubicBezTo>
                  <a:pt x="10453" y="17458"/>
                  <a:pt x="1155" y="18471"/>
                  <a:pt x="148" y="24520"/>
                </a:cubicBezTo>
                <a:cubicBezTo>
                  <a:pt x="-1039" y="31651"/>
                  <a:pt x="14044" y="29424"/>
                  <a:pt x="21273" y="29424"/>
                </a:cubicBezTo>
              </a:path>
            </a:pathLst>
          </a:custGeom>
          <a:noFill/>
          <a:ln w="19050" cap="flat" cmpd="sng">
            <a:solidFill>
              <a:schemeClr val="dk2"/>
            </a:solidFill>
            <a:prstDash val="solid"/>
            <a:round/>
            <a:headEnd type="triangle" w="med" len="med"/>
            <a:tailEnd type="none" w="med" len="med"/>
          </a:ln>
        </p:spPr>
        <p:txBody>
          <a:bodyPr/>
          <a:lstStyle/>
          <a:p>
            <a:endParaRPr lang="en-US"/>
          </a:p>
        </p:txBody>
      </p:sp>
      <p:sp>
        <p:nvSpPr>
          <p:cNvPr id="491" name="Google Shape;491;p55"/>
          <p:cNvSpPr/>
          <p:nvPr/>
        </p:nvSpPr>
        <p:spPr>
          <a:xfrm>
            <a:off x="-5351575" y="3387400"/>
            <a:ext cx="1762172" cy="782750"/>
          </a:xfrm>
          <a:custGeom>
            <a:avLst/>
            <a:gdLst/>
            <a:ahLst/>
            <a:cxnLst/>
            <a:rect l="l" t="t" r="r" b="b"/>
            <a:pathLst>
              <a:path w="93175" h="31310" extrusionOk="0">
                <a:moveTo>
                  <a:pt x="0" y="0"/>
                </a:moveTo>
                <a:cubicBezTo>
                  <a:pt x="0" y="3039"/>
                  <a:pt x="775" y="7800"/>
                  <a:pt x="3772" y="8299"/>
                </a:cubicBezTo>
                <a:cubicBezTo>
                  <a:pt x="10347" y="9394"/>
                  <a:pt x="18433" y="4676"/>
                  <a:pt x="23765" y="8676"/>
                </a:cubicBezTo>
                <a:cubicBezTo>
                  <a:pt x="28894" y="12524"/>
                  <a:pt x="21644" y="25012"/>
                  <a:pt x="27537" y="27538"/>
                </a:cubicBezTo>
                <a:cubicBezTo>
                  <a:pt x="36703" y="31467"/>
                  <a:pt x="47365" y="30178"/>
                  <a:pt x="57338" y="30178"/>
                </a:cubicBezTo>
                <a:cubicBezTo>
                  <a:pt x="69290" y="30178"/>
                  <a:pt x="81223" y="31310"/>
                  <a:pt x="93175" y="31310"/>
                </a:cubicBezTo>
              </a:path>
            </a:pathLst>
          </a:custGeom>
          <a:noFill/>
          <a:ln w="19050" cap="flat" cmpd="sng">
            <a:solidFill>
              <a:schemeClr val="dk2"/>
            </a:solidFill>
            <a:prstDash val="solid"/>
            <a:round/>
            <a:headEnd type="triangle" w="med" len="med"/>
            <a:tailEnd type="none" w="med" len="med"/>
          </a:ln>
        </p:spPr>
        <p:txBody>
          <a:bodyPr/>
          <a:lstStyle/>
          <a:p>
            <a:endParaRPr lang="en-US"/>
          </a:p>
        </p:txBody>
      </p:sp>
      <p:sp>
        <p:nvSpPr>
          <p:cNvPr id="492" name="Google Shape;492;p55"/>
          <p:cNvSpPr txBox="1"/>
          <p:nvPr/>
        </p:nvSpPr>
        <p:spPr>
          <a:xfrm>
            <a:off x="-3859704" y="3934375"/>
            <a:ext cx="566400" cy="428400"/>
          </a:xfrm>
          <a:prstGeom prst="rect">
            <a:avLst/>
          </a:prstGeom>
          <a:solidFill>
            <a:srgbClr val="FCE5CD"/>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2"/>
                </a:solidFill>
              </a:rPr>
              <a:t>spin</a:t>
            </a:r>
            <a:endParaRPr sz="1600">
              <a:solidFill>
                <a:schemeClr val="dk2"/>
              </a:solidFill>
            </a:endParaRPr>
          </a:p>
        </p:txBody>
      </p:sp>
      <p:grpSp>
        <p:nvGrpSpPr>
          <p:cNvPr id="493" name="Google Shape;493;p55"/>
          <p:cNvGrpSpPr/>
          <p:nvPr/>
        </p:nvGrpSpPr>
        <p:grpSpPr>
          <a:xfrm>
            <a:off x="5262320" y="613076"/>
            <a:ext cx="3809623" cy="3467569"/>
            <a:chOff x="5262320" y="460676"/>
            <a:chExt cx="3809623" cy="3467569"/>
          </a:xfrm>
        </p:grpSpPr>
        <p:pic>
          <p:nvPicPr>
            <p:cNvPr id="494" name="Google Shape;494;p55"/>
            <p:cNvPicPr preferRelativeResize="0"/>
            <p:nvPr/>
          </p:nvPicPr>
          <p:blipFill rotWithShape="1">
            <a:blip r:embed="rId4">
              <a:alphaModFix/>
            </a:blip>
            <a:srcRect b="59051"/>
            <a:stretch/>
          </p:blipFill>
          <p:spPr>
            <a:xfrm>
              <a:off x="5270328" y="460676"/>
              <a:ext cx="3773325" cy="1349425"/>
            </a:xfrm>
            <a:prstGeom prst="rect">
              <a:avLst/>
            </a:prstGeom>
            <a:noFill/>
            <a:ln>
              <a:noFill/>
            </a:ln>
          </p:spPr>
        </p:pic>
        <p:pic>
          <p:nvPicPr>
            <p:cNvPr id="495" name="Google Shape;495;p55"/>
            <p:cNvPicPr preferRelativeResize="0"/>
            <p:nvPr/>
          </p:nvPicPr>
          <p:blipFill>
            <a:blip r:embed="rId5">
              <a:alphaModFix/>
            </a:blip>
            <a:stretch>
              <a:fillRect/>
            </a:stretch>
          </p:blipFill>
          <p:spPr>
            <a:xfrm>
              <a:off x="5262320" y="3499867"/>
              <a:ext cx="3773326" cy="428378"/>
            </a:xfrm>
            <a:prstGeom prst="rect">
              <a:avLst/>
            </a:prstGeom>
            <a:noFill/>
            <a:ln>
              <a:noFill/>
            </a:ln>
          </p:spPr>
        </p:pic>
        <p:pic>
          <p:nvPicPr>
            <p:cNvPr id="496" name="Google Shape;496;p55"/>
            <p:cNvPicPr preferRelativeResize="0"/>
            <p:nvPr/>
          </p:nvPicPr>
          <p:blipFill>
            <a:blip r:embed="rId6">
              <a:alphaModFix/>
            </a:blip>
            <a:stretch>
              <a:fillRect/>
            </a:stretch>
          </p:blipFill>
          <p:spPr>
            <a:xfrm>
              <a:off x="5298618" y="2217697"/>
              <a:ext cx="3773325" cy="776368"/>
            </a:xfrm>
            <a:prstGeom prst="rect">
              <a:avLst/>
            </a:prstGeom>
            <a:noFill/>
            <a:ln>
              <a:noFill/>
            </a:ln>
          </p:spPr>
        </p:pic>
      </p:grpSp>
      <p:grpSp>
        <p:nvGrpSpPr>
          <p:cNvPr id="497" name="Google Shape;497;p55"/>
          <p:cNvGrpSpPr/>
          <p:nvPr/>
        </p:nvGrpSpPr>
        <p:grpSpPr>
          <a:xfrm>
            <a:off x="2878900" y="1171575"/>
            <a:ext cx="4151675" cy="758900"/>
            <a:chOff x="2878900" y="1019175"/>
            <a:chExt cx="4151675" cy="758900"/>
          </a:xfrm>
        </p:grpSpPr>
        <p:sp>
          <p:nvSpPr>
            <p:cNvPr id="498" name="Google Shape;498;p55"/>
            <p:cNvSpPr/>
            <p:nvPr/>
          </p:nvSpPr>
          <p:spPr>
            <a:xfrm>
              <a:off x="5268375" y="1378675"/>
              <a:ext cx="1762200" cy="216900"/>
            </a:xfrm>
            <a:prstGeom prst="rect">
              <a:avLst/>
            </a:prstGeom>
            <a:solidFill>
              <a:srgbClr val="47F300">
                <a:alpha val="2000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99" name="Google Shape;499;p55"/>
            <p:cNvSpPr txBox="1"/>
            <p:nvPr/>
          </p:nvSpPr>
          <p:spPr>
            <a:xfrm>
              <a:off x="2878900" y="1019175"/>
              <a:ext cx="1625700" cy="393000"/>
            </a:xfrm>
            <a:prstGeom prst="rect">
              <a:avLst/>
            </a:prstGeom>
            <a:solidFill>
              <a:srgbClr val="FCE5CD"/>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b="1" u="sng">
                  <a:solidFill>
                    <a:schemeClr val="dk2"/>
                  </a:solidFill>
                </a:rPr>
                <a:t>Angle</a:t>
              </a:r>
              <a:r>
                <a:rPr lang="en" sz="1600">
                  <a:solidFill>
                    <a:schemeClr val="dk2"/>
                  </a:solidFill>
                </a:rPr>
                <a:t>: de-spin</a:t>
              </a:r>
              <a:endParaRPr sz="1600">
                <a:solidFill>
                  <a:schemeClr val="dk2"/>
                </a:solidFill>
              </a:endParaRPr>
            </a:p>
          </p:txBody>
        </p:sp>
        <p:sp>
          <p:nvSpPr>
            <p:cNvPr id="500" name="Google Shape;500;p55"/>
            <p:cNvSpPr/>
            <p:nvPr/>
          </p:nvSpPr>
          <p:spPr>
            <a:xfrm>
              <a:off x="3941007" y="1463550"/>
              <a:ext cx="1327350" cy="314525"/>
            </a:xfrm>
            <a:custGeom>
              <a:avLst/>
              <a:gdLst/>
              <a:ahLst/>
              <a:cxnLst/>
              <a:rect l="l" t="t" r="r" b="b"/>
              <a:pathLst>
                <a:path w="53094" h="12581" extrusionOk="0">
                  <a:moveTo>
                    <a:pt x="53095" y="2263"/>
                  </a:moveTo>
                  <a:cubicBezTo>
                    <a:pt x="47926" y="2263"/>
                    <a:pt x="41763" y="293"/>
                    <a:pt x="37628" y="3395"/>
                  </a:cubicBezTo>
                  <a:cubicBezTo>
                    <a:pt x="33124" y="6774"/>
                    <a:pt x="28524" y="11183"/>
                    <a:pt x="22917" y="11694"/>
                  </a:cubicBezTo>
                  <a:cubicBezTo>
                    <a:pt x="18407" y="12105"/>
                    <a:pt x="13729" y="13170"/>
                    <a:pt x="9336" y="12071"/>
                  </a:cubicBezTo>
                  <a:cubicBezTo>
                    <a:pt x="4457" y="10850"/>
                    <a:pt x="-1307" y="4771"/>
                    <a:pt x="283" y="0"/>
                  </a:cubicBezTo>
                </a:path>
              </a:pathLst>
            </a:custGeom>
            <a:noFill/>
            <a:ln w="19050" cap="flat" cmpd="sng">
              <a:solidFill>
                <a:schemeClr val="dk2"/>
              </a:solidFill>
              <a:prstDash val="solid"/>
              <a:round/>
              <a:headEnd type="triangle" w="med" len="med"/>
              <a:tailEnd type="none" w="med" len="med"/>
            </a:ln>
          </p:spPr>
          <p:txBody>
            <a:bodyPr/>
            <a:lstStyle/>
            <a:p>
              <a:endParaRPr lang="en-US"/>
            </a:p>
          </p:txBody>
        </p:sp>
      </p:grpSp>
      <p:grpSp>
        <p:nvGrpSpPr>
          <p:cNvPr id="501" name="Google Shape;501;p55"/>
          <p:cNvGrpSpPr/>
          <p:nvPr/>
        </p:nvGrpSpPr>
        <p:grpSpPr>
          <a:xfrm>
            <a:off x="5268375" y="2369286"/>
            <a:ext cx="3621399" cy="778589"/>
            <a:chOff x="5268375" y="2216886"/>
            <a:chExt cx="3621399" cy="778589"/>
          </a:xfrm>
        </p:grpSpPr>
        <p:sp>
          <p:nvSpPr>
            <p:cNvPr id="502" name="Google Shape;502;p55"/>
            <p:cNvSpPr/>
            <p:nvPr/>
          </p:nvSpPr>
          <p:spPr>
            <a:xfrm>
              <a:off x="6411375" y="2216886"/>
              <a:ext cx="846900" cy="216900"/>
            </a:xfrm>
            <a:prstGeom prst="rect">
              <a:avLst/>
            </a:prstGeom>
            <a:solidFill>
              <a:srgbClr val="47F300">
                <a:alpha val="2000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03" name="Google Shape;503;p55"/>
            <p:cNvSpPr/>
            <p:nvPr/>
          </p:nvSpPr>
          <p:spPr>
            <a:xfrm>
              <a:off x="5268375" y="2778575"/>
              <a:ext cx="3361500" cy="216900"/>
            </a:xfrm>
            <a:prstGeom prst="rect">
              <a:avLst/>
            </a:prstGeom>
            <a:solidFill>
              <a:srgbClr val="47F300">
                <a:alpha val="2000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04" name="Google Shape;504;p55"/>
            <p:cNvSpPr/>
            <p:nvPr/>
          </p:nvSpPr>
          <p:spPr>
            <a:xfrm>
              <a:off x="8192274" y="2597875"/>
              <a:ext cx="697500" cy="216900"/>
            </a:xfrm>
            <a:prstGeom prst="rect">
              <a:avLst/>
            </a:prstGeom>
            <a:solidFill>
              <a:srgbClr val="47F300">
                <a:alpha val="2000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505" name="Google Shape;505;p55"/>
          <p:cNvGrpSpPr/>
          <p:nvPr/>
        </p:nvGrpSpPr>
        <p:grpSpPr>
          <a:xfrm>
            <a:off x="2199975" y="2895500"/>
            <a:ext cx="3094850" cy="1256925"/>
            <a:chOff x="2199975" y="2895500"/>
            <a:chExt cx="3094850" cy="1256925"/>
          </a:xfrm>
        </p:grpSpPr>
        <p:sp>
          <p:nvSpPr>
            <p:cNvPr id="506" name="Google Shape;506;p55"/>
            <p:cNvSpPr/>
            <p:nvPr/>
          </p:nvSpPr>
          <p:spPr>
            <a:xfrm>
              <a:off x="4623750" y="2895500"/>
              <a:ext cx="671075" cy="1121169"/>
            </a:xfrm>
            <a:custGeom>
              <a:avLst/>
              <a:gdLst/>
              <a:ahLst/>
              <a:cxnLst/>
              <a:rect l="l" t="t" r="r" b="b"/>
              <a:pathLst>
                <a:path w="26843" h="48683" extrusionOk="0">
                  <a:moveTo>
                    <a:pt x="26843" y="1120"/>
                  </a:moveTo>
                  <a:cubicBezTo>
                    <a:pt x="23340" y="244"/>
                    <a:pt x="18573" y="-1000"/>
                    <a:pt x="16020" y="1553"/>
                  </a:cubicBezTo>
                  <a:cubicBezTo>
                    <a:pt x="13469" y="4104"/>
                    <a:pt x="15312" y="8839"/>
                    <a:pt x="16020" y="12377"/>
                  </a:cubicBezTo>
                  <a:cubicBezTo>
                    <a:pt x="17265" y="18604"/>
                    <a:pt x="17265" y="25200"/>
                    <a:pt x="16020" y="31427"/>
                  </a:cubicBezTo>
                  <a:cubicBezTo>
                    <a:pt x="15071" y="36172"/>
                    <a:pt x="15113" y="41862"/>
                    <a:pt x="11690" y="45282"/>
                  </a:cubicBezTo>
                  <a:cubicBezTo>
                    <a:pt x="8866" y="48103"/>
                    <a:pt x="3570" y="49664"/>
                    <a:pt x="0" y="47879"/>
                  </a:cubicBezTo>
                </a:path>
              </a:pathLst>
            </a:custGeom>
            <a:noFill/>
            <a:ln w="19050" cap="flat" cmpd="sng">
              <a:solidFill>
                <a:schemeClr val="dk2"/>
              </a:solidFill>
              <a:prstDash val="solid"/>
              <a:round/>
              <a:headEnd type="triangle" w="med" len="med"/>
              <a:tailEnd type="none" w="med" len="med"/>
            </a:ln>
          </p:spPr>
          <p:txBody>
            <a:bodyPr/>
            <a:lstStyle/>
            <a:p>
              <a:endParaRPr lang="en-US"/>
            </a:p>
          </p:txBody>
        </p:sp>
        <p:sp>
          <p:nvSpPr>
            <p:cNvPr id="507" name="Google Shape;507;p55"/>
            <p:cNvSpPr txBox="1"/>
            <p:nvPr/>
          </p:nvSpPr>
          <p:spPr>
            <a:xfrm>
              <a:off x="2199975" y="3724025"/>
              <a:ext cx="2707200" cy="428400"/>
            </a:xfrm>
            <a:prstGeom prst="rect">
              <a:avLst/>
            </a:prstGeom>
            <a:solidFill>
              <a:srgbClr val="FCE5CD"/>
            </a:solid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600" b="1" u="sng">
                  <a:solidFill>
                    <a:schemeClr val="dk2"/>
                  </a:solidFill>
                </a:rPr>
                <a:t>Source:</a:t>
              </a:r>
              <a:r>
                <a:rPr lang="en" sz="1600">
                  <a:solidFill>
                    <a:schemeClr val="dk2"/>
                  </a:solidFill>
                </a:rPr>
                <a:t> contextualization</a:t>
              </a:r>
              <a:endParaRPr sz="1600">
                <a:solidFill>
                  <a:schemeClr val="dk2"/>
                </a:solidFill>
              </a:endParaRPr>
            </a:p>
          </p:txBody>
        </p:sp>
      </p:grpSp>
      <p:grpSp>
        <p:nvGrpSpPr>
          <p:cNvPr id="508" name="Google Shape;508;p55"/>
          <p:cNvGrpSpPr/>
          <p:nvPr/>
        </p:nvGrpSpPr>
        <p:grpSpPr>
          <a:xfrm>
            <a:off x="2711950" y="3845375"/>
            <a:ext cx="5917850" cy="715625"/>
            <a:chOff x="2711950" y="3388175"/>
            <a:chExt cx="5917850" cy="715625"/>
          </a:xfrm>
        </p:grpSpPr>
        <p:sp>
          <p:nvSpPr>
            <p:cNvPr id="509" name="Google Shape;509;p55"/>
            <p:cNvSpPr txBox="1"/>
            <p:nvPr/>
          </p:nvSpPr>
          <p:spPr>
            <a:xfrm>
              <a:off x="2711950" y="3789400"/>
              <a:ext cx="2195100" cy="314400"/>
            </a:xfrm>
            <a:prstGeom prst="rect">
              <a:avLst/>
            </a:prstGeom>
            <a:solidFill>
              <a:srgbClr val="FCE5CD"/>
            </a:solid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600" b="1" u="sng">
                  <a:solidFill>
                    <a:schemeClr val="dk2"/>
                  </a:solidFill>
                </a:rPr>
                <a:t>Source:</a:t>
              </a:r>
              <a:r>
                <a:rPr lang="en" sz="1600">
                  <a:solidFill>
                    <a:schemeClr val="dk2"/>
                  </a:solidFill>
                </a:rPr>
                <a:t> broadening</a:t>
              </a:r>
              <a:endParaRPr sz="1600">
                <a:solidFill>
                  <a:schemeClr val="dk2"/>
                </a:solidFill>
              </a:endParaRPr>
            </a:p>
          </p:txBody>
        </p:sp>
        <p:sp>
          <p:nvSpPr>
            <p:cNvPr id="510" name="Google Shape;510;p55"/>
            <p:cNvSpPr/>
            <p:nvPr/>
          </p:nvSpPr>
          <p:spPr>
            <a:xfrm>
              <a:off x="6052500" y="3388175"/>
              <a:ext cx="2577300" cy="216900"/>
            </a:xfrm>
            <a:prstGeom prst="rect">
              <a:avLst/>
            </a:prstGeom>
            <a:solidFill>
              <a:srgbClr val="47F300">
                <a:alpha val="2000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11" name="Google Shape;511;p55"/>
            <p:cNvSpPr/>
            <p:nvPr/>
          </p:nvSpPr>
          <p:spPr>
            <a:xfrm>
              <a:off x="4883525" y="3616225"/>
              <a:ext cx="1407100" cy="428370"/>
            </a:xfrm>
            <a:custGeom>
              <a:avLst/>
              <a:gdLst/>
              <a:ahLst/>
              <a:cxnLst/>
              <a:rect l="l" t="t" r="r" b="b"/>
              <a:pathLst>
                <a:path w="56284" h="26410" extrusionOk="0">
                  <a:moveTo>
                    <a:pt x="0" y="26410"/>
                  </a:moveTo>
                  <a:cubicBezTo>
                    <a:pt x="8490" y="26410"/>
                    <a:pt x="5047" y="6159"/>
                    <a:pt x="13422" y="4763"/>
                  </a:cubicBezTo>
                  <a:cubicBezTo>
                    <a:pt x="27602" y="2400"/>
                    <a:pt x="56284" y="14375"/>
                    <a:pt x="56284" y="0"/>
                  </a:cubicBezTo>
                </a:path>
              </a:pathLst>
            </a:custGeom>
            <a:noFill/>
            <a:ln w="19050" cap="flat" cmpd="sng">
              <a:solidFill>
                <a:schemeClr val="dk2"/>
              </a:solidFill>
              <a:prstDash val="solid"/>
              <a:round/>
              <a:headEnd type="none" w="med" len="med"/>
              <a:tailEnd type="triangle" w="med" len="med"/>
            </a:ln>
          </p:spPr>
          <p:txBody>
            <a:bodyPr/>
            <a:lstStyle/>
            <a:p>
              <a:endParaRPr lang="en-US"/>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8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8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9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9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0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0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sp>
        <p:nvSpPr>
          <p:cNvPr id="516" name="Google Shape;516;p56"/>
          <p:cNvSpPr txBox="1">
            <a:spLocks noGrp="1"/>
          </p:cNvSpPr>
          <p:nvPr>
            <p:ph type="title"/>
          </p:nvPr>
        </p:nvSpPr>
        <p:spPr>
          <a:xfrm>
            <a:off x="311700" y="445025"/>
            <a:ext cx="12795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Goal</a:t>
            </a:r>
            <a:endParaRPr/>
          </a:p>
        </p:txBody>
      </p:sp>
      <p:grpSp>
        <p:nvGrpSpPr>
          <p:cNvPr id="517" name="Google Shape;517;p56"/>
          <p:cNvGrpSpPr/>
          <p:nvPr/>
        </p:nvGrpSpPr>
        <p:grpSpPr>
          <a:xfrm>
            <a:off x="2536441" y="2939310"/>
            <a:ext cx="2795940" cy="1715828"/>
            <a:chOff x="2536441" y="2939310"/>
            <a:chExt cx="2795940" cy="1715828"/>
          </a:xfrm>
        </p:grpSpPr>
        <p:sp>
          <p:nvSpPr>
            <p:cNvPr id="518" name="Google Shape;518;p56"/>
            <p:cNvSpPr/>
            <p:nvPr/>
          </p:nvSpPr>
          <p:spPr>
            <a:xfrm>
              <a:off x="2536441" y="2939310"/>
              <a:ext cx="1002000" cy="559200"/>
            </a:xfrm>
            <a:prstGeom prst="rect">
              <a:avLst/>
            </a:prstGeom>
            <a:solidFill>
              <a:srgbClr val="D9EAD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Source #1</a:t>
              </a:r>
              <a:endParaRPr/>
            </a:p>
          </p:txBody>
        </p:sp>
        <p:sp>
          <p:nvSpPr>
            <p:cNvPr id="519" name="Google Shape;519;p56"/>
            <p:cNvSpPr/>
            <p:nvPr/>
          </p:nvSpPr>
          <p:spPr>
            <a:xfrm>
              <a:off x="2536441" y="3517624"/>
              <a:ext cx="1002000" cy="559200"/>
            </a:xfrm>
            <a:prstGeom prst="rect">
              <a:avLst/>
            </a:prstGeom>
            <a:solidFill>
              <a:srgbClr val="D9EAD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Source #2</a:t>
              </a:r>
              <a:endParaRPr/>
            </a:p>
          </p:txBody>
        </p:sp>
        <p:sp>
          <p:nvSpPr>
            <p:cNvPr id="520" name="Google Shape;520;p56"/>
            <p:cNvSpPr/>
            <p:nvPr/>
          </p:nvSpPr>
          <p:spPr>
            <a:xfrm>
              <a:off x="2536441" y="4095938"/>
              <a:ext cx="1002000" cy="559200"/>
            </a:xfrm>
            <a:prstGeom prst="rect">
              <a:avLst/>
            </a:prstGeom>
            <a:solidFill>
              <a:srgbClr val="D9EAD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Source #3</a:t>
              </a:r>
              <a:endParaRPr/>
            </a:p>
          </p:txBody>
        </p:sp>
        <p:sp>
          <p:nvSpPr>
            <p:cNvPr id="521" name="Google Shape;521;p56"/>
            <p:cNvSpPr txBox="1"/>
            <p:nvPr/>
          </p:nvSpPr>
          <p:spPr>
            <a:xfrm>
              <a:off x="3603481" y="2954248"/>
              <a:ext cx="1728900" cy="55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i="1">
                  <a:solidFill>
                    <a:srgbClr val="595959"/>
                  </a:solidFill>
                </a:rPr>
                <a:t>Employment </a:t>
              </a:r>
              <a:endParaRPr i="1">
                <a:solidFill>
                  <a:srgbClr val="595959"/>
                </a:solidFill>
              </a:endParaRPr>
            </a:p>
            <a:p>
              <a:pPr marL="0" lvl="0" indent="0" algn="l" rtl="0">
                <a:spcBef>
                  <a:spcPts val="0"/>
                </a:spcBef>
                <a:spcAft>
                  <a:spcPts val="0"/>
                </a:spcAft>
                <a:buNone/>
              </a:pPr>
              <a:r>
                <a:rPr lang="en" i="1">
                  <a:solidFill>
                    <a:srgbClr val="595959"/>
                  </a:solidFill>
                </a:rPr>
                <a:t>lawyer</a:t>
              </a:r>
              <a:endParaRPr i="1">
                <a:solidFill>
                  <a:srgbClr val="595959"/>
                </a:solidFill>
              </a:endParaRPr>
            </a:p>
          </p:txBody>
        </p:sp>
        <p:sp>
          <p:nvSpPr>
            <p:cNvPr id="522" name="Google Shape;522;p56"/>
            <p:cNvSpPr txBox="1"/>
            <p:nvPr/>
          </p:nvSpPr>
          <p:spPr>
            <a:xfrm>
              <a:off x="3603481" y="3517700"/>
              <a:ext cx="1676400" cy="55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i="1">
                  <a:solidFill>
                    <a:srgbClr val="595959"/>
                  </a:solidFill>
                </a:rPr>
                <a:t>Advocacy </a:t>
              </a:r>
              <a:endParaRPr i="1">
                <a:solidFill>
                  <a:srgbClr val="595959"/>
                </a:solidFill>
              </a:endParaRPr>
            </a:p>
            <a:p>
              <a:pPr marL="0" lvl="0" indent="0" algn="l" rtl="0">
                <a:spcBef>
                  <a:spcPts val="0"/>
                </a:spcBef>
                <a:spcAft>
                  <a:spcPts val="0"/>
                </a:spcAft>
                <a:buNone/>
              </a:pPr>
              <a:r>
                <a:rPr lang="en" i="1">
                  <a:solidFill>
                    <a:srgbClr val="595959"/>
                  </a:solidFill>
                </a:rPr>
                <a:t>group</a:t>
              </a:r>
              <a:endParaRPr i="1">
                <a:solidFill>
                  <a:srgbClr val="595959"/>
                </a:solidFill>
              </a:endParaRPr>
            </a:p>
          </p:txBody>
        </p:sp>
        <p:sp>
          <p:nvSpPr>
            <p:cNvPr id="523" name="Google Shape;523;p56"/>
            <p:cNvSpPr txBox="1"/>
            <p:nvPr/>
          </p:nvSpPr>
          <p:spPr>
            <a:xfrm>
              <a:off x="3603481" y="4207801"/>
              <a:ext cx="1676400" cy="404100"/>
            </a:xfrm>
            <a:prstGeom prst="rect">
              <a:avLst/>
            </a:prstGeom>
            <a:noFill/>
            <a:ln>
              <a:noFill/>
            </a:ln>
          </p:spPr>
          <p:txBody>
            <a:bodyPr spcFirstLastPara="1" wrap="square" lIns="91425" tIns="91425" rIns="91425" bIns="91425" anchor="t" anchorCtr="0">
              <a:noAutofit/>
            </a:bodyPr>
            <a:lstStyle/>
            <a:p>
              <a:pPr marL="0" lvl="0" indent="-228600" algn="l" rtl="0">
                <a:spcBef>
                  <a:spcPts val="0"/>
                </a:spcBef>
                <a:spcAft>
                  <a:spcPts val="0"/>
                </a:spcAft>
                <a:buNone/>
              </a:pPr>
              <a:r>
                <a:rPr lang="en" i="1">
                  <a:solidFill>
                    <a:srgbClr val="595959"/>
                  </a:solidFill>
                </a:rPr>
                <a:t>Insider</a:t>
              </a:r>
              <a:endParaRPr i="1">
                <a:solidFill>
                  <a:srgbClr val="595959"/>
                </a:solidFill>
              </a:endParaRPr>
            </a:p>
          </p:txBody>
        </p:sp>
      </p:grpSp>
      <p:grpSp>
        <p:nvGrpSpPr>
          <p:cNvPr id="524" name="Google Shape;524;p56"/>
          <p:cNvGrpSpPr/>
          <p:nvPr/>
        </p:nvGrpSpPr>
        <p:grpSpPr>
          <a:xfrm>
            <a:off x="4953697" y="3030953"/>
            <a:ext cx="1891500" cy="1563351"/>
            <a:chOff x="4953697" y="3030953"/>
            <a:chExt cx="1891500" cy="1563351"/>
          </a:xfrm>
        </p:grpSpPr>
        <p:sp>
          <p:nvSpPr>
            <p:cNvPr id="525" name="Google Shape;525;p56"/>
            <p:cNvSpPr txBox="1"/>
            <p:nvPr/>
          </p:nvSpPr>
          <p:spPr>
            <a:xfrm>
              <a:off x="4953697" y="3030953"/>
              <a:ext cx="1891500" cy="404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i="1">
                  <a:solidFill>
                    <a:srgbClr val="595959"/>
                  </a:solidFill>
                </a:rPr>
                <a:t>Spokesperson</a:t>
              </a:r>
              <a:endParaRPr i="1">
                <a:solidFill>
                  <a:srgbClr val="595959"/>
                </a:solidFill>
              </a:endParaRPr>
            </a:p>
          </p:txBody>
        </p:sp>
        <p:sp>
          <p:nvSpPr>
            <p:cNvPr id="526" name="Google Shape;526;p56"/>
            <p:cNvSpPr txBox="1"/>
            <p:nvPr/>
          </p:nvSpPr>
          <p:spPr>
            <a:xfrm>
              <a:off x="4953697" y="3589262"/>
              <a:ext cx="1891500" cy="404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i="1">
                  <a:solidFill>
                    <a:srgbClr val="595959"/>
                  </a:solidFill>
                </a:rPr>
                <a:t>Business professor</a:t>
              </a:r>
              <a:endParaRPr i="1">
                <a:solidFill>
                  <a:srgbClr val="595959"/>
                </a:solidFill>
              </a:endParaRPr>
            </a:p>
          </p:txBody>
        </p:sp>
        <p:sp>
          <p:nvSpPr>
            <p:cNvPr id="527" name="Google Shape;527;p56"/>
            <p:cNvSpPr txBox="1"/>
            <p:nvPr/>
          </p:nvSpPr>
          <p:spPr>
            <a:xfrm>
              <a:off x="4953697" y="4190204"/>
              <a:ext cx="1891500" cy="404100"/>
            </a:xfrm>
            <a:prstGeom prst="rect">
              <a:avLst/>
            </a:prstGeom>
            <a:noFill/>
            <a:ln>
              <a:noFill/>
            </a:ln>
          </p:spPr>
          <p:txBody>
            <a:bodyPr spcFirstLastPara="1" wrap="square" lIns="91425" tIns="91425" rIns="91425" bIns="91425" anchor="t" anchorCtr="0">
              <a:noAutofit/>
            </a:bodyPr>
            <a:lstStyle/>
            <a:p>
              <a:pPr marL="0" lvl="0" indent="-85725" algn="l" rtl="0">
                <a:spcBef>
                  <a:spcPts val="0"/>
                </a:spcBef>
                <a:spcAft>
                  <a:spcPts val="0"/>
                </a:spcAft>
                <a:buNone/>
              </a:pPr>
              <a:r>
                <a:rPr lang="en" i="1">
                  <a:solidFill>
                    <a:srgbClr val="595959"/>
                  </a:solidFill>
                </a:rPr>
                <a:t>Legal professor</a:t>
              </a:r>
              <a:endParaRPr i="1">
                <a:solidFill>
                  <a:srgbClr val="595959"/>
                </a:solidFill>
              </a:endParaRPr>
            </a:p>
          </p:txBody>
        </p:sp>
      </p:grpSp>
      <p:grpSp>
        <p:nvGrpSpPr>
          <p:cNvPr id="528" name="Google Shape;528;p56"/>
          <p:cNvGrpSpPr/>
          <p:nvPr/>
        </p:nvGrpSpPr>
        <p:grpSpPr>
          <a:xfrm>
            <a:off x="4891530" y="1846945"/>
            <a:ext cx="2040602" cy="1475632"/>
            <a:chOff x="4891530" y="1846945"/>
            <a:chExt cx="2040602" cy="1475632"/>
          </a:xfrm>
        </p:grpSpPr>
        <p:pic>
          <p:nvPicPr>
            <p:cNvPr id="529" name="Google Shape;529;p56"/>
            <p:cNvPicPr preferRelativeResize="0"/>
            <p:nvPr/>
          </p:nvPicPr>
          <p:blipFill>
            <a:blip r:embed="rId3">
              <a:alphaModFix/>
            </a:blip>
            <a:stretch>
              <a:fillRect/>
            </a:stretch>
          </p:blipFill>
          <p:spPr>
            <a:xfrm>
              <a:off x="6438006" y="2841040"/>
              <a:ext cx="494125" cy="481536"/>
            </a:xfrm>
            <a:prstGeom prst="rect">
              <a:avLst/>
            </a:prstGeom>
            <a:noFill/>
            <a:ln>
              <a:noFill/>
            </a:ln>
          </p:spPr>
        </p:pic>
        <p:sp>
          <p:nvSpPr>
            <p:cNvPr id="530" name="Google Shape;530;p56"/>
            <p:cNvSpPr/>
            <p:nvPr/>
          </p:nvSpPr>
          <p:spPr>
            <a:xfrm>
              <a:off x="4891530" y="1846945"/>
              <a:ext cx="1676484" cy="1087236"/>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31" name="Google Shape;531;p56"/>
            <p:cNvSpPr txBox="1"/>
            <p:nvPr/>
          </p:nvSpPr>
          <p:spPr>
            <a:xfrm>
              <a:off x="5064133" y="1948028"/>
              <a:ext cx="1581000" cy="7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i="1">
                  <a:solidFill>
                    <a:srgbClr val="595959"/>
                  </a:solidFill>
                </a:rPr>
                <a:t>Let’s describe the event in detail…</a:t>
              </a:r>
              <a:endParaRPr sz="1600" i="1">
                <a:solidFill>
                  <a:srgbClr val="595959"/>
                </a:solidFill>
              </a:endParaRPr>
            </a:p>
          </p:txBody>
        </p:sp>
        <p:sp>
          <p:nvSpPr>
            <p:cNvPr id="532" name="Google Shape;532;p56"/>
            <p:cNvSpPr/>
            <p:nvPr/>
          </p:nvSpPr>
          <p:spPr>
            <a:xfrm>
              <a:off x="6187755" y="2911376"/>
              <a:ext cx="105408" cy="179604"/>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33" name="Google Shape;533;p56"/>
            <p:cNvSpPr/>
            <p:nvPr/>
          </p:nvSpPr>
          <p:spPr>
            <a:xfrm>
              <a:off x="5945961" y="2888819"/>
              <a:ext cx="71820" cy="122580"/>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534" name="Google Shape;534;p56"/>
          <p:cNvSpPr/>
          <p:nvPr/>
        </p:nvSpPr>
        <p:spPr>
          <a:xfrm>
            <a:off x="4527810" y="2414497"/>
            <a:ext cx="163200" cy="179700"/>
          </a:xfrm>
          <a:prstGeom prst="rect">
            <a:avLst/>
          </a:prstGeom>
          <a:solidFill>
            <a:srgbClr val="EEEEEE"/>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535" name="Google Shape;535;p56"/>
          <p:cNvGrpSpPr/>
          <p:nvPr/>
        </p:nvGrpSpPr>
        <p:grpSpPr>
          <a:xfrm>
            <a:off x="2062281" y="1241686"/>
            <a:ext cx="2883538" cy="1646775"/>
            <a:chOff x="2062281" y="1241686"/>
            <a:chExt cx="2883538" cy="1646775"/>
          </a:xfrm>
        </p:grpSpPr>
        <p:sp>
          <p:nvSpPr>
            <p:cNvPr id="536" name="Google Shape;536;p56"/>
            <p:cNvSpPr/>
            <p:nvPr/>
          </p:nvSpPr>
          <p:spPr>
            <a:xfrm>
              <a:off x="3248556" y="1801225"/>
              <a:ext cx="1676484" cy="1087236"/>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537" name="Google Shape;537;p56"/>
            <p:cNvGrpSpPr/>
            <p:nvPr/>
          </p:nvGrpSpPr>
          <p:grpSpPr>
            <a:xfrm>
              <a:off x="2361606" y="2080125"/>
              <a:ext cx="1050476" cy="729990"/>
              <a:chOff x="2229372" y="1500025"/>
              <a:chExt cx="927900" cy="454200"/>
            </a:xfrm>
          </p:grpSpPr>
          <p:sp>
            <p:nvSpPr>
              <p:cNvPr id="538" name="Google Shape;538;p56"/>
              <p:cNvSpPr/>
              <p:nvPr/>
            </p:nvSpPr>
            <p:spPr>
              <a:xfrm>
                <a:off x="2229372" y="1500025"/>
                <a:ext cx="927900" cy="454200"/>
              </a:xfrm>
              <a:prstGeom prst="diamond">
                <a:avLst/>
              </a:prstGeom>
              <a:solidFill>
                <a:srgbClr val="FFF2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p>
            </p:txBody>
          </p:sp>
          <p:sp>
            <p:nvSpPr>
              <p:cNvPr id="539" name="Google Shape;539;p56"/>
              <p:cNvSpPr txBox="1"/>
              <p:nvPr/>
            </p:nvSpPr>
            <p:spPr>
              <a:xfrm>
                <a:off x="2269223" y="1571412"/>
                <a:ext cx="834000" cy="287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solidFill>
                      <a:srgbClr val="000000"/>
                    </a:solidFill>
                  </a:rPr>
                  <a:t>Angle</a:t>
                </a:r>
                <a:endParaRPr sz="1800">
                  <a:solidFill>
                    <a:srgbClr val="000000"/>
                  </a:solidFill>
                </a:endParaRPr>
              </a:p>
            </p:txBody>
          </p:sp>
        </p:grpSp>
        <p:sp>
          <p:nvSpPr>
            <p:cNvPr id="540" name="Google Shape;540;p56"/>
            <p:cNvSpPr txBox="1"/>
            <p:nvPr/>
          </p:nvSpPr>
          <p:spPr>
            <a:xfrm>
              <a:off x="2603844" y="1241686"/>
              <a:ext cx="1050600" cy="7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pic>
          <p:nvPicPr>
            <p:cNvPr id="541" name="Google Shape;541;p56"/>
            <p:cNvPicPr preferRelativeResize="0"/>
            <p:nvPr/>
          </p:nvPicPr>
          <p:blipFill>
            <a:blip r:embed="rId4">
              <a:alphaModFix/>
            </a:blip>
            <a:stretch>
              <a:fillRect/>
            </a:stretch>
          </p:blipFill>
          <p:spPr>
            <a:xfrm>
              <a:off x="2062281" y="1509117"/>
              <a:ext cx="494110" cy="508933"/>
            </a:xfrm>
            <a:prstGeom prst="rect">
              <a:avLst/>
            </a:prstGeom>
            <a:noFill/>
            <a:ln>
              <a:noFill/>
            </a:ln>
          </p:spPr>
        </p:pic>
        <p:sp>
          <p:nvSpPr>
            <p:cNvPr id="542" name="Google Shape;542;p56"/>
            <p:cNvSpPr/>
            <p:nvPr/>
          </p:nvSpPr>
          <p:spPr>
            <a:xfrm>
              <a:off x="3223725" y="1977209"/>
              <a:ext cx="105408" cy="179604"/>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43" name="Google Shape;543;p56"/>
            <p:cNvSpPr/>
            <p:nvPr/>
          </p:nvSpPr>
          <p:spPr>
            <a:xfrm>
              <a:off x="3069574" y="1862292"/>
              <a:ext cx="71820" cy="122580"/>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44" name="Google Shape;544;p56"/>
            <p:cNvSpPr/>
            <p:nvPr/>
          </p:nvSpPr>
          <p:spPr>
            <a:xfrm>
              <a:off x="2833559" y="1778541"/>
              <a:ext cx="105408" cy="179604"/>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45" name="Google Shape;545;p56"/>
            <p:cNvSpPr/>
            <p:nvPr/>
          </p:nvSpPr>
          <p:spPr>
            <a:xfrm>
              <a:off x="2679408" y="1753545"/>
              <a:ext cx="71820" cy="122580"/>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46" name="Google Shape;546;p56"/>
            <p:cNvSpPr txBox="1"/>
            <p:nvPr/>
          </p:nvSpPr>
          <p:spPr>
            <a:xfrm>
              <a:off x="3216919" y="1923678"/>
              <a:ext cx="1728900" cy="85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00" i="1">
                  <a:solidFill>
                    <a:srgbClr val="595959"/>
                  </a:solidFill>
                </a:rPr>
                <a:t>Is this part of a larger, negative pattern?</a:t>
              </a:r>
              <a:endParaRPr sz="1500" i="1">
                <a:solidFill>
                  <a:srgbClr val="595959"/>
                </a:solidFill>
              </a:endParaRPr>
            </a:p>
          </p:txBody>
        </p:sp>
      </p:grpSp>
      <p:sp>
        <p:nvSpPr>
          <p:cNvPr id="547" name="Google Shape;547;p56"/>
          <p:cNvSpPr txBox="1"/>
          <p:nvPr/>
        </p:nvSpPr>
        <p:spPr>
          <a:xfrm>
            <a:off x="-5068575" y="948253"/>
            <a:ext cx="3468600" cy="3678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LLMs are being used increasingly as aids in human workflows. </a:t>
            </a:r>
            <a:endParaRPr sz="1800">
              <a:solidFill>
                <a:schemeClr val="dk2"/>
              </a:solidFill>
            </a:endParaRPr>
          </a:p>
          <a:p>
            <a:pPr marL="0" lvl="0" indent="0" algn="l" rtl="0">
              <a:spcBef>
                <a:spcPts val="0"/>
              </a:spcBef>
              <a:spcAft>
                <a:spcPts val="0"/>
              </a:spcAft>
              <a:buNone/>
            </a:pPr>
            <a:endParaRPr sz="400">
              <a:solidFill>
                <a:schemeClr val="dk2"/>
              </a:solidFill>
            </a:endParaRPr>
          </a:p>
          <a:p>
            <a:pPr marL="0" lvl="0" indent="0" algn="l" rtl="0">
              <a:spcBef>
                <a:spcPts val="0"/>
              </a:spcBef>
              <a:spcAft>
                <a:spcPts val="0"/>
              </a:spcAft>
              <a:buNone/>
            </a:pPr>
            <a:r>
              <a:rPr lang="en" sz="1800">
                <a:solidFill>
                  <a:schemeClr val="dk2"/>
                </a:solidFill>
              </a:rPr>
              <a:t>We need to understand how their decisions differ from those humans </a:t>
            </a:r>
            <a:r>
              <a:rPr lang="en" sz="1800" i="1">
                <a:solidFill>
                  <a:schemeClr val="dk2"/>
                </a:solidFill>
              </a:rPr>
              <a:t>would have made</a:t>
            </a:r>
            <a:r>
              <a:rPr lang="en" sz="1800">
                <a:solidFill>
                  <a:schemeClr val="dk2"/>
                </a:solidFill>
              </a:rPr>
              <a:t>.</a:t>
            </a:r>
            <a:endParaRPr sz="1800">
              <a:solidFill>
                <a:schemeClr val="dk2"/>
              </a:solidFill>
            </a:endParaRPr>
          </a:p>
          <a:p>
            <a:pPr marL="0" lvl="0" indent="0" algn="l" rtl="0">
              <a:spcBef>
                <a:spcPts val="0"/>
              </a:spcBef>
              <a:spcAft>
                <a:spcPts val="0"/>
              </a:spcAft>
              <a:buNone/>
            </a:pPr>
            <a:endParaRPr sz="1800">
              <a:solidFill>
                <a:schemeClr val="dk2"/>
              </a:solidFill>
            </a:endParaRPr>
          </a:p>
          <a:p>
            <a:pPr marL="457200" lvl="0" indent="-342900" algn="l" rtl="0">
              <a:spcBef>
                <a:spcPts val="0"/>
              </a:spcBef>
              <a:spcAft>
                <a:spcPts val="0"/>
              </a:spcAft>
              <a:buClr>
                <a:schemeClr val="dk2"/>
              </a:buClr>
              <a:buSzPts val="1800"/>
              <a:buChar char="●"/>
            </a:pPr>
            <a:r>
              <a:rPr lang="en" sz="1800">
                <a:solidFill>
                  <a:schemeClr val="dk2"/>
                </a:solidFill>
              </a:rPr>
              <a:t>How well do LLM planning suggestions align with the decisions humans make?</a:t>
            </a:r>
            <a:endParaRPr sz="1800">
              <a:solidFill>
                <a:schemeClr val="dk2"/>
              </a:solidFill>
            </a:endParaRPr>
          </a:p>
          <a:p>
            <a:pPr marL="457200" lvl="0" indent="0" algn="l" rtl="0">
              <a:spcBef>
                <a:spcPts val="0"/>
              </a:spcBef>
              <a:spcAft>
                <a:spcPts val="0"/>
              </a:spcAft>
              <a:buNone/>
            </a:pPr>
            <a:endParaRPr sz="1200">
              <a:solidFill>
                <a:schemeClr val="dk2"/>
              </a:solidFill>
            </a:endParaRPr>
          </a:p>
          <a:p>
            <a:pPr marL="457200" lvl="0" indent="-342900" algn="l" rtl="0">
              <a:spcBef>
                <a:spcPts val="0"/>
              </a:spcBef>
              <a:spcAft>
                <a:spcPts val="0"/>
              </a:spcAft>
              <a:buClr>
                <a:schemeClr val="dk2"/>
              </a:buClr>
              <a:buSzPts val="1800"/>
              <a:buChar char="●"/>
            </a:pPr>
            <a:r>
              <a:rPr lang="en" sz="1800">
                <a:solidFill>
                  <a:schemeClr val="dk2"/>
                </a:solidFill>
              </a:rPr>
              <a:t>How creative are LLM planning decisions?</a:t>
            </a:r>
            <a:endParaRPr sz="1800">
              <a:solidFill>
                <a:schemeClr val="dk2"/>
              </a:solidFill>
            </a:endParaRPr>
          </a:p>
        </p:txBody>
      </p:sp>
      <p:grpSp>
        <p:nvGrpSpPr>
          <p:cNvPr id="548" name="Google Shape;548;p56"/>
          <p:cNvGrpSpPr/>
          <p:nvPr/>
        </p:nvGrpSpPr>
        <p:grpSpPr>
          <a:xfrm>
            <a:off x="2102056" y="132606"/>
            <a:ext cx="4979663" cy="1337644"/>
            <a:chOff x="-218612" y="1284350"/>
            <a:chExt cx="4979663" cy="1337644"/>
          </a:xfrm>
        </p:grpSpPr>
        <p:pic>
          <p:nvPicPr>
            <p:cNvPr id="549" name="Google Shape;549;p56"/>
            <p:cNvPicPr preferRelativeResize="0"/>
            <p:nvPr/>
          </p:nvPicPr>
          <p:blipFill rotWithShape="1">
            <a:blip r:embed="rId5">
              <a:alphaModFix/>
            </a:blip>
            <a:srcRect t="12470" b="57303"/>
            <a:stretch/>
          </p:blipFill>
          <p:spPr>
            <a:xfrm>
              <a:off x="-218612" y="1625956"/>
              <a:ext cx="4785076" cy="996038"/>
            </a:xfrm>
            <a:prstGeom prst="rect">
              <a:avLst/>
            </a:prstGeom>
            <a:noFill/>
            <a:ln>
              <a:noFill/>
            </a:ln>
          </p:spPr>
        </p:pic>
        <p:sp>
          <p:nvSpPr>
            <p:cNvPr id="550" name="Google Shape;550;p56"/>
            <p:cNvSpPr/>
            <p:nvPr/>
          </p:nvSpPr>
          <p:spPr>
            <a:xfrm>
              <a:off x="3846350" y="1284350"/>
              <a:ext cx="914700" cy="3111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551" name="Google Shape;551;p56"/>
          <p:cNvGrpSpPr/>
          <p:nvPr/>
        </p:nvGrpSpPr>
        <p:grpSpPr>
          <a:xfrm>
            <a:off x="2102056" y="437406"/>
            <a:ext cx="4785076" cy="394120"/>
            <a:chOff x="9988" y="1284350"/>
            <a:chExt cx="4785076" cy="394120"/>
          </a:xfrm>
        </p:grpSpPr>
        <p:pic>
          <p:nvPicPr>
            <p:cNvPr id="552" name="Google Shape;552;p56"/>
            <p:cNvPicPr preferRelativeResize="0"/>
            <p:nvPr/>
          </p:nvPicPr>
          <p:blipFill rotWithShape="1">
            <a:blip r:embed="rId5">
              <a:alphaModFix/>
            </a:blip>
            <a:srcRect b="90559"/>
            <a:stretch/>
          </p:blipFill>
          <p:spPr>
            <a:xfrm>
              <a:off x="9988" y="1367369"/>
              <a:ext cx="4785076" cy="311101"/>
            </a:xfrm>
            <a:prstGeom prst="rect">
              <a:avLst/>
            </a:prstGeom>
            <a:noFill/>
            <a:ln>
              <a:noFill/>
            </a:ln>
          </p:spPr>
        </p:pic>
        <p:sp>
          <p:nvSpPr>
            <p:cNvPr id="553" name="Google Shape;553;p56"/>
            <p:cNvSpPr/>
            <p:nvPr/>
          </p:nvSpPr>
          <p:spPr>
            <a:xfrm>
              <a:off x="3846350" y="1284350"/>
              <a:ext cx="914700" cy="3111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4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5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1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2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557"/>
        <p:cNvGrpSpPr/>
        <p:nvPr/>
      </p:nvGrpSpPr>
      <p:grpSpPr>
        <a:xfrm>
          <a:off x="0" y="0"/>
          <a:ext cx="0" cy="0"/>
          <a:chOff x="0" y="0"/>
          <a:chExt cx="0" cy="0"/>
        </a:xfrm>
      </p:grpSpPr>
      <p:sp>
        <p:nvSpPr>
          <p:cNvPr id="558" name="Google Shape;558;p57"/>
          <p:cNvSpPr txBox="1">
            <a:spLocks noGrp="1"/>
          </p:cNvSpPr>
          <p:nvPr>
            <p:ph type="title"/>
          </p:nvPr>
        </p:nvSpPr>
        <p:spPr>
          <a:xfrm>
            <a:off x="311700" y="445025"/>
            <a:ext cx="42777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Inferring Human Plans</a:t>
            </a:r>
            <a:endParaRPr/>
          </a:p>
        </p:txBody>
      </p:sp>
      <p:grpSp>
        <p:nvGrpSpPr>
          <p:cNvPr id="559" name="Google Shape;559;p57"/>
          <p:cNvGrpSpPr/>
          <p:nvPr/>
        </p:nvGrpSpPr>
        <p:grpSpPr>
          <a:xfrm>
            <a:off x="1094174" y="1318125"/>
            <a:ext cx="5330026" cy="3037550"/>
            <a:chOff x="1094174" y="1318125"/>
            <a:chExt cx="5330026" cy="3037550"/>
          </a:xfrm>
        </p:grpSpPr>
        <p:grpSp>
          <p:nvGrpSpPr>
            <p:cNvPr id="560" name="Google Shape;560;p57"/>
            <p:cNvGrpSpPr/>
            <p:nvPr/>
          </p:nvGrpSpPr>
          <p:grpSpPr>
            <a:xfrm>
              <a:off x="1094174" y="1318125"/>
              <a:ext cx="1050476" cy="729990"/>
              <a:chOff x="2229372" y="1500025"/>
              <a:chExt cx="927900" cy="454200"/>
            </a:xfrm>
          </p:grpSpPr>
          <p:sp>
            <p:nvSpPr>
              <p:cNvPr id="561" name="Google Shape;561;p57"/>
              <p:cNvSpPr/>
              <p:nvPr/>
            </p:nvSpPr>
            <p:spPr>
              <a:xfrm>
                <a:off x="2229372" y="1500025"/>
                <a:ext cx="927900" cy="454200"/>
              </a:xfrm>
              <a:prstGeom prst="diamond">
                <a:avLst/>
              </a:prstGeom>
              <a:solidFill>
                <a:srgbClr val="D9EAD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p>
            </p:txBody>
          </p:sp>
          <p:sp>
            <p:nvSpPr>
              <p:cNvPr id="562" name="Google Shape;562;p57"/>
              <p:cNvSpPr txBox="1"/>
              <p:nvPr/>
            </p:nvSpPr>
            <p:spPr>
              <a:xfrm>
                <a:off x="2269223" y="1571412"/>
                <a:ext cx="834000" cy="287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t>LLM</a:t>
                </a:r>
                <a:endParaRPr sz="1800">
                  <a:solidFill>
                    <a:srgbClr val="000000"/>
                  </a:solidFill>
                </a:endParaRPr>
              </a:p>
            </p:txBody>
          </p:sp>
        </p:grpSp>
        <p:sp>
          <p:nvSpPr>
            <p:cNvPr id="563" name="Google Shape;563;p57"/>
            <p:cNvSpPr/>
            <p:nvPr/>
          </p:nvSpPr>
          <p:spPr>
            <a:xfrm>
              <a:off x="1659725" y="1817075"/>
              <a:ext cx="4701000" cy="2538600"/>
            </a:xfrm>
            <a:prstGeom prst="rect">
              <a:avLst/>
            </a:prstGeom>
            <a:solidFill>
              <a:srgbClr val="D0E0E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500">
                <a:latin typeface="Courier New"/>
                <a:ea typeface="Courier New"/>
                <a:cs typeface="Courier New"/>
                <a:sym typeface="Courier New"/>
              </a:endParaRPr>
            </a:p>
          </p:txBody>
        </p:sp>
        <p:sp>
          <p:nvSpPr>
            <p:cNvPr id="564" name="Google Shape;564;p57"/>
            <p:cNvSpPr txBox="1"/>
            <p:nvPr/>
          </p:nvSpPr>
          <p:spPr>
            <a:xfrm>
              <a:off x="1723160" y="2431613"/>
              <a:ext cx="4701000" cy="1923900"/>
            </a:xfrm>
            <a:prstGeom prst="rect">
              <a:avLst/>
            </a:prstGeom>
            <a:noFill/>
            <a:ln>
              <a:noFill/>
            </a:ln>
          </p:spPr>
          <p:txBody>
            <a:bodyPr spcFirstLastPara="1" wrap="square" lIns="91425" tIns="91425" rIns="91425" bIns="91425" anchor="t" anchorCtr="0">
              <a:spAutoFit/>
            </a:bodyPr>
            <a:lstStyle/>
            <a:p>
              <a:pPr marL="457200" lvl="0" indent="-323850" algn="l" rtl="0">
                <a:spcBef>
                  <a:spcPts val="0"/>
                </a:spcBef>
                <a:spcAft>
                  <a:spcPts val="0"/>
                </a:spcAft>
                <a:buClr>
                  <a:srgbClr val="000000"/>
                </a:buClr>
                <a:buSzPts val="1500"/>
                <a:buFont typeface="Courier New"/>
                <a:buAutoNum type="arabicPeriod"/>
              </a:pPr>
              <a:r>
                <a:rPr lang="en" sz="1500">
                  <a:solidFill>
                    <a:srgbClr val="000000"/>
                  </a:solidFill>
                  <a:latin typeface="Courier New"/>
                  <a:ea typeface="Courier New"/>
                  <a:cs typeface="Courier New"/>
                  <a:sym typeface="Courier New"/>
                </a:rPr>
                <a:t>(</a:t>
              </a:r>
              <a:r>
                <a:rPr lang="en" sz="1500" b="1">
                  <a:solidFill>
                    <a:srgbClr val="000000"/>
                  </a:solidFill>
                  <a:latin typeface="Courier New"/>
                  <a:ea typeface="Courier New"/>
                  <a:cs typeface="Courier New"/>
                  <a:sym typeface="Courier New"/>
                </a:rPr>
                <a:t>Angle</a:t>
              </a:r>
              <a:r>
                <a:rPr lang="en" sz="1500">
                  <a:solidFill>
                    <a:srgbClr val="000000"/>
                  </a:solidFill>
                  <a:latin typeface="Courier New"/>
                  <a:ea typeface="Courier New"/>
                  <a:cs typeface="Courier New"/>
                  <a:sym typeface="Courier New"/>
                </a:rPr>
                <a:t>) What specific focus does the journalist take? How does they challenge "spin", or positive portrayals?</a:t>
              </a:r>
              <a:endParaRPr sz="1500">
                <a:solidFill>
                  <a:srgbClr val="000000"/>
                </a:solidFill>
                <a:latin typeface="Courier New"/>
                <a:ea typeface="Courier New"/>
                <a:cs typeface="Courier New"/>
                <a:sym typeface="Courier New"/>
              </a:endParaRPr>
            </a:p>
            <a:p>
              <a:pPr marL="457200" lvl="0" indent="0" algn="l" rtl="0">
                <a:spcBef>
                  <a:spcPts val="0"/>
                </a:spcBef>
                <a:spcAft>
                  <a:spcPts val="0"/>
                </a:spcAft>
                <a:buNone/>
              </a:pPr>
              <a:endParaRPr sz="800">
                <a:solidFill>
                  <a:srgbClr val="000000"/>
                </a:solidFill>
                <a:latin typeface="Courier New"/>
                <a:ea typeface="Courier New"/>
                <a:cs typeface="Courier New"/>
                <a:sym typeface="Courier New"/>
              </a:endParaRPr>
            </a:p>
            <a:p>
              <a:pPr marL="457200" lvl="0" indent="-323850" algn="l" rtl="0">
                <a:spcBef>
                  <a:spcPts val="0"/>
                </a:spcBef>
                <a:spcAft>
                  <a:spcPts val="0"/>
                </a:spcAft>
                <a:buClr>
                  <a:srgbClr val="000000"/>
                </a:buClr>
                <a:buSzPts val="1500"/>
                <a:buFont typeface="Courier New"/>
                <a:buAutoNum type="arabicPeriod"/>
              </a:pPr>
              <a:r>
                <a:rPr lang="en" sz="1500">
                  <a:solidFill>
                    <a:srgbClr val="000000"/>
                  </a:solidFill>
                  <a:latin typeface="Courier New"/>
                  <a:ea typeface="Courier New"/>
                  <a:cs typeface="Courier New"/>
                  <a:sym typeface="Courier New"/>
                </a:rPr>
                <a:t>(</a:t>
              </a:r>
              <a:r>
                <a:rPr lang="en" sz="1500" b="1">
                  <a:solidFill>
                    <a:srgbClr val="000000"/>
                  </a:solidFill>
                  <a:latin typeface="Courier New"/>
                  <a:ea typeface="Courier New"/>
                  <a:cs typeface="Courier New"/>
                  <a:sym typeface="Courier New"/>
                </a:rPr>
                <a:t>Sources</a:t>
              </a:r>
              <a:r>
                <a:rPr lang="en" sz="1500">
                  <a:solidFill>
                    <a:srgbClr val="000000"/>
                  </a:solidFill>
                  <a:latin typeface="Courier New"/>
                  <a:ea typeface="Courier New"/>
                  <a:cs typeface="Courier New"/>
                  <a:sym typeface="Courier New"/>
                </a:rPr>
                <a:t>) Which kinds of sources does the human use in their reporting?</a:t>
              </a:r>
              <a:endParaRPr sz="1700"/>
            </a:p>
          </p:txBody>
        </p:sp>
        <p:sp>
          <p:nvSpPr>
            <p:cNvPr id="565" name="Google Shape;565;p57"/>
            <p:cNvSpPr txBox="1"/>
            <p:nvPr/>
          </p:nvSpPr>
          <p:spPr>
            <a:xfrm>
              <a:off x="1676400" y="1811150"/>
              <a:ext cx="47478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500">
                  <a:solidFill>
                    <a:srgbClr val="000000"/>
                  </a:solidFill>
                  <a:latin typeface="Courier New"/>
                  <a:ea typeface="Courier New"/>
                  <a:cs typeface="Courier New"/>
                  <a:sym typeface="Courier New"/>
                </a:rPr>
                <a:t>Here is a press release: </a:t>
              </a:r>
              <a:r>
                <a:rPr lang="en" sz="1300">
                  <a:solidFill>
                    <a:srgbClr val="000000"/>
                  </a:solidFill>
                  <a:latin typeface="Courier New"/>
                  <a:ea typeface="Courier New"/>
                  <a:cs typeface="Courier New"/>
                  <a:sym typeface="Courier New"/>
                </a:rPr>
                <a:t>{{Press_Release}}</a:t>
              </a:r>
              <a:endParaRPr sz="1300">
                <a:solidFill>
                  <a:srgbClr val="000000"/>
                </a:solidFill>
                <a:latin typeface="Courier New"/>
                <a:ea typeface="Courier New"/>
                <a:cs typeface="Courier New"/>
                <a:sym typeface="Courier New"/>
              </a:endParaRPr>
            </a:p>
            <a:p>
              <a:pPr marL="0" lvl="0" indent="0" algn="l" rtl="0">
                <a:spcBef>
                  <a:spcPts val="0"/>
                </a:spcBef>
                <a:spcAft>
                  <a:spcPts val="0"/>
                </a:spcAft>
                <a:buNone/>
              </a:pPr>
              <a:r>
                <a:rPr lang="en" sz="1500">
                  <a:solidFill>
                    <a:srgbClr val="000000"/>
                  </a:solidFill>
                  <a:latin typeface="Courier New"/>
                  <a:ea typeface="Courier New"/>
                  <a:cs typeface="Courier New"/>
                  <a:sym typeface="Courier New"/>
                </a:rPr>
                <a:t>Here is a news article: </a:t>
              </a:r>
              <a:r>
                <a:rPr lang="en" sz="1300">
                  <a:solidFill>
                    <a:srgbClr val="000000"/>
                  </a:solidFill>
                  <a:latin typeface="Courier New"/>
                  <a:ea typeface="Courier New"/>
                  <a:cs typeface="Courier New"/>
                  <a:sym typeface="Courier New"/>
                </a:rPr>
                <a:t>{{News_Article }}</a:t>
              </a:r>
              <a:endParaRPr sz="1700"/>
            </a:p>
          </p:txBody>
        </p:sp>
        <p:sp>
          <p:nvSpPr>
            <p:cNvPr id="566" name="Google Shape;566;p57"/>
            <p:cNvSpPr/>
            <p:nvPr/>
          </p:nvSpPr>
          <p:spPr>
            <a:xfrm>
              <a:off x="1145470" y="2610500"/>
              <a:ext cx="529222" cy="588875"/>
            </a:xfrm>
            <a:custGeom>
              <a:avLst/>
              <a:gdLst/>
              <a:ahLst/>
              <a:cxnLst/>
              <a:rect l="l" t="t" r="r" b="b"/>
              <a:pathLst>
                <a:path w="27008" h="23555" extrusionOk="0">
                  <a:moveTo>
                    <a:pt x="0" y="0"/>
                  </a:moveTo>
                  <a:cubicBezTo>
                    <a:pt x="4271" y="0"/>
                    <a:pt x="10472" y="374"/>
                    <a:pt x="12057" y="4340"/>
                  </a:cubicBezTo>
                  <a:cubicBezTo>
                    <a:pt x="14086" y="9416"/>
                    <a:pt x="8777" y="16365"/>
                    <a:pt x="12057" y="20738"/>
                  </a:cubicBezTo>
                  <a:cubicBezTo>
                    <a:pt x="15086" y="24776"/>
                    <a:pt x="21960" y="23149"/>
                    <a:pt x="27008" y="23149"/>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567" name="Google Shape;567;p57"/>
            <p:cNvSpPr/>
            <p:nvPr/>
          </p:nvSpPr>
          <p:spPr>
            <a:xfrm>
              <a:off x="1136025" y="3234425"/>
              <a:ext cx="529208" cy="449125"/>
            </a:xfrm>
            <a:custGeom>
              <a:avLst/>
              <a:gdLst/>
              <a:ahLst/>
              <a:cxnLst/>
              <a:rect l="l" t="t" r="r" b="b"/>
              <a:pathLst>
                <a:path w="25078" h="17965" extrusionOk="0">
                  <a:moveTo>
                    <a:pt x="0" y="17965"/>
                  </a:moveTo>
                  <a:cubicBezTo>
                    <a:pt x="3763" y="17965"/>
                    <a:pt x="9698" y="17758"/>
                    <a:pt x="10610" y="14107"/>
                  </a:cubicBezTo>
                  <a:cubicBezTo>
                    <a:pt x="11674" y="9850"/>
                    <a:pt x="8887" y="3519"/>
                    <a:pt x="12539" y="1086"/>
                  </a:cubicBezTo>
                  <a:cubicBezTo>
                    <a:pt x="16017" y="-1231"/>
                    <a:pt x="20898" y="1086"/>
                    <a:pt x="25078" y="1086"/>
                  </a:cubicBezTo>
                </a:path>
              </a:pathLst>
            </a:custGeom>
            <a:noFill/>
            <a:ln w="9525" cap="flat" cmpd="sng">
              <a:solidFill>
                <a:schemeClr val="dk2"/>
              </a:solidFill>
              <a:prstDash val="solid"/>
              <a:round/>
              <a:headEnd type="none" w="med" len="med"/>
              <a:tailEnd type="triangle" w="med" len="med"/>
            </a:ln>
          </p:spPr>
          <p:txBody>
            <a:bodyPr/>
            <a:lstStyle/>
            <a:p>
              <a:endParaRPr lang="en-US"/>
            </a:p>
          </p:txBody>
        </p:sp>
      </p:grpSp>
      <p:grpSp>
        <p:nvGrpSpPr>
          <p:cNvPr id="568" name="Google Shape;568;p57"/>
          <p:cNvGrpSpPr/>
          <p:nvPr/>
        </p:nvGrpSpPr>
        <p:grpSpPr>
          <a:xfrm>
            <a:off x="210225" y="2099750"/>
            <a:ext cx="1002000" cy="1967650"/>
            <a:chOff x="210225" y="2099750"/>
            <a:chExt cx="1002000" cy="1967650"/>
          </a:xfrm>
        </p:grpSpPr>
        <p:sp>
          <p:nvSpPr>
            <p:cNvPr id="569" name="Google Shape;569;p57"/>
            <p:cNvSpPr/>
            <p:nvPr/>
          </p:nvSpPr>
          <p:spPr>
            <a:xfrm>
              <a:off x="210225" y="3165600"/>
              <a:ext cx="1002000" cy="901800"/>
            </a:xfrm>
            <a:prstGeom prst="rect">
              <a:avLst/>
            </a:prstGeom>
            <a:solidFill>
              <a:srgbClr val="FFF2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News </a:t>
              </a:r>
              <a:endParaRPr/>
            </a:p>
            <a:p>
              <a:pPr marL="0" lvl="0" indent="0" algn="ctr" rtl="0">
                <a:spcBef>
                  <a:spcPts val="0"/>
                </a:spcBef>
                <a:spcAft>
                  <a:spcPts val="0"/>
                </a:spcAft>
                <a:buNone/>
              </a:pPr>
              <a:r>
                <a:rPr lang="en"/>
                <a:t>article</a:t>
              </a:r>
              <a:endParaRPr/>
            </a:p>
          </p:txBody>
        </p:sp>
        <p:sp>
          <p:nvSpPr>
            <p:cNvPr id="570" name="Google Shape;570;p57"/>
            <p:cNvSpPr/>
            <p:nvPr/>
          </p:nvSpPr>
          <p:spPr>
            <a:xfrm>
              <a:off x="210225" y="2099750"/>
              <a:ext cx="1002000" cy="9804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Press </a:t>
              </a:r>
              <a:endParaRPr/>
            </a:p>
            <a:p>
              <a:pPr marL="0" lvl="0" indent="0" algn="ctr" rtl="0">
                <a:spcBef>
                  <a:spcPts val="0"/>
                </a:spcBef>
                <a:spcAft>
                  <a:spcPts val="0"/>
                </a:spcAft>
                <a:buNone/>
              </a:pPr>
              <a:r>
                <a:rPr lang="en"/>
                <a:t>Release</a:t>
              </a:r>
              <a:endParaRPr/>
            </a:p>
          </p:txBody>
        </p:sp>
      </p:grpSp>
      <p:grpSp>
        <p:nvGrpSpPr>
          <p:cNvPr id="571" name="Google Shape;571;p57"/>
          <p:cNvGrpSpPr/>
          <p:nvPr/>
        </p:nvGrpSpPr>
        <p:grpSpPr>
          <a:xfrm>
            <a:off x="6396650" y="1135025"/>
            <a:ext cx="3230900" cy="3220800"/>
            <a:chOff x="6396650" y="1135025"/>
            <a:chExt cx="3230900" cy="3220800"/>
          </a:xfrm>
        </p:grpSpPr>
        <p:sp>
          <p:nvSpPr>
            <p:cNvPr id="572" name="Google Shape;572;p57"/>
            <p:cNvSpPr/>
            <p:nvPr/>
          </p:nvSpPr>
          <p:spPr>
            <a:xfrm>
              <a:off x="6595075" y="1135025"/>
              <a:ext cx="2470500" cy="32208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73" name="Google Shape;573;p57"/>
            <p:cNvSpPr/>
            <p:nvPr/>
          </p:nvSpPr>
          <p:spPr>
            <a:xfrm>
              <a:off x="6776343" y="2558310"/>
              <a:ext cx="1002000" cy="559200"/>
            </a:xfrm>
            <a:prstGeom prst="rect">
              <a:avLst/>
            </a:prstGeom>
            <a:solidFill>
              <a:srgbClr val="D9EAD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Source #1</a:t>
              </a:r>
              <a:endParaRPr/>
            </a:p>
          </p:txBody>
        </p:sp>
        <p:sp>
          <p:nvSpPr>
            <p:cNvPr id="574" name="Google Shape;574;p57"/>
            <p:cNvSpPr/>
            <p:nvPr/>
          </p:nvSpPr>
          <p:spPr>
            <a:xfrm>
              <a:off x="6776343" y="3136624"/>
              <a:ext cx="1002000" cy="559200"/>
            </a:xfrm>
            <a:prstGeom prst="rect">
              <a:avLst/>
            </a:prstGeom>
            <a:solidFill>
              <a:srgbClr val="D9EAD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Source #2</a:t>
              </a:r>
              <a:endParaRPr/>
            </a:p>
          </p:txBody>
        </p:sp>
        <p:sp>
          <p:nvSpPr>
            <p:cNvPr id="575" name="Google Shape;575;p57"/>
            <p:cNvSpPr/>
            <p:nvPr/>
          </p:nvSpPr>
          <p:spPr>
            <a:xfrm>
              <a:off x="6776343" y="3714938"/>
              <a:ext cx="1002000" cy="559200"/>
            </a:xfrm>
            <a:prstGeom prst="rect">
              <a:avLst/>
            </a:prstGeom>
            <a:solidFill>
              <a:srgbClr val="D9EAD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Source #3</a:t>
              </a:r>
              <a:endParaRPr/>
            </a:p>
          </p:txBody>
        </p:sp>
        <p:grpSp>
          <p:nvGrpSpPr>
            <p:cNvPr id="576" name="Google Shape;576;p57"/>
            <p:cNvGrpSpPr/>
            <p:nvPr/>
          </p:nvGrpSpPr>
          <p:grpSpPr>
            <a:xfrm>
              <a:off x="6753909" y="1824729"/>
              <a:ext cx="1050476" cy="729990"/>
              <a:chOff x="2229372" y="1500025"/>
              <a:chExt cx="927900" cy="454200"/>
            </a:xfrm>
          </p:grpSpPr>
          <p:sp>
            <p:nvSpPr>
              <p:cNvPr id="577" name="Google Shape;577;p57"/>
              <p:cNvSpPr/>
              <p:nvPr/>
            </p:nvSpPr>
            <p:spPr>
              <a:xfrm>
                <a:off x="2229372" y="1500025"/>
                <a:ext cx="927900" cy="454200"/>
              </a:xfrm>
              <a:prstGeom prst="diamond">
                <a:avLst/>
              </a:prstGeom>
              <a:solidFill>
                <a:srgbClr val="FFF2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p>
            </p:txBody>
          </p:sp>
          <p:sp>
            <p:nvSpPr>
              <p:cNvPr id="578" name="Google Shape;578;p57"/>
              <p:cNvSpPr txBox="1"/>
              <p:nvPr/>
            </p:nvSpPr>
            <p:spPr>
              <a:xfrm>
                <a:off x="2269223" y="1571412"/>
                <a:ext cx="834000" cy="287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solidFill>
                      <a:srgbClr val="000000"/>
                    </a:solidFill>
                  </a:rPr>
                  <a:t>Angle</a:t>
                </a:r>
                <a:endParaRPr sz="1800">
                  <a:solidFill>
                    <a:srgbClr val="000000"/>
                  </a:solidFill>
                </a:endParaRPr>
              </a:p>
            </p:txBody>
          </p:sp>
        </p:grpSp>
        <p:sp>
          <p:nvSpPr>
            <p:cNvPr id="579" name="Google Shape;579;p57"/>
            <p:cNvSpPr/>
            <p:nvPr/>
          </p:nvSpPr>
          <p:spPr>
            <a:xfrm>
              <a:off x="6396650" y="3056600"/>
              <a:ext cx="313500" cy="449100"/>
            </a:xfrm>
            <a:prstGeom prst="rightArrow">
              <a:avLst>
                <a:gd name="adj1" fmla="val 50000"/>
                <a:gd name="adj2" fmla="val 50000"/>
              </a:avLst>
            </a:prstGeom>
            <a:solidFill>
              <a:srgbClr val="FFF2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80" name="Google Shape;580;p57"/>
            <p:cNvSpPr txBox="1"/>
            <p:nvPr/>
          </p:nvSpPr>
          <p:spPr>
            <a:xfrm>
              <a:off x="7898650" y="2573248"/>
              <a:ext cx="1728900" cy="55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i="1">
                  <a:solidFill>
                    <a:srgbClr val="595959"/>
                  </a:solidFill>
                </a:rPr>
                <a:t>Employment </a:t>
              </a:r>
              <a:endParaRPr i="1">
                <a:solidFill>
                  <a:srgbClr val="595959"/>
                </a:solidFill>
              </a:endParaRPr>
            </a:p>
            <a:p>
              <a:pPr marL="0" lvl="0" indent="0" algn="l" rtl="0">
                <a:spcBef>
                  <a:spcPts val="0"/>
                </a:spcBef>
                <a:spcAft>
                  <a:spcPts val="0"/>
                </a:spcAft>
                <a:buNone/>
              </a:pPr>
              <a:r>
                <a:rPr lang="en" i="1">
                  <a:solidFill>
                    <a:srgbClr val="595959"/>
                  </a:solidFill>
                </a:rPr>
                <a:t>lawyer</a:t>
              </a:r>
              <a:endParaRPr i="1">
                <a:solidFill>
                  <a:srgbClr val="595959"/>
                </a:solidFill>
              </a:endParaRPr>
            </a:p>
          </p:txBody>
        </p:sp>
        <p:sp>
          <p:nvSpPr>
            <p:cNvPr id="581" name="Google Shape;581;p57"/>
            <p:cNvSpPr txBox="1"/>
            <p:nvPr/>
          </p:nvSpPr>
          <p:spPr>
            <a:xfrm>
              <a:off x="7898650" y="3136700"/>
              <a:ext cx="1676400" cy="55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i="1">
                  <a:solidFill>
                    <a:srgbClr val="595959"/>
                  </a:solidFill>
                </a:rPr>
                <a:t>Advocacy </a:t>
              </a:r>
              <a:endParaRPr i="1">
                <a:solidFill>
                  <a:srgbClr val="595959"/>
                </a:solidFill>
              </a:endParaRPr>
            </a:p>
            <a:p>
              <a:pPr marL="0" lvl="0" indent="0" algn="l" rtl="0">
                <a:spcBef>
                  <a:spcPts val="0"/>
                </a:spcBef>
                <a:spcAft>
                  <a:spcPts val="0"/>
                </a:spcAft>
                <a:buNone/>
              </a:pPr>
              <a:r>
                <a:rPr lang="en" i="1">
                  <a:solidFill>
                    <a:srgbClr val="595959"/>
                  </a:solidFill>
                </a:rPr>
                <a:t>group</a:t>
              </a:r>
              <a:endParaRPr i="1">
                <a:solidFill>
                  <a:srgbClr val="595959"/>
                </a:solidFill>
              </a:endParaRPr>
            </a:p>
          </p:txBody>
        </p:sp>
        <p:sp>
          <p:nvSpPr>
            <p:cNvPr id="582" name="Google Shape;582;p57"/>
            <p:cNvSpPr txBox="1"/>
            <p:nvPr/>
          </p:nvSpPr>
          <p:spPr>
            <a:xfrm>
              <a:off x="7898650" y="3810124"/>
              <a:ext cx="1676400" cy="404100"/>
            </a:xfrm>
            <a:prstGeom prst="rect">
              <a:avLst/>
            </a:prstGeom>
            <a:noFill/>
            <a:ln>
              <a:noFill/>
            </a:ln>
          </p:spPr>
          <p:txBody>
            <a:bodyPr spcFirstLastPara="1" wrap="square" lIns="91425" tIns="91425" rIns="91425" bIns="91425" anchor="t" anchorCtr="0">
              <a:noAutofit/>
            </a:bodyPr>
            <a:lstStyle/>
            <a:p>
              <a:pPr marL="0" lvl="0" indent="-228600" algn="l" rtl="0">
                <a:spcBef>
                  <a:spcPts val="0"/>
                </a:spcBef>
                <a:spcAft>
                  <a:spcPts val="0"/>
                </a:spcAft>
                <a:buNone/>
              </a:pPr>
              <a:r>
                <a:rPr lang="en" i="1">
                  <a:solidFill>
                    <a:srgbClr val="595959"/>
                  </a:solidFill>
                </a:rPr>
                <a:t>Insider</a:t>
              </a:r>
              <a:endParaRPr i="1">
                <a:solidFill>
                  <a:srgbClr val="595959"/>
                </a:solidFill>
              </a:endParaRPr>
            </a:p>
          </p:txBody>
        </p:sp>
        <p:sp>
          <p:nvSpPr>
            <p:cNvPr id="583" name="Google Shape;583;p57"/>
            <p:cNvSpPr txBox="1"/>
            <p:nvPr/>
          </p:nvSpPr>
          <p:spPr>
            <a:xfrm>
              <a:off x="7715198" y="1468563"/>
              <a:ext cx="1365600" cy="857400"/>
            </a:xfrm>
            <a:prstGeom prst="rect">
              <a:avLst/>
            </a:prstGeom>
            <a:noFill/>
            <a:ln>
              <a:noFill/>
            </a:ln>
          </p:spPr>
          <p:txBody>
            <a:bodyPr spcFirstLastPara="1" wrap="square" lIns="91425" tIns="91425" rIns="91425" bIns="91425" anchor="t" anchorCtr="0">
              <a:noAutofit/>
            </a:bodyPr>
            <a:lstStyle/>
            <a:p>
              <a:pPr marL="171450" lvl="0" indent="-171450" algn="l" rtl="0">
                <a:spcBef>
                  <a:spcPts val="0"/>
                </a:spcBef>
                <a:spcAft>
                  <a:spcPts val="0"/>
                </a:spcAft>
                <a:buNone/>
              </a:pPr>
              <a:r>
                <a:rPr lang="en" sz="1500" i="1">
                  <a:solidFill>
                    <a:srgbClr val="595959"/>
                  </a:solidFill>
                </a:rPr>
                <a:t>Is this part of a larger, negative pattern?</a:t>
              </a:r>
              <a:endParaRPr sz="1500" i="1">
                <a:solidFill>
                  <a:srgbClr val="595959"/>
                </a:solidFill>
              </a:endParaRPr>
            </a:p>
          </p:txBody>
        </p:sp>
        <p:sp>
          <p:nvSpPr>
            <p:cNvPr id="584" name="Google Shape;584;p57"/>
            <p:cNvSpPr txBox="1"/>
            <p:nvPr/>
          </p:nvSpPr>
          <p:spPr>
            <a:xfrm>
              <a:off x="6658125" y="1135025"/>
              <a:ext cx="1676400" cy="404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u="sng">
                  <a:solidFill>
                    <a:schemeClr val="dk2"/>
                  </a:solidFill>
                </a:rPr>
                <a:t>Human plan:</a:t>
              </a:r>
              <a:endParaRPr sz="1800" b="1" u="sng">
                <a:solidFill>
                  <a:schemeClr val="dk2"/>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6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5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588"/>
        <p:cNvGrpSpPr/>
        <p:nvPr/>
      </p:nvGrpSpPr>
      <p:grpSpPr>
        <a:xfrm>
          <a:off x="0" y="0"/>
          <a:ext cx="0" cy="0"/>
          <a:chOff x="0" y="0"/>
          <a:chExt cx="0" cy="0"/>
        </a:xfrm>
      </p:grpSpPr>
      <p:pic>
        <p:nvPicPr>
          <p:cNvPr id="589" name="Google Shape;589;p58"/>
          <p:cNvPicPr preferRelativeResize="0"/>
          <p:nvPr/>
        </p:nvPicPr>
        <p:blipFill>
          <a:blip r:embed="rId3">
            <a:alphaModFix/>
          </a:blip>
          <a:stretch>
            <a:fillRect/>
          </a:stretch>
        </p:blipFill>
        <p:spPr>
          <a:xfrm>
            <a:off x="5626200" y="650525"/>
            <a:ext cx="3192750" cy="1439669"/>
          </a:xfrm>
          <a:prstGeom prst="rect">
            <a:avLst/>
          </a:prstGeom>
          <a:noFill/>
          <a:ln>
            <a:noFill/>
          </a:ln>
        </p:spPr>
      </p:pic>
      <p:sp>
        <p:nvSpPr>
          <p:cNvPr id="590" name="Google Shape;590;p58"/>
          <p:cNvSpPr txBox="1">
            <a:spLocks noGrp="1"/>
          </p:cNvSpPr>
          <p:nvPr>
            <p:ph type="title"/>
          </p:nvPr>
        </p:nvSpPr>
        <p:spPr>
          <a:xfrm>
            <a:off x="311700" y="1193497"/>
            <a:ext cx="5781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820" b="1" u="sng"/>
              <a:t>Insight #1</a:t>
            </a:r>
            <a:r>
              <a:rPr lang="en" sz="1820"/>
              <a:t>: Effective coverage has significantly more creative angles, slightly more creative sources.</a:t>
            </a:r>
            <a:endParaRPr sz="1820"/>
          </a:p>
        </p:txBody>
      </p:sp>
      <p:pic>
        <p:nvPicPr>
          <p:cNvPr id="591" name="Google Shape;591;p58"/>
          <p:cNvPicPr preferRelativeResize="0"/>
          <p:nvPr/>
        </p:nvPicPr>
        <p:blipFill>
          <a:blip r:embed="rId4">
            <a:alphaModFix/>
          </a:blip>
          <a:stretch>
            <a:fillRect/>
          </a:stretch>
        </p:blipFill>
        <p:spPr>
          <a:xfrm>
            <a:off x="5702250" y="2088300"/>
            <a:ext cx="3130050" cy="1168738"/>
          </a:xfrm>
          <a:prstGeom prst="rect">
            <a:avLst/>
          </a:prstGeom>
          <a:noFill/>
          <a:ln>
            <a:noFill/>
          </a:ln>
        </p:spPr>
      </p:pic>
      <p:sp>
        <p:nvSpPr>
          <p:cNvPr id="592" name="Google Shape;592;p58"/>
          <p:cNvSpPr txBox="1"/>
          <p:nvPr/>
        </p:nvSpPr>
        <p:spPr>
          <a:xfrm>
            <a:off x="304800" y="2357438"/>
            <a:ext cx="4905000" cy="738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b="1" u="sng">
                <a:solidFill>
                  <a:schemeClr val="dk1"/>
                </a:solidFill>
              </a:rPr>
              <a:t>Insight #2</a:t>
            </a:r>
            <a:r>
              <a:rPr lang="en" sz="1800">
                <a:solidFill>
                  <a:schemeClr val="dk1"/>
                </a:solidFill>
              </a:rPr>
              <a:t>: Effective Coverage uses </a:t>
            </a:r>
            <a:r>
              <a:rPr lang="en" sz="1800" i="1">
                <a:solidFill>
                  <a:schemeClr val="dk1"/>
                </a:solidFill>
              </a:rPr>
              <a:t>more </a:t>
            </a:r>
            <a:r>
              <a:rPr lang="en" sz="1800">
                <a:solidFill>
                  <a:schemeClr val="dk1"/>
                </a:solidFill>
              </a:rPr>
              <a:t>sources</a:t>
            </a:r>
            <a:endParaRPr sz="1800">
              <a:solidFill>
                <a:schemeClr val="dk1"/>
              </a:solidFill>
            </a:endParaRPr>
          </a:p>
        </p:txBody>
      </p:sp>
      <p:sp>
        <p:nvSpPr>
          <p:cNvPr id="593" name="Google Shape;593;p58"/>
          <p:cNvSpPr txBox="1"/>
          <p:nvPr/>
        </p:nvSpPr>
        <p:spPr>
          <a:xfrm>
            <a:off x="304800" y="3530048"/>
            <a:ext cx="4905000" cy="738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b="1" u="sng">
                <a:solidFill>
                  <a:schemeClr val="dk1"/>
                </a:solidFill>
              </a:rPr>
              <a:t>Insight #3</a:t>
            </a:r>
            <a:r>
              <a:rPr lang="en" sz="1800">
                <a:solidFill>
                  <a:schemeClr val="dk1"/>
                </a:solidFill>
              </a:rPr>
              <a:t>: Effective coverage uses more</a:t>
            </a:r>
            <a:r>
              <a:rPr lang="en" sz="1800" i="1">
                <a:solidFill>
                  <a:schemeClr val="dk1"/>
                </a:solidFill>
              </a:rPr>
              <a:t> labor intensive </a:t>
            </a:r>
            <a:r>
              <a:rPr lang="en" sz="1800">
                <a:solidFill>
                  <a:schemeClr val="dk1"/>
                </a:solidFill>
              </a:rPr>
              <a:t>sources.</a:t>
            </a:r>
            <a:endParaRPr sz="1800">
              <a:solidFill>
                <a:schemeClr val="dk1"/>
              </a:solidFill>
            </a:endParaRPr>
          </a:p>
        </p:txBody>
      </p:sp>
      <p:pic>
        <p:nvPicPr>
          <p:cNvPr id="594" name="Google Shape;594;p58"/>
          <p:cNvPicPr preferRelativeResize="0"/>
          <p:nvPr/>
        </p:nvPicPr>
        <p:blipFill>
          <a:blip r:embed="rId5">
            <a:alphaModFix/>
          </a:blip>
          <a:stretch>
            <a:fillRect/>
          </a:stretch>
        </p:blipFill>
        <p:spPr>
          <a:xfrm>
            <a:off x="5587400" y="3113273"/>
            <a:ext cx="3130052" cy="1590175"/>
          </a:xfrm>
          <a:prstGeom prst="rect">
            <a:avLst/>
          </a:prstGeom>
          <a:noFill/>
          <a:ln>
            <a:noFill/>
          </a:ln>
        </p:spPr>
      </p:pic>
      <p:sp>
        <p:nvSpPr>
          <p:cNvPr id="595" name="Google Shape;595;p58"/>
          <p:cNvSpPr txBox="1">
            <a:spLocks noGrp="1"/>
          </p:cNvSpPr>
          <p:nvPr>
            <p:ph type="title"/>
          </p:nvPr>
        </p:nvSpPr>
        <p:spPr>
          <a:xfrm>
            <a:off x="311700" y="3688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Insights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8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9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9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599"/>
        <p:cNvGrpSpPr/>
        <p:nvPr/>
      </p:nvGrpSpPr>
      <p:grpSpPr>
        <a:xfrm>
          <a:off x="0" y="0"/>
          <a:ext cx="0" cy="0"/>
          <a:chOff x="0" y="0"/>
          <a:chExt cx="0" cy="0"/>
        </a:xfrm>
      </p:grpSpPr>
      <p:sp>
        <p:nvSpPr>
          <p:cNvPr id="600" name="Google Shape;600;p59"/>
          <p:cNvSpPr txBox="1">
            <a:spLocks noGrp="1"/>
          </p:cNvSpPr>
          <p:nvPr>
            <p:ph type="title"/>
          </p:nvPr>
        </p:nvSpPr>
        <p:spPr>
          <a:xfrm>
            <a:off x="311700" y="445025"/>
            <a:ext cx="88323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Main Experiment: Comparing LLM Planning to Human</a:t>
            </a:r>
            <a:endParaRPr/>
          </a:p>
        </p:txBody>
      </p:sp>
      <p:sp>
        <p:nvSpPr>
          <p:cNvPr id="601" name="Google Shape;601;p59"/>
          <p:cNvSpPr/>
          <p:nvPr/>
        </p:nvSpPr>
        <p:spPr>
          <a:xfrm>
            <a:off x="4626350" y="1656400"/>
            <a:ext cx="4053900" cy="1172700"/>
          </a:xfrm>
          <a:prstGeom prst="rect">
            <a:avLst/>
          </a:prstGeom>
          <a:solidFill>
            <a:srgbClr val="D0E0E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200">
              <a:latin typeface="Courier New"/>
              <a:ea typeface="Courier New"/>
              <a:cs typeface="Courier New"/>
              <a:sym typeface="Courier New"/>
            </a:endParaRPr>
          </a:p>
        </p:txBody>
      </p:sp>
      <p:sp>
        <p:nvSpPr>
          <p:cNvPr id="602" name="Google Shape;602;p59"/>
          <p:cNvSpPr/>
          <p:nvPr/>
        </p:nvSpPr>
        <p:spPr>
          <a:xfrm>
            <a:off x="462550" y="1656400"/>
            <a:ext cx="4053900" cy="1172700"/>
          </a:xfrm>
          <a:prstGeom prst="rect">
            <a:avLst/>
          </a:prstGeom>
          <a:solidFill>
            <a:srgbClr val="FFF2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200">
              <a:latin typeface="Courier New"/>
              <a:ea typeface="Courier New"/>
              <a:cs typeface="Courier New"/>
              <a:sym typeface="Courier New"/>
            </a:endParaRPr>
          </a:p>
        </p:txBody>
      </p:sp>
      <p:grpSp>
        <p:nvGrpSpPr>
          <p:cNvPr id="603" name="Google Shape;603;p59"/>
          <p:cNvGrpSpPr/>
          <p:nvPr/>
        </p:nvGrpSpPr>
        <p:grpSpPr>
          <a:xfrm>
            <a:off x="-37620" y="1109725"/>
            <a:ext cx="4663920" cy="1719475"/>
            <a:chOff x="-37620" y="1109725"/>
            <a:chExt cx="4663920" cy="1719475"/>
          </a:xfrm>
        </p:grpSpPr>
        <p:grpSp>
          <p:nvGrpSpPr>
            <p:cNvPr id="604" name="Google Shape;604;p59"/>
            <p:cNvGrpSpPr/>
            <p:nvPr/>
          </p:nvGrpSpPr>
          <p:grpSpPr>
            <a:xfrm>
              <a:off x="-37620" y="1165725"/>
              <a:ext cx="1050476" cy="729990"/>
              <a:chOff x="2229372" y="1500025"/>
              <a:chExt cx="927900" cy="454200"/>
            </a:xfrm>
          </p:grpSpPr>
          <p:sp>
            <p:nvSpPr>
              <p:cNvPr id="605" name="Google Shape;605;p59"/>
              <p:cNvSpPr/>
              <p:nvPr/>
            </p:nvSpPr>
            <p:spPr>
              <a:xfrm>
                <a:off x="2229372" y="1500025"/>
                <a:ext cx="927900" cy="454200"/>
              </a:xfrm>
              <a:prstGeom prst="diamond">
                <a:avLst/>
              </a:prstGeom>
              <a:solidFill>
                <a:srgbClr val="D9EAD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p>
            </p:txBody>
          </p:sp>
          <p:sp>
            <p:nvSpPr>
              <p:cNvPr id="606" name="Google Shape;606;p59"/>
              <p:cNvSpPr txBox="1"/>
              <p:nvPr/>
            </p:nvSpPr>
            <p:spPr>
              <a:xfrm>
                <a:off x="2269223" y="1571412"/>
                <a:ext cx="834000" cy="287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t>LLM</a:t>
                </a:r>
                <a:endParaRPr sz="1800">
                  <a:solidFill>
                    <a:srgbClr val="000000"/>
                  </a:solidFill>
                </a:endParaRPr>
              </a:p>
            </p:txBody>
          </p:sp>
        </p:grpSp>
        <p:sp>
          <p:nvSpPr>
            <p:cNvPr id="607" name="Google Shape;607;p59"/>
            <p:cNvSpPr/>
            <p:nvPr/>
          </p:nvSpPr>
          <p:spPr>
            <a:xfrm>
              <a:off x="2453049" y="1525584"/>
              <a:ext cx="484200" cy="82800"/>
            </a:xfrm>
            <a:prstGeom prst="downArrow">
              <a:avLst>
                <a:gd name="adj1" fmla="val 50000"/>
                <a:gd name="adj2" fmla="val 50000"/>
              </a:avLst>
            </a:prstGeom>
            <a:solidFill>
              <a:srgbClr val="00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08" name="Google Shape;608;p59"/>
            <p:cNvSpPr txBox="1"/>
            <p:nvPr/>
          </p:nvSpPr>
          <p:spPr>
            <a:xfrm>
              <a:off x="457200" y="1643900"/>
              <a:ext cx="4169100" cy="1185300"/>
            </a:xfrm>
            <a:prstGeom prst="rect">
              <a:avLst/>
            </a:prstGeom>
            <a:noFill/>
            <a:ln>
              <a:noFill/>
            </a:ln>
          </p:spPr>
          <p:txBody>
            <a:bodyPr spcFirstLastPara="1" wrap="square" lIns="91425" tIns="91425" rIns="91425" bIns="91425" anchor="t" anchorCtr="0">
              <a:spAutoFit/>
            </a:bodyPr>
            <a:lstStyle/>
            <a:p>
              <a:pPr marL="228600" lvl="0" indent="-133350" algn="l" rtl="0">
                <a:spcBef>
                  <a:spcPts val="0"/>
                </a:spcBef>
                <a:spcAft>
                  <a:spcPts val="0"/>
                </a:spcAft>
                <a:buClr>
                  <a:srgbClr val="000000"/>
                </a:buClr>
                <a:buSzPts val="1200"/>
                <a:buFont typeface="Courier New"/>
                <a:buAutoNum type="arabicPeriod"/>
              </a:pPr>
              <a:r>
                <a:rPr lang="en" sz="1200">
                  <a:solidFill>
                    <a:srgbClr val="000000"/>
                  </a:solidFill>
                  <a:latin typeface="Courier New"/>
                  <a:ea typeface="Courier New"/>
                  <a:cs typeface="Courier New"/>
                  <a:sym typeface="Courier New"/>
                </a:rPr>
                <a:t>(</a:t>
              </a:r>
              <a:r>
                <a:rPr lang="en" sz="1200" b="1">
                  <a:solidFill>
                    <a:srgbClr val="000000"/>
                  </a:solidFill>
                  <a:latin typeface="Courier New"/>
                  <a:ea typeface="Courier New"/>
                  <a:cs typeface="Courier New"/>
                  <a:sym typeface="Courier New"/>
                </a:rPr>
                <a:t>Angle</a:t>
              </a:r>
              <a:r>
                <a:rPr lang="en" sz="1200">
                  <a:solidFill>
                    <a:srgbClr val="000000"/>
                  </a:solidFill>
                  <a:latin typeface="Courier New"/>
                  <a:ea typeface="Courier New"/>
                  <a:cs typeface="Courier New"/>
                  <a:sym typeface="Courier New"/>
                </a:rPr>
                <a:t>) What are potential directions to</a:t>
              </a:r>
              <a:r>
                <a:rPr lang="en" sz="1200">
                  <a:latin typeface="Courier New"/>
                  <a:ea typeface="Courier New"/>
                  <a:cs typeface="Courier New"/>
                  <a:sym typeface="Courier New"/>
                </a:rPr>
                <a:t> </a:t>
              </a:r>
              <a:r>
                <a:rPr lang="en" sz="1200">
                  <a:solidFill>
                    <a:srgbClr val="000000"/>
                  </a:solidFill>
                  <a:latin typeface="Courier New"/>
                  <a:ea typeface="Courier New"/>
                  <a:cs typeface="Courier New"/>
                  <a:sym typeface="Courier New"/>
                </a:rPr>
                <a:t>investigate? How would a news article de-spin this?</a:t>
              </a:r>
              <a:endParaRPr sz="1200">
                <a:solidFill>
                  <a:srgbClr val="000000"/>
                </a:solidFill>
                <a:latin typeface="Courier New"/>
                <a:ea typeface="Courier New"/>
                <a:cs typeface="Courier New"/>
                <a:sym typeface="Courier New"/>
              </a:endParaRPr>
            </a:p>
            <a:p>
              <a:pPr marL="457200" lvl="0" indent="0" algn="l" rtl="0">
                <a:spcBef>
                  <a:spcPts val="0"/>
                </a:spcBef>
                <a:spcAft>
                  <a:spcPts val="0"/>
                </a:spcAft>
                <a:buNone/>
              </a:pPr>
              <a:endParaRPr sz="500">
                <a:solidFill>
                  <a:srgbClr val="000000"/>
                </a:solidFill>
                <a:latin typeface="Courier New"/>
                <a:ea typeface="Courier New"/>
                <a:cs typeface="Courier New"/>
                <a:sym typeface="Courier New"/>
              </a:endParaRPr>
            </a:p>
            <a:p>
              <a:pPr marL="228600" lvl="0" indent="-133350" algn="l" rtl="0">
                <a:spcBef>
                  <a:spcPts val="0"/>
                </a:spcBef>
                <a:spcAft>
                  <a:spcPts val="0"/>
                </a:spcAft>
                <a:buClr>
                  <a:srgbClr val="000000"/>
                </a:buClr>
                <a:buSzPts val="1200"/>
                <a:buFont typeface="Courier New"/>
                <a:buAutoNum type="arabicPeriod"/>
              </a:pPr>
              <a:r>
                <a:rPr lang="en" sz="1200">
                  <a:solidFill>
                    <a:srgbClr val="000000"/>
                  </a:solidFill>
                  <a:latin typeface="Courier New"/>
                  <a:ea typeface="Courier New"/>
                  <a:cs typeface="Courier New"/>
                  <a:sym typeface="Courier New"/>
                </a:rPr>
                <a:t>(</a:t>
              </a:r>
              <a:r>
                <a:rPr lang="en" sz="1200" b="1">
                  <a:solidFill>
                    <a:srgbClr val="000000"/>
                  </a:solidFill>
                  <a:latin typeface="Courier New"/>
                  <a:ea typeface="Courier New"/>
                  <a:cs typeface="Courier New"/>
                  <a:sym typeface="Courier New"/>
                </a:rPr>
                <a:t>Sources</a:t>
              </a:r>
              <a:r>
                <a:rPr lang="en" sz="1200">
                  <a:solidFill>
                    <a:srgbClr val="000000"/>
                  </a:solidFill>
                  <a:latin typeface="Courier New"/>
                  <a:ea typeface="Courier New"/>
                  <a:cs typeface="Courier New"/>
                  <a:sym typeface="Courier New"/>
                </a:rPr>
                <a:t>) What are some kinds of sources I should use to pursue these angles? </a:t>
              </a:r>
              <a:endParaRPr/>
            </a:p>
          </p:txBody>
        </p:sp>
        <p:sp>
          <p:nvSpPr>
            <p:cNvPr id="609" name="Google Shape;609;p59"/>
            <p:cNvSpPr/>
            <p:nvPr/>
          </p:nvSpPr>
          <p:spPr>
            <a:xfrm>
              <a:off x="1994548" y="1109725"/>
              <a:ext cx="1414200" cy="3516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Press release</a:t>
              </a:r>
              <a:endParaRPr/>
            </a:p>
          </p:txBody>
        </p:sp>
      </p:grpSp>
      <p:sp>
        <p:nvSpPr>
          <p:cNvPr id="610" name="Google Shape;610;p59"/>
          <p:cNvSpPr/>
          <p:nvPr/>
        </p:nvSpPr>
        <p:spPr>
          <a:xfrm>
            <a:off x="4327179" y="3481297"/>
            <a:ext cx="163200" cy="179700"/>
          </a:xfrm>
          <a:prstGeom prst="rect">
            <a:avLst/>
          </a:prstGeom>
          <a:solidFill>
            <a:srgbClr val="EEEEEE"/>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611" name="Google Shape;611;p59"/>
          <p:cNvGrpSpPr/>
          <p:nvPr/>
        </p:nvGrpSpPr>
        <p:grpSpPr>
          <a:xfrm>
            <a:off x="3127301" y="3828025"/>
            <a:ext cx="2935804" cy="1003650"/>
            <a:chOff x="3127301" y="3828025"/>
            <a:chExt cx="2935804" cy="1003650"/>
          </a:xfrm>
        </p:grpSpPr>
        <p:sp>
          <p:nvSpPr>
            <p:cNvPr id="612" name="Google Shape;612;p59"/>
            <p:cNvSpPr/>
            <p:nvPr/>
          </p:nvSpPr>
          <p:spPr>
            <a:xfrm>
              <a:off x="3127301" y="4006725"/>
              <a:ext cx="2935804" cy="824950"/>
            </a:xfrm>
            <a:custGeom>
              <a:avLst/>
              <a:gdLst/>
              <a:ahLst/>
              <a:cxnLst/>
              <a:rect l="l" t="t" r="r" b="b"/>
              <a:pathLst>
                <a:path w="56572" h="32998" extrusionOk="0">
                  <a:moveTo>
                    <a:pt x="0" y="2595"/>
                  </a:moveTo>
                  <a:cubicBezTo>
                    <a:pt x="5681" y="2595"/>
                    <a:pt x="11659" y="-1440"/>
                    <a:pt x="16933" y="671"/>
                  </a:cubicBezTo>
                  <a:cubicBezTo>
                    <a:pt x="25490" y="4096"/>
                    <a:pt x="26197" y="16858"/>
                    <a:pt x="32712" y="23377"/>
                  </a:cubicBezTo>
                  <a:cubicBezTo>
                    <a:pt x="38774" y="29443"/>
                    <a:pt x="47996" y="32998"/>
                    <a:pt x="56572" y="32998"/>
                  </a:cubicBezTo>
                </a:path>
              </a:pathLst>
            </a:custGeom>
            <a:noFill/>
            <a:ln w="9525" cap="flat" cmpd="sng">
              <a:solidFill>
                <a:schemeClr val="dk2"/>
              </a:solidFill>
              <a:prstDash val="solid"/>
              <a:round/>
              <a:headEnd type="none" w="med" len="med"/>
              <a:tailEnd type="none" w="med" len="med"/>
            </a:ln>
          </p:spPr>
          <p:txBody>
            <a:bodyPr/>
            <a:lstStyle/>
            <a:p>
              <a:endParaRPr lang="en-US"/>
            </a:p>
          </p:txBody>
        </p:sp>
        <p:sp>
          <p:nvSpPr>
            <p:cNvPr id="613" name="Google Shape;613;p59"/>
            <p:cNvSpPr txBox="1"/>
            <p:nvPr/>
          </p:nvSpPr>
          <p:spPr>
            <a:xfrm>
              <a:off x="4360475" y="3828025"/>
              <a:ext cx="414000" cy="780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900"/>
                </a:spcAft>
                <a:buNone/>
              </a:pPr>
              <a:r>
                <a:rPr lang="en" sz="1800">
                  <a:solidFill>
                    <a:schemeClr val="dk1"/>
                  </a:solidFill>
                </a:rPr>
                <a:t> ✅</a:t>
              </a:r>
              <a:endParaRPr sz="1800">
                <a:solidFill>
                  <a:schemeClr val="dk1"/>
                </a:solidFill>
              </a:endParaRPr>
            </a:p>
          </p:txBody>
        </p:sp>
      </p:grpSp>
      <p:sp>
        <p:nvSpPr>
          <p:cNvPr id="614" name="Google Shape;614;p59"/>
          <p:cNvSpPr txBox="1"/>
          <p:nvPr/>
        </p:nvSpPr>
        <p:spPr>
          <a:xfrm>
            <a:off x="5378305" y="4245114"/>
            <a:ext cx="282900" cy="286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900"/>
              </a:spcAft>
              <a:buNone/>
            </a:pPr>
            <a:r>
              <a:rPr lang="en" sz="1600">
                <a:solidFill>
                  <a:schemeClr val="dk1"/>
                </a:solidFill>
              </a:rPr>
              <a:t>❌</a:t>
            </a:r>
            <a:endParaRPr sz="2500">
              <a:solidFill>
                <a:schemeClr val="dk2"/>
              </a:solidFill>
            </a:endParaRPr>
          </a:p>
        </p:txBody>
      </p:sp>
      <p:grpSp>
        <p:nvGrpSpPr>
          <p:cNvPr id="615" name="Google Shape;615;p59"/>
          <p:cNvGrpSpPr/>
          <p:nvPr/>
        </p:nvGrpSpPr>
        <p:grpSpPr>
          <a:xfrm>
            <a:off x="4649950" y="1109350"/>
            <a:ext cx="4516306" cy="1742175"/>
            <a:chOff x="4649950" y="1109350"/>
            <a:chExt cx="4516306" cy="1742175"/>
          </a:xfrm>
        </p:grpSpPr>
        <p:grpSp>
          <p:nvGrpSpPr>
            <p:cNvPr id="616" name="Google Shape;616;p59"/>
            <p:cNvGrpSpPr/>
            <p:nvPr/>
          </p:nvGrpSpPr>
          <p:grpSpPr>
            <a:xfrm>
              <a:off x="8115780" y="1165725"/>
              <a:ext cx="1050476" cy="729990"/>
              <a:chOff x="2229372" y="1500025"/>
              <a:chExt cx="927900" cy="454200"/>
            </a:xfrm>
          </p:grpSpPr>
          <p:sp>
            <p:nvSpPr>
              <p:cNvPr id="617" name="Google Shape;617;p59"/>
              <p:cNvSpPr/>
              <p:nvPr/>
            </p:nvSpPr>
            <p:spPr>
              <a:xfrm>
                <a:off x="2229372" y="1500025"/>
                <a:ext cx="927900" cy="454200"/>
              </a:xfrm>
              <a:prstGeom prst="diamond">
                <a:avLst/>
              </a:prstGeom>
              <a:solidFill>
                <a:srgbClr val="D9EAD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p>
            </p:txBody>
          </p:sp>
          <p:sp>
            <p:nvSpPr>
              <p:cNvPr id="618" name="Google Shape;618;p59"/>
              <p:cNvSpPr txBox="1"/>
              <p:nvPr/>
            </p:nvSpPr>
            <p:spPr>
              <a:xfrm>
                <a:off x="2269223" y="1571412"/>
                <a:ext cx="834000" cy="287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t>LLM</a:t>
                </a:r>
                <a:endParaRPr sz="1800">
                  <a:solidFill>
                    <a:srgbClr val="000000"/>
                  </a:solidFill>
                </a:endParaRPr>
              </a:p>
            </p:txBody>
          </p:sp>
        </p:grpSp>
        <p:sp>
          <p:nvSpPr>
            <p:cNvPr id="619" name="Google Shape;619;p59"/>
            <p:cNvSpPr txBox="1"/>
            <p:nvPr/>
          </p:nvSpPr>
          <p:spPr>
            <a:xfrm>
              <a:off x="4649950" y="1666225"/>
              <a:ext cx="4102800" cy="1185300"/>
            </a:xfrm>
            <a:prstGeom prst="rect">
              <a:avLst/>
            </a:prstGeom>
            <a:noFill/>
            <a:ln>
              <a:noFill/>
            </a:ln>
          </p:spPr>
          <p:txBody>
            <a:bodyPr spcFirstLastPara="1" wrap="square" lIns="91425" tIns="91425" rIns="91425" bIns="91425" anchor="t" anchorCtr="0">
              <a:spAutoFit/>
            </a:bodyPr>
            <a:lstStyle/>
            <a:p>
              <a:pPr marL="171450" lvl="0" indent="-133350" algn="l" rtl="0">
                <a:spcBef>
                  <a:spcPts val="0"/>
                </a:spcBef>
                <a:spcAft>
                  <a:spcPts val="0"/>
                </a:spcAft>
                <a:buClr>
                  <a:srgbClr val="000000"/>
                </a:buClr>
                <a:buSzPts val="1200"/>
                <a:buFont typeface="Courier New"/>
                <a:buAutoNum type="arabicPeriod"/>
              </a:pPr>
              <a:r>
                <a:rPr lang="en" sz="1200">
                  <a:solidFill>
                    <a:srgbClr val="000000"/>
                  </a:solidFill>
                  <a:latin typeface="Courier New"/>
                  <a:ea typeface="Courier New"/>
                  <a:cs typeface="Courier New"/>
                  <a:sym typeface="Courier New"/>
                </a:rPr>
                <a:t>(</a:t>
              </a:r>
              <a:r>
                <a:rPr lang="en" sz="1200" b="1">
                  <a:solidFill>
                    <a:srgbClr val="000000"/>
                  </a:solidFill>
                  <a:latin typeface="Courier New"/>
                  <a:ea typeface="Courier New"/>
                  <a:cs typeface="Courier New"/>
                  <a:sym typeface="Courier New"/>
                </a:rPr>
                <a:t>Angle</a:t>
              </a:r>
              <a:r>
                <a:rPr lang="en" sz="1200">
                  <a:solidFill>
                    <a:srgbClr val="000000"/>
                  </a:solidFill>
                  <a:latin typeface="Courier New"/>
                  <a:ea typeface="Courier New"/>
                  <a:cs typeface="Courier New"/>
                  <a:sym typeface="Courier New"/>
                </a:rPr>
                <a:t>) What specific focus does the journalist take? How does they challenge "spin", or positive portrayals?</a:t>
              </a:r>
              <a:endParaRPr sz="1200">
                <a:solidFill>
                  <a:srgbClr val="000000"/>
                </a:solidFill>
                <a:latin typeface="Courier New"/>
                <a:ea typeface="Courier New"/>
                <a:cs typeface="Courier New"/>
                <a:sym typeface="Courier New"/>
              </a:endParaRPr>
            </a:p>
            <a:p>
              <a:pPr marL="171450" lvl="0" indent="-57150" algn="l" rtl="0">
                <a:spcBef>
                  <a:spcPts val="0"/>
                </a:spcBef>
                <a:spcAft>
                  <a:spcPts val="0"/>
                </a:spcAft>
                <a:buNone/>
              </a:pPr>
              <a:endParaRPr sz="500">
                <a:solidFill>
                  <a:srgbClr val="000000"/>
                </a:solidFill>
                <a:latin typeface="Courier New"/>
                <a:ea typeface="Courier New"/>
                <a:cs typeface="Courier New"/>
                <a:sym typeface="Courier New"/>
              </a:endParaRPr>
            </a:p>
            <a:p>
              <a:pPr marL="171450" lvl="0" indent="-133350" algn="l" rtl="0">
                <a:spcBef>
                  <a:spcPts val="0"/>
                </a:spcBef>
                <a:spcAft>
                  <a:spcPts val="0"/>
                </a:spcAft>
                <a:buClr>
                  <a:srgbClr val="000000"/>
                </a:buClr>
                <a:buSzPts val="1200"/>
                <a:buFont typeface="Courier New"/>
                <a:buAutoNum type="arabicPeriod"/>
              </a:pPr>
              <a:r>
                <a:rPr lang="en" sz="1200">
                  <a:solidFill>
                    <a:srgbClr val="000000"/>
                  </a:solidFill>
                  <a:latin typeface="Courier New"/>
                  <a:ea typeface="Courier New"/>
                  <a:cs typeface="Courier New"/>
                  <a:sym typeface="Courier New"/>
                </a:rPr>
                <a:t>(</a:t>
              </a:r>
              <a:r>
                <a:rPr lang="en" sz="1200" b="1">
                  <a:solidFill>
                    <a:srgbClr val="000000"/>
                  </a:solidFill>
                  <a:latin typeface="Courier New"/>
                  <a:ea typeface="Courier New"/>
                  <a:cs typeface="Courier New"/>
                  <a:sym typeface="Courier New"/>
                </a:rPr>
                <a:t>Sources</a:t>
              </a:r>
              <a:r>
                <a:rPr lang="en" sz="1200">
                  <a:solidFill>
                    <a:srgbClr val="000000"/>
                  </a:solidFill>
                  <a:latin typeface="Courier New"/>
                  <a:ea typeface="Courier New"/>
                  <a:cs typeface="Courier New"/>
                  <a:sym typeface="Courier New"/>
                </a:rPr>
                <a:t>) Which kinds of sources does the human use in their reporting?</a:t>
              </a:r>
              <a:endParaRPr/>
            </a:p>
          </p:txBody>
        </p:sp>
        <p:sp>
          <p:nvSpPr>
            <p:cNvPr id="620" name="Google Shape;620;p59"/>
            <p:cNvSpPr/>
            <p:nvPr/>
          </p:nvSpPr>
          <p:spPr>
            <a:xfrm>
              <a:off x="6444712" y="1109350"/>
              <a:ext cx="1658400" cy="351600"/>
            </a:xfrm>
            <a:prstGeom prst="rect">
              <a:avLst/>
            </a:prstGeom>
            <a:solidFill>
              <a:srgbClr val="FFF2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News article</a:t>
              </a:r>
              <a:endParaRPr/>
            </a:p>
          </p:txBody>
        </p:sp>
        <p:sp>
          <p:nvSpPr>
            <p:cNvPr id="621" name="Google Shape;621;p59"/>
            <p:cNvSpPr/>
            <p:nvPr/>
          </p:nvSpPr>
          <p:spPr>
            <a:xfrm>
              <a:off x="4947208" y="1109725"/>
              <a:ext cx="1414200" cy="3516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Press release</a:t>
              </a:r>
              <a:endParaRPr/>
            </a:p>
          </p:txBody>
        </p:sp>
        <p:sp>
          <p:nvSpPr>
            <p:cNvPr id="622" name="Google Shape;622;p59"/>
            <p:cNvSpPr/>
            <p:nvPr/>
          </p:nvSpPr>
          <p:spPr>
            <a:xfrm>
              <a:off x="6153904" y="1525584"/>
              <a:ext cx="484200" cy="82800"/>
            </a:xfrm>
            <a:prstGeom prst="downArrow">
              <a:avLst>
                <a:gd name="adj1" fmla="val 50000"/>
                <a:gd name="adj2" fmla="val 50000"/>
              </a:avLst>
            </a:prstGeom>
            <a:solidFill>
              <a:srgbClr val="00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623" name="Google Shape;623;p59"/>
          <p:cNvGrpSpPr/>
          <p:nvPr/>
        </p:nvGrpSpPr>
        <p:grpSpPr>
          <a:xfrm>
            <a:off x="5106983" y="2897184"/>
            <a:ext cx="3649577" cy="2147954"/>
            <a:chOff x="5030783" y="2897184"/>
            <a:chExt cx="3649577" cy="2147954"/>
          </a:xfrm>
        </p:grpSpPr>
        <p:sp>
          <p:nvSpPr>
            <p:cNvPr id="624" name="Google Shape;624;p59"/>
            <p:cNvSpPr txBox="1"/>
            <p:nvPr/>
          </p:nvSpPr>
          <p:spPr>
            <a:xfrm>
              <a:off x="5756318" y="3856275"/>
              <a:ext cx="1873200" cy="404100"/>
            </a:xfrm>
            <a:prstGeom prst="rect">
              <a:avLst/>
            </a:prstGeom>
            <a:noFill/>
            <a:ln>
              <a:noFill/>
            </a:ln>
          </p:spPr>
          <p:txBody>
            <a:bodyPr spcFirstLastPara="1" wrap="square" lIns="91425" tIns="91425" rIns="91425" bIns="91425" anchor="t" anchorCtr="0">
              <a:noAutofit/>
            </a:bodyPr>
            <a:lstStyle/>
            <a:p>
              <a:pPr marL="0" lvl="0" indent="0" rtl="0">
                <a:spcBef>
                  <a:spcPts val="0"/>
                </a:spcBef>
                <a:spcAft>
                  <a:spcPts val="0"/>
                </a:spcAft>
                <a:buNone/>
              </a:pPr>
              <a:r>
                <a:rPr lang="en" i="1">
                  <a:solidFill>
                    <a:srgbClr val="595959"/>
                  </a:solidFill>
                </a:rPr>
                <a:t>Employment lawyer</a:t>
              </a:r>
              <a:endParaRPr i="1">
                <a:solidFill>
                  <a:srgbClr val="595959"/>
                </a:solidFill>
              </a:endParaRPr>
            </a:p>
          </p:txBody>
        </p:sp>
        <p:sp>
          <p:nvSpPr>
            <p:cNvPr id="625" name="Google Shape;625;p59"/>
            <p:cNvSpPr txBox="1"/>
            <p:nvPr/>
          </p:nvSpPr>
          <p:spPr>
            <a:xfrm>
              <a:off x="5756318" y="4246748"/>
              <a:ext cx="1816500" cy="404100"/>
            </a:xfrm>
            <a:prstGeom prst="rect">
              <a:avLst/>
            </a:prstGeom>
            <a:noFill/>
            <a:ln>
              <a:noFill/>
            </a:ln>
          </p:spPr>
          <p:txBody>
            <a:bodyPr spcFirstLastPara="1" wrap="square" lIns="91425" tIns="91425" rIns="91425" bIns="91425" anchor="t" anchorCtr="0">
              <a:noAutofit/>
            </a:bodyPr>
            <a:lstStyle/>
            <a:p>
              <a:pPr marL="0" lvl="0" indent="0" rtl="0">
                <a:spcBef>
                  <a:spcPts val="0"/>
                </a:spcBef>
                <a:spcAft>
                  <a:spcPts val="0"/>
                </a:spcAft>
                <a:buNone/>
              </a:pPr>
              <a:r>
                <a:rPr lang="en" i="1">
                  <a:solidFill>
                    <a:srgbClr val="595959"/>
                  </a:solidFill>
                </a:rPr>
                <a:t>Advocacy group</a:t>
              </a:r>
              <a:endParaRPr i="1">
                <a:solidFill>
                  <a:srgbClr val="595959"/>
                </a:solidFill>
              </a:endParaRPr>
            </a:p>
          </p:txBody>
        </p:sp>
        <p:sp>
          <p:nvSpPr>
            <p:cNvPr id="626" name="Google Shape;626;p59"/>
            <p:cNvSpPr txBox="1"/>
            <p:nvPr/>
          </p:nvSpPr>
          <p:spPr>
            <a:xfrm>
              <a:off x="5756318" y="4641038"/>
              <a:ext cx="1816500" cy="404100"/>
            </a:xfrm>
            <a:prstGeom prst="rect">
              <a:avLst/>
            </a:prstGeom>
            <a:noFill/>
            <a:ln>
              <a:noFill/>
            </a:ln>
          </p:spPr>
          <p:txBody>
            <a:bodyPr spcFirstLastPara="1" wrap="square" lIns="91425" tIns="91425" rIns="91425" bIns="91425" anchor="t" anchorCtr="0">
              <a:noAutofit/>
            </a:bodyPr>
            <a:lstStyle/>
            <a:p>
              <a:pPr marL="0" lvl="0" indent="0" rtl="0">
                <a:spcBef>
                  <a:spcPts val="0"/>
                </a:spcBef>
                <a:spcAft>
                  <a:spcPts val="0"/>
                </a:spcAft>
                <a:buNone/>
              </a:pPr>
              <a:r>
                <a:rPr lang="en" i="1">
                  <a:solidFill>
                    <a:srgbClr val="595959"/>
                  </a:solidFill>
                </a:rPr>
                <a:t>Insider</a:t>
              </a:r>
              <a:endParaRPr i="1">
                <a:solidFill>
                  <a:srgbClr val="595959"/>
                </a:solidFill>
              </a:endParaRPr>
            </a:p>
          </p:txBody>
        </p:sp>
        <p:sp>
          <p:nvSpPr>
            <p:cNvPr id="627" name="Google Shape;627;p59"/>
            <p:cNvSpPr/>
            <p:nvPr/>
          </p:nvSpPr>
          <p:spPr>
            <a:xfrm>
              <a:off x="7474850" y="3695175"/>
              <a:ext cx="158544" cy="81648"/>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8" name="Google Shape;628;p59"/>
            <p:cNvSpPr/>
            <p:nvPr/>
          </p:nvSpPr>
          <p:spPr>
            <a:xfrm>
              <a:off x="7246126" y="3703977"/>
              <a:ext cx="158544" cy="55728"/>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9" name="Google Shape;629;p59"/>
            <p:cNvSpPr/>
            <p:nvPr/>
          </p:nvSpPr>
          <p:spPr>
            <a:xfrm>
              <a:off x="5157157" y="3096625"/>
              <a:ext cx="2455812" cy="716796"/>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630" name="Google Shape;630;p59"/>
            <p:cNvPicPr preferRelativeResize="0"/>
            <p:nvPr/>
          </p:nvPicPr>
          <p:blipFill>
            <a:blip r:embed="rId3">
              <a:alphaModFix/>
            </a:blip>
            <a:stretch>
              <a:fillRect/>
            </a:stretch>
          </p:blipFill>
          <p:spPr>
            <a:xfrm>
              <a:off x="8186250" y="3337917"/>
              <a:ext cx="494110" cy="508933"/>
            </a:xfrm>
            <a:prstGeom prst="rect">
              <a:avLst/>
            </a:prstGeom>
            <a:noFill/>
            <a:ln>
              <a:noFill/>
            </a:ln>
          </p:spPr>
        </p:pic>
        <p:sp>
          <p:nvSpPr>
            <p:cNvPr id="631" name="Google Shape;631;p59"/>
            <p:cNvSpPr txBox="1"/>
            <p:nvPr/>
          </p:nvSpPr>
          <p:spPr>
            <a:xfrm>
              <a:off x="5030783" y="3177354"/>
              <a:ext cx="2741400" cy="565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00" i="1">
                  <a:solidFill>
                    <a:srgbClr val="595959"/>
                  </a:solidFill>
                </a:rPr>
                <a:t>Is this part of a larger, negative pattern?</a:t>
              </a:r>
              <a:endParaRPr sz="1500" i="1">
                <a:solidFill>
                  <a:srgbClr val="595959"/>
                </a:solidFill>
              </a:endParaRPr>
            </a:p>
          </p:txBody>
        </p:sp>
        <p:sp>
          <p:nvSpPr>
            <p:cNvPr id="632" name="Google Shape;632;p59"/>
            <p:cNvSpPr/>
            <p:nvPr/>
          </p:nvSpPr>
          <p:spPr>
            <a:xfrm>
              <a:off x="6166625" y="2897184"/>
              <a:ext cx="484200" cy="82800"/>
            </a:xfrm>
            <a:prstGeom prst="downArrow">
              <a:avLst>
                <a:gd name="adj1" fmla="val 50000"/>
                <a:gd name="adj2" fmla="val 50000"/>
              </a:avLst>
            </a:prstGeom>
            <a:solidFill>
              <a:srgbClr val="00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3" name="Google Shape;633;p59"/>
            <p:cNvSpPr/>
            <p:nvPr/>
          </p:nvSpPr>
          <p:spPr>
            <a:xfrm>
              <a:off x="7703450" y="3618975"/>
              <a:ext cx="158544" cy="81648"/>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4" name="Google Shape;634;p59"/>
            <p:cNvSpPr/>
            <p:nvPr/>
          </p:nvSpPr>
          <p:spPr>
            <a:xfrm>
              <a:off x="7932050" y="3695175"/>
              <a:ext cx="158544" cy="81648"/>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635" name="Google Shape;635;p59"/>
          <p:cNvGrpSpPr/>
          <p:nvPr/>
        </p:nvGrpSpPr>
        <p:grpSpPr>
          <a:xfrm>
            <a:off x="217575" y="2897184"/>
            <a:ext cx="3637411" cy="2155191"/>
            <a:chOff x="217575" y="2897184"/>
            <a:chExt cx="3637411" cy="2155191"/>
          </a:xfrm>
        </p:grpSpPr>
        <p:sp>
          <p:nvSpPr>
            <p:cNvPr id="636" name="Google Shape;636;p59"/>
            <p:cNvSpPr/>
            <p:nvPr/>
          </p:nvSpPr>
          <p:spPr>
            <a:xfrm>
              <a:off x="395825" y="3853700"/>
              <a:ext cx="1500900" cy="382200"/>
            </a:xfrm>
            <a:prstGeom prst="rect">
              <a:avLst/>
            </a:prstGeom>
            <a:solidFill>
              <a:srgbClr val="D9EAD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Source #1</a:t>
              </a:r>
              <a:endParaRPr/>
            </a:p>
          </p:txBody>
        </p:sp>
        <p:sp>
          <p:nvSpPr>
            <p:cNvPr id="637" name="Google Shape;637;p59"/>
            <p:cNvSpPr/>
            <p:nvPr/>
          </p:nvSpPr>
          <p:spPr>
            <a:xfrm>
              <a:off x="395825" y="4248948"/>
              <a:ext cx="1500900" cy="382200"/>
            </a:xfrm>
            <a:prstGeom prst="rect">
              <a:avLst/>
            </a:prstGeom>
            <a:solidFill>
              <a:srgbClr val="D9EAD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Source #2</a:t>
              </a:r>
              <a:endParaRPr/>
            </a:p>
          </p:txBody>
        </p:sp>
        <p:sp>
          <p:nvSpPr>
            <p:cNvPr id="638" name="Google Shape;638;p59"/>
            <p:cNvSpPr/>
            <p:nvPr/>
          </p:nvSpPr>
          <p:spPr>
            <a:xfrm>
              <a:off x="395825" y="4644196"/>
              <a:ext cx="1500900" cy="382200"/>
            </a:xfrm>
            <a:prstGeom prst="rect">
              <a:avLst/>
            </a:prstGeom>
            <a:solidFill>
              <a:srgbClr val="D9EAD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Source #3</a:t>
              </a:r>
              <a:endParaRPr/>
            </a:p>
          </p:txBody>
        </p:sp>
        <p:sp>
          <p:nvSpPr>
            <p:cNvPr id="639" name="Google Shape;639;p59"/>
            <p:cNvSpPr/>
            <p:nvPr/>
          </p:nvSpPr>
          <p:spPr>
            <a:xfrm>
              <a:off x="1534498" y="3096628"/>
              <a:ext cx="2320488" cy="656856"/>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0" name="Google Shape;640;p59"/>
            <p:cNvSpPr txBox="1"/>
            <p:nvPr/>
          </p:nvSpPr>
          <p:spPr>
            <a:xfrm>
              <a:off x="1616148" y="3102983"/>
              <a:ext cx="2170200" cy="331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i="1">
                  <a:solidFill>
                    <a:srgbClr val="595959"/>
                  </a:solidFill>
                </a:rPr>
                <a:t>Let’s describe the event in detail…</a:t>
              </a:r>
              <a:endParaRPr sz="1600" i="1">
                <a:solidFill>
                  <a:srgbClr val="595959"/>
                </a:solidFill>
              </a:endParaRPr>
            </a:p>
          </p:txBody>
        </p:sp>
        <p:sp>
          <p:nvSpPr>
            <p:cNvPr id="641" name="Google Shape;641;p59"/>
            <p:cNvSpPr txBox="1"/>
            <p:nvPr/>
          </p:nvSpPr>
          <p:spPr>
            <a:xfrm>
              <a:off x="1840964" y="3847506"/>
              <a:ext cx="1891500" cy="404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i="1">
                  <a:solidFill>
                    <a:srgbClr val="595959"/>
                  </a:solidFill>
                </a:rPr>
                <a:t>Spokesperson</a:t>
              </a:r>
              <a:endParaRPr i="1">
                <a:solidFill>
                  <a:srgbClr val="595959"/>
                </a:solidFill>
              </a:endParaRPr>
            </a:p>
          </p:txBody>
        </p:sp>
        <p:sp>
          <p:nvSpPr>
            <p:cNvPr id="642" name="Google Shape;642;p59"/>
            <p:cNvSpPr txBox="1"/>
            <p:nvPr/>
          </p:nvSpPr>
          <p:spPr>
            <a:xfrm>
              <a:off x="1752489" y="4242157"/>
              <a:ext cx="1891500" cy="404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i="1">
                  <a:solidFill>
                    <a:srgbClr val="595959"/>
                  </a:solidFill>
                </a:rPr>
                <a:t>Business professor</a:t>
              </a:r>
              <a:endParaRPr i="1">
                <a:solidFill>
                  <a:srgbClr val="595959"/>
                </a:solidFill>
              </a:endParaRPr>
            </a:p>
          </p:txBody>
        </p:sp>
        <p:sp>
          <p:nvSpPr>
            <p:cNvPr id="643" name="Google Shape;643;p59"/>
            <p:cNvSpPr txBox="1"/>
            <p:nvPr/>
          </p:nvSpPr>
          <p:spPr>
            <a:xfrm>
              <a:off x="1750187" y="4648275"/>
              <a:ext cx="1601400" cy="404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i="1">
                  <a:solidFill>
                    <a:srgbClr val="595959"/>
                  </a:solidFill>
                </a:rPr>
                <a:t>Legal professor</a:t>
              </a:r>
              <a:endParaRPr i="1">
                <a:solidFill>
                  <a:srgbClr val="595959"/>
                </a:solidFill>
              </a:endParaRPr>
            </a:p>
          </p:txBody>
        </p:sp>
        <p:pic>
          <p:nvPicPr>
            <p:cNvPr id="644" name="Google Shape;644;p59"/>
            <p:cNvPicPr preferRelativeResize="0"/>
            <p:nvPr/>
          </p:nvPicPr>
          <p:blipFill>
            <a:blip r:embed="rId4">
              <a:alphaModFix/>
            </a:blip>
            <a:stretch>
              <a:fillRect/>
            </a:stretch>
          </p:blipFill>
          <p:spPr>
            <a:xfrm>
              <a:off x="217575" y="3069640"/>
              <a:ext cx="494125" cy="481536"/>
            </a:xfrm>
            <a:prstGeom prst="rect">
              <a:avLst/>
            </a:prstGeom>
            <a:noFill/>
            <a:ln>
              <a:noFill/>
            </a:ln>
          </p:spPr>
        </p:pic>
        <p:grpSp>
          <p:nvGrpSpPr>
            <p:cNvPr id="645" name="Google Shape;645;p59"/>
            <p:cNvGrpSpPr/>
            <p:nvPr/>
          </p:nvGrpSpPr>
          <p:grpSpPr>
            <a:xfrm>
              <a:off x="560774" y="3146925"/>
              <a:ext cx="1050476" cy="729990"/>
              <a:chOff x="2229372" y="1500025"/>
              <a:chExt cx="927900" cy="454200"/>
            </a:xfrm>
          </p:grpSpPr>
          <p:sp>
            <p:nvSpPr>
              <p:cNvPr id="646" name="Google Shape;646;p59"/>
              <p:cNvSpPr/>
              <p:nvPr/>
            </p:nvSpPr>
            <p:spPr>
              <a:xfrm>
                <a:off x="2229372" y="1500025"/>
                <a:ext cx="927900" cy="454200"/>
              </a:xfrm>
              <a:prstGeom prst="diamond">
                <a:avLst/>
              </a:prstGeom>
              <a:solidFill>
                <a:srgbClr val="FFF2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p>
            </p:txBody>
          </p:sp>
          <p:sp>
            <p:nvSpPr>
              <p:cNvPr id="647" name="Google Shape;647;p59"/>
              <p:cNvSpPr txBox="1"/>
              <p:nvPr/>
            </p:nvSpPr>
            <p:spPr>
              <a:xfrm>
                <a:off x="2269223" y="1571412"/>
                <a:ext cx="834000" cy="287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solidFill>
                      <a:srgbClr val="000000"/>
                    </a:solidFill>
                  </a:rPr>
                  <a:t>Angle</a:t>
                </a:r>
                <a:endParaRPr sz="1800">
                  <a:solidFill>
                    <a:srgbClr val="000000"/>
                  </a:solidFill>
                </a:endParaRPr>
              </a:p>
            </p:txBody>
          </p:sp>
        </p:grpSp>
        <p:sp>
          <p:nvSpPr>
            <p:cNvPr id="648" name="Google Shape;648;p59"/>
            <p:cNvSpPr/>
            <p:nvPr/>
          </p:nvSpPr>
          <p:spPr>
            <a:xfrm>
              <a:off x="1651494" y="3120209"/>
              <a:ext cx="105408" cy="179604"/>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9" name="Google Shape;649;p59"/>
            <p:cNvSpPr/>
            <p:nvPr/>
          </p:nvSpPr>
          <p:spPr>
            <a:xfrm>
              <a:off x="1377787" y="3005292"/>
              <a:ext cx="71820" cy="122580"/>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0" name="Google Shape;650;p59"/>
            <p:cNvSpPr/>
            <p:nvPr/>
          </p:nvSpPr>
          <p:spPr>
            <a:xfrm>
              <a:off x="1032728" y="2997741"/>
              <a:ext cx="105408" cy="179604"/>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1" name="Google Shape;651;p59"/>
            <p:cNvSpPr/>
            <p:nvPr/>
          </p:nvSpPr>
          <p:spPr>
            <a:xfrm>
              <a:off x="802376" y="3125145"/>
              <a:ext cx="71820" cy="122580"/>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2" name="Google Shape;652;p59"/>
            <p:cNvSpPr/>
            <p:nvPr/>
          </p:nvSpPr>
          <p:spPr>
            <a:xfrm>
              <a:off x="2455494" y="2897184"/>
              <a:ext cx="484200" cy="82800"/>
            </a:xfrm>
            <a:prstGeom prst="downArrow">
              <a:avLst>
                <a:gd name="adj1" fmla="val 50000"/>
                <a:gd name="adj2" fmla="val 50000"/>
              </a:avLst>
            </a:prstGeom>
            <a:solidFill>
              <a:srgbClr val="00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653" name="Google Shape;653;p59"/>
          <p:cNvGrpSpPr/>
          <p:nvPr/>
        </p:nvGrpSpPr>
        <p:grpSpPr>
          <a:xfrm>
            <a:off x="3200118" y="3248824"/>
            <a:ext cx="2337937" cy="1689998"/>
            <a:chOff x="3200118" y="3248824"/>
            <a:chExt cx="2337937" cy="1689998"/>
          </a:xfrm>
        </p:grpSpPr>
        <p:sp>
          <p:nvSpPr>
            <p:cNvPr id="654" name="Google Shape;654;p59"/>
            <p:cNvSpPr txBox="1"/>
            <p:nvPr/>
          </p:nvSpPr>
          <p:spPr>
            <a:xfrm>
              <a:off x="4797955" y="3248824"/>
              <a:ext cx="282900" cy="286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900"/>
                </a:spcAft>
                <a:buNone/>
              </a:pPr>
              <a:r>
                <a:rPr lang="en" sz="1600">
                  <a:solidFill>
                    <a:schemeClr val="dk1"/>
                  </a:solidFill>
                </a:rPr>
                <a:t>❌</a:t>
              </a:r>
              <a:endParaRPr sz="2500">
                <a:solidFill>
                  <a:schemeClr val="dk2"/>
                </a:solidFill>
              </a:endParaRPr>
            </a:p>
          </p:txBody>
        </p:sp>
        <p:sp>
          <p:nvSpPr>
            <p:cNvPr id="655" name="Google Shape;655;p59"/>
            <p:cNvSpPr txBox="1"/>
            <p:nvPr/>
          </p:nvSpPr>
          <p:spPr>
            <a:xfrm>
              <a:off x="5255155" y="3828889"/>
              <a:ext cx="282900" cy="286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900"/>
                </a:spcAft>
                <a:buNone/>
              </a:pPr>
              <a:r>
                <a:rPr lang="en" sz="1600">
                  <a:solidFill>
                    <a:schemeClr val="dk1"/>
                  </a:solidFill>
                </a:rPr>
                <a:t>❌</a:t>
              </a:r>
              <a:endParaRPr sz="2500">
                <a:solidFill>
                  <a:schemeClr val="dk2"/>
                </a:solidFill>
              </a:endParaRPr>
            </a:p>
          </p:txBody>
        </p:sp>
        <p:sp>
          <p:nvSpPr>
            <p:cNvPr id="656" name="Google Shape;656;p59"/>
            <p:cNvSpPr txBox="1"/>
            <p:nvPr/>
          </p:nvSpPr>
          <p:spPr>
            <a:xfrm>
              <a:off x="3432482" y="4263938"/>
              <a:ext cx="282900" cy="286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900"/>
                </a:spcAft>
                <a:buNone/>
              </a:pPr>
              <a:r>
                <a:rPr lang="en" sz="1600">
                  <a:solidFill>
                    <a:schemeClr val="dk1"/>
                  </a:solidFill>
                </a:rPr>
                <a:t>❌</a:t>
              </a:r>
              <a:endParaRPr sz="2500">
                <a:solidFill>
                  <a:schemeClr val="dk2"/>
                </a:solidFill>
              </a:endParaRPr>
            </a:p>
          </p:txBody>
        </p:sp>
        <p:sp>
          <p:nvSpPr>
            <p:cNvPr id="657" name="Google Shape;657;p59"/>
            <p:cNvSpPr txBox="1"/>
            <p:nvPr/>
          </p:nvSpPr>
          <p:spPr>
            <a:xfrm>
              <a:off x="3200118" y="4652322"/>
              <a:ext cx="282900" cy="286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900"/>
                </a:spcAft>
                <a:buNone/>
              </a:pPr>
              <a:r>
                <a:rPr lang="en" sz="1600">
                  <a:solidFill>
                    <a:schemeClr val="dk1"/>
                  </a:solidFill>
                </a:rPr>
                <a:t>❌</a:t>
              </a:r>
              <a:endParaRPr sz="2500">
                <a:solidFill>
                  <a:schemeClr val="dk2"/>
                </a:solidFill>
              </a:endParaRPr>
            </a:p>
          </p:txBody>
        </p:sp>
        <p:sp>
          <p:nvSpPr>
            <p:cNvPr id="658" name="Google Shape;658;p59"/>
            <p:cNvSpPr txBox="1"/>
            <p:nvPr/>
          </p:nvSpPr>
          <p:spPr>
            <a:xfrm>
              <a:off x="3883555" y="3248824"/>
              <a:ext cx="282900" cy="286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900"/>
                </a:spcAft>
                <a:buNone/>
              </a:pPr>
              <a:r>
                <a:rPr lang="en" sz="1600">
                  <a:solidFill>
                    <a:schemeClr val="dk1"/>
                  </a:solidFill>
                </a:rPr>
                <a:t>❌</a:t>
              </a:r>
              <a:endParaRPr sz="2500">
                <a:solidFill>
                  <a:schemeClr val="dk2"/>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3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5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662"/>
        <p:cNvGrpSpPr/>
        <p:nvPr/>
      </p:nvGrpSpPr>
      <p:grpSpPr>
        <a:xfrm>
          <a:off x="0" y="0"/>
          <a:ext cx="0" cy="0"/>
          <a:chOff x="0" y="0"/>
          <a:chExt cx="0" cy="0"/>
        </a:xfrm>
      </p:grpSpPr>
      <p:sp>
        <p:nvSpPr>
          <p:cNvPr id="663" name="Google Shape;663;p60"/>
          <p:cNvSpPr txBox="1">
            <a:spLocks noGrp="1"/>
          </p:cNvSpPr>
          <p:nvPr>
            <p:ph type="title"/>
          </p:nvPr>
        </p:nvSpPr>
        <p:spPr>
          <a:xfrm>
            <a:off x="311700" y="445025"/>
            <a:ext cx="88323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Result #1: LLMs do well at suggesting angles that humans use, but are less likely to suggest the right kinds of sources </a:t>
            </a:r>
            <a:endParaRPr/>
          </a:p>
        </p:txBody>
      </p:sp>
      <p:pic>
        <p:nvPicPr>
          <p:cNvPr id="664" name="Google Shape;664;p60"/>
          <p:cNvPicPr preferRelativeResize="0"/>
          <p:nvPr/>
        </p:nvPicPr>
        <p:blipFill rotWithShape="1">
          <a:blip r:embed="rId3">
            <a:alphaModFix/>
          </a:blip>
          <a:srcRect b="47685"/>
          <a:stretch/>
        </p:blipFill>
        <p:spPr>
          <a:xfrm>
            <a:off x="751975" y="1513499"/>
            <a:ext cx="7640049" cy="1586501"/>
          </a:xfrm>
          <a:prstGeom prst="rect">
            <a:avLst/>
          </a:prstGeom>
          <a:noFill/>
          <a:ln>
            <a:noFill/>
          </a:ln>
        </p:spPr>
      </p:pic>
      <p:pic>
        <p:nvPicPr>
          <p:cNvPr id="665" name="Google Shape;665;p60"/>
          <p:cNvPicPr preferRelativeResize="0"/>
          <p:nvPr/>
        </p:nvPicPr>
        <p:blipFill rotWithShape="1">
          <a:blip r:embed="rId3">
            <a:alphaModFix/>
          </a:blip>
          <a:srcRect t="53153" b="15053"/>
          <a:stretch/>
        </p:blipFill>
        <p:spPr>
          <a:xfrm>
            <a:off x="751975" y="3125450"/>
            <a:ext cx="7640049" cy="964124"/>
          </a:xfrm>
          <a:prstGeom prst="rect">
            <a:avLst/>
          </a:prstGeom>
          <a:noFill/>
          <a:ln>
            <a:noFill/>
          </a:ln>
        </p:spPr>
      </p:pic>
      <p:pic>
        <p:nvPicPr>
          <p:cNvPr id="666" name="Google Shape;666;p60"/>
          <p:cNvPicPr preferRelativeResize="0"/>
          <p:nvPr/>
        </p:nvPicPr>
        <p:blipFill rotWithShape="1">
          <a:blip r:embed="rId3">
            <a:alphaModFix/>
          </a:blip>
          <a:srcRect t="85784"/>
          <a:stretch/>
        </p:blipFill>
        <p:spPr>
          <a:xfrm>
            <a:off x="751975" y="4115024"/>
            <a:ext cx="7640049" cy="43110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6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6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670"/>
        <p:cNvGrpSpPr/>
        <p:nvPr/>
      </p:nvGrpSpPr>
      <p:grpSpPr>
        <a:xfrm>
          <a:off x="0" y="0"/>
          <a:ext cx="0" cy="0"/>
          <a:chOff x="0" y="0"/>
          <a:chExt cx="0" cy="0"/>
        </a:xfrm>
      </p:grpSpPr>
      <p:sp>
        <p:nvSpPr>
          <p:cNvPr id="671" name="Google Shape;671;p61"/>
          <p:cNvSpPr txBox="1">
            <a:spLocks noGrp="1"/>
          </p:cNvSpPr>
          <p:nvPr>
            <p:ph type="title"/>
          </p:nvPr>
        </p:nvSpPr>
        <p:spPr>
          <a:xfrm>
            <a:off x="311700" y="445025"/>
            <a:ext cx="9243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Result #2: LLMs are significantly less creative than humans</a:t>
            </a:r>
            <a:endParaRPr/>
          </a:p>
        </p:txBody>
      </p:sp>
      <p:pic>
        <p:nvPicPr>
          <p:cNvPr id="672" name="Google Shape;672;p61"/>
          <p:cNvPicPr preferRelativeResize="0"/>
          <p:nvPr/>
        </p:nvPicPr>
        <p:blipFill>
          <a:blip r:embed="rId3">
            <a:alphaModFix/>
          </a:blip>
          <a:stretch>
            <a:fillRect/>
          </a:stretch>
        </p:blipFill>
        <p:spPr>
          <a:xfrm>
            <a:off x="4780529" y="1960726"/>
            <a:ext cx="4202871" cy="2028000"/>
          </a:xfrm>
          <a:prstGeom prst="rect">
            <a:avLst/>
          </a:prstGeom>
          <a:noFill/>
          <a:ln>
            <a:noFill/>
          </a:ln>
        </p:spPr>
      </p:pic>
      <p:pic>
        <p:nvPicPr>
          <p:cNvPr id="673" name="Google Shape;673;p61"/>
          <p:cNvPicPr preferRelativeResize="0"/>
          <p:nvPr/>
        </p:nvPicPr>
        <p:blipFill>
          <a:blip r:embed="rId4">
            <a:alphaModFix/>
          </a:blip>
          <a:stretch>
            <a:fillRect/>
          </a:stretch>
        </p:blipFill>
        <p:spPr>
          <a:xfrm>
            <a:off x="240650" y="2086479"/>
            <a:ext cx="4202876" cy="197844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Shape 677"/>
        <p:cNvGrpSpPr/>
        <p:nvPr/>
      </p:nvGrpSpPr>
      <p:grpSpPr>
        <a:xfrm>
          <a:off x="0" y="0"/>
          <a:ext cx="0" cy="0"/>
          <a:chOff x="0" y="0"/>
          <a:chExt cx="0" cy="0"/>
        </a:xfrm>
      </p:grpSpPr>
      <p:sp>
        <p:nvSpPr>
          <p:cNvPr id="678" name="Google Shape;678;p62"/>
          <p:cNvSpPr txBox="1">
            <a:spLocks noGrp="1"/>
          </p:cNvSpPr>
          <p:nvPr>
            <p:ph type="title"/>
          </p:nvPr>
        </p:nvSpPr>
        <p:spPr>
          <a:xfrm>
            <a:off x="311700" y="1388850"/>
            <a:ext cx="8520600" cy="841800"/>
          </a:xfrm>
          <a:prstGeom prst="rect">
            <a:avLst/>
          </a:prstGeom>
        </p:spPr>
        <p:txBody>
          <a:bodyPr spcFirstLastPara="1" wrap="square" lIns="91425" tIns="91425" rIns="91425" bIns="91425" anchor="ctr" anchorCtr="0">
            <a:normAutofit fontScale="90000"/>
          </a:bodyPr>
          <a:lstStyle/>
          <a:p>
            <a:pPr marL="0" lvl="0" indent="0" algn="ctr" rtl="0">
              <a:spcBef>
                <a:spcPts val="0"/>
              </a:spcBef>
              <a:spcAft>
                <a:spcPts val="0"/>
              </a:spcAft>
              <a:buNone/>
            </a:pPr>
            <a:r>
              <a:rPr lang="en"/>
              <a:t>What can discourse tell us?</a:t>
            </a:r>
            <a:endParaRPr/>
          </a:p>
          <a:p>
            <a:pPr marL="0" lvl="0" indent="0" algn="ctr" rtl="0">
              <a:spcBef>
                <a:spcPts val="0"/>
              </a:spcBef>
              <a:spcAft>
                <a:spcPts val="0"/>
              </a:spcAft>
              <a:buNone/>
            </a:pPr>
            <a:endParaRPr/>
          </a:p>
          <a:p>
            <a:pPr marL="0" lvl="0" indent="0" algn="ctr" rtl="0">
              <a:spcBef>
                <a:spcPts val="0"/>
              </a:spcBef>
              <a:spcAft>
                <a:spcPts val="0"/>
              </a:spcAft>
              <a:buNone/>
            </a:pPr>
            <a:r>
              <a:rPr lang="en" b="1" u="sng"/>
              <a:t>Insight #3</a:t>
            </a:r>
            <a:r>
              <a:rPr lang="en"/>
              <a:t>: Discourse Can Help Us Plan</a:t>
            </a:r>
            <a:endParaRPr/>
          </a:p>
        </p:txBody>
      </p:sp>
      <p:pic>
        <p:nvPicPr>
          <p:cNvPr id="679" name="Google Shape;679;p62"/>
          <p:cNvPicPr preferRelativeResize="0"/>
          <p:nvPr/>
        </p:nvPicPr>
        <p:blipFill>
          <a:blip r:embed="rId3">
            <a:alphaModFix/>
          </a:blip>
          <a:stretch>
            <a:fillRect/>
          </a:stretch>
        </p:blipFill>
        <p:spPr>
          <a:xfrm>
            <a:off x="1262126" y="2955400"/>
            <a:ext cx="6619749" cy="1981276"/>
          </a:xfrm>
          <a:prstGeom prst="rect">
            <a:avLst/>
          </a:prstGeom>
          <a:noFill/>
          <a:ln>
            <a:noFill/>
          </a:ln>
        </p:spPr>
      </p:pic>
      <p:pic>
        <p:nvPicPr>
          <p:cNvPr id="680" name="Google Shape;680;p62"/>
          <p:cNvPicPr preferRelativeResize="0"/>
          <p:nvPr/>
        </p:nvPicPr>
        <p:blipFill>
          <a:blip r:embed="rId4">
            <a:alphaModFix/>
          </a:blip>
          <a:stretch>
            <a:fillRect/>
          </a:stretch>
        </p:blipFill>
        <p:spPr>
          <a:xfrm>
            <a:off x="206850" y="3352775"/>
            <a:ext cx="1186525" cy="1186525"/>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6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Takeaways</a:t>
            </a:r>
            <a:endParaRPr/>
          </a:p>
        </p:txBody>
      </p:sp>
      <p:sp>
        <p:nvSpPr>
          <p:cNvPr id="686" name="Google Shape;686;p63"/>
          <p:cNvSpPr txBox="1">
            <a:spLocks noGrp="1"/>
          </p:cNvSpPr>
          <p:nvPr>
            <p:ph type="body" idx="1"/>
          </p:nvPr>
        </p:nvSpPr>
        <p:spPr>
          <a:xfrm>
            <a:off x="311700" y="1152475"/>
            <a:ext cx="4260300" cy="3416400"/>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0"/>
              </a:spcAft>
              <a:buNone/>
            </a:pPr>
            <a:r>
              <a:rPr lang="en"/>
              <a:t>We are seeing over, and over, and over again that naive language modeling </a:t>
            </a:r>
            <a:r>
              <a:rPr lang="en" i="1"/>
              <a:t>doesn’t </a:t>
            </a:r>
            <a:r>
              <a:rPr lang="en"/>
              <a:t>capture:</a:t>
            </a:r>
            <a:endParaRPr/>
          </a:p>
          <a:p>
            <a:pPr marL="0" lvl="0" indent="0" algn="l" rtl="0">
              <a:spcBef>
                <a:spcPts val="1200"/>
              </a:spcBef>
              <a:spcAft>
                <a:spcPts val="0"/>
              </a:spcAft>
              <a:buNone/>
            </a:pPr>
            <a:endParaRPr sz="100"/>
          </a:p>
          <a:p>
            <a:pPr marL="457200" lvl="0" indent="-342900" algn="l" rtl="0">
              <a:spcBef>
                <a:spcPts val="1200"/>
              </a:spcBef>
              <a:spcAft>
                <a:spcPts val="0"/>
              </a:spcAft>
              <a:buSzPts val="1800"/>
              <a:buChar char="●"/>
            </a:pPr>
            <a:r>
              <a:rPr lang="en"/>
              <a:t>Human-like discourse structure</a:t>
            </a:r>
            <a:endParaRPr/>
          </a:p>
          <a:p>
            <a:pPr marL="914400" lvl="1" indent="-317500" algn="l" rtl="0">
              <a:spcBef>
                <a:spcPts val="0"/>
              </a:spcBef>
              <a:spcAft>
                <a:spcPts val="0"/>
              </a:spcAft>
              <a:buSzPts val="1400"/>
              <a:buChar char="○"/>
            </a:pPr>
            <a:r>
              <a:rPr lang="en"/>
              <a:t>Although this is very learnable with some supervision! </a:t>
            </a:r>
            <a:endParaRPr/>
          </a:p>
          <a:p>
            <a:pPr marL="0" lvl="0" indent="0" algn="l" rtl="0">
              <a:spcBef>
                <a:spcPts val="1200"/>
              </a:spcBef>
              <a:spcAft>
                <a:spcPts val="0"/>
              </a:spcAft>
              <a:buNone/>
            </a:pPr>
            <a:endParaRPr sz="100"/>
          </a:p>
          <a:p>
            <a:pPr marL="457200" lvl="0" indent="-342900" algn="l" rtl="0">
              <a:spcBef>
                <a:spcPts val="1200"/>
              </a:spcBef>
              <a:spcAft>
                <a:spcPts val="0"/>
              </a:spcAft>
              <a:buSzPts val="1800"/>
              <a:buChar char="●"/>
            </a:pPr>
            <a:r>
              <a:rPr lang="en"/>
              <a:t>Human-like plans (or action-sequences) are not like LLM plans.</a:t>
            </a:r>
            <a:endParaRPr/>
          </a:p>
          <a:p>
            <a:pPr marL="914400" lvl="1" indent="-317500" algn="l" rtl="0">
              <a:spcBef>
                <a:spcPts val="0"/>
              </a:spcBef>
              <a:spcAft>
                <a:spcPts val="0"/>
              </a:spcAft>
              <a:buSzPts val="1400"/>
              <a:buChar char="○"/>
            </a:pPr>
            <a:r>
              <a:rPr lang="en"/>
              <a:t>Is this learnable?</a:t>
            </a:r>
            <a:endParaRPr/>
          </a:p>
        </p:txBody>
      </p:sp>
      <p:pic>
        <p:nvPicPr>
          <p:cNvPr id="687" name="Google Shape;687;p63"/>
          <p:cNvPicPr preferRelativeResize="0"/>
          <p:nvPr/>
        </p:nvPicPr>
        <p:blipFill rotWithShape="1">
          <a:blip r:embed="rId3">
            <a:alphaModFix/>
          </a:blip>
          <a:srcRect l="6865" t="2724" r="3036" b="26683"/>
          <a:stretch/>
        </p:blipFill>
        <p:spPr>
          <a:xfrm>
            <a:off x="4711775" y="1239912"/>
            <a:ext cx="4120526" cy="3241524"/>
          </a:xfrm>
          <a:prstGeom prst="rect">
            <a:avLst/>
          </a:prstGeom>
          <a:noFill/>
          <a:ln w="9525" cap="flat" cmpd="sng">
            <a:solidFill>
              <a:srgbClr val="595959"/>
            </a:solidFill>
            <a:prstDash val="solid"/>
            <a:round/>
            <a:headEnd type="none" w="sm" len="sm"/>
            <a:tailEnd type="none" w="sm" len="sm"/>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8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8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86">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86">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86">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8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Shape 691"/>
        <p:cNvGrpSpPr/>
        <p:nvPr/>
      </p:nvGrpSpPr>
      <p:grpSpPr>
        <a:xfrm>
          <a:off x="0" y="0"/>
          <a:ext cx="0" cy="0"/>
          <a:chOff x="0" y="0"/>
          <a:chExt cx="0" cy="0"/>
        </a:xfrm>
      </p:grpSpPr>
      <p:sp>
        <p:nvSpPr>
          <p:cNvPr id="692" name="Google Shape;692;p64"/>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fontScale="90000"/>
          </a:bodyPr>
          <a:lstStyle/>
          <a:p>
            <a:pPr marL="0" lvl="0" indent="0" algn="ctr" rtl="0">
              <a:spcBef>
                <a:spcPts val="0"/>
              </a:spcBef>
              <a:spcAft>
                <a:spcPts val="0"/>
              </a:spcAft>
              <a:buNone/>
            </a:pPr>
            <a:r>
              <a:rPr lang="en"/>
              <a:t>Post-Modern Discourse:</a:t>
            </a:r>
            <a:endParaRPr/>
          </a:p>
          <a:p>
            <a:pPr marL="0" lvl="0" indent="0" algn="ctr" rtl="0">
              <a:spcBef>
                <a:spcPts val="0"/>
              </a:spcBef>
              <a:spcAft>
                <a:spcPts val="0"/>
              </a:spcAft>
              <a:buNone/>
            </a:pPr>
            <a:r>
              <a:rPr lang="en"/>
              <a:t>Learning our own discourse schemas</a:t>
            </a:r>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Shape 696"/>
        <p:cNvGrpSpPr/>
        <p:nvPr/>
      </p:nvGrpSpPr>
      <p:grpSpPr>
        <a:xfrm>
          <a:off x="0" y="0"/>
          <a:ext cx="0" cy="0"/>
          <a:chOff x="0" y="0"/>
          <a:chExt cx="0" cy="0"/>
        </a:xfrm>
      </p:grpSpPr>
      <p:sp>
        <p:nvSpPr>
          <p:cNvPr id="697" name="Google Shape;697;p6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
              <a:t>TopicGPT</a:t>
            </a:r>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Shape 702"/>
        <p:cNvGrpSpPr/>
        <p:nvPr/>
      </p:nvGrpSpPr>
      <p:grpSpPr>
        <a:xfrm>
          <a:off x="0" y="0"/>
          <a:ext cx="0" cy="0"/>
          <a:chOff x="0" y="0"/>
          <a:chExt cx="0" cy="0"/>
        </a:xfrm>
      </p:grpSpPr>
      <p:sp>
        <p:nvSpPr>
          <p:cNvPr id="703" name="Google Shape;703;p66"/>
          <p:cNvSpPr txBox="1">
            <a:spLocks noGrp="1"/>
          </p:cNvSpPr>
          <p:nvPr>
            <p:ph type="title"/>
          </p:nvPr>
        </p:nvSpPr>
        <p:spPr>
          <a:xfrm>
            <a:off x="233775" y="333769"/>
            <a:ext cx="6390600" cy="4296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TopicGPT</a:t>
            </a:r>
            <a:endParaRPr/>
          </a:p>
        </p:txBody>
      </p:sp>
      <p:grpSp>
        <p:nvGrpSpPr>
          <p:cNvPr id="704" name="Google Shape;704;p66"/>
          <p:cNvGrpSpPr/>
          <p:nvPr/>
        </p:nvGrpSpPr>
        <p:grpSpPr>
          <a:xfrm>
            <a:off x="834179" y="960500"/>
            <a:ext cx="3683896" cy="3897249"/>
            <a:chOff x="834179" y="960500"/>
            <a:chExt cx="3683896" cy="3897249"/>
          </a:xfrm>
        </p:grpSpPr>
        <p:pic>
          <p:nvPicPr>
            <p:cNvPr id="705" name="Google Shape;705;p66"/>
            <p:cNvPicPr preferRelativeResize="0"/>
            <p:nvPr/>
          </p:nvPicPr>
          <p:blipFill rotWithShape="1">
            <a:blip r:embed="rId3">
              <a:alphaModFix/>
            </a:blip>
            <a:srcRect r="53725"/>
            <a:stretch/>
          </p:blipFill>
          <p:spPr>
            <a:xfrm>
              <a:off x="834179" y="960500"/>
              <a:ext cx="3459374" cy="3897249"/>
            </a:xfrm>
            <a:prstGeom prst="rect">
              <a:avLst/>
            </a:prstGeom>
            <a:noFill/>
            <a:ln>
              <a:noFill/>
            </a:ln>
          </p:spPr>
        </p:pic>
        <p:sp>
          <p:nvSpPr>
            <p:cNvPr id="706" name="Google Shape;706;p66"/>
            <p:cNvSpPr/>
            <p:nvPr/>
          </p:nvSpPr>
          <p:spPr>
            <a:xfrm>
              <a:off x="3786375" y="1338375"/>
              <a:ext cx="731700" cy="25977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707" name="Google Shape;707;p66"/>
          <p:cNvGrpSpPr/>
          <p:nvPr/>
        </p:nvGrpSpPr>
        <p:grpSpPr>
          <a:xfrm>
            <a:off x="3756199" y="960500"/>
            <a:ext cx="2367293" cy="3897249"/>
            <a:chOff x="3756199" y="960500"/>
            <a:chExt cx="2367293" cy="3897249"/>
          </a:xfrm>
        </p:grpSpPr>
        <p:pic>
          <p:nvPicPr>
            <p:cNvPr id="708" name="Google Shape;708;p66"/>
            <p:cNvPicPr preferRelativeResize="0"/>
            <p:nvPr/>
          </p:nvPicPr>
          <p:blipFill rotWithShape="1">
            <a:blip r:embed="rId3">
              <a:alphaModFix/>
            </a:blip>
            <a:srcRect l="39086" r="34735"/>
            <a:stretch/>
          </p:blipFill>
          <p:spPr>
            <a:xfrm>
              <a:off x="3756199" y="960500"/>
              <a:ext cx="1956951" cy="3897249"/>
            </a:xfrm>
            <a:prstGeom prst="rect">
              <a:avLst/>
            </a:prstGeom>
            <a:noFill/>
            <a:ln>
              <a:noFill/>
            </a:ln>
          </p:spPr>
        </p:pic>
        <p:sp>
          <p:nvSpPr>
            <p:cNvPr id="709" name="Google Shape;709;p66"/>
            <p:cNvSpPr/>
            <p:nvPr/>
          </p:nvSpPr>
          <p:spPr>
            <a:xfrm>
              <a:off x="5175000" y="3797775"/>
              <a:ext cx="663000" cy="1049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10" name="Google Shape;710;p66"/>
            <p:cNvSpPr/>
            <p:nvPr/>
          </p:nvSpPr>
          <p:spPr>
            <a:xfrm>
              <a:off x="5460493" y="2807175"/>
              <a:ext cx="663000" cy="1049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pic>
        <p:nvPicPr>
          <p:cNvPr id="711" name="Google Shape;711;p66"/>
          <p:cNvPicPr preferRelativeResize="0"/>
          <p:nvPr/>
        </p:nvPicPr>
        <p:blipFill rotWithShape="1">
          <a:blip r:embed="rId3">
            <a:alphaModFix/>
          </a:blip>
          <a:srcRect l="60730"/>
          <a:stretch/>
        </p:blipFill>
        <p:spPr>
          <a:xfrm>
            <a:off x="5368776" y="960500"/>
            <a:ext cx="2935600" cy="3897249"/>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0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0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Shape 716"/>
        <p:cNvGrpSpPr/>
        <p:nvPr/>
      </p:nvGrpSpPr>
      <p:grpSpPr>
        <a:xfrm>
          <a:off x="0" y="0"/>
          <a:ext cx="0" cy="0"/>
          <a:chOff x="0" y="0"/>
          <a:chExt cx="0" cy="0"/>
        </a:xfrm>
      </p:grpSpPr>
      <p:sp>
        <p:nvSpPr>
          <p:cNvPr id="717" name="Google Shape;717;p67"/>
          <p:cNvSpPr txBox="1">
            <a:spLocks noGrp="1"/>
          </p:cNvSpPr>
          <p:nvPr>
            <p:ph type="title"/>
          </p:nvPr>
        </p:nvSpPr>
        <p:spPr>
          <a:xfrm>
            <a:off x="233775" y="333769"/>
            <a:ext cx="6390600" cy="4296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TopicGPT</a:t>
            </a:r>
            <a:endParaRPr/>
          </a:p>
        </p:txBody>
      </p:sp>
      <p:pic>
        <p:nvPicPr>
          <p:cNvPr id="718" name="Google Shape;718;p67"/>
          <p:cNvPicPr preferRelativeResize="0"/>
          <p:nvPr/>
        </p:nvPicPr>
        <p:blipFill>
          <a:blip r:embed="rId3">
            <a:alphaModFix/>
          </a:blip>
          <a:stretch>
            <a:fillRect/>
          </a:stretch>
        </p:blipFill>
        <p:spPr>
          <a:xfrm>
            <a:off x="114300" y="960500"/>
            <a:ext cx="8778881" cy="3897250"/>
          </a:xfrm>
          <a:prstGeom prst="rect">
            <a:avLst/>
          </a:prstGeom>
          <a:noFill/>
          <a:ln>
            <a:noFill/>
          </a:ln>
        </p:spPr>
      </p:pic>
      <p:sp>
        <p:nvSpPr>
          <p:cNvPr id="719" name="Google Shape;719;p67"/>
          <p:cNvSpPr/>
          <p:nvPr/>
        </p:nvSpPr>
        <p:spPr>
          <a:xfrm>
            <a:off x="3452350" y="920900"/>
            <a:ext cx="1408200" cy="3119700"/>
          </a:xfrm>
          <a:prstGeom prst="rect">
            <a:avLst/>
          </a:prstGeom>
          <a:noFill/>
          <a:ln w="3810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Shape 723"/>
        <p:cNvGrpSpPr/>
        <p:nvPr/>
      </p:nvGrpSpPr>
      <p:grpSpPr>
        <a:xfrm>
          <a:off x="0" y="0"/>
          <a:ext cx="0" cy="0"/>
          <a:chOff x="0" y="0"/>
          <a:chExt cx="0" cy="0"/>
        </a:xfrm>
      </p:grpSpPr>
      <p:sp>
        <p:nvSpPr>
          <p:cNvPr id="724" name="Google Shape;724;p6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Observation: the initial prompt can change</a:t>
            </a:r>
            <a:endParaRPr/>
          </a:p>
        </p:txBody>
      </p:sp>
      <p:grpSp>
        <p:nvGrpSpPr>
          <p:cNvPr id="725" name="Google Shape;725;p68"/>
          <p:cNvGrpSpPr/>
          <p:nvPr/>
        </p:nvGrpSpPr>
        <p:grpSpPr>
          <a:xfrm>
            <a:off x="677532" y="1265344"/>
            <a:ext cx="3231145" cy="3418277"/>
            <a:chOff x="834179" y="960500"/>
            <a:chExt cx="3683896" cy="3897249"/>
          </a:xfrm>
        </p:grpSpPr>
        <p:pic>
          <p:nvPicPr>
            <p:cNvPr id="726" name="Google Shape;726;p68"/>
            <p:cNvPicPr preferRelativeResize="0"/>
            <p:nvPr/>
          </p:nvPicPr>
          <p:blipFill rotWithShape="1">
            <a:blip r:embed="rId3">
              <a:alphaModFix/>
            </a:blip>
            <a:srcRect r="53725"/>
            <a:stretch/>
          </p:blipFill>
          <p:spPr>
            <a:xfrm>
              <a:off x="834179" y="960500"/>
              <a:ext cx="3459374" cy="3897249"/>
            </a:xfrm>
            <a:prstGeom prst="rect">
              <a:avLst/>
            </a:prstGeom>
            <a:noFill/>
            <a:ln>
              <a:noFill/>
            </a:ln>
          </p:spPr>
        </p:pic>
        <p:sp>
          <p:nvSpPr>
            <p:cNvPr id="727" name="Google Shape;727;p68"/>
            <p:cNvSpPr/>
            <p:nvPr/>
          </p:nvSpPr>
          <p:spPr>
            <a:xfrm>
              <a:off x="3786375" y="1338375"/>
              <a:ext cx="731700" cy="25977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728" name="Google Shape;728;p68"/>
          <p:cNvSpPr txBox="1"/>
          <p:nvPr/>
        </p:nvSpPr>
        <p:spPr>
          <a:xfrm>
            <a:off x="4119825" y="1493500"/>
            <a:ext cx="4483800" cy="256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&gt;&gt;&gt; What narrative role does this source play? </a:t>
            </a:r>
            <a:endParaRPr sz="1800">
              <a:solidFill>
                <a:schemeClr val="dk2"/>
              </a:solidFill>
            </a:endParaRPr>
          </a:p>
          <a:p>
            <a:pPr marL="0" lvl="0" indent="0" algn="l" rtl="0">
              <a:spcBef>
                <a:spcPts val="0"/>
              </a:spcBef>
              <a:spcAft>
                <a:spcPts val="0"/>
              </a:spcAft>
              <a:buNone/>
            </a:pPr>
            <a:r>
              <a:rPr lang="en" sz="1800">
                <a:solidFill>
                  <a:schemeClr val="dk2"/>
                </a:solidFill>
              </a:rPr>
              <a:t>{source}</a:t>
            </a:r>
            <a:endParaRPr sz="1800">
              <a:solidFill>
                <a:schemeClr val="dk2"/>
              </a:solidFill>
            </a:endParaRPr>
          </a:p>
          <a:p>
            <a:pPr marL="0" lvl="0" indent="0" algn="l" rtl="0">
              <a:spcBef>
                <a:spcPts val="0"/>
              </a:spcBef>
              <a:spcAft>
                <a:spcPts val="0"/>
              </a:spcAft>
              <a:buNone/>
            </a:pPr>
            <a:endParaRPr sz="1800">
              <a:solidFill>
                <a:schemeClr val="dk2"/>
              </a:solidFill>
            </a:endParaRPr>
          </a:p>
          <a:p>
            <a:pPr marL="0" lvl="0" indent="0" algn="l" rtl="0">
              <a:spcBef>
                <a:spcPts val="0"/>
              </a:spcBef>
              <a:spcAft>
                <a:spcPts val="0"/>
              </a:spcAft>
              <a:buNone/>
            </a:pPr>
            <a:r>
              <a:rPr lang="en" sz="1300">
                <a:solidFill>
                  <a:schemeClr val="dk1"/>
                </a:solidFill>
                <a:highlight>
                  <a:srgbClr val="FFFFFF"/>
                </a:highlight>
              </a:rPr>
              <a:t>'"Authority": This source is used to provide information about the Framingham Heart Study and its findings.'</a:t>
            </a:r>
            <a:endParaRPr sz="1300">
              <a:solidFill>
                <a:schemeClr val="dk1"/>
              </a:solidFill>
              <a:highlight>
                <a:srgbClr val="FFFFFF"/>
              </a:highlight>
            </a:endParaRPr>
          </a:p>
          <a:p>
            <a:pPr marL="0" lvl="0" indent="0" algn="l" rtl="0">
              <a:lnSpc>
                <a:spcPct val="115000"/>
              </a:lnSpc>
              <a:spcBef>
                <a:spcPts val="0"/>
              </a:spcBef>
              <a:spcAft>
                <a:spcPts val="0"/>
              </a:spcAft>
              <a:buNone/>
            </a:pPr>
            <a:endParaRPr sz="1300">
              <a:solidFill>
                <a:schemeClr val="dk1"/>
              </a:solidFill>
              <a:highlight>
                <a:srgbClr val="FFFFFF"/>
              </a:highlight>
            </a:endParaRPr>
          </a:p>
          <a:p>
            <a:pPr marL="0" lvl="0" indent="0" algn="l" rtl="0">
              <a:lnSpc>
                <a:spcPct val="115000"/>
              </a:lnSpc>
              <a:spcBef>
                <a:spcPts val="0"/>
              </a:spcBef>
              <a:spcAft>
                <a:spcPts val="0"/>
              </a:spcAft>
              <a:buClr>
                <a:schemeClr val="dk1"/>
              </a:buClr>
              <a:buSzPts val="1100"/>
              <a:buFont typeface="Arial"/>
              <a:buNone/>
            </a:pPr>
            <a:r>
              <a:rPr lang="en" sz="1300">
                <a:solidFill>
                  <a:schemeClr val="dk1"/>
                </a:solidFill>
                <a:highlight>
                  <a:srgbClr val="FFFFFF"/>
                </a:highlight>
              </a:rPr>
              <a:t>"Illustrator": This source is used to provide information about the artwork</a:t>
            </a:r>
            <a:endParaRPr sz="1300">
              <a:solidFill>
                <a:schemeClr val="dk1"/>
              </a:solidFill>
              <a:highlight>
                <a:srgbClr val="FFFFFF"/>
              </a:highlight>
            </a:endParaRPr>
          </a:p>
          <a:p>
            <a:pPr marL="0" lvl="0" indent="0" algn="l" rtl="0">
              <a:spcBef>
                <a:spcPts val="0"/>
              </a:spcBef>
              <a:spcAft>
                <a:spcPts val="0"/>
              </a:spcAft>
              <a:buNone/>
            </a:pPr>
            <a:endParaRPr sz="1300">
              <a:solidFill>
                <a:schemeClr val="dk1"/>
              </a:solidFill>
              <a:highlight>
                <a:srgbClr val="FFFFFF"/>
              </a:highlight>
            </a:endParaRPr>
          </a:p>
          <a:p>
            <a:pPr marL="0" lvl="0" indent="0" algn="l" rtl="0">
              <a:lnSpc>
                <a:spcPct val="115000"/>
              </a:lnSpc>
              <a:spcBef>
                <a:spcPts val="0"/>
              </a:spcBef>
              <a:spcAft>
                <a:spcPts val="0"/>
              </a:spcAft>
              <a:buNone/>
            </a:pPr>
            <a:r>
              <a:rPr lang="en" sz="1300">
                <a:solidFill>
                  <a:schemeClr val="dk1"/>
                </a:solidFill>
                <a:highlight>
                  <a:srgbClr val="FFFFFF"/>
                </a:highlight>
              </a:rPr>
              <a:t>"Expert": This source is used to provide information about the development…</a:t>
            </a:r>
            <a:endParaRPr sz="1300">
              <a:solidFill>
                <a:schemeClr val="dk1"/>
              </a:solidFill>
              <a:highlight>
                <a:srgbClr val="FFFFFF"/>
              </a:high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Shape 732"/>
        <p:cNvGrpSpPr/>
        <p:nvPr/>
      </p:nvGrpSpPr>
      <p:grpSpPr>
        <a:xfrm>
          <a:off x="0" y="0"/>
          <a:ext cx="0" cy="0"/>
          <a:chOff x="0" y="0"/>
          <a:chExt cx="0" cy="0"/>
        </a:xfrm>
      </p:grpSpPr>
      <p:sp>
        <p:nvSpPr>
          <p:cNvPr id="733" name="Google Shape;733;p6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Observation: removing seeds increases the creativity</a:t>
            </a:r>
            <a:endParaRPr/>
          </a:p>
        </p:txBody>
      </p:sp>
      <p:grpSp>
        <p:nvGrpSpPr>
          <p:cNvPr id="734" name="Google Shape;734;p69"/>
          <p:cNvGrpSpPr/>
          <p:nvPr/>
        </p:nvGrpSpPr>
        <p:grpSpPr>
          <a:xfrm>
            <a:off x="829932" y="1265344"/>
            <a:ext cx="3231145" cy="3418277"/>
            <a:chOff x="834179" y="960500"/>
            <a:chExt cx="3683896" cy="3897249"/>
          </a:xfrm>
        </p:grpSpPr>
        <p:pic>
          <p:nvPicPr>
            <p:cNvPr id="735" name="Google Shape;735;p69"/>
            <p:cNvPicPr preferRelativeResize="0"/>
            <p:nvPr/>
          </p:nvPicPr>
          <p:blipFill rotWithShape="1">
            <a:blip r:embed="rId3">
              <a:alphaModFix/>
            </a:blip>
            <a:srcRect r="53725"/>
            <a:stretch/>
          </p:blipFill>
          <p:spPr>
            <a:xfrm>
              <a:off x="834179" y="960500"/>
              <a:ext cx="3459374" cy="3897249"/>
            </a:xfrm>
            <a:prstGeom prst="rect">
              <a:avLst/>
            </a:prstGeom>
            <a:noFill/>
            <a:ln>
              <a:noFill/>
            </a:ln>
          </p:spPr>
        </p:pic>
        <p:sp>
          <p:nvSpPr>
            <p:cNvPr id="736" name="Google Shape;736;p69"/>
            <p:cNvSpPr/>
            <p:nvPr/>
          </p:nvSpPr>
          <p:spPr>
            <a:xfrm>
              <a:off x="3786375" y="1338375"/>
              <a:ext cx="731700" cy="25977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737" name="Google Shape;737;p69"/>
          <p:cNvSpPr txBox="1"/>
          <p:nvPr/>
        </p:nvSpPr>
        <p:spPr>
          <a:xfrm>
            <a:off x="4672550" y="1493500"/>
            <a:ext cx="3575400" cy="2885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Existing lists/seeds can constrain the creativity of LLM.</a:t>
            </a:r>
            <a:endParaRPr sz="1800">
              <a:solidFill>
                <a:schemeClr val="dk2"/>
              </a:solidFill>
            </a:endParaRPr>
          </a:p>
          <a:p>
            <a:pPr marL="0" lvl="0" indent="0" algn="l" rtl="0">
              <a:spcBef>
                <a:spcPts val="0"/>
              </a:spcBef>
              <a:spcAft>
                <a:spcPts val="0"/>
              </a:spcAft>
              <a:buNone/>
            </a:pPr>
            <a:endParaRPr sz="1800">
              <a:solidFill>
                <a:schemeClr val="dk2"/>
              </a:solidFill>
            </a:endParaRPr>
          </a:p>
          <a:p>
            <a:pPr marL="0" lvl="0" indent="0" algn="l" rtl="0">
              <a:spcBef>
                <a:spcPts val="0"/>
              </a:spcBef>
              <a:spcAft>
                <a:spcPts val="0"/>
              </a:spcAft>
              <a:buNone/>
            </a:pPr>
            <a:r>
              <a:rPr lang="en" sz="1800">
                <a:solidFill>
                  <a:schemeClr val="dk2"/>
                </a:solidFill>
              </a:rPr>
              <a:t>We found that the LLM does better without any existing seeds.</a:t>
            </a:r>
            <a:endParaRPr sz="1800">
              <a:solidFill>
                <a:schemeClr val="dk2"/>
              </a:solidFill>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Shape 741"/>
        <p:cNvGrpSpPr/>
        <p:nvPr/>
      </p:nvGrpSpPr>
      <p:grpSpPr>
        <a:xfrm>
          <a:off x="0" y="0"/>
          <a:ext cx="0" cy="0"/>
          <a:chOff x="0" y="0"/>
          <a:chExt cx="0" cy="0"/>
        </a:xfrm>
      </p:grpSpPr>
      <p:grpSp>
        <p:nvGrpSpPr>
          <p:cNvPr id="742" name="Google Shape;742;p70"/>
          <p:cNvGrpSpPr/>
          <p:nvPr/>
        </p:nvGrpSpPr>
        <p:grpSpPr>
          <a:xfrm>
            <a:off x="80849" y="856176"/>
            <a:ext cx="4293213" cy="6569593"/>
            <a:chOff x="995225" y="1084750"/>
            <a:chExt cx="2546843" cy="3897249"/>
          </a:xfrm>
        </p:grpSpPr>
        <p:grpSp>
          <p:nvGrpSpPr>
            <p:cNvPr id="743" name="Google Shape;743;p70"/>
            <p:cNvGrpSpPr/>
            <p:nvPr/>
          </p:nvGrpSpPr>
          <p:grpSpPr>
            <a:xfrm>
              <a:off x="1174774" y="1084750"/>
              <a:ext cx="2367293" cy="3897249"/>
              <a:chOff x="3756199" y="960500"/>
              <a:chExt cx="2367293" cy="3897249"/>
            </a:xfrm>
          </p:grpSpPr>
          <p:pic>
            <p:nvPicPr>
              <p:cNvPr id="744" name="Google Shape;744;p70"/>
              <p:cNvPicPr preferRelativeResize="0"/>
              <p:nvPr/>
            </p:nvPicPr>
            <p:blipFill rotWithShape="1">
              <a:blip r:embed="rId3">
                <a:alphaModFix/>
              </a:blip>
              <a:srcRect l="39086" r="34735"/>
              <a:stretch/>
            </p:blipFill>
            <p:spPr>
              <a:xfrm>
                <a:off x="3756199" y="960500"/>
                <a:ext cx="1956951" cy="3897249"/>
              </a:xfrm>
              <a:prstGeom prst="rect">
                <a:avLst/>
              </a:prstGeom>
              <a:noFill/>
              <a:ln>
                <a:noFill/>
              </a:ln>
            </p:spPr>
          </p:pic>
          <p:sp>
            <p:nvSpPr>
              <p:cNvPr id="745" name="Google Shape;745;p70"/>
              <p:cNvSpPr/>
              <p:nvPr/>
            </p:nvSpPr>
            <p:spPr>
              <a:xfrm>
                <a:off x="5175000" y="3797775"/>
                <a:ext cx="663000" cy="1049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46" name="Google Shape;746;p70"/>
              <p:cNvSpPr/>
              <p:nvPr/>
            </p:nvSpPr>
            <p:spPr>
              <a:xfrm>
                <a:off x="5460493" y="2807175"/>
                <a:ext cx="663000" cy="1049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747" name="Google Shape;747;p70"/>
            <p:cNvSpPr/>
            <p:nvPr/>
          </p:nvSpPr>
          <p:spPr>
            <a:xfrm>
              <a:off x="995225" y="1949050"/>
              <a:ext cx="593700" cy="20016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48" name="Google Shape;748;p70"/>
            <p:cNvSpPr/>
            <p:nvPr/>
          </p:nvSpPr>
          <p:spPr>
            <a:xfrm>
              <a:off x="1071425" y="3743600"/>
              <a:ext cx="593700" cy="11976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749" name="Google Shape;749;p7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Observation: Improvement needed on refinement step</a:t>
            </a:r>
            <a:endParaRPr/>
          </a:p>
        </p:txBody>
      </p:sp>
      <p:sp>
        <p:nvSpPr>
          <p:cNvPr id="750" name="Google Shape;750;p70"/>
          <p:cNvSpPr txBox="1"/>
          <p:nvPr/>
        </p:nvSpPr>
        <p:spPr>
          <a:xfrm>
            <a:off x="3949350" y="1099800"/>
            <a:ext cx="4883100" cy="390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Original Approach: Uses SBERT to embed each topic. Calculates cosine similarity and clusters topics based on &gt;.5 (</a:t>
            </a:r>
            <a:r>
              <a:rPr lang="en" sz="1800" b="1" u="sng">
                <a:solidFill>
                  <a:schemeClr val="dk2"/>
                </a:solidFill>
              </a:rPr>
              <a:t>Note</a:t>
            </a:r>
            <a:r>
              <a:rPr lang="en" sz="1800">
                <a:solidFill>
                  <a:schemeClr val="dk2"/>
                </a:solidFill>
              </a:rPr>
              <a:t>: BERTopic does this too.)</a:t>
            </a:r>
            <a:endParaRPr sz="1800">
              <a:solidFill>
                <a:schemeClr val="dk2"/>
              </a:solidFill>
            </a:endParaRPr>
          </a:p>
          <a:p>
            <a:pPr marL="0" lvl="0" indent="0" algn="l" rtl="0">
              <a:spcBef>
                <a:spcPts val="0"/>
              </a:spcBef>
              <a:spcAft>
                <a:spcPts val="0"/>
              </a:spcAft>
              <a:buNone/>
            </a:pPr>
            <a:endParaRPr sz="1800">
              <a:solidFill>
                <a:schemeClr val="dk2"/>
              </a:solidFill>
            </a:endParaRPr>
          </a:p>
          <a:p>
            <a:pPr marL="0" lvl="0" indent="0" algn="l" rtl="0">
              <a:spcBef>
                <a:spcPts val="0"/>
              </a:spcBef>
              <a:spcAft>
                <a:spcPts val="0"/>
              </a:spcAft>
              <a:buNone/>
            </a:pPr>
            <a:r>
              <a:rPr lang="en" sz="1800">
                <a:solidFill>
                  <a:schemeClr val="dk2"/>
                </a:solidFill>
              </a:rPr>
              <a:t>This often fails with more complicated discourse tags!</a:t>
            </a:r>
            <a:endParaRPr sz="1800">
              <a:solidFill>
                <a:schemeClr val="dk2"/>
              </a:solidFill>
            </a:endParaRPr>
          </a:p>
          <a:p>
            <a:pPr marL="0" lvl="0" indent="0" algn="l" rtl="0">
              <a:spcBef>
                <a:spcPts val="0"/>
              </a:spcBef>
              <a:spcAft>
                <a:spcPts val="0"/>
              </a:spcAft>
              <a:buNone/>
            </a:pPr>
            <a:endParaRPr sz="1800">
              <a:solidFill>
                <a:schemeClr val="dk2"/>
              </a:solidFill>
            </a:endParaRPr>
          </a:p>
          <a:p>
            <a:pPr marL="0" lvl="0" indent="0" algn="l" rtl="0">
              <a:spcBef>
                <a:spcPts val="0"/>
              </a:spcBef>
              <a:spcAft>
                <a:spcPts val="0"/>
              </a:spcAft>
              <a:buNone/>
            </a:pPr>
            <a:r>
              <a:rPr lang="en" sz="1800">
                <a:solidFill>
                  <a:schemeClr val="dk2"/>
                </a:solidFill>
              </a:rPr>
              <a:t>Error Example: </a:t>
            </a:r>
            <a:endParaRPr sz="1800">
              <a:solidFill>
                <a:schemeClr val="dk2"/>
              </a:solidFill>
            </a:endParaRPr>
          </a:p>
          <a:p>
            <a:pPr marL="0" lvl="0" indent="0" algn="l" rtl="0">
              <a:spcBef>
                <a:spcPts val="0"/>
              </a:spcBef>
              <a:spcAft>
                <a:spcPts val="0"/>
              </a:spcAft>
              <a:buNone/>
            </a:pPr>
            <a:endParaRPr sz="500">
              <a:solidFill>
                <a:schemeClr val="dk2"/>
              </a:solidFill>
            </a:endParaRPr>
          </a:p>
          <a:p>
            <a:pPr marL="0" lvl="0" indent="0" algn="l" rtl="0">
              <a:lnSpc>
                <a:spcPct val="115000"/>
              </a:lnSpc>
              <a:spcBef>
                <a:spcPts val="0"/>
              </a:spcBef>
              <a:spcAft>
                <a:spcPts val="0"/>
              </a:spcAft>
              <a:buNone/>
            </a:pPr>
            <a:r>
              <a:rPr lang="en" sz="1200">
                <a:solidFill>
                  <a:schemeClr val="dk1"/>
                </a:solidFill>
                <a:highlight>
                  <a:srgbClr val="FFFFFF"/>
                </a:highlight>
              </a:rPr>
              <a:t>"Insight": This source provides insight into Huawei's strategy for licensing its 5G technology to US companies.</a:t>
            </a:r>
            <a:endParaRPr sz="1200">
              <a:solidFill>
                <a:schemeClr val="dk1"/>
              </a:solidFill>
              <a:highlight>
                <a:srgbClr val="FFFFFF"/>
              </a:highlight>
            </a:endParaRPr>
          </a:p>
          <a:p>
            <a:pPr marL="0" lvl="0" indent="0" algn="l" rtl="0">
              <a:lnSpc>
                <a:spcPct val="115000"/>
              </a:lnSpc>
              <a:spcBef>
                <a:spcPts val="0"/>
              </a:spcBef>
              <a:spcAft>
                <a:spcPts val="0"/>
              </a:spcAft>
              <a:buClr>
                <a:schemeClr val="dk1"/>
              </a:buClr>
              <a:buSzPts val="1100"/>
              <a:buFont typeface="Arial"/>
              <a:buNone/>
            </a:pPr>
            <a:r>
              <a:rPr lang="en" sz="1200">
                <a:solidFill>
                  <a:schemeClr val="dk1"/>
                </a:solidFill>
                <a:highlight>
                  <a:srgbClr val="FFFFFF"/>
                </a:highlight>
              </a:rPr>
              <a:t> "More Context": This source provides more context for events happening at the time so we can better understand the impacts.</a:t>
            </a:r>
            <a:endParaRPr sz="1200">
              <a:solidFill>
                <a:schemeClr val="dk1"/>
              </a:solidFill>
              <a:highlight>
                <a:srgbClr val="FFFFFF"/>
              </a:highlight>
            </a:endParaRPr>
          </a:p>
          <a:p>
            <a:pPr marL="0" lvl="0" indent="0" algn="l" rtl="0">
              <a:lnSpc>
                <a:spcPct val="115000"/>
              </a:lnSpc>
              <a:spcBef>
                <a:spcPts val="0"/>
              </a:spcBef>
              <a:spcAft>
                <a:spcPts val="0"/>
              </a:spcAft>
              <a:buNone/>
            </a:pPr>
            <a:r>
              <a:rPr lang="en" sz="1200">
                <a:solidFill>
                  <a:schemeClr val="dk1"/>
                </a:solidFill>
                <a:highlight>
                  <a:srgbClr val="FFFFFF"/>
                </a:highlight>
              </a:rPr>
              <a:t>"Example": This source is used as an example to illustrate the mobile payment solution.”</a:t>
            </a:r>
            <a:endParaRPr sz="2000">
              <a:solidFill>
                <a:schemeClr val="dk2"/>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5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5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5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5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5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50">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50">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50">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50">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Shape 754"/>
        <p:cNvGrpSpPr/>
        <p:nvPr/>
      </p:nvGrpSpPr>
      <p:grpSpPr>
        <a:xfrm>
          <a:off x="0" y="0"/>
          <a:ext cx="0" cy="0"/>
          <a:chOff x="0" y="0"/>
          <a:chExt cx="0" cy="0"/>
        </a:xfrm>
      </p:grpSpPr>
      <p:grpSp>
        <p:nvGrpSpPr>
          <p:cNvPr id="755" name="Google Shape;755;p71"/>
          <p:cNvGrpSpPr/>
          <p:nvPr/>
        </p:nvGrpSpPr>
        <p:grpSpPr>
          <a:xfrm>
            <a:off x="80849" y="856176"/>
            <a:ext cx="4293213" cy="6569593"/>
            <a:chOff x="995225" y="1084750"/>
            <a:chExt cx="2546843" cy="3897249"/>
          </a:xfrm>
        </p:grpSpPr>
        <p:grpSp>
          <p:nvGrpSpPr>
            <p:cNvPr id="756" name="Google Shape;756;p71"/>
            <p:cNvGrpSpPr/>
            <p:nvPr/>
          </p:nvGrpSpPr>
          <p:grpSpPr>
            <a:xfrm>
              <a:off x="1174774" y="1084750"/>
              <a:ext cx="2367293" cy="3897249"/>
              <a:chOff x="3756199" y="960500"/>
              <a:chExt cx="2367293" cy="3897249"/>
            </a:xfrm>
          </p:grpSpPr>
          <p:pic>
            <p:nvPicPr>
              <p:cNvPr id="757" name="Google Shape;757;p71"/>
              <p:cNvPicPr preferRelativeResize="0"/>
              <p:nvPr/>
            </p:nvPicPr>
            <p:blipFill rotWithShape="1">
              <a:blip r:embed="rId3">
                <a:alphaModFix/>
              </a:blip>
              <a:srcRect l="39086" r="34735"/>
              <a:stretch/>
            </p:blipFill>
            <p:spPr>
              <a:xfrm>
                <a:off x="3756199" y="960500"/>
                <a:ext cx="1956951" cy="3897249"/>
              </a:xfrm>
              <a:prstGeom prst="rect">
                <a:avLst/>
              </a:prstGeom>
              <a:noFill/>
              <a:ln>
                <a:noFill/>
              </a:ln>
            </p:spPr>
          </p:pic>
          <p:sp>
            <p:nvSpPr>
              <p:cNvPr id="758" name="Google Shape;758;p71"/>
              <p:cNvSpPr/>
              <p:nvPr/>
            </p:nvSpPr>
            <p:spPr>
              <a:xfrm>
                <a:off x="5175000" y="3797775"/>
                <a:ext cx="663000" cy="1049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59" name="Google Shape;759;p71"/>
              <p:cNvSpPr/>
              <p:nvPr/>
            </p:nvSpPr>
            <p:spPr>
              <a:xfrm>
                <a:off x="5460493" y="2807175"/>
                <a:ext cx="663000" cy="1049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760" name="Google Shape;760;p71"/>
            <p:cNvSpPr/>
            <p:nvPr/>
          </p:nvSpPr>
          <p:spPr>
            <a:xfrm>
              <a:off x="995225" y="1949050"/>
              <a:ext cx="593700" cy="20016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61" name="Google Shape;761;p71"/>
            <p:cNvSpPr/>
            <p:nvPr/>
          </p:nvSpPr>
          <p:spPr>
            <a:xfrm>
              <a:off x="1071425" y="3743600"/>
              <a:ext cx="593700" cy="11976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762" name="Google Shape;762;p7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Observation: Improvement needed on refinement step</a:t>
            </a:r>
            <a:endParaRPr/>
          </a:p>
        </p:txBody>
      </p:sp>
      <p:sp>
        <p:nvSpPr>
          <p:cNvPr id="763" name="Google Shape;763;p71"/>
          <p:cNvSpPr txBox="1"/>
          <p:nvPr/>
        </p:nvSpPr>
        <p:spPr>
          <a:xfrm>
            <a:off x="3986750" y="1264900"/>
            <a:ext cx="4531800" cy="379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Our approach:</a:t>
            </a:r>
            <a:endParaRPr sz="1800">
              <a:solidFill>
                <a:schemeClr val="dk2"/>
              </a:solidFill>
            </a:endParaRPr>
          </a:p>
          <a:p>
            <a:pPr marL="0" lvl="0" indent="0" algn="l" rtl="0">
              <a:spcBef>
                <a:spcPts val="0"/>
              </a:spcBef>
              <a:spcAft>
                <a:spcPts val="0"/>
              </a:spcAft>
              <a:buNone/>
            </a:pPr>
            <a:endParaRPr sz="1800">
              <a:solidFill>
                <a:schemeClr val="dk2"/>
              </a:solidFill>
            </a:endParaRPr>
          </a:p>
          <a:p>
            <a:pPr marL="0" lvl="0" indent="0" algn="l" rtl="0">
              <a:spcBef>
                <a:spcPts val="0"/>
              </a:spcBef>
              <a:spcAft>
                <a:spcPts val="0"/>
              </a:spcAft>
              <a:buNone/>
            </a:pPr>
            <a:r>
              <a:rPr lang="en" sz="1800">
                <a:solidFill>
                  <a:schemeClr val="dk2"/>
                </a:solidFill>
              </a:rPr>
              <a:t>Use LLM to label 400,000 pairs of labels as “same” and “not same”</a:t>
            </a:r>
            <a:endParaRPr sz="1800">
              <a:solidFill>
                <a:schemeClr val="dk2"/>
              </a:solidFill>
            </a:endParaRPr>
          </a:p>
          <a:p>
            <a:pPr marL="0" lvl="0" indent="0" algn="l" rtl="0">
              <a:spcBef>
                <a:spcPts val="0"/>
              </a:spcBef>
              <a:spcAft>
                <a:spcPts val="0"/>
              </a:spcAft>
              <a:buNone/>
            </a:pPr>
            <a:endParaRPr sz="1800">
              <a:solidFill>
                <a:schemeClr val="dk2"/>
              </a:solidFill>
            </a:endParaRPr>
          </a:p>
          <a:p>
            <a:pPr marL="0" lvl="0" indent="0" algn="l" rtl="0">
              <a:spcBef>
                <a:spcPts val="0"/>
              </a:spcBef>
              <a:spcAft>
                <a:spcPts val="0"/>
              </a:spcAft>
              <a:buNone/>
            </a:pPr>
            <a:r>
              <a:rPr lang="en" sz="1800">
                <a:solidFill>
                  <a:schemeClr val="dk2"/>
                </a:solidFill>
              </a:rPr>
              <a:t>Train SBERT bi-encoder using this supervised data.</a:t>
            </a:r>
            <a:endParaRPr sz="1800">
              <a:solidFill>
                <a:schemeClr val="dk2"/>
              </a:solidFill>
            </a:endParaRPr>
          </a:p>
          <a:p>
            <a:pPr marL="0" lvl="0" indent="0" algn="l" rtl="0">
              <a:spcBef>
                <a:spcPts val="0"/>
              </a:spcBef>
              <a:spcAft>
                <a:spcPts val="0"/>
              </a:spcAft>
              <a:buNone/>
            </a:pPr>
            <a:endParaRPr sz="1800">
              <a:solidFill>
                <a:schemeClr val="dk2"/>
              </a:solidFill>
            </a:endParaRPr>
          </a:p>
          <a:p>
            <a:pPr marL="0" lvl="0" indent="0" algn="l" rtl="0">
              <a:spcBef>
                <a:spcPts val="0"/>
              </a:spcBef>
              <a:spcAft>
                <a:spcPts val="0"/>
              </a:spcAft>
              <a:buNone/>
            </a:pPr>
            <a:r>
              <a:rPr lang="en" sz="1800">
                <a:solidFill>
                  <a:schemeClr val="dk2"/>
                </a:solidFill>
              </a:rPr>
              <a:t>Naive SBERT: </a:t>
            </a:r>
            <a:endParaRPr sz="1800">
              <a:solidFill>
                <a:schemeClr val="dk2"/>
              </a:solidFill>
            </a:endParaRPr>
          </a:p>
          <a:p>
            <a:pPr marL="0" lvl="0" indent="0" algn="l" rtl="0">
              <a:spcBef>
                <a:spcPts val="0"/>
              </a:spcBef>
              <a:spcAft>
                <a:spcPts val="0"/>
              </a:spcAft>
              <a:buNone/>
            </a:pPr>
            <a:r>
              <a:rPr lang="en" sz="1800">
                <a:solidFill>
                  <a:schemeClr val="dk2"/>
                </a:solidFill>
              </a:rPr>
              <a:t>F1 = .35</a:t>
            </a:r>
            <a:endParaRPr sz="1800">
              <a:solidFill>
                <a:schemeClr val="dk2"/>
              </a:solidFill>
            </a:endParaRPr>
          </a:p>
          <a:p>
            <a:pPr marL="0" lvl="0" indent="0" algn="l" rtl="0">
              <a:spcBef>
                <a:spcPts val="0"/>
              </a:spcBef>
              <a:spcAft>
                <a:spcPts val="0"/>
              </a:spcAft>
              <a:buNone/>
            </a:pPr>
            <a:endParaRPr sz="1800">
              <a:solidFill>
                <a:schemeClr val="dk2"/>
              </a:solidFill>
            </a:endParaRPr>
          </a:p>
          <a:p>
            <a:pPr marL="0" lvl="0" indent="0" algn="l" rtl="0">
              <a:spcBef>
                <a:spcPts val="0"/>
              </a:spcBef>
              <a:spcAft>
                <a:spcPts val="0"/>
              </a:spcAft>
              <a:buNone/>
            </a:pPr>
            <a:r>
              <a:rPr lang="en" sz="1800">
                <a:solidFill>
                  <a:schemeClr val="dk2"/>
                </a:solidFill>
              </a:rPr>
              <a:t>Trained SBERT:</a:t>
            </a:r>
            <a:endParaRPr sz="1800">
              <a:solidFill>
                <a:schemeClr val="dk2"/>
              </a:solidFill>
            </a:endParaRPr>
          </a:p>
          <a:p>
            <a:pPr marL="0" lvl="0" indent="0" algn="l" rtl="0">
              <a:spcBef>
                <a:spcPts val="0"/>
              </a:spcBef>
              <a:spcAft>
                <a:spcPts val="0"/>
              </a:spcAft>
              <a:buNone/>
            </a:pPr>
            <a:r>
              <a:rPr lang="en" sz="1800">
                <a:solidFill>
                  <a:schemeClr val="dk2"/>
                </a:solidFill>
              </a:rPr>
              <a:t>F1 = .65</a:t>
            </a:r>
            <a:endParaRPr sz="1800">
              <a:solidFill>
                <a:schemeClr val="dk2"/>
              </a:solidFill>
            </a:endParaRPr>
          </a:p>
        </p:txBody>
      </p:sp>
      <p:sp>
        <p:nvSpPr>
          <p:cNvPr id="764" name="Google Shape;764;p71"/>
          <p:cNvSpPr txBox="1"/>
          <p:nvPr/>
        </p:nvSpPr>
        <p:spPr>
          <a:xfrm>
            <a:off x="6060650" y="3437275"/>
            <a:ext cx="3000000" cy="785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dk1"/>
                </a:solidFill>
                <a:highlight>
                  <a:srgbClr val="FFFFFF"/>
                </a:highlight>
              </a:rPr>
              <a:t>Avg. cosine distance</a:t>
            </a:r>
            <a:endParaRPr sz="1300">
              <a:solidFill>
                <a:schemeClr val="dk1"/>
              </a:solidFill>
              <a:highlight>
                <a:srgbClr val="FFFFFF"/>
              </a:highlight>
            </a:endParaRPr>
          </a:p>
          <a:p>
            <a:pPr marL="0" lvl="0" indent="0" algn="l" rtl="0">
              <a:spcBef>
                <a:spcPts val="0"/>
              </a:spcBef>
              <a:spcAft>
                <a:spcPts val="0"/>
              </a:spcAft>
              <a:buNone/>
            </a:pPr>
            <a:r>
              <a:rPr lang="en" sz="1300">
                <a:solidFill>
                  <a:schemeClr val="dk1"/>
                </a:solidFill>
                <a:highlight>
                  <a:srgbClr val="FFFFFF"/>
                </a:highlight>
              </a:rPr>
              <a:t>no     0.280045</a:t>
            </a:r>
            <a:endParaRPr sz="1300">
              <a:solidFill>
                <a:schemeClr val="dk1"/>
              </a:solidFill>
              <a:highlight>
                <a:srgbClr val="FFFFFF"/>
              </a:highlight>
            </a:endParaRPr>
          </a:p>
          <a:p>
            <a:pPr marL="0" lvl="0" indent="0" algn="l" rtl="0">
              <a:lnSpc>
                <a:spcPct val="115000"/>
              </a:lnSpc>
              <a:spcBef>
                <a:spcPts val="0"/>
              </a:spcBef>
              <a:spcAft>
                <a:spcPts val="0"/>
              </a:spcAft>
              <a:buNone/>
            </a:pPr>
            <a:r>
              <a:rPr lang="en" sz="1300">
                <a:solidFill>
                  <a:schemeClr val="dk1"/>
                </a:solidFill>
                <a:highlight>
                  <a:srgbClr val="FFFFFF"/>
                </a:highlight>
              </a:rPr>
              <a:t>yes    0.365856</a:t>
            </a:r>
            <a:endParaRPr sz="1300">
              <a:solidFill>
                <a:schemeClr val="dk1"/>
              </a:solidFill>
              <a:highlight>
                <a:srgbClr val="FFFFFF"/>
              </a:highlight>
            </a:endParaRPr>
          </a:p>
        </p:txBody>
      </p:sp>
      <p:sp>
        <p:nvSpPr>
          <p:cNvPr id="765" name="Google Shape;765;p71"/>
          <p:cNvSpPr txBox="1"/>
          <p:nvPr/>
        </p:nvSpPr>
        <p:spPr>
          <a:xfrm>
            <a:off x="6096000" y="4267200"/>
            <a:ext cx="3000000" cy="785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dk1"/>
                </a:solidFill>
                <a:highlight>
                  <a:srgbClr val="FFFFFF"/>
                </a:highlight>
              </a:rPr>
              <a:t>Avg. cosine distance</a:t>
            </a:r>
            <a:endParaRPr sz="1300">
              <a:solidFill>
                <a:schemeClr val="dk1"/>
              </a:solidFill>
              <a:highlight>
                <a:srgbClr val="FFFFFF"/>
              </a:highlight>
            </a:endParaRPr>
          </a:p>
          <a:p>
            <a:pPr marL="0" lvl="0" indent="0" algn="l" rtl="0">
              <a:spcBef>
                <a:spcPts val="0"/>
              </a:spcBef>
              <a:spcAft>
                <a:spcPts val="0"/>
              </a:spcAft>
              <a:buNone/>
            </a:pPr>
            <a:r>
              <a:rPr lang="en" sz="1300">
                <a:solidFill>
                  <a:schemeClr val="dk1"/>
                </a:solidFill>
                <a:highlight>
                  <a:srgbClr val="FFFFFF"/>
                </a:highlight>
              </a:rPr>
              <a:t>No     0.348549</a:t>
            </a:r>
            <a:endParaRPr sz="1300">
              <a:solidFill>
                <a:schemeClr val="dk1"/>
              </a:solidFill>
              <a:highlight>
                <a:srgbClr val="FFFFFF"/>
              </a:highlight>
            </a:endParaRPr>
          </a:p>
          <a:p>
            <a:pPr marL="0" lvl="0" indent="0" algn="l" rtl="0">
              <a:lnSpc>
                <a:spcPct val="115000"/>
              </a:lnSpc>
              <a:spcBef>
                <a:spcPts val="0"/>
              </a:spcBef>
              <a:spcAft>
                <a:spcPts val="0"/>
              </a:spcAft>
              <a:buNone/>
            </a:pPr>
            <a:r>
              <a:rPr lang="en" sz="1300">
                <a:solidFill>
                  <a:schemeClr val="dk1"/>
                </a:solidFill>
                <a:highlight>
                  <a:srgbClr val="FFFFFF"/>
                </a:highlight>
              </a:rPr>
              <a:t>Yes    0.517865</a:t>
            </a:r>
            <a:endParaRPr sz="1300">
              <a:solidFill>
                <a:schemeClr val="dk1"/>
              </a:solidFill>
              <a:highlight>
                <a:srgbClr val="FFFFFF"/>
              </a:high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6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6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6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6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6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6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6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6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6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6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6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6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Shape 769"/>
        <p:cNvGrpSpPr/>
        <p:nvPr/>
      </p:nvGrpSpPr>
      <p:grpSpPr>
        <a:xfrm>
          <a:off x="0" y="0"/>
          <a:ext cx="0" cy="0"/>
          <a:chOff x="0" y="0"/>
          <a:chExt cx="0" cy="0"/>
        </a:xfrm>
      </p:grpSpPr>
      <p:sp>
        <p:nvSpPr>
          <p:cNvPr id="770" name="Google Shape;770;p7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Observation: We can hierarchically cluster</a:t>
            </a:r>
            <a:endParaRPr/>
          </a:p>
        </p:txBody>
      </p:sp>
      <p:sp>
        <p:nvSpPr>
          <p:cNvPr id="771" name="Google Shape;771;p72"/>
          <p:cNvSpPr txBox="1">
            <a:spLocks noGrp="1"/>
          </p:cNvSpPr>
          <p:nvPr>
            <p:ph type="body" idx="1"/>
          </p:nvPr>
        </p:nvSpPr>
        <p:spPr>
          <a:xfrm>
            <a:off x="4572000" y="1914475"/>
            <a:ext cx="4260300" cy="1981500"/>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0"/>
              </a:spcAft>
              <a:buNone/>
            </a:pPr>
            <a:r>
              <a:rPr lang="en"/>
              <a:t>Approach: like BERTopic, we can use hierarchical clustering methods to cluster groups. </a:t>
            </a:r>
            <a:endParaRPr/>
          </a:p>
          <a:p>
            <a:pPr marL="0" lvl="0" indent="0" algn="l" rtl="0">
              <a:spcBef>
                <a:spcPts val="1200"/>
              </a:spcBef>
              <a:spcAft>
                <a:spcPts val="1200"/>
              </a:spcAft>
              <a:buNone/>
            </a:pPr>
            <a:r>
              <a:rPr lang="en"/>
              <a:t>Then, we can use GPT to generate cluster labels for each group</a:t>
            </a:r>
            <a:endParaRPr/>
          </a:p>
        </p:txBody>
      </p:sp>
      <p:pic>
        <p:nvPicPr>
          <p:cNvPr id="772" name="Google Shape;772;p72"/>
          <p:cNvPicPr preferRelativeResize="0"/>
          <p:nvPr/>
        </p:nvPicPr>
        <p:blipFill rotWithShape="1">
          <a:blip r:embed="rId3">
            <a:alphaModFix/>
          </a:blip>
          <a:srcRect l="31262" t="32032" r="31493"/>
          <a:stretch/>
        </p:blipFill>
        <p:spPr>
          <a:xfrm>
            <a:off x="329550" y="1279752"/>
            <a:ext cx="4018749" cy="3731251"/>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Shape 776"/>
        <p:cNvGrpSpPr/>
        <p:nvPr/>
      </p:nvGrpSpPr>
      <p:grpSpPr>
        <a:xfrm>
          <a:off x="0" y="0"/>
          <a:ext cx="0" cy="0"/>
          <a:chOff x="0" y="0"/>
          <a:chExt cx="0" cy="0"/>
        </a:xfrm>
      </p:grpSpPr>
      <p:sp>
        <p:nvSpPr>
          <p:cNvPr id="777" name="Google Shape;777;p7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0"/>
              </a:spcAft>
              <a:buNone/>
            </a:pPr>
            <a:r>
              <a:rPr lang="en" sz="1000">
                <a:solidFill>
                  <a:schemeClr val="dk1"/>
                </a:solidFill>
                <a:highlight>
                  <a:srgbClr val="FFFFFF"/>
                </a:highlight>
              </a:rPr>
              <a:t>'"Disclaimer": This source is used to provide legal disclaimers…</a:t>
            </a:r>
            <a:endParaRPr sz="1000">
              <a:solidFill>
                <a:schemeClr val="dk1"/>
              </a:solidFill>
              <a:highlight>
                <a:srgbClr val="FFFFFF"/>
              </a:highlight>
            </a:endParaRPr>
          </a:p>
          <a:p>
            <a:pPr marL="0" lvl="0" indent="0" algn="l" rtl="0">
              <a:spcBef>
                <a:spcPts val="1200"/>
              </a:spcBef>
              <a:spcAft>
                <a:spcPts val="0"/>
              </a:spcAft>
              <a:buNone/>
            </a:pPr>
            <a:r>
              <a:rPr lang="en" sz="1000">
                <a:solidFill>
                  <a:schemeClr val="dk1"/>
                </a:solidFill>
                <a:highlight>
                  <a:srgbClr val="FFFFFF"/>
                </a:highlight>
              </a:rPr>
              <a:t>&gt;</a:t>
            </a:r>
            <a:endParaRPr sz="1000">
              <a:solidFill>
                <a:schemeClr val="dk1"/>
              </a:solidFill>
              <a:highlight>
                <a:srgbClr val="FFFFFF"/>
              </a:highlight>
            </a:endParaRPr>
          </a:p>
          <a:p>
            <a:pPr marL="0" lvl="0" indent="0" algn="l" rtl="0">
              <a:spcBef>
                <a:spcPts val="1200"/>
              </a:spcBef>
              <a:spcAft>
                <a:spcPts val="0"/>
              </a:spcAft>
              <a:buNone/>
            </a:pPr>
            <a:r>
              <a:rPr lang="en" sz="1000">
                <a:solidFill>
                  <a:schemeClr val="dk1"/>
                </a:solidFill>
                <a:highlight>
                  <a:srgbClr val="FFFFFF"/>
                </a:highlight>
              </a:rPr>
              <a:t> '"Legal and Disclosure": This collection of sources is used to provide legal disclaimers, copyright information, data protection notices</a:t>
            </a:r>
            <a:endParaRPr sz="1000">
              <a:solidFill>
                <a:schemeClr val="dk1"/>
              </a:solidFill>
              <a:highlight>
                <a:srgbClr val="FFFFFF"/>
              </a:highlight>
            </a:endParaRPr>
          </a:p>
          <a:p>
            <a:pPr marL="0" lvl="0" indent="0" algn="l" rtl="0">
              <a:spcBef>
                <a:spcPts val="1200"/>
              </a:spcBef>
              <a:spcAft>
                <a:spcPts val="0"/>
              </a:spcAft>
              <a:buNone/>
            </a:pPr>
            <a:r>
              <a:rPr lang="en" sz="1000">
                <a:solidFill>
                  <a:schemeClr val="dk1"/>
                </a:solidFill>
                <a:highlight>
                  <a:srgbClr val="FFFFFF"/>
                </a:highlight>
              </a:rPr>
              <a:t>&gt;</a:t>
            </a:r>
            <a:endParaRPr sz="1000">
              <a:solidFill>
                <a:schemeClr val="dk1"/>
              </a:solidFill>
              <a:highlight>
                <a:srgbClr val="FFFFFF"/>
              </a:highlight>
            </a:endParaRPr>
          </a:p>
          <a:p>
            <a:pPr marL="0" lvl="0" indent="0" algn="l" rtl="0">
              <a:spcBef>
                <a:spcPts val="1200"/>
              </a:spcBef>
              <a:spcAft>
                <a:spcPts val="0"/>
              </a:spcAft>
              <a:buNone/>
            </a:pPr>
            <a:r>
              <a:rPr lang="en" sz="1000">
                <a:solidFill>
                  <a:schemeClr val="dk1"/>
                </a:solidFill>
                <a:highlight>
                  <a:srgbClr val="FFFFFF"/>
                </a:highlight>
              </a:rPr>
              <a:t> '"Transparency and Compliance": This collection of sources is used to provide critical legal disclaimers, copyright information, data protection notices, transparency statements, funding details, affiliations, conflicts of interest, and practices and policies</a:t>
            </a:r>
            <a:endParaRPr sz="1000">
              <a:solidFill>
                <a:schemeClr val="dk1"/>
              </a:solidFill>
              <a:highlight>
                <a:srgbClr val="FFFFFF"/>
              </a:highlight>
            </a:endParaRPr>
          </a:p>
          <a:p>
            <a:pPr marL="0" lvl="0" indent="0" algn="l" rtl="0">
              <a:spcBef>
                <a:spcPts val="1200"/>
              </a:spcBef>
              <a:spcAft>
                <a:spcPts val="0"/>
              </a:spcAft>
              <a:buNone/>
            </a:pPr>
            <a:r>
              <a:rPr lang="en" sz="1000">
                <a:solidFill>
                  <a:schemeClr val="dk1"/>
                </a:solidFill>
                <a:highlight>
                  <a:srgbClr val="FFFFFF"/>
                </a:highlight>
              </a:rPr>
              <a:t>&gt;</a:t>
            </a:r>
            <a:endParaRPr sz="1000">
              <a:solidFill>
                <a:schemeClr val="dk1"/>
              </a:solidFill>
              <a:highlight>
                <a:srgbClr val="FFFFFF"/>
              </a:highlight>
            </a:endParaRPr>
          </a:p>
          <a:p>
            <a:pPr marL="0" lvl="0" indent="0" algn="l" rtl="0">
              <a:spcBef>
                <a:spcPts val="1200"/>
              </a:spcBef>
              <a:spcAft>
                <a:spcPts val="0"/>
              </a:spcAft>
              <a:buNone/>
            </a:pPr>
            <a:r>
              <a:rPr lang="en" sz="1000">
                <a:solidFill>
                  <a:schemeClr val="dk1"/>
                </a:solidFill>
                <a:highlight>
                  <a:srgbClr val="FFFFFF"/>
                </a:highlight>
              </a:rPr>
              <a:t> '"Source Credibility": This label provides comprehensive information regarding the financial, professional, and biographical context, including affiliations, legal compliance, conflicts of interest</a:t>
            </a:r>
            <a:endParaRPr sz="1000">
              <a:solidFill>
                <a:schemeClr val="dk1"/>
              </a:solidFill>
              <a:highlight>
                <a:srgbClr val="FFFFFF"/>
              </a:highlight>
            </a:endParaRPr>
          </a:p>
          <a:p>
            <a:pPr marL="0" lvl="0" indent="0" algn="l" rtl="0">
              <a:spcBef>
                <a:spcPts val="1200"/>
              </a:spcBef>
              <a:spcAft>
                <a:spcPts val="0"/>
              </a:spcAft>
              <a:buNone/>
            </a:pPr>
            <a:r>
              <a:rPr lang="en" sz="1000">
                <a:solidFill>
                  <a:schemeClr val="dk1"/>
                </a:solidFill>
                <a:highlight>
                  <a:srgbClr val="FFFFFF"/>
                </a:highlight>
              </a:rPr>
              <a:t>&gt;</a:t>
            </a:r>
            <a:endParaRPr sz="1000">
              <a:solidFill>
                <a:schemeClr val="dk1"/>
              </a:solidFill>
              <a:highlight>
                <a:srgbClr val="FFFFFF"/>
              </a:highlight>
            </a:endParaRPr>
          </a:p>
          <a:p>
            <a:pPr marL="0" lvl="0" indent="0" algn="l" rtl="0">
              <a:spcBef>
                <a:spcPts val="1200"/>
              </a:spcBef>
              <a:spcAft>
                <a:spcPts val="0"/>
              </a:spcAft>
              <a:buClr>
                <a:schemeClr val="dk1"/>
              </a:buClr>
              <a:buSzPts val="1100"/>
              <a:buFont typeface="Arial"/>
              <a:buNone/>
            </a:pPr>
            <a:r>
              <a:rPr lang="en" sz="1000">
                <a:solidFill>
                  <a:schemeClr val="dk1"/>
                </a:solidFill>
                <a:highlight>
                  <a:srgbClr val="FFFFFF"/>
                </a:highlight>
              </a:rPr>
              <a:t> '"Enhanced Narrative Integrity": These sources collectively provide extensive background information, credible insights, data, context, and authoritative perspectives, ensuring the accuracy, reliability, and engagement of various articles and topics.',</a:t>
            </a:r>
            <a:endParaRPr sz="1000">
              <a:solidFill>
                <a:schemeClr val="dk1"/>
              </a:solidFill>
              <a:highlight>
                <a:srgbClr val="FFFFFF"/>
              </a:highlight>
            </a:endParaRPr>
          </a:p>
          <a:p>
            <a:pPr marL="0" lvl="0" indent="0" algn="l" rtl="0">
              <a:spcBef>
                <a:spcPts val="0"/>
              </a:spcBef>
              <a:spcAft>
                <a:spcPts val="1200"/>
              </a:spcAft>
              <a:buNone/>
            </a:pPr>
            <a:endParaRPr/>
          </a:p>
        </p:txBody>
      </p:sp>
      <p:sp>
        <p:nvSpPr>
          <p:cNvPr id="778" name="Google Shape;778;p7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Observation: We can hierarchically cluster</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7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7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7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7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7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77">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77">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77">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77">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7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Shape 782"/>
        <p:cNvGrpSpPr/>
        <p:nvPr/>
      </p:nvGrpSpPr>
      <p:grpSpPr>
        <a:xfrm>
          <a:off x="0" y="0"/>
          <a:ext cx="0" cy="0"/>
          <a:chOff x="0" y="0"/>
          <a:chExt cx="0" cy="0"/>
        </a:xfrm>
      </p:grpSpPr>
      <p:sp>
        <p:nvSpPr>
          <p:cNvPr id="783" name="Google Shape;783;p74"/>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fontScale="90000"/>
          </a:bodyPr>
          <a:lstStyle/>
          <a:p>
            <a:pPr marL="0" lvl="0" indent="0" algn="ctr" rtl="0">
              <a:spcBef>
                <a:spcPts val="0"/>
              </a:spcBef>
              <a:spcAft>
                <a:spcPts val="0"/>
              </a:spcAft>
              <a:buNone/>
            </a:pPr>
            <a:r>
              <a:rPr lang="en"/>
              <a:t>Thanks!</a:t>
            </a:r>
            <a:endParaRPr/>
          </a:p>
          <a:p>
            <a:pPr marL="0" lvl="0" indent="0" algn="ctr" rtl="0">
              <a:spcBef>
                <a:spcPts val="0"/>
              </a:spcBef>
              <a:spcAft>
                <a:spcPts val="0"/>
              </a:spcAft>
              <a:buNone/>
            </a:pPr>
            <a:r>
              <a:rPr lang="en"/>
              <a:t>Questions?</a:t>
            </a:r>
            <a:endParaRPr/>
          </a:p>
          <a:p>
            <a:pPr marL="0" lvl="0" indent="0" algn="ctr" rtl="0">
              <a:spcBef>
                <a:spcPts val="0"/>
              </a:spcBef>
              <a:spcAft>
                <a:spcPts val="0"/>
              </a:spcAft>
              <a:buNone/>
            </a:pPr>
            <a:r>
              <a:rPr lang="en-US"/>
              <a:t>alexander.spangher@gmail.com</a:t>
            </a:r>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7149</TotalTime>
  <Words>4023</Words>
  <Application>Microsoft Macintosh PowerPoint</Application>
  <PresentationFormat>On-screen Show (16:9)</PresentationFormat>
  <Paragraphs>532</Paragraphs>
  <Slides>71</Slides>
  <Notes>70</Notes>
  <HiddenSlides>28</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71</vt:i4>
      </vt:variant>
    </vt:vector>
  </HeadingPairs>
  <TitlesOfParts>
    <vt:vector size="78" baseType="lpstr">
      <vt:lpstr>Proxima Nova</vt:lpstr>
      <vt:lpstr>Lucida Sans</vt:lpstr>
      <vt:lpstr>Courier New</vt:lpstr>
      <vt:lpstr>Arial</vt:lpstr>
      <vt:lpstr>Cambria Math</vt:lpstr>
      <vt:lpstr>Helvetica</vt:lpstr>
      <vt:lpstr>Simple Light</vt:lpstr>
      <vt:lpstr>Discourse</vt:lpstr>
      <vt:lpstr>PowerPoint Presentation</vt:lpstr>
      <vt:lpstr>What is discourse?</vt:lpstr>
      <vt:lpstr>You have seen discourse already this semester! </vt:lpstr>
      <vt:lpstr>Classical Discourse</vt:lpstr>
      <vt:lpstr>Penn Discourse Treebank</vt:lpstr>
      <vt:lpstr>Penn Discourse Treebank</vt:lpstr>
      <vt:lpstr>Penn Discourse Treebank</vt:lpstr>
      <vt:lpstr>From PDTB to Rhetorical Structure Theory</vt:lpstr>
      <vt:lpstr>Rhetorical Structure Theory</vt:lpstr>
      <vt:lpstr>Rhetorical Structure Theory</vt:lpstr>
      <vt:lpstr>Rhetorical Structure Theory – developed at ISI! (late 80s, then work in early 00s)</vt:lpstr>
      <vt:lpstr>Modern Discourse Theory</vt:lpstr>
      <vt:lpstr>Discourse as structural markers</vt:lpstr>
      <vt:lpstr>Argumentation Discourse (Khatib, 2016)</vt:lpstr>
      <vt:lpstr>Science Discourse</vt:lpstr>
      <vt:lpstr>Legal Discourse</vt:lpstr>
      <vt:lpstr>What can discourse tell us?  Insight #1: Different discourse-types complement each other.</vt:lpstr>
      <vt:lpstr>Task: Classify News Discourse</vt:lpstr>
      <vt:lpstr>Multitask Architecture</vt:lpstr>
      <vt:lpstr>Additional Details on Data Processing</vt:lpstr>
      <vt:lpstr>Multitask Outperforms Baseline and Data Ablations</vt:lpstr>
      <vt:lpstr>Two Data Ablations:</vt:lpstr>
      <vt:lpstr>Multitask Outperforms Baseline and Data Ablations</vt:lpstr>
      <vt:lpstr>Multitask Learning Boosts Performance of Low-Support Classes</vt:lpstr>
      <vt:lpstr>What can discourse tell us?  Insight #1: Different discourse-types complement each other.</vt:lpstr>
      <vt:lpstr>What can discourse tell us?  Insight #2: Discourse Helps Us Structure Text</vt:lpstr>
      <vt:lpstr>PowerPoint Presentation</vt:lpstr>
      <vt:lpstr>Right now, there’s no good way to control the structure of text generated by language models:</vt:lpstr>
      <vt:lpstr>Controlled Text Generation</vt:lpstr>
      <vt:lpstr>Controlled Text Generation</vt:lpstr>
      <vt:lpstr>Sequentially Controlled Sequence Generation</vt:lpstr>
      <vt:lpstr>Factorization:</vt:lpstr>
      <vt:lpstr>PowerPoint Presentation</vt:lpstr>
      <vt:lpstr>Dataset Van Dijk News Discourse</vt:lpstr>
      <vt:lpstr>Results</vt:lpstr>
      <vt:lpstr>Humans don’t like model “creative” output</vt:lpstr>
      <vt:lpstr>Discourse-Level Framework</vt:lpstr>
      <vt:lpstr>1 – Story Arc (Macro-Level)</vt:lpstr>
      <vt:lpstr>2 – Turning Point (Meso-Level)</vt:lpstr>
      <vt:lpstr>3 – Affective Dimensions (Micro-Level)</vt:lpstr>
      <vt:lpstr>Study Procedure</vt:lpstr>
      <vt:lpstr>Human vs. AI Turning Point Positions</vt:lpstr>
      <vt:lpstr>Arousal &amp; Valence</vt:lpstr>
      <vt:lpstr>LLMs lack narrative diversity!</vt:lpstr>
      <vt:lpstr>PowerPoint Presentation</vt:lpstr>
      <vt:lpstr>More captivating AI Story-Telling</vt:lpstr>
      <vt:lpstr>Ongoing Work</vt:lpstr>
      <vt:lpstr>What can discourse tell us?  Insight #2: Discourse Helps Us Structure Text</vt:lpstr>
      <vt:lpstr>What can discourse tell us?  Insight #3: Discourse Can Help Us Plan</vt:lpstr>
      <vt:lpstr>News Coverage</vt:lpstr>
      <vt:lpstr>News Coverage of Press Releases</vt:lpstr>
      <vt:lpstr>Goal</vt:lpstr>
      <vt:lpstr>Inferring Human Plans</vt:lpstr>
      <vt:lpstr>Insight #1: Effective coverage has significantly more creative angles, slightly more creative sources.</vt:lpstr>
      <vt:lpstr>Main Experiment: Comparing LLM Planning to Human</vt:lpstr>
      <vt:lpstr>Result #1: LLMs do well at suggesting angles that humans use, but are less likely to suggest the right kinds of sources </vt:lpstr>
      <vt:lpstr>Result #2: LLMs are significantly less creative than humans</vt:lpstr>
      <vt:lpstr>What can discourse tell us?  Insight #3: Discourse Can Help Us Plan</vt:lpstr>
      <vt:lpstr>Takeaways</vt:lpstr>
      <vt:lpstr>Post-Modern Discourse: Learning our own discourse schemas</vt:lpstr>
      <vt:lpstr>TopicGPT</vt:lpstr>
      <vt:lpstr>TopicGPT</vt:lpstr>
      <vt:lpstr>TopicGPT</vt:lpstr>
      <vt:lpstr>Observation: the initial prompt can change</vt:lpstr>
      <vt:lpstr>Observation: removing seeds increases the creativity</vt:lpstr>
      <vt:lpstr>Observation: Improvement needed on refinement step</vt:lpstr>
      <vt:lpstr>Observation: Improvement needed on refinement step</vt:lpstr>
      <vt:lpstr>Observation: We can hierarchically cluster</vt:lpstr>
      <vt:lpstr>Observation: We can hierarchically cluster</vt:lpstr>
      <vt:lpstr>Thanks! Questions? alexander.spangher@gmail.com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Jonathan May</cp:lastModifiedBy>
  <cp:revision>11</cp:revision>
  <dcterms:modified xsi:type="dcterms:W3CDTF">2025-11-17T16:48:28Z</dcterms:modified>
</cp:coreProperties>
</file>