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67"/>
  </p:notesMasterIdLst>
  <p:sldIdLst>
    <p:sldId id="306" r:id="rId2"/>
    <p:sldId id="425" r:id="rId3"/>
    <p:sldId id="560" r:id="rId4"/>
    <p:sldId id="470" r:id="rId5"/>
    <p:sldId id="474" r:id="rId6"/>
    <p:sldId id="561" r:id="rId7"/>
    <p:sldId id="475" r:id="rId8"/>
    <p:sldId id="477" r:id="rId9"/>
    <p:sldId id="476" r:id="rId10"/>
    <p:sldId id="479" r:id="rId11"/>
    <p:sldId id="481" r:id="rId12"/>
    <p:sldId id="480" r:id="rId13"/>
    <p:sldId id="534" r:id="rId14"/>
    <p:sldId id="535" r:id="rId15"/>
    <p:sldId id="538" r:id="rId16"/>
    <p:sldId id="539" r:id="rId17"/>
    <p:sldId id="541" r:id="rId18"/>
    <p:sldId id="540" r:id="rId19"/>
    <p:sldId id="542" r:id="rId20"/>
    <p:sldId id="537" r:id="rId21"/>
    <p:sldId id="552" r:id="rId22"/>
    <p:sldId id="555" r:id="rId23"/>
    <p:sldId id="520" r:id="rId24"/>
    <p:sldId id="513" r:id="rId25"/>
    <p:sldId id="522" r:id="rId26"/>
    <p:sldId id="521" r:id="rId27"/>
    <p:sldId id="525" r:id="rId28"/>
    <p:sldId id="526" r:id="rId29"/>
    <p:sldId id="523" r:id="rId30"/>
    <p:sldId id="524" r:id="rId31"/>
    <p:sldId id="553" r:id="rId32"/>
    <p:sldId id="529" r:id="rId33"/>
    <p:sldId id="528" r:id="rId34"/>
    <p:sldId id="527" r:id="rId35"/>
    <p:sldId id="543" r:id="rId36"/>
    <p:sldId id="556" r:id="rId37"/>
    <p:sldId id="547" r:id="rId38"/>
    <p:sldId id="544" r:id="rId39"/>
    <p:sldId id="557" r:id="rId40"/>
    <p:sldId id="545" r:id="rId41"/>
    <p:sldId id="550" r:id="rId42"/>
    <p:sldId id="551" r:id="rId43"/>
    <p:sldId id="549" r:id="rId44"/>
    <p:sldId id="558" r:id="rId45"/>
    <p:sldId id="559" r:id="rId46"/>
    <p:sldId id="498" r:id="rId47"/>
    <p:sldId id="499" r:id="rId48"/>
    <p:sldId id="500" r:id="rId49"/>
    <p:sldId id="502" r:id="rId50"/>
    <p:sldId id="511" r:id="rId51"/>
    <p:sldId id="512" r:id="rId52"/>
    <p:sldId id="514" r:id="rId53"/>
    <p:sldId id="554" r:id="rId54"/>
    <p:sldId id="516" r:id="rId55"/>
    <p:sldId id="517" r:id="rId56"/>
    <p:sldId id="518" r:id="rId57"/>
    <p:sldId id="515" r:id="rId58"/>
    <p:sldId id="503" r:id="rId59"/>
    <p:sldId id="504" r:id="rId60"/>
    <p:sldId id="505" r:id="rId61"/>
    <p:sldId id="506" r:id="rId62"/>
    <p:sldId id="507" r:id="rId63"/>
    <p:sldId id="508" r:id="rId64"/>
    <p:sldId id="509" r:id="rId65"/>
    <p:sldId id="510" r:id="rId66"/>
  </p:sldIdLst>
  <p:sldSz cx="9144000" cy="5143500" type="screen16x9"/>
  <p:notesSz cx="6858000" cy="9144000"/>
  <p:embeddedFontLst>
    <p:embeddedFont>
      <p:font typeface="Cambria Math" panose="02040503050406030204" pitchFamily="18" charset="0"/>
      <p:regular r:id="rId68"/>
    </p:embeddedFont>
    <p:embeddedFont>
      <p:font typeface="Comic Sans MS" panose="030F0902030302020204" pitchFamily="66" charset="0"/>
      <p:regular r:id="rId69"/>
    </p:embeddedFont>
    <p:embeddedFont>
      <p:font typeface="Fira Sans Medium" panose="020F0502020204030204" pitchFamily="34" charset="0"/>
      <p:regular r:id="rId70"/>
      <p:italic r:id="rId71"/>
    </p:embeddedFont>
    <p:embeddedFont>
      <p:font typeface="Helvetica Neue" panose="02000503000000020004" pitchFamily="2" charset="0"/>
      <p:regular r:id="rId72"/>
      <p:bold r:id="rId73"/>
      <p:italic r:id="rId74"/>
      <p:boldItalic r:id="rId75"/>
    </p:embeddedFont>
    <p:embeddedFont>
      <p:font typeface="Lucida Sans" panose="020B0602030504020204" pitchFamily="34" charset="77"/>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08">
          <p15:clr>
            <a:srgbClr val="747775"/>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hilippe Laba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7C7E4"/>
    <a:srgbClr val="F2CCB2"/>
    <a:srgbClr val="CADFB9"/>
    <a:srgbClr val="9AF27B"/>
    <a:srgbClr val="D9EA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C49FA6-4557-4D6F-9334-B3AAFE36C2E5}">
  <a:tblStyle styleId="{4DC49FA6-4557-4D6F-9334-B3AAFE36C2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98F4057-0934-43C4-837A-086A4FDF8858}"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4E8E8"/>
          </a:solidFill>
        </a:fill>
      </a:tcStyle>
    </a:wholeTbl>
    <a:band1H>
      <a:tcTxStyle/>
      <a:tcStyle>
        <a:tcBdr/>
        <a:fill>
          <a:solidFill>
            <a:srgbClr val="E8CFCF"/>
          </a:solidFill>
        </a:fill>
      </a:tcStyle>
    </a:band1H>
    <a:band2H>
      <a:tcTxStyle/>
      <a:tcStyle>
        <a:tcBdr/>
      </a:tcStyle>
    </a:band2H>
    <a:band1V>
      <a:tcTxStyle/>
      <a:tcStyle>
        <a:tcBdr/>
        <a:fill>
          <a:solidFill>
            <a:srgbClr val="E8CFCF"/>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9DBD82F4-FF5A-4DA7-A40D-C38478E7092A}"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C5B9DE73-8698-476A-B3E0-2BF82DE0D875}" styleName="Table_3">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26"/>
    <p:restoredTop sz="71370"/>
  </p:normalViewPr>
  <p:slideViewPr>
    <p:cSldViewPr snapToGrid="0">
      <p:cViewPr varScale="1">
        <p:scale>
          <a:sx n="112" d="100"/>
          <a:sy n="112" d="100"/>
        </p:scale>
        <p:origin x="1528" y="184"/>
      </p:cViewPr>
      <p:guideLst>
        <p:guide orient="horz" pos="1208"/>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0"/>
        <p:cNvGrpSpPr/>
        <p:nvPr/>
      </p:nvGrpSpPr>
      <p:grpSpPr>
        <a:xfrm>
          <a:off x="0" y="0"/>
          <a:ext cx="0" cy="0"/>
          <a:chOff x="0" y="0"/>
          <a:chExt cx="0" cy="0"/>
        </a:xfrm>
      </p:grpSpPr>
      <p:sp>
        <p:nvSpPr>
          <p:cNvPr id="1761" name="Google Shape;1761;g34be9be246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2" name="Google Shape;1762;g34be9be246e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buNone/>
            </a:pPr>
            <a:r>
              <a:rPr lang="en-US" sz="1800" b="0" i="0" u="none" strike="noStrike" dirty="0">
                <a:solidFill>
                  <a:srgbClr val="000000"/>
                </a:solidFill>
                <a:effectLst/>
                <a:latin typeface="Arial" panose="020B0604020202020204" pitchFamily="34" charset="0"/>
              </a:rPr>
              <a:t>Thanks </a:t>
            </a:r>
            <a:r>
              <a:rPr lang="en-US" sz="1800" b="0" i="0" u="none" strike="noStrike" dirty="0" err="1">
                <a:solidFill>
                  <a:srgbClr val="000000"/>
                </a:solidFill>
                <a:effectLst/>
                <a:latin typeface="Arial" panose="020B0604020202020204" pitchFamily="34" charset="0"/>
              </a:rPr>
              <a:t>alex</a:t>
            </a:r>
            <a:r>
              <a:rPr lang="en-US" sz="1800" b="0" i="0" u="none" strike="noStrike" dirty="0">
                <a:solidFill>
                  <a:srgbClr val="000000"/>
                </a:solidFill>
                <a:effectLst/>
                <a:latin typeface="Arial" panose="020B0604020202020204" pitchFamily="34" charset="0"/>
              </a:rPr>
              <a:t> for the wonderful presentation of problem-finding. </a:t>
            </a:r>
            <a:endParaRPr lang="en-US" sz="3200" b="0" dirty="0">
              <a:effectLst/>
            </a:endParaRPr>
          </a:p>
          <a:p>
            <a:pPr rtl="0">
              <a:buNone/>
            </a:pPr>
            <a:endParaRPr lang="en-US" sz="1800" b="0" i="0" u="none" strike="noStrike" dirty="0">
              <a:solidFill>
                <a:srgbClr val="000000"/>
              </a:solidFill>
              <a:effectLst/>
              <a:latin typeface="Arial" panose="020B0604020202020204" pitchFamily="34" charset="0"/>
            </a:endParaRPr>
          </a:p>
          <a:p>
            <a:pPr rtl="0">
              <a:buNone/>
            </a:pPr>
            <a:r>
              <a:rPr lang="en-US" sz="1800" b="0" i="0" u="none" strike="noStrike" dirty="0">
                <a:solidFill>
                  <a:srgbClr val="000000"/>
                </a:solidFill>
                <a:effectLst/>
                <a:latin typeface="Arial" panose="020B0604020202020204" pitchFamily="34" charset="0"/>
              </a:rPr>
              <a:t>In this section, we would focus on how the search space for creative tasks is navigated.</a:t>
            </a:r>
            <a:endParaRPr lang="en-US" sz="3200" b="0" dirty="0">
              <a:effectLst/>
            </a:endParaRPr>
          </a:p>
          <a:p>
            <a:pPr>
              <a:buNone/>
            </a:pPr>
            <a:br>
              <a:rPr lang="en-US" sz="3200" b="0" dirty="0">
                <a:effectLst/>
              </a:rPr>
            </a:b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some info about myself. </a:t>
            </a:r>
          </a:p>
        </p:txBody>
      </p:sp>
      <p:sp>
        <p:nvSpPr>
          <p:cNvPr id="5" name="Header Placeholder 4">
            <a:extLst>
              <a:ext uri="{FF2B5EF4-FFF2-40B4-BE49-F238E27FC236}">
                <a16:creationId xmlns:a16="http://schemas.microsoft.com/office/drawing/2014/main" id="{556DCE1F-FAB0-DB46-49D7-440C88C03621}"/>
              </a:ext>
            </a:extLst>
          </p:cNvPr>
          <p:cNvSpPr>
            <a:spLocks noGrp="1"/>
          </p:cNvSpPr>
          <p:nvPr>
            <p:ph type="hdr" sz="quarter"/>
          </p:nvPr>
        </p:nvSpPr>
        <p:spPr/>
        <p:txBody>
          <a:bodyPr/>
          <a:lstStyle/>
          <a:p>
            <a:r>
              <a:rPr lang="en-US"/>
              <a:t>Augment API Shortlisting with Multi-form Groundings </a:t>
            </a:r>
          </a:p>
        </p:txBody>
      </p:sp>
    </p:spTree>
    <p:extLst>
      <p:ext uri="{BB962C8B-B14F-4D97-AF65-F5344CB8AC3E}">
        <p14:creationId xmlns:p14="http://schemas.microsoft.com/office/powerpoint/2010/main" val="634873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B548C-B8CB-BAAE-66E3-FEBCF9E31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F96A5-5D3E-C0E0-CE6F-D08569A17D9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D7A4FA-7E3A-65EA-88D6-571AB8052A6D}"/>
              </a:ext>
            </a:extLst>
          </p:cNvPr>
          <p:cNvSpPr>
            <a:spLocks noGrp="1"/>
          </p:cNvSpPr>
          <p:nvPr>
            <p:ph type="body" idx="1"/>
          </p:nvPr>
        </p:nvSpPr>
        <p:spPr/>
        <p:txBody>
          <a:bodyPr/>
          <a:lstStyle/>
          <a:p>
            <a:pPr rtl="0">
              <a:buNone/>
            </a:pPr>
            <a:r>
              <a:rPr lang="en-US" sz="1800" b="0" i="0" u="none" strike="noStrike" dirty="0">
                <a:solidFill>
                  <a:srgbClr val="000000"/>
                </a:solidFill>
                <a:effectLst/>
                <a:latin typeface="Arial" panose="020B0604020202020204" pitchFamily="34" charset="0"/>
              </a:rPr>
              <a:t>Let’s ground ourselves in </a:t>
            </a:r>
            <a:r>
              <a:rPr lang="en-US" sz="1800" b="0" i="1" u="none" strike="noStrike" dirty="0">
                <a:solidFill>
                  <a:srgbClr val="000000"/>
                </a:solidFill>
                <a:effectLst/>
                <a:latin typeface="Arial" panose="020B0604020202020204" pitchFamily="34" charset="0"/>
              </a:rPr>
              <a:t>why</a:t>
            </a:r>
            <a:r>
              <a:rPr lang="en-US" sz="1800" b="0" i="0" u="none" strike="noStrike" dirty="0">
                <a:solidFill>
                  <a:srgbClr val="000000"/>
                </a:solidFill>
                <a:effectLst/>
                <a:latin typeface="Arial" panose="020B0604020202020204" pitchFamily="34" charset="0"/>
              </a:rPr>
              <a:t> creative planning is hard. Two killer constraints dominate every domain on this slide: the </a:t>
            </a:r>
            <a:r>
              <a:rPr lang="en-US" sz="1800" b="1" i="0" u="none" strike="noStrike" dirty="0">
                <a:solidFill>
                  <a:srgbClr val="000000"/>
                </a:solidFill>
                <a:effectLst/>
                <a:latin typeface="Arial" panose="020B0604020202020204" pitchFamily="34" charset="0"/>
              </a:rPr>
              <a:t>search space is either unknown or effectively infinite</a:t>
            </a:r>
            <a:r>
              <a:rPr lang="en-US" sz="1800" b="0" i="0" u="none" strike="noStrike" dirty="0">
                <a:solidFill>
                  <a:srgbClr val="000000"/>
                </a:solidFill>
                <a:effectLst/>
                <a:latin typeface="Arial" panose="020B0604020202020204" pitchFamily="34" charset="0"/>
              </a:rPr>
              <a:t>, and the </a:t>
            </a:r>
            <a:r>
              <a:rPr lang="en-US" sz="1800" b="1" i="0" u="none" strike="noStrike" dirty="0">
                <a:solidFill>
                  <a:srgbClr val="000000"/>
                </a:solidFill>
                <a:effectLst/>
                <a:latin typeface="Arial" panose="020B0604020202020204" pitchFamily="34" charset="0"/>
              </a:rPr>
              <a:t>reward signal is extremely sparse</a:t>
            </a:r>
            <a:r>
              <a:rPr lang="en-US" sz="1800" b="0" i="0" u="none" strike="noStrike" dirty="0">
                <a:solidFill>
                  <a:srgbClr val="000000"/>
                </a:solidFill>
                <a:effectLst/>
                <a:latin typeface="Arial" panose="020B0604020202020204" pitchFamily="34" charset="0"/>
              </a:rPr>
              <a:t>.</a:t>
            </a:r>
            <a:endParaRPr lang="en-US" b="0" dirty="0">
              <a:effectLst/>
            </a:endParaRPr>
          </a:p>
          <a:p>
            <a:pPr rtl="0">
              <a:buNone/>
            </a:pPr>
            <a:endParaRPr lang="en-US" sz="1800" b="0" i="0" u="none" strike="noStrike" dirty="0">
              <a:solidFill>
                <a:srgbClr val="000000"/>
              </a:solidFill>
              <a:effectLst/>
              <a:latin typeface="Arial" panose="020B0604020202020204" pitchFamily="34" charset="0"/>
            </a:endParaRPr>
          </a:p>
          <a:p>
            <a:pPr rtl="0">
              <a:buNone/>
            </a:pPr>
            <a:r>
              <a:rPr lang="en-US" sz="1800" b="0" i="0" u="none" strike="noStrike" dirty="0">
                <a:solidFill>
                  <a:srgbClr val="000000"/>
                </a:solidFill>
                <a:effectLst/>
                <a:latin typeface="Arial" panose="020B0604020202020204" pitchFamily="34" charset="0"/>
              </a:rPr>
              <a:t>Here we list three examples of creative tasks, writing, information gathering, and ai research assistant. </a:t>
            </a:r>
            <a:endParaRPr lang="en-US" b="0" dirty="0">
              <a:effectLst/>
            </a:endParaRPr>
          </a:p>
          <a:p>
            <a:pPr>
              <a:buNone/>
            </a:pPr>
            <a:br>
              <a:rPr lang="en-US" b="0" dirty="0">
                <a:effectLst/>
              </a:rPr>
            </a:br>
            <a:br>
              <a:rPr lang="en-US" b="0" dirty="0">
                <a:effectLst/>
              </a:rPr>
            </a:br>
            <a:br>
              <a:rPr lang="en-US" b="0" dirty="0">
                <a:effectLst/>
              </a:rPr>
            </a:br>
            <a:br>
              <a:rPr lang="en-US" b="0" dirty="0">
                <a:effectLst/>
              </a:rPr>
            </a:br>
            <a:endParaRPr lang="en-US" dirty="0"/>
          </a:p>
        </p:txBody>
      </p:sp>
    </p:spTree>
    <p:extLst>
      <p:ext uri="{BB962C8B-B14F-4D97-AF65-F5344CB8AC3E}">
        <p14:creationId xmlns:p14="http://schemas.microsoft.com/office/powerpoint/2010/main" val="3689152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fontAlgn="base">
              <a:buFont typeface="+mj-lt"/>
              <a:buAutoNum type="arabicPeriod"/>
            </a:pPr>
            <a:r>
              <a:rPr lang="en-US" sz="1100" b="0" i="0" u="none" strike="noStrike" dirty="0">
                <a:solidFill>
                  <a:srgbClr val="000000"/>
                </a:solidFill>
                <a:effectLst/>
                <a:latin typeface="Arial" panose="020B0604020202020204" pitchFamily="34" charset="0"/>
              </a:rPr>
              <a:t>Here the search space for creative writing task is </a:t>
            </a:r>
            <a:r>
              <a:rPr lang="en-US" sz="1100" b="0" i="1" u="none" strike="noStrike" dirty="0">
                <a:solidFill>
                  <a:srgbClr val="000000"/>
                </a:solidFill>
                <a:effectLst/>
                <a:latin typeface="Arial" panose="020B0604020202020204" pitchFamily="34" charset="0"/>
              </a:rPr>
              <a:t>~infinite</a:t>
            </a:r>
            <a:r>
              <a:rPr lang="en-US" sz="1100" b="0" i="0" u="none" strike="noStrike" dirty="0">
                <a:solidFill>
                  <a:srgbClr val="000000"/>
                </a:solidFill>
                <a:effectLst/>
                <a:latin typeface="Arial" panose="020B0604020202020204" pitchFamily="34" charset="0"/>
              </a:rPr>
              <a:t>. Any sequence of tokens is theoretically valid, so brute-force exploration is impossible. The monkey-at-a-typewriter icon is a reminder of that combinatorial explosion in search space.</a:t>
            </a:r>
          </a:p>
          <a:p>
            <a:pPr marL="742950" lvl="1" indent="-285750" rtl="0" fontAlgn="base">
              <a:buFont typeface="+mj-lt"/>
              <a:buAutoNum type="arabicPeriod"/>
            </a:pPr>
            <a:r>
              <a:rPr lang="en-US" sz="1100" b="0" i="0" u="none" strike="noStrike" dirty="0">
                <a:solidFill>
                  <a:srgbClr val="000000"/>
                </a:solidFill>
                <a:effectLst/>
                <a:latin typeface="Arial" panose="020B0604020202020204" pitchFamily="34" charset="0"/>
              </a:rPr>
              <a:t>But what even </a:t>
            </a:r>
            <a:r>
              <a:rPr lang="en-US" sz="1100" b="0" i="1" u="none" strike="noStrike" dirty="0">
                <a:solidFill>
                  <a:srgbClr val="000000"/>
                </a:solidFill>
                <a:effectLst/>
                <a:latin typeface="Arial" panose="020B0604020202020204" pitchFamily="34" charset="0"/>
              </a:rPr>
              <a:t>is</a:t>
            </a:r>
            <a:r>
              <a:rPr lang="en-US" sz="1100" b="0" i="0" u="none" strike="noStrike" dirty="0">
                <a:solidFill>
                  <a:srgbClr val="000000"/>
                </a:solidFill>
                <a:effectLst/>
                <a:latin typeface="Arial" panose="020B0604020202020204" pitchFamily="34" charset="0"/>
              </a:rPr>
              <a:t> a ‘reward’ for writing tasks. </a:t>
            </a:r>
          </a:p>
          <a:p>
            <a:pPr marL="742950" lvl="1" indent="-285750" rtl="0" fontAlgn="base">
              <a:buFont typeface="+mj-lt"/>
              <a:buAutoNum type="arabicPeriod"/>
            </a:pPr>
            <a:r>
              <a:rPr lang="en-US" sz="1100" b="0" i="0" u="none" strike="noStrike" dirty="0">
                <a:solidFill>
                  <a:srgbClr val="000000"/>
                </a:solidFill>
                <a:effectLst/>
                <a:latin typeface="Arial" panose="020B0604020202020204" pitchFamily="34" charset="0"/>
              </a:rPr>
              <a:t>? Coherence? Reader engagement? </a:t>
            </a:r>
          </a:p>
          <a:p>
            <a:pPr rtl="0" fontAlgn="base">
              <a:buFont typeface="+mj-lt"/>
              <a:buAutoNum type="arabicPeriod"/>
            </a:pPr>
            <a:r>
              <a:rPr lang="en-US" sz="1100" b="0" i="0" u="none" strike="noStrike" dirty="0">
                <a:solidFill>
                  <a:srgbClr val="000000"/>
                </a:solidFill>
                <a:effectLst/>
                <a:latin typeface="Arial" panose="020B0604020202020204" pitchFamily="34" charset="0"/>
              </a:rPr>
              <a:t>When the task is information gathering, for example, </a:t>
            </a:r>
            <a:r>
              <a:rPr lang="en-US" sz="1100" b="0" i="0" u="none" strike="noStrike" dirty="0" err="1">
                <a:solidFill>
                  <a:srgbClr val="000000"/>
                </a:solidFill>
                <a:effectLst/>
                <a:latin typeface="Arial" panose="020B0604020202020204" pitchFamily="34" charset="0"/>
              </a:rPr>
              <a:t>deepresearch</a:t>
            </a:r>
            <a:r>
              <a:rPr lang="en-US" sz="1100" b="0" i="0" u="none" strike="noStrike" dirty="0">
                <a:solidFill>
                  <a:srgbClr val="000000"/>
                </a:solidFill>
                <a:effectLst/>
                <a:latin typeface="Arial" panose="020B0604020202020204" pitchFamily="34" charset="0"/>
              </a:rPr>
              <a:t> of ChatGPT, the search space becomes the entire internet—millions of pages with uncertain credibility.</a:t>
            </a:r>
          </a:p>
          <a:p>
            <a:pPr marL="742950" lvl="1" indent="-285750" rtl="0" fontAlgn="base">
              <a:buFont typeface="+mj-lt"/>
              <a:buAutoNum type="arabicPeriod"/>
            </a:pPr>
            <a:r>
              <a:rPr lang="en-US" sz="1100" b="0" i="0" u="none" strike="noStrike" dirty="0">
                <a:solidFill>
                  <a:srgbClr val="000000"/>
                </a:solidFill>
                <a:effectLst/>
                <a:latin typeface="Arial" panose="020B0604020202020204" pitchFamily="34" charset="0"/>
              </a:rPr>
              <a:t>Rewards come only when we cite the right paper or answer the user’s question—events that occur sparsely amid a sea of irrelevant links.</a:t>
            </a:r>
          </a:p>
          <a:p>
            <a:pPr rtl="0" fontAlgn="base">
              <a:buFont typeface="+mj-lt"/>
              <a:buAutoNum type="arabicPeriod"/>
            </a:pPr>
            <a:r>
              <a:rPr lang="en-US" sz="1100" b="0" i="0" u="none" strike="noStrike" dirty="0">
                <a:solidFill>
                  <a:srgbClr val="000000"/>
                </a:solidFill>
                <a:effectLst/>
                <a:latin typeface="Arial" panose="020B0604020202020204" pitchFamily="34" charset="0"/>
              </a:rPr>
              <a:t>And also, if we use LLM as scientific research assistant that helps generate research ideas and hypothesis. Now we are adding structured databases—protein catalogs, materials datasets—and the open web. The space is even larger and more heterogeneous.</a:t>
            </a:r>
          </a:p>
          <a:p>
            <a:pPr marL="742950" lvl="1" indent="-285750" rtl="0" fontAlgn="base">
              <a:buFont typeface="+mj-lt"/>
              <a:buAutoNum type="arabicPeriod"/>
            </a:pPr>
            <a:r>
              <a:rPr lang="en-US" sz="1100" b="0" i="0" u="none" strike="noStrike" dirty="0">
                <a:solidFill>
                  <a:srgbClr val="000000"/>
                </a:solidFill>
                <a:effectLst/>
                <a:latin typeface="Arial" panose="020B0604020202020204" pitchFamily="34" charset="0"/>
              </a:rPr>
              <a:t>The reward criteria is complicated and ambiguous in this case. For example, whether a hypothesis is scientifically solid and interesting.</a:t>
            </a:r>
          </a:p>
          <a:p>
            <a:pPr rtl="0">
              <a:buNone/>
            </a:pPr>
            <a:br>
              <a:rPr lang="en-US" b="0" dirty="0">
                <a:effectLst/>
              </a:rPr>
            </a:br>
            <a:r>
              <a:rPr lang="en-US" sz="1100" b="0" i="0" u="none" strike="noStrike" dirty="0">
                <a:solidFill>
                  <a:srgbClr val="000000"/>
                </a:solidFill>
                <a:effectLst/>
                <a:latin typeface="Arial" panose="020B0604020202020204" pitchFamily="34" charset="0"/>
              </a:rPr>
              <a:t>So, across domains we face a paradox: </a:t>
            </a:r>
            <a:r>
              <a:rPr lang="en-US" sz="1100" b="0" i="1" u="none" strike="noStrike" dirty="0">
                <a:solidFill>
                  <a:srgbClr val="000000"/>
                </a:solidFill>
                <a:effectLst/>
                <a:latin typeface="Arial" panose="020B0604020202020204" pitchFamily="34" charset="0"/>
              </a:rPr>
              <a:t>unbounded action spaces</a:t>
            </a:r>
            <a:r>
              <a:rPr lang="en-US" sz="1100" b="0" i="0" u="none" strike="noStrike" dirty="0">
                <a:solidFill>
                  <a:srgbClr val="000000"/>
                </a:solidFill>
                <a:effectLst/>
                <a:latin typeface="Arial" panose="020B0604020202020204" pitchFamily="34" charset="0"/>
              </a:rPr>
              <a:t> coupled with </a:t>
            </a:r>
            <a:r>
              <a:rPr lang="en-US" sz="1100" b="0" i="1" u="none" strike="noStrike" dirty="0">
                <a:solidFill>
                  <a:srgbClr val="000000"/>
                </a:solidFill>
                <a:effectLst/>
                <a:latin typeface="Arial" panose="020B0604020202020204" pitchFamily="34" charset="0"/>
              </a:rPr>
              <a:t>needle-in-a-haystack rewards</a:t>
            </a:r>
            <a:r>
              <a:rPr lang="en-US" sz="1100" b="0" i="0" u="none" strike="noStrike" dirty="0">
                <a:solidFill>
                  <a:srgbClr val="000000"/>
                </a:solidFill>
                <a:effectLst/>
                <a:latin typeface="Arial" panose="020B0604020202020204" pitchFamily="34" charset="0"/>
              </a:rPr>
              <a:t>. Any effective agent must therefore marry </a:t>
            </a:r>
            <a:r>
              <a:rPr lang="en-US" sz="1100" b="1" i="0" u="none" strike="noStrike" dirty="0">
                <a:solidFill>
                  <a:srgbClr val="000000"/>
                </a:solidFill>
                <a:effectLst/>
                <a:latin typeface="Arial" panose="020B0604020202020204" pitchFamily="34" charset="0"/>
              </a:rPr>
              <a:t>smart exploration</a:t>
            </a:r>
            <a:r>
              <a:rPr lang="en-US" sz="1100" b="0" i="0" u="none" strike="noStrike" dirty="0">
                <a:solidFill>
                  <a:srgbClr val="000000"/>
                </a:solidFill>
                <a:effectLst/>
                <a:latin typeface="Arial" panose="020B0604020202020204" pitchFamily="34" charset="0"/>
              </a:rPr>
              <a:t> with </a:t>
            </a:r>
            <a:r>
              <a:rPr lang="en-US" sz="1100" b="1" i="0" u="none" strike="noStrike" dirty="0">
                <a:solidFill>
                  <a:srgbClr val="000000"/>
                </a:solidFill>
                <a:effectLst/>
                <a:latin typeface="Arial" panose="020B0604020202020204" pitchFamily="34" charset="0"/>
              </a:rPr>
              <a:t>informative proxies</a:t>
            </a:r>
            <a:r>
              <a:rPr lang="en-US" sz="1100" b="0" i="0" u="none" strike="noStrike" dirty="0">
                <a:solidFill>
                  <a:srgbClr val="000000"/>
                </a:solidFill>
                <a:effectLst/>
                <a:latin typeface="Arial" panose="020B0604020202020204" pitchFamily="34" charset="0"/>
              </a:rPr>
              <a:t> for reward.</a:t>
            </a:r>
            <a:endParaRPr lang="en-US" b="0" dirty="0">
              <a:effectLst/>
            </a:endParaRPr>
          </a:p>
          <a:p>
            <a:pPr rtl="0">
              <a:spcBef>
                <a:spcPts val="1200"/>
              </a:spcBef>
              <a:spcAft>
                <a:spcPts val="1200"/>
              </a:spcAft>
              <a:buNone/>
            </a:pPr>
            <a:r>
              <a:rPr lang="en-US" sz="1100" b="0" i="0" u="none" strike="noStrike" dirty="0">
                <a:solidFill>
                  <a:srgbClr val="000000"/>
                </a:solidFill>
                <a:effectLst/>
                <a:latin typeface="Arial" panose="020B0604020202020204" pitchFamily="34" charset="0"/>
              </a:rPr>
              <a:t>In the rest of the talk, I’ll show how constraint-following, hierarchical planning, and human-workflow priors tackle exactly these two pain points.</a:t>
            </a:r>
            <a:endParaRPr lang="en-US" b="0" dirty="0">
              <a:effectLst/>
            </a:endParaRPr>
          </a:p>
          <a:p>
            <a:pPr>
              <a:buNone/>
            </a:pPr>
            <a:br>
              <a:rPr lang="en-US" b="0" dirty="0">
                <a:effectLst/>
              </a:rPr>
            </a:br>
            <a:endParaRPr lang="en-US" dirty="0"/>
          </a:p>
        </p:txBody>
      </p:sp>
    </p:spTree>
    <p:extLst>
      <p:ext uri="{BB962C8B-B14F-4D97-AF65-F5344CB8AC3E}">
        <p14:creationId xmlns:p14="http://schemas.microsoft.com/office/powerpoint/2010/main" val="3143211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9">
          <a:extLst>
            <a:ext uri="{FF2B5EF4-FFF2-40B4-BE49-F238E27FC236}">
              <a16:creationId xmlns:a16="http://schemas.microsoft.com/office/drawing/2014/main" id="{77158A13-7C2F-271D-FB67-845297BA8F3D}"/>
            </a:ext>
          </a:extLst>
        </p:cNvPr>
        <p:cNvGrpSpPr/>
        <p:nvPr/>
      </p:nvGrpSpPr>
      <p:grpSpPr>
        <a:xfrm>
          <a:off x="0" y="0"/>
          <a:ext cx="0" cy="0"/>
          <a:chOff x="0" y="0"/>
          <a:chExt cx="0" cy="0"/>
        </a:xfrm>
      </p:grpSpPr>
      <p:sp>
        <p:nvSpPr>
          <p:cNvPr id="1830" name="Google Shape;1830;g35268cca5bc_0_115:notes">
            <a:extLst>
              <a:ext uri="{FF2B5EF4-FFF2-40B4-BE49-F238E27FC236}">
                <a16:creationId xmlns:a16="http://schemas.microsoft.com/office/drawing/2014/main" id="{A4CB5ED8-AF2E-2776-480D-329B637B30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1" name="Google Shape;1831;g35268cca5bc_0_115:notes">
            <a:extLst>
              <a:ext uri="{FF2B5EF4-FFF2-40B4-BE49-F238E27FC236}">
                <a16:creationId xmlns:a16="http://schemas.microsoft.com/office/drawing/2014/main" id="{4EEC6B04-248E-6836-C6CC-5A73C3DFB0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buNone/>
            </a:pPr>
            <a:r>
              <a:rPr lang="en-US" sz="1800" b="0" i="0" u="none" strike="noStrike" dirty="0">
                <a:solidFill>
                  <a:srgbClr val="000000"/>
                </a:solidFill>
                <a:effectLst/>
                <a:latin typeface="Arial" panose="020B0604020202020204" pitchFamily="34" charset="0"/>
              </a:rPr>
              <a:t>In conventional planning tasks we know the map and the reward layout, but in creative settings both the </a:t>
            </a:r>
            <a:r>
              <a:rPr lang="en-US" sz="1800" b="1" i="0" u="none" strike="noStrike" dirty="0">
                <a:solidFill>
                  <a:srgbClr val="000000"/>
                </a:solidFill>
                <a:effectLst/>
                <a:latin typeface="Arial" panose="020B0604020202020204" pitchFamily="34" charset="0"/>
              </a:rPr>
              <a:t>search space</a:t>
            </a:r>
            <a:r>
              <a:rPr lang="en-US" sz="1800" b="0" i="0" u="none" strike="noStrike" dirty="0">
                <a:solidFill>
                  <a:srgbClr val="000000"/>
                </a:solidFill>
                <a:effectLst/>
                <a:latin typeface="Arial" panose="020B0604020202020204" pitchFamily="34" charset="0"/>
              </a:rPr>
              <a:t> and the </a:t>
            </a:r>
            <a:r>
              <a:rPr lang="en-US" sz="1800" b="1" i="0" u="none" strike="noStrike" dirty="0">
                <a:solidFill>
                  <a:srgbClr val="000000"/>
                </a:solidFill>
                <a:effectLst/>
                <a:latin typeface="Arial" panose="020B0604020202020204" pitchFamily="34" charset="0"/>
              </a:rPr>
              <a:t>reward signals</a:t>
            </a:r>
            <a:r>
              <a:rPr lang="en-US" sz="1800" b="0" i="0" u="none" strike="noStrike" dirty="0">
                <a:solidFill>
                  <a:srgbClr val="000000"/>
                </a:solidFill>
                <a:effectLst/>
                <a:latin typeface="Arial" panose="020B0604020202020204" pitchFamily="34" charset="0"/>
              </a:rPr>
              <a:t> are largely </a:t>
            </a:r>
            <a:r>
              <a:rPr lang="en-US" sz="1800" b="0" i="1" u="none" strike="noStrike" dirty="0">
                <a:solidFill>
                  <a:srgbClr val="000000"/>
                </a:solidFill>
                <a:effectLst/>
                <a:latin typeface="Arial" panose="020B0604020202020204" pitchFamily="34" charset="0"/>
              </a:rPr>
              <a:t>unknown</a:t>
            </a:r>
            <a:r>
              <a:rPr lang="en-US" sz="1800" b="0" i="0" u="none" strike="noStrike" dirty="0">
                <a:solidFill>
                  <a:srgbClr val="000000"/>
                </a:solidFill>
                <a:effectLst/>
                <a:latin typeface="Arial" panose="020B0604020202020204" pitchFamily="34" charset="0"/>
              </a:rPr>
              <a:t> or </a:t>
            </a:r>
            <a:r>
              <a:rPr lang="en-US" sz="1800" b="0" i="1" u="none" strike="noStrike" dirty="0">
                <a:solidFill>
                  <a:srgbClr val="000000"/>
                </a:solidFill>
                <a:effectLst/>
                <a:latin typeface="Arial" panose="020B0604020202020204" pitchFamily="34" charset="0"/>
              </a:rPr>
              <a:t>sparse</a:t>
            </a:r>
            <a:r>
              <a:rPr lang="en-US" sz="1800" b="0" i="0" u="none" strike="noStrike" dirty="0">
                <a:solidFill>
                  <a:srgbClr val="000000"/>
                </a:solidFill>
                <a:effectLst/>
                <a:latin typeface="Arial" panose="020B0604020202020204" pitchFamily="34" charset="0"/>
              </a:rPr>
              <a:t> ​.</a:t>
            </a:r>
            <a:endParaRPr lang="en-US" b="0" dirty="0">
              <a:effectLst/>
            </a:endParaRPr>
          </a:p>
          <a:p>
            <a:pPr>
              <a:buNone/>
            </a:pPr>
            <a:br>
              <a:rPr lang="en-US" dirty="0"/>
            </a:br>
            <a:endParaRPr dirty="0"/>
          </a:p>
        </p:txBody>
      </p:sp>
    </p:spTree>
    <p:extLst>
      <p:ext uri="{BB962C8B-B14F-4D97-AF65-F5344CB8AC3E}">
        <p14:creationId xmlns:p14="http://schemas.microsoft.com/office/powerpoint/2010/main" val="357188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buNone/>
            </a:pPr>
            <a:r>
              <a:rPr lang="en-US" sz="1800" b="0" i="0" u="none" strike="noStrike" dirty="0">
                <a:solidFill>
                  <a:srgbClr val="000000"/>
                </a:solidFill>
                <a:effectLst/>
                <a:latin typeface="Arial" panose="020B0604020202020204" pitchFamily="34" charset="0"/>
              </a:rPr>
              <a:t>As the field of creativity research expanded beyond problem-finding, researchers in the earlier 90s explored how humans take novel problem-solving approaches. One such example is the </a:t>
            </a:r>
            <a:r>
              <a:rPr lang="en-US" sz="1800" b="0" i="0" u="none" strike="noStrike" dirty="0" err="1">
                <a:solidFill>
                  <a:srgbClr val="000000"/>
                </a:solidFill>
                <a:effectLst/>
                <a:latin typeface="Arial" panose="020B0604020202020204" pitchFamily="34" charset="0"/>
              </a:rPr>
              <a:t>Geneplore</a:t>
            </a:r>
            <a:r>
              <a:rPr lang="en-US" sz="1800" b="0" i="0" u="none" strike="noStrike" dirty="0">
                <a:solidFill>
                  <a:srgbClr val="000000"/>
                </a:solidFill>
                <a:effectLst/>
                <a:latin typeface="Arial" panose="020B0604020202020204" pitchFamily="34" charset="0"/>
              </a:rPr>
              <a:t> Model, developed by Finke et al in 1992. </a:t>
            </a:r>
            <a:br>
              <a:rPr lang="en-US" sz="1800" b="0" i="0" u="none" strike="noStrike" dirty="0">
                <a:solidFill>
                  <a:srgbClr val="000000"/>
                </a:solidFill>
                <a:effectLst/>
                <a:latin typeface="Arial" panose="020B0604020202020204" pitchFamily="34" charset="0"/>
              </a:rPr>
            </a:b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In this model, humans first conceptualize shapes, images and actions (Generation of </a:t>
            </a:r>
            <a:r>
              <a:rPr lang="en-US" sz="1800" b="0" i="0" u="none" strike="noStrike" dirty="0" err="1">
                <a:solidFill>
                  <a:srgbClr val="000000"/>
                </a:solidFill>
                <a:effectLst/>
                <a:latin typeface="Arial" panose="020B0604020202020204" pitchFamily="34" charset="0"/>
              </a:rPr>
              <a:t>preinventive</a:t>
            </a:r>
            <a:r>
              <a:rPr lang="en-US" sz="1800" b="0" i="0" u="none" strike="noStrike" dirty="0">
                <a:solidFill>
                  <a:srgbClr val="000000"/>
                </a:solidFill>
                <a:effectLst/>
                <a:latin typeface="Arial" panose="020B0604020202020204" pitchFamily="34" charset="0"/>
              </a:rPr>
              <a:t> structures) and then explore novel combinations of them (exploration). We will build off of this model in this section, and explore ways we can </a:t>
            </a:r>
            <a:r>
              <a:rPr lang="en-US" sz="1800" b="1" i="0" u="none" strike="noStrike" dirty="0">
                <a:solidFill>
                  <a:srgbClr val="000000"/>
                </a:solidFill>
                <a:effectLst/>
                <a:latin typeface="Arial" panose="020B0604020202020204" pitchFamily="34" charset="0"/>
              </a:rPr>
              <a:t>creatively define and explore action spaces in the creative process</a:t>
            </a:r>
            <a:r>
              <a:rPr lang="en-US" sz="1800" b="0" i="0" u="none" strike="noStrike" dirty="0">
                <a:solidFill>
                  <a:srgbClr val="000000"/>
                </a:solidFill>
                <a:effectLst/>
                <a:latin typeface="Arial" panose="020B0604020202020204" pitchFamily="34" charset="0"/>
              </a:rPr>
              <a:t>.</a:t>
            </a:r>
            <a:endParaRPr lang="en-US" b="0" dirty="0">
              <a:effectLst/>
            </a:endParaRPr>
          </a:p>
          <a:p>
            <a:pPr>
              <a:buNone/>
            </a:pPr>
            <a:br>
              <a:rPr lang="en-US" dirty="0"/>
            </a:br>
            <a:endParaRPr lang="en-US" dirty="0"/>
          </a:p>
        </p:txBody>
      </p:sp>
    </p:spTree>
    <p:extLst>
      <p:ext uri="{BB962C8B-B14F-4D97-AF65-F5344CB8AC3E}">
        <p14:creationId xmlns:p14="http://schemas.microsoft.com/office/powerpoint/2010/main" val="2461419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In the rest of the talk, I’ll talk how search, </a:t>
            </a:r>
            <a:r>
              <a:rPr lang="en-US" sz="1800" b="0" i="0" u="none" strike="noStrike" dirty="0" err="1">
                <a:solidFill>
                  <a:srgbClr val="000000"/>
                </a:solidFill>
                <a:effectLst/>
                <a:latin typeface="Arial" panose="020B0604020202020204" pitchFamily="34" charset="0"/>
              </a:rPr>
              <a:t>hierachical</a:t>
            </a:r>
            <a:r>
              <a:rPr lang="en-US" sz="1800" b="0" i="0" u="none" strike="noStrike" dirty="0">
                <a:solidFill>
                  <a:srgbClr val="000000"/>
                </a:solidFill>
                <a:effectLst/>
                <a:latin typeface="Arial" panose="020B0604020202020204" pitchFamily="34" charset="0"/>
              </a:rPr>
              <a:t> planning are going to help models find creative paths in the search space. and </a:t>
            </a:r>
            <a:r>
              <a:rPr lang="en-US" sz="1800" b="0" i="0" u="none" strike="noStrike" dirty="0" err="1">
                <a:solidFill>
                  <a:srgbClr val="000000"/>
                </a:solidFill>
                <a:effectLst/>
                <a:latin typeface="Arial" panose="020B0604020202020204" pitchFamily="34" charset="0"/>
              </a:rPr>
              <a:t>prefossor</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nanyun</a:t>
            </a:r>
            <a:r>
              <a:rPr lang="en-US" sz="1800" b="0" i="0" u="none" strike="noStrike" dirty="0">
                <a:solidFill>
                  <a:srgbClr val="000000"/>
                </a:solidFill>
                <a:effectLst/>
                <a:latin typeface="Arial" panose="020B0604020202020204" pitchFamily="34" charset="0"/>
              </a:rPr>
              <a:t> Peng will talk about how constraint-following enhances model creativity.</a:t>
            </a:r>
            <a:endParaRPr lang="en-US" b="0" dirty="0">
              <a:effectLst/>
            </a:endParaRPr>
          </a:p>
          <a:p>
            <a:pPr>
              <a:buNone/>
            </a:pPr>
            <a:br>
              <a:rPr lang="en-US" dirty="0"/>
            </a:br>
            <a:endParaRPr lang="en-US" dirty="0"/>
          </a:p>
        </p:txBody>
      </p:sp>
    </p:spTree>
    <p:extLst>
      <p:ext uri="{BB962C8B-B14F-4D97-AF65-F5344CB8AC3E}">
        <p14:creationId xmlns:p14="http://schemas.microsoft.com/office/powerpoint/2010/main" val="1971670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5">
          <a:extLst>
            <a:ext uri="{FF2B5EF4-FFF2-40B4-BE49-F238E27FC236}">
              <a16:creationId xmlns:a16="http://schemas.microsoft.com/office/drawing/2014/main" id="{12ADDECC-7EEB-B05C-7CB2-FD53509BD5CA}"/>
            </a:ext>
          </a:extLst>
        </p:cNvPr>
        <p:cNvGrpSpPr/>
        <p:nvPr/>
      </p:nvGrpSpPr>
      <p:grpSpPr>
        <a:xfrm>
          <a:off x="0" y="0"/>
          <a:ext cx="0" cy="0"/>
          <a:chOff x="0" y="0"/>
          <a:chExt cx="0" cy="0"/>
        </a:xfrm>
      </p:grpSpPr>
      <p:sp>
        <p:nvSpPr>
          <p:cNvPr id="2786" name="Google Shape;2786;g34dfae818d3_5_120:notes">
            <a:extLst>
              <a:ext uri="{FF2B5EF4-FFF2-40B4-BE49-F238E27FC236}">
                <a16:creationId xmlns:a16="http://schemas.microsoft.com/office/drawing/2014/main" id="{72B33C5D-DD2E-1BDB-AB3E-D23BA3176E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7" name="Google Shape;2787;g34dfae818d3_5_120:notes">
            <a:extLst>
              <a:ext uri="{FF2B5EF4-FFF2-40B4-BE49-F238E27FC236}">
                <a16:creationId xmlns:a16="http://schemas.microsoft.com/office/drawing/2014/main" id="{E4ACB898-8656-0FB6-8279-B8424CF3B54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2'10 First, story arcs represent the high-level plot development, such as rises and falls encountered by the main characters. We derived 7 common story arcs from literature, as listed in this table. They include rags to riches, riches to rags, man in a hole, and cinderella. //For example, in the Cinderella schema, the main character starts off in a low position, rises from adversity, faces a setback in the middle, and ultimately rises again, ending with a higher status. pause for 3 seconds</a:t>
            </a:r>
            <a:endParaRPr/>
          </a:p>
        </p:txBody>
      </p:sp>
      <p:sp>
        <p:nvSpPr>
          <p:cNvPr id="2788" name="Google Shape;2788;g34dfae818d3_5_120:notes">
            <a:extLst>
              <a:ext uri="{FF2B5EF4-FFF2-40B4-BE49-F238E27FC236}">
                <a16:creationId xmlns:a16="http://schemas.microsoft.com/office/drawing/2014/main" id="{2A048FC0-EA12-6777-5B34-66552CE9994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extLst>
      <p:ext uri="{BB962C8B-B14F-4D97-AF65-F5344CB8AC3E}">
        <p14:creationId xmlns:p14="http://schemas.microsoft.com/office/powerpoint/2010/main" val="1024892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6">
          <a:extLst>
            <a:ext uri="{FF2B5EF4-FFF2-40B4-BE49-F238E27FC236}">
              <a16:creationId xmlns:a16="http://schemas.microsoft.com/office/drawing/2014/main" id="{D860D7B0-937E-7E8F-AA02-0F367F89A361}"/>
            </a:ext>
          </a:extLst>
        </p:cNvPr>
        <p:cNvGrpSpPr/>
        <p:nvPr/>
      </p:nvGrpSpPr>
      <p:grpSpPr>
        <a:xfrm>
          <a:off x="0" y="0"/>
          <a:ext cx="0" cy="0"/>
          <a:chOff x="0" y="0"/>
          <a:chExt cx="0" cy="0"/>
        </a:xfrm>
      </p:grpSpPr>
      <p:sp>
        <p:nvSpPr>
          <p:cNvPr id="2797" name="Google Shape;2797;g34dfae818d3_5_130:notes">
            <a:extLst>
              <a:ext uri="{FF2B5EF4-FFF2-40B4-BE49-F238E27FC236}">
                <a16:creationId xmlns:a16="http://schemas.microsoft.com/office/drawing/2014/main" id="{95FE6EB6-A182-6D53-B2C8-D7D971700D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8" name="Google Shape;2798;g34dfae818d3_5_130:notes">
            <a:extLst>
              <a:ext uri="{FF2B5EF4-FFF2-40B4-BE49-F238E27FC236}">
                <a16:creationId xmlns:a16="http://schemas.microsoft.com/office/drawing/2014/main" id="{BC25E20D-7187-605D-3F37-39AC7F7479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2'50 Next, we look at meso-level turning points—these are major events that shape how the plot unfolds, like transitions between rising and falling actions. We identify five key turning points: Opportunity, Change of Plans, Point of No Return, Major Setback, and Climax. The first three focus on setting up the story or building tension, the fourth deepens the conflict, and the final one, the Climax, brings resolution.</a:t>
            </a:r>
            <a:endParaRPr/>
          </a:p>
        </p:txBody>
      </p:sp>
      <p:sp>
        <p:nvSpPr>
          <p:cNvPr id="2799" name="Google Shape;2799;g34dfae818d3_5_130:notes">
            <a:extLst>
              <a:ext uri="{FF2B5EF4-FFF2-40B4-BE49-F238E27FC236}">
                <a16:creationId xmlns:a16="http://schemas.microsoft.com/office/drawing/2014/main" id="{6045B559-6102-55C9-D785-B6488225171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28</a:t>
            </a:fld>
            <a:endParaRPr/>
          </a:p>
        </p:txBody>
      </p:sp>
    </p:spTree>
    <p:extLst>
      <p:ext uri="{BB962C8B-B14F-4D97-AF65-F5344CB8AC3E}">
        <p14:creationId xmlns:p14="http://schemas.microsoft.com/office/powerpoint/2010/main" val="1691698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9">
          <a:extLst>
            <a:ext uri="{FF2B5EF4-FFF2-40B4-BE49-F238E27FC236}">
              <a16:creationId xmlns:a16="http://schemas.microsoft.com/office/drawing/2014/main" id="{BD565926-F0DA-DB3A-45FB-46E3316229E6}"/>
            </a:ext>
          </a:extLst>
        </p:cNvPr>
        <p:cNvGrpSpPr/>
        <p:nvPr/>
      </p:nvGrpSpPr>
      <p:grpSpPr>
        <a:xfrm>
          <a:off x="0" y="0"/>
          <a:ext cx="0" cy="0"/>
          <a:chOff x="0" y="0"/>
          <a:chExt cx="0" cy="0"/>
        </a:xfrm>
      </p:grpSpPr>
      <p:sp>
        <p:nvSpPr>
          <p:cNvPr id="2900" name="Google Shape;2900;g34dfae818d3_5_224:notes">
            <a:extLst>
              <a:ext uri="{FF2B5EF4-FFF2-40B4-BE49-F238E27FC236}">
                <a16:creationId xmlns:a16="http://schemas.microsoft.com/office/drawing/2014/main" id="{9C225153-31B9-5900-EFA3-8205AFCE49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1" name="Google Shape;2901;g34dfae818d3_5_224:notes">
            <a:extLst>
              <a:ext uri="{FF2B5EF4-FFF2-40B4-BE49-F238E27FC236}">
                <a16:creationId xmlns:a16="http://schemas.microsoft.com/office/drawing/2014/main" id="{D22DEFC4-6EEF-DD78-F38E-806B98ADA2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latin typeface="Lucida Sans"/>
                <a:ea typeface="Lucida Sans"/>
                <a:cs typeface="Lucida Sans"/>
                <a:sym typeface="Lucida Sans"/>
              </a:rPr>
              <a:t>8’20 Compared to </a:t>
            </a:r>
            <a:r>
              <a:rPr lang="en" i="1">
                <a:latin typeface="Helvetica Neue"/>
                <a:ea typeface="Helvetica Neue"/>
                <a:cs typeface="Helvetica Neue"/>
                <a:sym typeface="Helvetica Neue"/>
              </a:rPr>
              <a:t>simply instructing the model to</a:t>
            </a:r>
            <a:r>
              <a:rPr lang="en" i="0">
                <a:latin typeface="Helvetica Neue"/>
                <a:ea typeface="Helvetica Neue"/>
                <a:cs typeface="Helvetica Neue"/>
                <a:sym typeface="Helvetica Neue"/>
              </a:rPr>
              <a:t> </a:t>
            </a:r>
            <a:r>
              <a:rPr lang="en" i="1">
                <a:latin typeface="Helvetica Neue"/>
                <a:ea typeface="Helvetica Neue"/>
                <a:cs typeface="Helvetica Neue"/>
                <a:sym typeface="Helvetica Neue"/>
              </a:rPr>
              <a:t>generate an outline, then expand it to a full story.</a:t>
            </a:r>
            <a:endParaRPr>
              <a:latin typeface="Helvetica Neue"/>
              <a:ea typeface="Helvetica Neue"/>
              <a:cs typeface="Helvetica Neue"/>
              <a:sym typeface="Helvetica Neue"/>
            </a:endParaRPr>
          </a:p>
          <a:p>
            <a:pPr marL="0" marR="0" lvl="0" indent="0" algn="l" rtl="0">
              <a:lnSpc>
                <a:spcPct val="100000"/>
              </a:lnSpc>
              <a:spcBef>
                <a:spcPts val="0"/>
              </a:spcBef>
              <a:spcAft>
                <a:spcPts val="0"/>
              </a:spcAft>
              <a:buClr>
                <a:schemeClr val="dk1"/>
              </a:buClr>
              <a:buSzPts val="1200"/>
              <a:buFont typeface="Lucida Sans"/>
              <a:buNone/>
            </a:pPr>
            <a:r>
              <a:rPr lang="en" sz="1200">
                <a:latin typeface="Lucida Sans"/>
                <a:ea typeface="Lucida Sans"/>
                <a:cs typeface="Lucida Sans"/>
                <a:sym typeface="Lucida Sans"/>
              </a:rPr>
              <a:t>We find that explicitly asking the model to mark these turning points during the planning stage// improves the overall narrative construction </a:t>
            </a:r>
            <a:r>
              <a:rPr lang="en"/>
              <a:t>including reduced plot holes,</a:t>
            </a:r>
            <a:r>
              <a:rPr lang="en" sz="1200">
                <a:latin typeface="Lucida Sans"/>
                <a:ea typeface="Lucida Sans"/>
                <a:cs typeface="Lucida Sans"/>
                <a:sym typeface="Lucida Sans"/>
              </a:rPr>
              <a:t> enhanced suspense level, and greater emotion provocation. </a:t>
            </a:r>
            <a:endParaRPr/>
          </a:p>
          <a:p>
            <a:pPr marL="0" marR="0" lvl="0" indent="0" algn="l" rtl="0">
              <a:lnSpc>
                <a:spcPct val="100000"/>
              </a:lnSpc>
              <a:spcBef>
                <a:spcPts val="0"/>
              </a:spcBef>
              <a:spcAft>
                <a:spcPts val="0"/>
              </a:spcAft>
              <a:buClr>
                <a:schemeClr val="dk1"/>
              </a:buClr>
              <a:buSzPts val="1200"/>
              <a:buFont typeface="Calibri"/>
              <a:buNone/>
            </a:pPr>
            <a:endParaRPr sz="1200">
              <a:latin typeface="Lucida Sans"/>
              <a:ea typeface="Lucida Sans"/>
              <a:cs typeface="Lucida Sans"/>
              <a:sym typeface="Lucida Sans"/>
            </a:endParaRPr>
          </a:p>
          <a:p>
            <a:pPr marL="0" lvl="0" indent="0" algn="l" rtl="0">
              <a:spcBef>
                <a:spcPts val="0"/>
              </a:spcBef>
              <a:spcAft>
                <a:spcPts val="0"/>
              </a:spcAft>
              <a:buNone/>
            </a:pPr>
            <a:r>
              <a:rPr lang="en" sz="1200">
                <a:latin typeface="Lucida Sans"/>
                <a:ea typeface="Lucida Sans"/>
                <a:cs typeface="Lucida Sans"/>
                <a:sym typeface="Lucida Sans"/>
              </a:rPr>
              <a:t>Interestingly, enforcing the gold turning points that human wrote didn’t further improve the quality. We realize that this is because that such enforcement </a:t>
            </a:r>
            <a:r>
              <a:rPr lang="en" i="1">
                <a:latin typeface="Helvetica Neue"/>
                <a:ea typeface="Helvetica Neue"/>
                <a:cs typeface="Helvetica Neue"/>
                <a:sym typeface="Helvetica Neue"/>
              </a:rPr>
              <a:t>could disrupt the machine’s generative flow, and make the whole plot illogical</a:t>
            </a:r>
            <a:endParaRPr>
              <a:latin typeface="Helvetica Neue"/>
              <a:ea typeface="Helvetica Neue"/>
              <a:cs typeface="Helvetica Neue"/>
              <a:sym typeface="Helvetica Neue"/>
            </a:endParaRPr>
          </a:p>
        </p:txBody>
      </p:sp>
      <p:sp>
        <p:nvSpPr>
          <p:cNvPr id="2902" name="Google Shape;2902;g34dfae818d3_5_224:notes">
            <a:extLst>
              <a:ext uri="{FF2B5EF4-FFF2-40B4-BE49-F238E27FC236}">
                <a16:creationId xmlns:a16="http://schemas.microsoft.com/office/drawing/2014/main" id="{BFC6F0C0-7370-5764-9C80-853D64D2321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29</a:t>
            </a:fld>
            <a:endParaRPr/>
          </a:p>
        </p:txBody>
      </p:sp>
    </p:spTree>
    <p:extLst>
      <p:ext uri="{BB962C8B-B14F-4D97-AF65-F5344CB8AC3E}">
        <p14:creationId xmlns:p14="http://schemas.microsoft.com/office/powerpoint/2010/main" val="3777647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2">
          <a:extLst>
            <a:ext uri="{FF2B5EF4-FFF2-40B4-BE49-F238E27FC236}">
              <a16:creationId xmlns:a16="http://schemas.microsoft.com/office/drawing/2014/main" id="{54A40885-C866-A123-BF9E-EF21424A53D0}"/>
            </a:ext>
          </a:extLst>
        </p:cNvPr>
        <p:cNvGrpSpPr/>
        <p:nvPr/>
      </p:nvGrpSpPr>
      <p:grpSpPr>
        <a:xfrm>
          <a:off x="0" y="0"/>
          <a:ext cx="0" cy="0"/>
          <a:chOff x="0" y="0"/>
          <a:chExt cx="0" cy="0"/>
        </a:xfrm>
      </p:grpSpPr>
      <p:sp>
        <p:nvSpPr>
          <p:cNvPr id="2913" name="Google Shape;2913;g34dfae818d3_5_236:notes">
            <a:extLst>
              <a:ext uri="{FF2B5EF4-FFF2-40B4-BE49-F238E27FC236}">
                <a16:creationId xmlns:a16="http://schemas.microsoft.com/office/drawing/2014/main" id="{9EAB0EE2-0080-62A9-8190-818AF04A57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4" name="Google Shape;2914;g34dfae818d3_5_236:notes">
            <a:extLst>
              <a:ext uri="{FF2B5EF4-FFF2-40B4-BE49-F238E27FC236}">
                <a16:creationId xmlns:a16="http://schemas.microsoft.com/office/drawing/2014/main" id="{86ED962E-1DC2-D520-12C9-669AECFC09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9’00 We also found that giving explicit instructions about story arc schemas helps boost diversity in four areas: theme, setting, conflict type, and characters. These results show promising future directions of improving the AI story-telling ability through discourse perspectives.</a:t>
            </a:r>
            <a:endParaRPr/>
          </a:p>
        </p:txBody>
      </p:sp>
      <p:sp>
        <p:nvSpPr>
          <p:cNvPr id="2915" name="Google Shape;2915;g34dfae818d3_5_236:notes">
            <a:extLst>
              <a:ext uri="{FF2B5EF4-FFF2-40B4-BE49-F238E27FC236}">
                <a16:creationId xmlns:a16="http://schemas.microsoft.com/office/drawing/2014/main" id="{1BF30058-6F2E-D8BE-736F-15F50DB224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30</a:t>
            </a:fld>
            <a:endParaRPr/>
          </a:p>
        </p:txBody>
      </p:sp>
    </p:spTree>
    <p:extLst>
      <p:ext uri="{BB962C8B-B14F-4D97-AF65-F5344CB8AC3E}">
        <p14:creationId xmlns:p14="http://schemas.microsoft.com/office/powerpoint/2010/main" val="3312977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7">
          <a:extLst>
            <a:ext uri="{FF2B5EF4-FFF2-40B4-BE49-F238E27FC236}">
              <a16:creationId xmlns:a16="http://schemas.microsoft.com/office/drawing/2014/main" id="{CF8CD7A8-D5FC-359C-07EB-E0E2EC214020}"/>
            </a:ext>
          </a:extLst>
        </p:cNvPr>
        <p:cNvGrpSpPr/>
        <p:nvPr/>
      </p:nvGrpSpPr>
      <p:grpSpPr>
        <a:xfrm>
          <a:off x="0" y="0"/>
          <a:ext cx="0" cy="0"/>
          <a:chOff x="0" y="0"/>
          <a:chExt cx="0" cy="0"/>
        </a:xfrm>
      </p:grpSpPr>
      <p:sp>
        <p:nvSpPr>
          <p:cNvPr id="2398" name="Google Shape;2398;g34dfae818d3_0_336:notes">
            <a:extLst>
              <a:ext uri="{FF2B5EF4-FFF2-40B4-BE49-F238E27FC236}">
                <a16:creationId xmlns:a16="http://schemas.microsoft.com/office/drawing/2014/main" id="{E57AE6FF-B245-7665-218B-B8AD38163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9" name="Google Shape;2399;g34dfae818d3_0_336:notes">
            <a:extLst>
              <a:ext uri="{FF2B5EF4-FFF2-40B4-BE49-F238E27FC236}">
                <a16:creationId xmlns:a16="http://schemas.microsoft.com/office/drawing/2014/main" id="{92AF2E0A-3DEB-DBCB-C5BB-4A69C9BDC4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Problem definition:</a:t>
            </a:r>
            <a:endParaRPr/>
          </a:p>
          <a:p>
            <a:pPr marL="0" lvl="0" indent="0" algn="l" rtl="0">
              <a:spcBef>
                <a:spcPts val="0"/>
              </a:spcBef>
              <a:spcAft>
                <a:spcPts val="0"/>
              </a:spcAft>
              <a:buNone/>
            </a:pPr>
            <a:r>
              <a:rPr lang="en"/>
              <a:t>Our high-level idea: use storyline to guide the story generation and enhance the long-term coherence. btw, the story is actually generated by our system and you can play with this live demo.</a:t>
            </a:r>
            <a:endParaRPr/>
          </a:p>
        </p:txBody>
      </p:sp>
      <p:sp>
        <p:nvSpPr>
          <p:cNvPr id="2400" name="Google Shape;2400;g34dfae818d3_0_336:notes">
            <a:extLst>
              <a:ext uri="{FF2B5EF4-FFF2-40B4-BE49-F238E27FC236}">
                <a16:creationId xmlns:a16="http://schemas.microsoft.com/office/drawing/2014/main" id="{BFF6E9CE-6DA0-4B38-8CD0-E57E5D6E81A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58</a:t>
            </a:fld>
            <a:endParaRPr/>
          </a:p>
        </p:txBody>
      </p:sp>
    </p:spTree>
    <p:extLst>
      <p:ext uri="{BB962C8B-B14F-4D97-AF65-F5344CB8AC3E}">
        <p14:creationId xmlns:p14="http://schemas.microsoft.com/office/powerpoint/2010/main" val="3448714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0">
          <a:extLst>
            <a:ext uri="{FF2B5EF4-FFF2-40B4-BE49-F238E27FC236}">
              <a16:creationId xmlns:a16="http://schemas.microsoft.com/office/drawing/2014/main" id="{60665EB4-15FF-850C-193B-3B2C8150503C}"/>
            </a:ext>
          </a:extLst>
        </p:cNvPr>
        <p:cNvGrpSpPr/>
        <p:nvPr/>
      </p:nvGrpSpPr>
      <p:grpSpPr>
        <a:xfrm>
          <a:off x="0" y="0"/>
          <a:ext cx="0" cy="0"/>
          <a:chOff x="0" y="0"/>
          <a:chExt cx="0" cy="0"/>
        </a:xfrm>
      </p:grpSpPr>
      <p:sp>
        <p:nvSpPr>
          <p:cNvPr id="2411" name="Google Shape;2411;g34dfae818d3_0_348:notes">
            <a:extLst>
              <a:ext uri="{FF2B5EF4-FFF2-40B4-BE49-F238E27FC236}">
                <a16:creationId xmlns:a16="http://schemas.microsoft.com/office/drawing/2014/main" id="{8240E0FB-7E77-D871-586F-17791C0ADA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2" name="Google Shape;2412;g34dfae818d3_0_348:notes">
            <a:extLst>
              <a:ext uri="{FF2B5EF4-FFF2-40B4-BE49-F238E27FC236}">
                <a16:creationId xmlns:a16="http://schemas.microsoft.com/office/drawing/2014/main" id="{79AD0AB4-2ECB-0D38-AB23-12C56CB98F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an overview of our approach: we propose a framework called "plan-and-write", which introduce a planning component, and the writing component.</a:t>
            </a:r>
            <a:endParaRPr/>
          </a:p>
        </p:txBody>
      </p:sp>
      <p:sp>
        <p:nvSpPr>
          <p:cNvPr id="2413" name="Google Shape;2413;g34dfae818d3_0_348:notes">
            <a:extLst>
              <a:ext uri="{FF2B5EF4-FFF2-40B4-BE49-F238E27FC236}">
                <a16:creationId xmlns:a16="http://schemas.microsoft.com/office/drawing/2014/main" id="{AB440563-3973-C1A3-C56C-9CC4B3EC3A9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59</a:t>
            </a:fld>
            <a:endParaRPr/>
          </a:p>
        </p:txBody>
      </p:sp>
    </p:spTree>
    <p:extLst>
      <p:ext uri="{BB962C8B-B14F-4D97-AF65-F5344CB8AC3E}">
        <p14:creationId xmlns:p14="http://schemas.microsoft.com/office/powerpoint/2010/main" val="132735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9">
          <a:extLst>
            <a:ext uri="{FF2B5EF4-FFF2-40B4-BE49-F238E27FC236}">
              <a16:creationId xmlns:a16="http://schemas.microsoft.com/office/drawing/2014/main" id="{4A2EAE24-D2CE-1CA0-BEA6-914206E08DAC}"/>
            </a:ext>
          </a:extLst>
        </p:cNvPr>
        <p:cNvGrpSpPr/>
        <p:nvPr/>
      </p:nvGrpSpPr>
      <p:grpSpPr>
        <a:xfrm>
          <a:off x="0" y="0"/>
          <a:ext cx="0" cy="0"/>
          <a:chOff x="0" y="0"/>
          <a:chExt cx="0" cy="0"/>
        </a:xfrm>
      </p:grpSpPr>
      <p:sp>
        <p:nvSpPr>
          <p:cNvPr id="2420" name="Google Shape;2420;g34dfae818d3_0_356:notes">
            <a:extLst>
              <a:ext uri="{FF2B5EF4-FFF2-40B4-BE49-F238E27FC236}">
                <a16:creationId xmlns:a16="http://schemas.microsoft.com/office/drawing/2014/main" id="{58DB2F53-5DC3-E0AE-AAE9-EBDD8DD290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1" name="Google Shape;2421;g34dfae818d3_0_356:notes">
            <a:extLst>
              <a:ext uri="{FF2B5EF4-FFF2-40B4-BE49-F238E27FC236}">
                <a16:creationId xmlns:a16="http://schemas.microsoft.com/office/drawing/2014/main" id="{FF425F8D-5E72-CA6D-6DA7-75DF7A7794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The benefit of storyline is obvious,</a:t>
            </a:r>
            <a:endParaRPr/>
          </a:p>
          <a:p>
            <a:pPr marL="0" lvl="0" indent="0" algn="l" rtl="0">
              <a:spcBef>
                <a:spcPts val="0"/>
              </a:spcBef>
              <a:spcAft>
                <a:spcPts val="0"/>
              </a:spcAft>
              <a:buNone/>
            </a:pPr>
            <a:r>
              <a:rPr lang="en"/>
              <a:t>However, there are also challenges..</a:t>
            </a:r>
            <a:endParaRPr/>
          </a:p>
        </p:txBody>
      </p:sp>
      <p:sp>
        <p:nvSpPr>
          <p:cNvPr id="2422" name="Google Shape;2422;g34dfae818d3_0_356:notes">
            <a:extLst>
              <a:ext uri="{FF2B5EF4-FFF2-40B4-BE49-F238E27FC236}">
                <a16:creationId xmlns:a16="http://schemas.microsoft.com/office/drawing/2014/main" id="{0C6A4B00-77DD-617B-38D3-4E59911EB60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60</a:t>
            </a:fld>
            <a:endParaRPr/>
          </a:p>
        </p:txBody>
      </p:sp>
    </p:spTree>
    <p:extLst>
      <p:ext uri="{BB962C8B-B14F-4D97-AF65-F5344CB8AC3E}">
        <p14:creationId xmlns:p14="http://schemas.microsoft.com/office/powerpoint/2010/main" val="2213062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8">
          <a:extLst>
            <a:ext uri="{FF2B5EF4-FFF2-40B4-BE49-F238E27FC236}">
              <a16:creationId xmlns:a16="http://schemas.microsoft.com/office/drawing/2014/main" id="{CF2DE2C8-CF71-0B26-D5BF-D39465F2DEBE}"/>
            </a:ext>
          </a:extLst>
        </p:cNvPr>
        <p:cNvGrpSpPr/>
        <p:nvPr/>
      </p:nvGrpSpPr>
      <p:grpSpPr>
        <a:xfrm>
          <a:off x="0" y="0"/>
          <a:ext cx="0" cy="0"/>
          <a:chOff x="0" y="0"/>
          <a:chExt cx="0" cy="0"/>
        </a:xfrm>
      </p:grpSpPr>
      <p:sp>
        <p:nvSpPr>
          <p:cNvPr id="2429" name="Google Shape;2429;g34dfae818d3_0_364:notes">
            <a:extLst>
              <a:ext uri="{FF2B5EF4-FFF2-40B4-BE49-F238E27FC236}">
                <a16:creationId xmlns:a16="http://schemas.microsoft.com/office/drawing/2014/main" id="{7FE01871-BA38-3C8A-FB95-7713D1DA1B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0" name="Google Shape;2430;g34dfae818d3_0_364:notes">
            <a:extLst>
              <a:ext uri="{FF2B5EF4-FFF2-40B4-BE49-F238E27FC236}">
                <a16:creationId xmlns:a16="http://schemas.microsoft.com/office/drawing/2014/main" id="{13C88505-ABD4-83C3-22BF-9271AEF0C8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We took a very symbolic approach to extract storylines from stories to provide “silver-standard” annotations. as an initial step and a proof-of-concept. </a:t>
            </a:r>
            <a:endParaRPr/>
          </a:p>
          <a:p>
            <a:pPr marL="0" lvl="0" indent="0" algn="l" rtl="0">
              <a:spcBef>
                <a:spcPts val="0"/>
              </a:spcBef>
              <a:spcAft>
                <a:spcPts val="0"/>
              </a:spcAft>
              <a:buNone/>
            </a:pPr>
            <a:endParaRPr/>
          </a:p>
        </p:txBody>
      </p:sp>
      <p:sp>
        <p:nvSpPr>
          <p:cNvPr id="2431" name="Google Shape;2431;g34dfae818d3_0_364:notes">
            <a:extLst>
              <a:ext uri="{FF2B5EF4-FFF2-40B4-BE49-F238E27FC236}">
                <a16:creationId xmlns:a16="http://schemas.microsoft.com/office/drawing/2014/main" id="{4C455BE3-C873-D96A-24AC-138C9F7FD16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61</a:t>
            </a:fld>
            <a:endParaRPr/>
          </a:p>
        </p:txBody>
      </p:sp>
    </p:spTree>
    <p:extLst>
      <p:ext uri="{BB962C8B-B14F-4D97-AF65-F5344CB8AC3E}">
        <p14:creationId xmlns:p14="http://schemas.microsoft.com/office/powerpoint/2010/main" val="2221267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7">
          <a:extLst>
            <a:ext uri="{FF2B5EF4-FFF2-40B4-BE49-F238E27FC236}">
              <a16:creationId xmlns:a16="http://schemas.microsoft.com/office/drawing/2014/main" id="{E3865C16-30A7-853F-98F1-5F906D1F1195}"/>
            </a:ext>
          </a:extLst>
        </p:cNvPr>
        <p:cNvGrpSpPr/>
        <p:nvPr/>
      </p:nvGrpSpPr>
      <p:grpSpPr>
        <a:xfrm>
          <a:off x="0" y="0"/>
          <a:ext cx="0" cy="0"/>
          <a:chOff x="0" y="0"/>
          <a:chExt cx="0" cy="0"/>
        </a:xfrm>
      </p:grpSpPr>
      <p:sp>
        <p:nvSpPr>
          <p:cNvPr id="2438" name="Google Shape;2438;g34dfae818d3_0_372:notes">
            <a:extLst>
              <a:ext uri="{FF2B5EF4-FFF2-40B4-BE49-F238E27FC236}">
                <a16:creationId xmlns:a16="http://schemas.microsoft.com/office/drawing/2014/main" id="{E84DD689-C3BB-1321-2052-BB0B482432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9" name="Google Shape;2439;g34dfae818d3_0_372:notes">
            <a:extLst>
              <a:ext uri="{FF2B5EF4-FFF2-40B4-BE49-F238E27FC236}">
                <a16:creationId xmlns:a16="http://schemas.microsoft.com/office/drawing/2014/main" id="{E833B312-7A60-901C-F6CD-47AB1C7FB2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We explore two ways to incorporate the storyline. Use neural nets to implement.</a:t>
            </a:r>
            <a:endParaRPr/>
          </a:p>
          <a:p>
            <a:pPr marL="0" lvl="0" indent="0" algn="l" rtl="0">
              <a:spcBef>
                <a:spcPts val="0"/>
              </a:spcBef>
              <a:spcAft>
                <a:spcPts val="0"/>
              </a:spcAft>
              <a:buNone/>
            </a:pPr>
            <a:r>
              <a:rPr lang="en"/>
              <a:t>On a high level, we design gate so that we can take weighted sum of the information from each incoming edges.</a:t>
            </a:r>
            <a:endParaRPr/>
          </a:p>
        </p:txBody>
      </p:sp>
      <p:sp>
        <p:nvSpPr>
          <p:cNvPr id="2440" name="Google Shape;2440;g34dfae818d3_0_372:notes">
            <a:extLst>
              <a:ext uri="{FF2B5EF4-FFF2-40B4-BE49-F238E27FC236}">
                <a16:creationId xmlns:a16="http://schemas.microsoft.com/office/drawing/2014/main" id="{B305920A-446D-9FE4-4C34-BC091A2B28A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62</a:t>
            </a:fld>
            <a:endParaRPr/>
          </a:p>
        </p:txBody>
      </p:sp>
    </p:spTree>
    <p:extLst>
      <p:ext uri="{BB962C8B-B14F-4D97-AF65-F5344CB8AC3E}">
        <p14:creationId xmlns:p14="http://schemas.microsoft.com/office/powerpoint/2010/main" val="2116224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6">
          <a:extLst>
            <a:ext uri="{FF2B5EF4-FFF2-40B4-BE49-F238E27FC236}">
              <a16:creationId xmlns:a16="http://schemas.microsoft.com/office/drawing/2014/main" id="{117DFB7F-2343-8C85-6963-2430D347801B}"/>
            </a:ext>
          </a:extLst>
        </p:cNvPr>
        <p:cNvGrpSpPr/>
        <p:nvPr/>
      </p:nvGrpSpPr>
      <p:grpSpPr>
        <a:xfrm>
          <a:off x="0" y="0"/>
          <a:ext cx="0" cy="0"/>
          <a:chOff x="0" y="0"/>
          <a:chExt cx="0" cy="0"/>
        </a:xfrm>
      </p:grpSpPr>
      <p:sp>
        <p:nvSpPr>
          <p:cNvPr id="2467" name="Google Shape;2467;g34dfae818d3_0_400:notes">
            <a:extLst>
              <a:ext uri="{FF2B5EF4-FFF2-40B4-BE49-F238E27FC236}">
                <a16:creationId xmlns:a16="http://schemas.microsoft.com/office/drawing/2014/main" id="{14F29B0E-E876-C919-6AF5-F04895B076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8" name="Google Shape;2468;g34dfae818d3_0_400:notes">
            <a:extLst>
              <a:ext uri="{FF2B5EF4-FFF2-40B4-BE49-F238E27FC236}">
                <a16:creationId xmlns:a16="http://schemas.microsoft.com/office/drawing/2014/main" id="{2510447E-0046-B35E-1A80-7B54AD68E7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9" name="Google Shape;2469;g34dfae818d3_0_400:notes">
            <a:extLst>
              <a:ext uri="{FF2B5EF4-FFF2-40B4-BE49-F238E27FC236}">
                <a16:creationId xmlns:a16="http://schemas.microsoft.com/office/drawing/2014/main" id="{91197FF1-DD7F-334D-C47E-4665F8EDA3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63</a:t>
            </a:fld>
            <a:endParaRPr/>
          </a:p>
        </p:txBody>
      </p:sp>
    </p:spTree>
    <p:extLst>
      <p:ext uri="{BB962C8B-B14F-4D97-AF65-F5344CB8AC3E}">
        <p14:creationId xmlns:p14="http://schemas.microsoft.com/office/powerpoint/2010/main" val="1129999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8">
          <a:extLst>
            <a:ext uri="{FF2B5EF4-FFF2-40B4-BE49-F238E27FC236}">
              <a16:creationId xmlns:a16="http://schemas.microsoft.com/office/drawing/2014/main" id="{1319F05A-5EF0-66DA-272A-A2769485857F}"/>
            </a:ext>
          </a:extLst>
        </p:cNvPr>
        <p:cNvGrpSpPr/>
        <p:nvPr/>
      </p:nvGrpSpPr>
      <p:grpSpPr>
        <a:xfrm>
          <a:off x="0" y="0"/>
          <a:ext cx="0" cy="0"/>
          <a:chOff x="0" y="0"/>
          <a:chExt cx="0" cy="0"/>
        </a:xfrm>
      </p:grpSpPr>
      <p:sp>
        <p:nvSpPr>
          <p:cNvPr id="2479" name="Google Shape;2479;g34dfae818d3_0_411:notes">
            <a:extLst>
              <a:ext uri="{FF2B5EF4-FFF2-40B4-BE49-F238E27FC236}">
                <a16:creationId xmlns:a16="http://schemas.microsoft.com/office/drawing/2014/main" id="{9CD51728-F90F-A16B-209B-D60CA3FCAB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0" name="Google Shape;2480;g34dfae818d3_0_411:notes">
            <a:extLst>
              <a:ext uri="{FF2B5EF4-FFF2-40B4-BE49-F238E27FC236}">
                <a16:creationId xmlns:a16="http://schemas.microsoft.com/office/drawing/2014/main" id="{1F137CF3-8F95-163A-C64A-774F2B9A10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Another contribution of this work is evaluation.</a:t>
            </a:r>
            <a:endParaRPr/>
          </a:p>
        </p:txBody>
      </p:sp>
      <p:sp>
        <p:nvSpPr>
          <p:cNvPr id="2481" name="Google Shape;2481;g34dfae818d3_0_411:notes">
            <a:extLst>
              <a:ext uri="{FF2B5EF4-FFF2-40B4-BE49-F238E27FC236}">
                <a16:creationId xmlns:a16="http://schemas.microsoft.com/office/drawing/2014/main" id="{8E9D3665-3030-92C3-A86F-B004385E5F1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64</a:t>
            </a:fld>
            <a:endParaRPr/>
          </a:p>
        </p:txBody>
      </p:sp>
    </p:spTree>
    <p:extLst>
      <p:ext uri="{BB962C8B-B14F-4D97-AF65-F5344CB8AC3E}">
        <p14:creationId xmlns:p14="http://schemas.microsoft.com/office/powerpoint/2010/main" val="2783140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0">
          <a:extLst>
            <a:ext uri="{FF2B5EF4-FFF2-40B4-BE49-F238E27FC236}">
              <a16:creationId xmlns:a16="http://schemas.microsoft.com/office/drawing/2014/main" id="{B90A6AE2-0DC1-42FD-5480-67298401E2A3}"/>
            </a:ext>
          </a:extLst>
        </p:cNvPr>
        <p:cNvGrpSpPr/>
        <p:nvPr/>
      </p:nvGrpSpPr>
      <p:grpSpPr>
        <a:xfrm>
          <a:off x="0" y="0"/>
          <a:ext cx="0" cy="0"/>
          <a:chOff x="0" y="0"/>
          <a:chExt cx="0" cy="0"/>
        </a:xfrm>
      </p:grpSpPr>
      <p:sp>
        <p:nvSpPr>
          <p:cNvPr id="2491" name="Google Shape;2491;g34dfae818d3_0_422:notes">
            <a:extLst>
              <a:ext uri="{FF2B5EF4-FFF2-40B4-BE49-F238E27FC236}">
                <a16:creationId xmlns:a16="http://schemas.microsoft.com/office/drawing/2014/main" id="{BFD1119E-CC6F-74AB-C1FE-0025D930C1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2" name="Google Shape;2492;g34dfae818d3_0_422:notes">
            <a:extLst>
              <a:ext uri="{FF2B5EF4-FFF2-40B4-BE49-F238E27FC236}">
                <a16:creationId xmlns:a16="http://schemas.microsoft.com/office/drawing/2014/main" id="{00A2D683-A08E-6F62-7B12-B452034C13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We did human evaluation. ....describe the results... Again, much more results in the paper.</a:t>
            </a:r>
            <a:endParaRPr/>
          </a:p>
        </p:txBody>
      </p:sp>
      <p:sp>
        <p:nvSpPr>
          <p:cNvPr id="2493" name="Google Shape;2493;g34dfae818d3_0_422:notes">
            <a:extLst>
              <a:ext uri="{FF2B5EF4-FFF2-40B4-BE49-F238E27FC236}">
                <a16:creationId xmlns:a16="http://schemas.microsoft.com/office/drawing/2014/main" id="{A27BCECA-74DD-48F7-E7F6-B4AF5D642E7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65</a:t>
            </a:fld>
            <a:endParaRPr/>
          </a:p>
        </p:txBody>
      </p:sp>
    </p:spTree>
    <p:extLst>
      <p:ext uri="{BB962C8B-B14F-4D97-AF65-F5344CB8AC3E}">
        <p14:creationId xmlns:p14="http://schemas.microsoft.com/office/powerpoint/2010/main" val="2012248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457199" y="0"/>
            <a:ext cx="8654100" cy="800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4000"/>
              <a:buFont typeface="Helvetica Neue"/>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1" name="Google Shape;71;p17"/>
          <p:cNvSpPr txBox="1">
            <a:spLocks noGrp="1"/>
          </p:cNvSpPr>
          <p:nvPr>
            <p:ph type="body" idx="1"/>
          </p:nvPr>
        </p:nvSpPr>
        <p:spPr>
          <a:xfrm>
            <a:off x="457200" y="1028700"/>
            <a:ext cx="4040100" cy="6024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1200"/>
              </a:spcBef>
              <a:spcAft>
                <a:spcPts val="0"/>
              </a:spcAft>
              <a:buClr>
                <a:schemeClr val="dk1"/>
              </a:buClr>
              <a:buSzPts val="2000"/>
              <a:buNone/>
              <a:defRPr sz="2000" b="1"/>
            </a:lvl2pPr>
            <a:lvl3pPr marL="1371600" lvl="2" indent="-228600" algn="l">
              <a:spcBef>
                <a:spcPts val="1200"/>
              </a:spcBef>
              <a:spcAft>
                <a:spcPts val="0"/>
              </a:spcAft>
              <a:buClr>
                <a:schemeClr val="dk1"/>
              </a:buClr>
              <a:buSzPts val="1800"/>
              <a:buNone/>
              <a:defRPr sz="1800" b="1"/>
            </a:lvl3pPr>
            <a:lvl4pPr marL="1828800" lvl="3" indent="-228600" algn="l">
              <a:spcBef>
                <a:spcPts val="1200"/>
              </a:spcBef>
              <a:spcAft>
                <a:spcPts val="0"/>
              </a:spcAft>
              <a:buClr>
                <a:schemeClr val="dk1"/>
              </a:buClr>
              <a:buSzPts val="1600"/>
              <a:buNone/>
              <a:defRPr sz="1600" b="1"/>
            </a:lvl4pPr>
            <a:lvl5pPr marL="2286000" lvl="4" indent="-228600" algn="l">
              <a:spcBef>
                <a:spcPts val="1200"/>
              </a:spcBef>
              <a:spcAft>
                <a:spcPts val="0"/>
              </a:spcAft>
              <a:buClr>
                <a:schemeClr val="dk1"/>
              </a:buClr>
              <a:buSzPts val="1600"/>
              <a:buNone/>
              <a:defRPr sz="1600" b="1"/>
            </a:lvl5pPr>
            <a:lvl6pPr marL="2743200" lvl="5" indent="-228600" algn="l">
              <a:spcBef>
                <a:spcPts val="1200"/>
              </a:spcBef>
              <a:spcAft>
                <a:spcPts val="0"/>
              </a:spcAft>
              <a:buClr>
                <a:schemeClr val="dk1"/>
              </a:buClr>
              <a:buSzPts val="1600"/>
              <a:buNone/>
              <a:defRPr sz="1600" b="1"/>
            </a:lvl6pPr>
            <a:lvl7pPr marL="3200400" lvl="6" indent="-228600" algn="l">
              <a:spcBef>
                <a:spcPts val="1200"/>
              </a:spcBef>
              <a:spcAft>
                <a:spcPts val="0"/>
              </a:spcAft>
              <a:buClr>
                <a:schemeClr val="dk1"/>
              </a:buClr>
              <a:buSzPts val="1600"/>
              <a:buNone/>
              <a:defRPr sz="1600" b="1"/>
            </a:lvl7pPr>
            <a:lvl8pPr marL="3657600" lvl="7" indent="-228600" algn="l">
              <a:spcBef>
                <a:spcPts val="1200"/>
              </a:spcBef>
              <a:spcAft>
                <a:spcPts val="0"/>
              </a:spcAft>
              <a:buClr>
                <a:schemeClr val="dk1"/>
              </a:buClr>
              <a:buSzPts val="1600"/>
              <a:buNone/>
              <a:defRPr sz="1600" b="1"/>
            </a:lvl8pPr>
            <a:lvl9pPr marL="4114800" lvl="8" indent="-228600" algn="l">
              <a:spcBef>
                <a:spcPts val="1200"/>
              </a:spcBef>
              <a:spcAft>
                <a:spcPts val="1200"/>
              </a:spcAft>
              <a:buClr>
                <a:schemeClr val="dk1"/>
              </a:buClr>
              <a:buSzPts val="1600"/>
              <a:buNone/>
              <a:defRPr sz="1600" b="1"/>
            </a:lvl9pPr>
          </a:lstStyle>
          <a:p>
            <a:endParaRPr/>
          </a:p>
        </p:txBody>
      </p:sp>
      <p:sp>
        <p:nvSpPr>
          <p:cNvPr id="72" name="Google Shape;72;p17"/>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1200"/>
              </a:spcBef>
              <a:spcAft>
                <a:spcPts val="0"/>
              </a:spcAft>
              <a:buClr>
                <a:schemeClr val="dk1"/>
              </a:buClr>
              <a:buSzPts val="2000"/>
              <a:buChar char="○"/>
              <a:defRPr sz="2000"/>
            </a:lvl2pPr>
            <a:lvl3pPr marL="1371600" lvl="2" indent="-342900" algn="l">
              <a:spcBef>
                <a:spcPts val="1200"/>
              </a:spcBef>
              <a:spcAft>
                <a:spcPts val="0"/>
              </a:spcAft>
              <a:buClr>
                <a:schemeClr val="dk1"/>
              </a:buClr>
              <a:buSzPts val="1800"/>
              <a:buChar char="■"/>
              <a:defRPr sz="1800"/>
            </a:lvl3pPr>
            <a:lvl4pPr marL="1828800" lvl="3" indent="-330200" algn="l">
              <a:spcBef>
                <a:spcPts val="1200"/>
              </a:spcBef>
              <a:spcAft>
                <a:spcPts val="0"/>
              </a:spcAft>
              <a:buClr>
                <a:schemeClr val="dk1"/>
              </a:buClr>
              <a:buSzPts val="1600"/>
              <a:buChar char="●"/>
              <a:defRPr sz="1600"/>
            </a:lvl4pPr>
            <a:lvl5pPr marL="2286000" lvl="4" indent="-330200" algn="l">
              <a:spcBef>
                <a:spcPts val="1200"/>
              </a:spcBef>
              <a:spcAft>
                <a:spcPts val="0"/>
              </a:spcAft>
              <a:buClr>
                <a:schemeClr val="dk1"/>
              </a:buClr>
              <a:buSzPts val="1600"/>
              <a:buChar char="○"/>
              <a:defRPr sz="1600"/>
            </a:lvl5pPr>
            <a:lvl6pPr marL="2743200" lvl="5" indent="-330200" algn="l">
              <a:spcBef>
                <a:spcPts val="1200"/>
              </a:spcBef>
              <a:spcAft>
                <a:spcPts val="0"/>
              </a:spcAft>
              <a:buClr>
                <a:schemeClr val="dk1"/>
              </a:buClr>
              <a:buSzPts val="1600"/>
              <a:buChar char="■"/>
              <a:defRPr sz="1600"/>
            </a:lvl6pPr>
            <a:lvl7pPr marL="3200400" lvl="6" indent="-330200" algn="l">
              <a:spcBef>
                <a:spcPts val="1200"/>
              </a:spcBef>
              <a:spcAft>
                <a:spcPts val="0"/>
              </a:spcAft>
              <a:buClr>
                <a:schemeClr val="dk1"/>
              </a:buClr>
              <a:buSzPts val="1600"/>
              <a:buChar char="●"/>
              <a:defRPr sz="1600"/>
            </a:lvl7pPr>
            <a:lvl8pPr marL="3657600" lvl="7" indent="-330200" algn="l">
              <a:spcBef>
                <a:spcPts val="1200"/>
              </a:spcBef>
              <a:spcAft>
                <a:spcPts val="0"/>
              </a:spcAft>
              <a:buClr>
                <a:schemeClr val="dk1"/>
              </a:buClr>
              <a:buSzPts val="1600"/>
              <a:buChar char="○"/>
              <a:defRPr sz="1600"/>
            </a:lvl8pPr>
            <a:lvl9pPr marL="4114800" lvl="8" indent="-330200" algn="l">
              <a:spcBef>
                <a:spcPts val="1200"/>
              </a:spcBef>
              <a:spcAft>
                <a:spcPts val="1200"/>
              </a:spcAft>
              <a:buClr>
                <a:schemeClr val="dk1"/>
              </a:buClr>
              <a:buSzPts val="1600"/>
              <a:buChar char="■"/>
              <a:defRPr sz="1600"/>
            </a:lvl9pPr>
          </a:lstStyle>
          <a:p>
            <a:endParaRPr/>
          </a:p>
        </p:txBody>
      </p:sp>
      <p:sp>
        <p:nvSpPr>
          <p:cNvPr id="73" name="Google Shape;73;p17"/>
          <p:cNvSpPr txBox="1">
            <a:spLocks noGrp="1"/>
          </p:cNvSpPr>
          <p:nvPr>
            <p:ph type="body" idx="3"/>
          </p:nvPr>
        </p:nvSpPr>
        <p:spPr>
          <a:xfrm>
            <a:off x="4645025" y="1028700"/>
            <a:ext cx="4041900" cy="6024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1200"/>
              </a:spcBef>
              <a:spcAft>
                <a:spcPts val="0"/>
              </a:spcAft>
              <a:buClr>
                <a:schemeClr val="dk1"/>
              </a:buClr>
              <a:buSzPts val="2000"/>
              <a:buNone/>
              <a:defRPr sz="2000" b="1"/>
            </a:lvl2pPr>
            <a:lvl3pPr marL="1371600" lvl="2" indent="-228600" algn="l">
              <a:spcBef>
                <a:spcPts val="1200"/>
              </a:spcBef>
              <a:spcAft>
                <a:spcPts val="0"/>
              </a:spcAft>
              <a:buClr>
                <a:schemeClr val="dk1"/>
              </a:buClr>
              <a:buSzPts val="1800"/>
              <a:buNone/>
              <a:defRPr sz="1800" b="1"/>
            </a:lvl3pPr>
            <a:lvl4pPr marL="1828800" lvl="3" indent="-228600" algn="l">
              <a:spcBef>
                <a:spcPts val="1200"/>
              </a:spcBef>
              <a:spcAft>
                <a:spcPts val="0"/>
              </a:spcAft>
              <a:buClr>
                <a:schemeClr val="dk1"/>
              </a:buClr>
              <a:buSzPts val="1600"/>
              <a:buNone/>
              <a:defRPr sz="1600" b="1"/>
            </a:lvl4pPr>
            <a:lvl5pPr marL="2286000" lvl="4" indent="-228600" algn="l">
              <a:spcBef>
                <a:spcPts val="1200"/>
              </a:spcBef>
              <a:spcAft>
                <a:spcPts val="0"/>
              </a:spcAft>
              <a:buClr>
                <a:schemeClr val="dk1"/>
              </a:buClr>
              <a:buSzPts val="1600"/>
              <a:buNone/>
              <a:defRPr sz="1600" b="1"/>
            </a:lvl5pPr>
            <a:lvl6pPr marL="2743200" lvl="5" indent="-228600" algn="l">
              <a:spcBef>
                <a:spcPts val="1200"/>
              </a:spcBef>
              <a:spcAft>
                <a:spcPts val="0"/>
              </a:spcAft>
              <a:buClr>
                <a:schemeClr val="dk1"/>
              </a:buClr>
              <a:buSzPts val="1600"/>
              <a:buNone/>
              <a:defRPr sz="1600" b="1"/>
            </a:lvl6pPr>
            <a:lvl7pPr marL="3200400" lvl="6" indent="-228600" algn="l">
              <a:spcBef>
                <a:spcPts val="1200"/>
              </a:spcBef>
              <a:spcAft>
                <a:spcPts val="0"/>
              </a:spcAft>
              <a:buClr>
                <a:schemeClr val="dk1"/>
              </a:buClr>
              <a:buSzPts val="1600"/>
              <a:buNone/>
              <a:defRPr sz="1600" b="1"/>
            </a:lvl7pPr>
            <a:lvl8pPr marL="3657600" lvl="7" indent="-228600" algn="l">
              <a:spcBef>
                <a:spcPts val="1200"/>
              </a:spcBef>
              <a:spcAft>
                <a:spcPts val="0"/>
              </a:spcAft>
              <a:buClr>
                <a:schemeClr val="dk1"/>
              </a:buClr>
              <a:buSzPts val="1600"/>
              <a:buNone/>
              <a:defRPr sz="1600" b="1"/>
            </a:lvl8pPr>
            <a:lvl9pPr marL="4114800" lvl="8" indent="-228600" algn="l">
              <a:spcBef>
                <a:spcPts val="1200"/>
              </a:spcBef>
              <a:spcAft>
                <a:spcPts val="1200"/>
              </a:spcAft>
              <a:buClr>
                <a:schemeClr val="dk1"/>
              </a:buClr>
              <a:buSzPts val="1600"/>
              <a:buNone/>
              <a:defRPr sz="1600" b="1"/>
            </a:lvl9pPr>
          </a:lstStyle>
          <a:p>
            <a:endParaRPr/>
          </a:p>
        </p:txBody>
      </p:sp>
      <p:sp>
        <p:nvSpPr>
          <p:cNvPr id="74" name="Google Shape;74;p17"/>
          <p:cNvSpPr txBox="1">
            <a:spLocks noGrp="1"/>
          </p:cNvSpPr>
          <p:nvPr>
            <p:ph type="body" idx="4"/>
          </p:nvPr>
        </p:nvSpPr>
        <p:spPr>
          <a:xfrm>
            <a:off x="4645025" y="1631156"/>
            <a:ext cx="4041900" cy="29634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1200"/>
              </a:spcBef>
              <a:spcAft>
                <a:spcPts val="0"/>
              </a:spcAft>
              <a:buClr>
                <a:schemeClr val="dk1"/>
              </a:buClr>
              <a:buSzPts val="2000"/>
              <a:buChar char="○"/>
              <a:defRPr sz="2000"/>
            </a:lvl2pPr>
            <a:lvl3pPr marL="1371600" lvl="2" indent="-342900" algn="l">
              <a:spcBef>
                <a:spcPts val="1200"/>
              </a:spcBef>
              <a:spcAft>
                <a:spcPts val="0"/>
              </a:spcAft>
              <a:buClr>
                <a:schemeClr val="dk1"/>
              </a:buClr>
              <a:buSzPts val="1800"/>
              <a:buChar char="■"/>
              <a:defRPr sz="1800"/>
            </a:lvl3pPr>
            <a:lvl4pPr marL="1828800" lvl="3" indent="-330200" algn="l">
              <a:spcBef>
                <a:spcPts val="1200"/>
              </a:spcBef>
              <a:spcAft>
                <a:spcPts val="0"/>
              </a:spcAft>
              <a:buClr>
                <a:schemeClr val="dk1"/>
              </a:buClr>
              <a:buSzPts val="1600"/>
              <a:buChar char="●"/>
              <a:defRPr sz="1600"/>
            </a:lvl4pPr>
            <a:lvl5pPr marL="2286000" lvl="4" indent="-330200" algn="l">
              <a:spcBef>
                <a:spcPts val="1200"/>
              </a:spcBef>
              <a:spcAft>
                <a:spcPts val="0"/>
              </a:spcAft>
              <a:buClr>
                <a:schemeClr val="dk1"/>
              </a:buClr>
              <a:buSzPts val="1600"/>
              <a:buChar char="○"/>
              <a:defRPr sz="1600"/>
            </a:lvl5pPr>
            <a:lvl6pPr marL="2743200" lvl="5" indent="-330200" algn="l">
              <a:spcBef>
                <a:spcPts val="1200"/>
              </a:spcBef>
              <a:spcAft>
                <a:spcPts val="0"/>
              </a:spcAft>
              <a:buClr>
                <a:schemeClr val="dk1"/>
              </a:buClr>
              <a:buSzPts val="1600"/>
              <a:buChar char="■"/>
              <a:defRPr sz="1600"/>
            </a:lvl6pPr>
            <a:lvl7pPr marL="3200400" lvl="6" indent="-330200" algn="l">
              <a:spcBef>
                <a:spcPts val="1200"/>
              </a:spcBef>
              <a:spcAft>
                <a:spcPts val="0"/>
              </a:spcAft>
              <a:buClr>
                <a:schemeClr val="dk1"/>
              </a:buClr>
              <a:buSzPts val="1600"/>
              <a:buChar char="●"/>
              <a:defRPr sz="1600"/>
            </a:lvl7pPr>
            <a:lvl8pPr marL="3657600" lvl="7" indent="-330200" algn="l">
              <a:spcBef>
                <a:spcPts val="1200"/>
              </a:spcBef>
              <a:spcAft>
                <a:spcPts val="0"/>
              </a:spcAft>
              <a:buClr>
                <a:schemeClr val="dk1"/>
              </a:buClr>
              <a:buSzPts val="1600"/>
              <a:buChar char="○"/>
              <a:defRPr sz="1600"/>
            </a:lvl8pPr>
            <a:lvl9pPr marL="4114800" lvl="8" indent="-330200" algn="l">
              <a:spcBef>
                <a:spcPts val="1200"/>
              </a:spcBef>
              <a:spcAft>
                <a:spcPts val="1200"/>
              </a:spcAft>
              <a:buClr>
                <a:schemeClr val="dk1"/>
              </a:buClr>
              <a:buSzPts val="1600"/>
              <a:buChar char="■"/>
              <a:defRPr sz="1600"/>
            </a:lvl9pPr>
          </a:lstStyle>
          <a:p>
            <a:endParaRPr/>
          </a:p>
        </p:txBody>
      </p:sp>
      <p:sp>
        <p:nvSpPr>
          <p:cNvPr id="75" name="Google Shape;75;p17"/>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fontScale="32500" lnSpcReduction="10000"/>
          </a:bodyPr>
          <a:lstStyle>
            <a:lvl1pPr marL="0" marR="0" lvl="0" indent="0" algn="r">
              <a:spcBef>
                <a:spcPts val="0"/>
              </a:spcBef>
              <a:buNone/>
              <a:defRPr sz="1300" b="0">
                <a:solidFill>
                  <a:srgbClr val="FFFFFF"/>
                </a:solidFill>
                <a:latin typeface="Helvetica Neue"/>
                <a:ea typeface="Helvetica Neue"/>
                <a:cs typeface="Helvetica Neue"/>
                <a:sym typeface="Helvetica Neue"/>
              </a:defRPr>
            </a:lvl1pPr>
            <a:lvl2pPr marL="0" marR="0" lvl="1" indent="0" algn="r">
              <a:spcBef>
                <a:spcPts val="0"/>
              </a:spcBef>
              <a:buNone/>
              <a:defRPr sz="1300" b="0">
                <a:solidFill>
                  <a:srgbClr val="FFFFFF"/>
                </a:solidFill>
                <a:latin typeface="Helvetica Neue"/>
                <a:ea typeface="Helvetica Neue"/>
                <a:cs typeface="Helvetica Neue"/>
                <a:sym typeface="Helvetica Neue"/>
              </a:defRPr>
            </a:lvl2pPr>
            <a:lvl3pPr marL="0" marR="0" lvl="2" indent="0" algn="r">
              <a:spcBef>
                <a:spcPts val="0"/>
              </a:spcBef>
              <a:buNone/>
              <a:defRPr sz="1300" b="0">
                <a:solidFill>
                  <a:srgbClr val="FFFFFF"/>
                </a:solidFill>
                <a:latin typeface="Helvetica Neue"/>
                <a:ea typeface="Helvetica Neue"/>
                <a:cs typeface="Helvetica Neue"/>
                <a:sym typeface="Helvetica Neue"/>
              </a:defRPr>
            </a:lvl3pPr>
            <a:lvl4pPr marL="0" marR="0" lvl="3" indent="0" algn="r">
              <a:spcBef>
                <a:spcPts val="0"/>
              </a:spcBef>
              <a:buNone/>
              <a:defRPr sz="1300" b="0">
                <a:solidFill>
                  <a:srgbClr val="FFFFFF"/>
                </a:solidFill>
                <a:latin typeface="Helvetica Neue"/>
                <a:ea typeface="Helvetica Neue"/>
                <a:cs typeface="Helvetica Neue"/>
                <a:sym typeface="Helvetica Neue"/>
              </a:defRPr>
            </a:lvl4pPr>
            <a:lvl5pPr marL="0" marR="0" lvl="4" indent="0" algn="r">
              <a:spcBef>
                <a:spcPts val="0"/>
              </a:spcBef>
              <a:buNone/>
              <a:defRPr sz="1300" b="0">
                <a:solidFill>
                  <a:srgbClr val="FFFFFF"/>
                </a:solidFill>
                <a:latin typeface="Helvetica Neue"/>
                <a:ea typeface="Helvetica Neue"/>
                <a:cs typeface="Helvetica Neue"/>
                <a:sym typeface="Helvetica Neue"/>
              </a:defRPr>
            </a:lvl5pPr>
            <a:lvl6pPr marL="0" marR="0" lvl="5" indent="0" algn="r">
              <a:spcBef>
                <a:spcPts val="0"/>
              </a:spcBef>
              <a:buNone/>
              <a:defRPr sz="1300" b="0">
                <a:solidFill>
                  <a:srgbClr val="FFFFFF"/>
                </a:solidFill>
                <a:latin typeface="Helvetica Neue"/>
                <a:ea typeface="Helvetica Neue"/>
                <a:cs typeface="Helvetica Neue"/>
                <a:sym typeface="Helvetica Neue"/>
              </a:defRPr>
            </a:lvl6pPr>
            <a:lvl7pPr marL="0" marR="0" lvl="6" indent="0" algn="r">
              <a:spcBef>
                <a:spcPts val="0"/>
              </a:spcBef>
              <a:buNone/>
              <a:defRPr sz="1300" b="0">
                <a:solidFill>
                  <a:srgbClr val="FFFFFF"/>
                </a:solidFill>
                <a:latin typeface="Helvetica Neue"/>
                <a:ea typeface="Helvetica Neue"/>
                <a:cs typeface="Helvetica Neue"/>
                <a:sym typeface="Helvetica Neue"/>
              </a:defRPr>
            </a:lvl7pPr>
            <a:lvl8pPr marL="0" marR="0" lvl="7" indent="0" algn="r">
              <a:spcBef>
                <a:spcPts val="0"/>
              </a:spcBef>
              <a:buNone/>
              <a:defRPr sz="1300" b="0">
                <a:solidFill>
                  <a:srgbClr val="FFFFFF"/>
                </a:solidFill>
                <a:latin typeface="Helvetica Neue"/>
                <a:ea typeface="Helvetica Neue"/>
                <a:cs typeface="Helvetica Neue"/>
                <a:sym typeface="Helvetica Neue"/>
              </a:defRPr>
            </a:lvl8pPr>
            <a:lvl9pPr marL="0" marR="0" lvl="8" indent="0" algn="r">
              <a:spcBef>
                <a:spcPts val="0"/>
              </a:spcBef>
              <a:buNone/>
              <a:defRPr sz="1300" b="0">
                <a:solidFill>
                  <a:srgbClr val="FFFFFF"/>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666773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76"/>
        <p:cNvGrpSpPr/>
        <p:nvPr/>
      </p:nvGrpSpPr>
      <p:grpSpPr>
        <a:xfrm>
          <a:off x="0" y="0"/>
          <a:ext cx="0" cy="0"/>
          <a:chOff x="0" y="0"/>
          <a:chExt cx="0" cy="0"/>
        </a:xfrm>
      </p:grpSpPr>
      <p:sp>
        <p:nvSpPr>
          <p:cNvPr id="77" name="Google Shape;77;p18"/>
          <p:cNvSpPr txBox="1">
            <a:spLocks noGrp="1"/>
          </p:cNvSpPr>
          <p:nvPr>
            <p:ph type="body" idx="1"/>
          </p:nvPr>
        </p:nvSpPr>
        <p:spPr>
          <a:xfrm>
            <a:off x="228601" y="1063228"/>
            <a:ext cx="8458200" cy="37947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latin typeface="Helvetica Neue"/>
                <a:ea typeface="Helvetica Neue"/>
                <a:cs typeface="Helvetica Neue"/>
                <a:sym typeface="Helvetica Neue"/>
              </a:defRPr>
            </a:lvl1pPr>
            <a:lvl2pPr marL="914400" lvl="1" indent="-381000" algn="l">
              <a:spcBef>
                <a:spcPts val="1200"/>
              </a:spcBef>
              <a:spcAft>
                <a:spcPts val="0"/>
              </a:spcAft>
              <a:buClr>
                <a:schemeClr val="dk1"/>
              </a:buClr>
              <a:buSzPts val="2400"/>
              <a:buChar char="○"/>
              <a:defRPr>
                <a:latin typeface="Helvetica Neue"/>
                <a:ea typeface="Helvetica Neue"/>
                <a:cs typeface="Helvetica Neue"/>
                <a:sym typeface="Helvetica Neue"/>
              </a:defRPr>
            </a:lvl2pPr>
            <a:lvl3pPr marL="1371600" lvl="2" indent="-355600" algn="l">
              <a:spcBef>
                <a:spcPts val="1200"/>
              </a:spcBef>
              <a:spcAft>
                <a:spcPts val="0"/>
              </a:spcAft>
              <a:buClr>
                <a:schemeClr val="dk1"/>
              </a:buClr>
              <a:buSzPts val="2000"/>
              <a:buChar char="■"/>
              <a:defRPr>
                <a:latin typeface="Helvetica Neue"/>
                <a:ea typeface="Helvetica Neue"/>
                <a:cs typeface="Helvetica Neue"/>
                <a:sym typeface="Helvetica Neue"/>
              </a:defRPr>
            </a:lvl3pPr>
            <a:lvl4pPr marL="1828800" lvl="3" indent="-342900" algn="l">
              <a:spcBef>
                <a:spcPts val="1200"/>
              </a:spcBef>
              <a:spcAft>
                <a:spcPts val="0"/>
              </a:spcAft>
              <a:buClr>
                <a:schemeClr val="dk1"/>
              </a:buClr>
              <a:buSzPts val="1800"/>
              <a:buChar char="●"/>
              <a:defRPr>
                <a:latin typeface="Helvetica Neue"/>
                <a:ea typeface="Helvetica Neue"/>
                <a:cs typeface="Helvetica Neue"/>
                <a:sym typeface="Helvetica Neue"/>
              </a:defRPr>
            </a:lvl4pPr>
            <a:lvl5pPr marL="2286000" lvl="4" indent="-330200" algn="l">
              <a:spcBef>
                <a:spcPts val="1200"/>
              </a:spcBef>
              <a:spcAft>
                <a:spcPts val="0"/>
              </a:spcAft>
              <a:buClr>
                <a:schemeClr val="dk1"/>
              </a:buClr>
              <a:buSzPts val="1600"/>
              <a:buChar char="○"/>
              <a:defRPr>
                <a:latin typeface="Helvetica Neue"/>
                <a:ea typeface="Helvetica Neue"/>
                <a:cs typeface="Helvetica Neue"/>
                <a:sym typeface="Helvetica Neue"/>
              </a:defRPr>
            </a:lvl5pPr>
            <a:lvl6pPr marL="2743200" lvl="5" indent="-342900" algn="l">
              <a:spcBef>
                <a:spcPts val="120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78" name="Google Shape;78;p18"/>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fontScale="32500" lnSpcReduction="10000"/>
          </a:bodyPr>
          <a:lstStyle>
            <a:lvl1pPr marL="0" marR="0" lvl="0" indent="0" algn="r">
              <a:spcBef>
                <a:spcPts val="0"/>
              </a:spcBef>
              <a:buNone/>
              <a:defRPr sz="1300" b="0" i="0" u="none" strike="noStrike" cap="none">
                <a:solidFill>
                  <a:srgbClr val="FFFFFF"/>
                </a:solidFill>
                <a:latin typeface="Helvetica Neue"/>
                <a:ea typeface="Helvetica Neue"/>
                <a:cs typeface="Helvetica Neue"/>
                <a:sym typeface="Helvetica Neue"/>
              </a:defRPr>
            </a:lvl1pPr>
            <a:lvl2pPr marL="0" marR="0" lvl="1" indent="0" algn="r">
              <a:spcBef>
                <a:spcPts val="0"/>
              </a:spcBef>
              <a:buNone/>
              <a:defRPr sz="1300" b="0" i="0" u="none" strike="noStrike" cap="none">
                <a:solidFill>
                  <a:srgbClr val="FFFFFF"/>
                </a:solidFill>
                <a:latin typeface="Helvetica Neue"/>
                <a:ea typeface="Helvetica Neue"/>
                <a:cs typeface="Helvetica Neue"/>
                <a:sym typeface="Helvetica Neue"/>
              </a:defRPr>
            </a:lvl2pPr>
            <a:lvl3pPr marL="0" marR="0" lvl="2" indent="0" algn="r">
              <a:spcBef>
                <a:spcPts val="0"/>
              </a:spcBef>
              <a:buNone/>
              <a:defRPr sz="1300" b="0" i="0" u="none" strike="noStrike" cap="none">
                <a:solidFill>
                  <a:srgbClr val="FFFFFF"/>
                </a:solidFill>
                <a:latin typeface="Helvetica Neue"/>
                <a:ea typeface="Helvetica Neue"/>
                <a:cs typeface="Helvetica Neue"/>
                <a:sym typeface="Helvetica Neue"/>
              </a:defRPr>
            </a:lvl3pPr>
            <a:lvl4pPr marL="0" marR="0" lvl="3" indent="0" algn="r">
              <a:spcBef>
                <a:spcPts val="0"/>
              </a:spcBef>
              <a:buNone/>
              <a:defRPr sz="1300" b="0" i="0" u="none" strike="noStrike" cap="none">
                <a:solidFill>
                  <a:srgbClr val="FFFFFF"/>
                </a:solidFill>
                <a:latin typeface="Helvetica Neue"/>
                <a:ea typeface="Helvetica Neue"/>
                <a:cs typeface="Helvetica Neue"/>
                <a:sym typeface="Helvetica Neue"/>
              </a:defRPr>
            </a:lvl4pPr>
            <a:lvl5pPr marL="0" marR="0" lvl="4" indent="0" algn="r">
              <a:spcBef>
                <a:spcPts val="0"/>
              </a:spcBef>
              <a:buNone/>
              <a:defRPr sz="1300" b="0" i="0" u="none" strike="noStrike" cap="none">
                <a:solidFill>
                  <a:srgbClr val="FFFFFF"/>
                </a:solidFill>
                <a:latin typeface="Helvetica Neue"/>
                <a:ea typeface="Helvetica Neue"/>
                <a:cs typeface="Helvetica Neue"/>
                <a:sym typeface="Helvetica Neue"/>
              </a:defRPr>
            </a:lvl5pPr>
            <a:lvl6pPr marL="0" marR="0" lvl="5" indent="0" algn="r">
              <a:spcBef>
                <a:spcPts val="0"/>
              </a:spcBef>
              <a:buNone/>
              <a:defRPr sz="1300" b="0" i="0" u="none" strike="noStrike" cap="none">
                <a:solidFill>
                  <a:srgbClr val="FFFFFF"/>
                </a:solidFill>
                <a:latin typeface="Helvetica Neue"/>
                <a:ea typeface="Helvetica Neue"/>
                <a:cs typeface="Helvetica Neue"/>
                <a:sym typeface="Helvetica Neue"/>
              </a:defRPr>
            </a:lvl6pPr>
            <a:lvl7pPr marL="0" marR="0" lvl="6" indent="0" algn="r">
              <a:spcBef>
                <a:spcPts val="0"/>
              </a:spcBef>
              <a:buNone/>
              <a:defRPr sz="1300" b="0" i="0" u="none" strike="noStrike" cap="none">
                <a:solidFill>
                  <a:srgbClr val="FFFFFF"/>
                </a:solidFill>
                <a:latin typeface="Helvetica Neue"/>
                <a:ea typeface="Helvetica Neue"/>
                <a:cs typeface="Helvetica Neue"/>
                <a:sym typeface="Helvetica Neue"/>
              </a:defRPr>
            </a:lvl7pPr>
            <a:lvl8pPr marL="0" marR="0" lvl="7" indent="0" algn="r">
              <a:spcBef>
                <a:spcPts val="0"/>
              </a:spcBef>
              <a:buNone/>
              <a:defRPr sz="1300" b="0" i="0" u="none" strike="noStrike" cap="none">
                <a:solidFill>
                  <a:srgbClr val="FFFFFF"/>
                </a:solidFill>
                <a:latin typeface="Helvetica Neue"/>
                <a:ea typeface="Helvetica Neue"/>
                <a:cs typeface="Helvetica Neue"/>
                <a:sym typeface="Helvetica Neue"/>
              </a:defRPr>
            </a:lvl8pPr>
            <a:lvl9pPr marL="0" marR="0" lvl="8" indent="0" algn="r">
              <a:spcBef>
                <a:spcPts val="0"/>
              </a:spcBef>
              <a:buNone/>
              <a:defRPr sz="1300" b="0" i="0" u="none" strike="noStrike" cap="none">
                <a:solidFill>
                  <a:srgbClr val="FFFFFF"/>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
              <a:t>‹#›</a:t>
            </a:fld>
            <a:endParaRPr/>
          </a:p>
        </p:txBody>
      </p:sp>
      <p:sp>
        <p:nvSpPr>
          <p:cNvPr id="79" name="Google Shape;79;p18"/>
          <p:cNvSpPr txBox="1">
            <a:spLocks noGrp="1"/>
          </p:cNvSpPr>
          <p:nvPr>
            <p:ph type="title"/>
          </p:nvPr>
        </p:nvSpPr>
        <p:spPr>
          <a:xfrm>
            <a:off x="457199" y="171450"/>
            <a:ext cx="8654100" cy="800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1081663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457200" y="164831"/>
            <a:ext cx="8229600" cy="480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3600"/>
              <a:buFont typeface="Calibri"/>
              <a:buNone/>
              <a:defRPr sz="3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6" name="Google Shape;66;p16"/>
          <p:cNvSpPr txBox="1">
            <a:spLocks noGrp="1"/>
          </p:cNvSpPr>
          <p:nvPr>
            <p:ph type="body" idx="1"/>
          </p:nvPr>
        </p:nvSpPr>
        <p:spPr>
          <a:xfrm>
            <a:off x="457200" y="857250"/>
            <a:ext cx="4038600" cy="36618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1200"/>
              </a:spcBef>
              <a:spcAft>
                <a:spcPts val="0"/>
              </a:spcAft>
              <a:buClr>
                <a:schemeClr val="dk1"/>
              </a:buClr>
              <a:buSzPts val="2400"/>
              <a:buChar char="○"/>
              <a:defRPr sz="2400"/>
            </a:lvl2pPr>
            <a:lvl3pPr marL="1371600" lvl="2" indent="-355600" algn="l">
              <a:spcBef>
                <a:spcPts val="1200"/>
              </a:spcBef>
              <a:spcAft>
                <a:spcPts val="0"/>
              </a:spcAft>
              <a:buClr>
                <a:schemeClr val="dk1"/>
              </a:buClr>
              <a:buSzPts val="2000"/>
              <a:buChar char="■"/>
              <a:defRPr sz="2000"/>
            </a:lvl3pPr>
            <a:lvl4pPr marL="1828800" lvl="3" indent="-342900" algn="l">
              <a:spcBef>
                <a:spcPts val="1200"/>
              </a:spcBef>
              <a:spcAft>
                <a:spcPts val="0"/>
              </a:spcAft>
              <a:buClr>
                <a:schemeClr val="dk1"/>
              </a:buClr>
              <a:buSzPts val="1800"/>
              <a:buChar char="●"/>
              <a:defRPr sz="1800"/>
            </a:lvl4pPr>
            <a:lvl5pPr marL="2286000" lvl="4" indent="-342900" algn="l">
              <a:spcBef>
                <a:spcPts val="1200"/>
              </a:spcBef>
              <a:spcAft>
                <a:spcPts val="0"/>
              </a:spcAft>
              <a:buClr>
                <a:schemeClr val="dk1"/>
              </a:buClr>
              <a:buSzPts val="1800"/>
              <a:buChar char="○"/>
              <a:defRPr sz="1800"/>
            </a:lvl5pPr>
            <a:lvl6pPr marL="2743200" lvl="5" indent="-342900" algn="l">
              <a:spcBef>
                <a:spcPts val="1200"/>
              </a:spcBef>
              <a:spcAft>
                <a:spcPts val="0"/>
              </a:spcAft>
              <a:buClr>
                <a:schemeClr val="dk1"/>
              </a:buClr>
              <a:buSzPts val="1800"/>
              <a:buChar char="■"/>
              <a:defRPr sz="1800"/>
            </a:lvl6pPr>
            <a:lvl7pPr marL="3200400" lvl="6" indent="-342900" algn="l">
              <a:spcBef>
                <a:spcPts val="1200"/>
              </a:spcBef>
              <a:spcAft>
                <a:spcPts val="0"/>
              </a:spcAft>
              <a:buClr>
                <a:schemeClr val="dk1"/>
              </a:buClr>
              <a:buSzPts val="1800"/>
              <a:buChar char="●"/>
              <a:defRPr sz="1800"/>
            </a:lvl7pPr>
            <a:lvl8pPr marL="3657600" lvl="7" indent="-342900" algn="l">
              <a:spcBef>
                <a:spcPts val="1200"/>
              </a:spcBef>
              <a:spcAft>
                <a:spcPts val="0"/>
              </a:spcAft>
              <a:buClr>
                <a:schemeClr val="dk1"/>
              </a:buClr>
              <a:buSzPts val="1800"/>
              <a:buChar char="○"/>
              <a:defRPr sz="1800"/>
            </a:lvl8pPr>
            <a:lvl9pPr marL="4114800" lvl="8" indent="-342900" algn="l">
              <a:spcBef>
                <a:spcPts val="1200"/>
              </a:spcBef>
              <a:spcAft>
                <a:spcPts val="1200"/>
              </a:spcAft>
              <a:buClr>
                <a:schemeClr val="dk1"/>
              </a:buClr>
              <a:buSzPts val="1800"/>
              <a:buChar char="■"/>
              <a:defRPr sz="1800"/>
            </a:lvl9pPr>
          </a:lstStyle>
          <a:p>
            <a:endParaRPr/>
          </a:p>
        </p:txBody>
      </p:sp>
      <p:sp>
        <p:nvSpPr>
          <p:cNvPr id="67" name="Google Shape;67;p16"/>
          <p:cNvSpPr txBox="1">
            <a:spLocks noGrp="1"/>
          </p:cNvSpPr>
          <p:nvPr>
            <p:ph type="body" idx="2"/>
          </p:nvPr>
        </p:nvSpPr>
        <p:spPr>
          <a:xfrm>
            <a:off x="4648200" y="857250"/>
            <a:ext cx="4038600" cy="36618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1200"/>
              </a:spcBef>
              <a:spcAft>
                <a:spcPts val="0"/>
              </a:spcAft>
              <a:buClr>
                <a:schemeClr val="dk1"/>
              </a:buClr>
              <a:buSzPts val="2400"/>
              <a:buChar char="○"/>
              <a:defRPr sz="2400"/>
            </a:lvl2pPr>
            <a:lvl3pPr marL="1371600" lvl="2" indent="-355600" algn="l">
              <a:spcBef>
                <a:spcPts val="1200"/>
              </a:spcBef>
              <a:spcAft>
                <a:spcPts val="0"/>
              </a:spcAft>
              <a:buClr>
                <a:schemeClr val="dk1"/>
              </a:buClr>
              <a:buSzPts val="2000"/>
              <a:buChar char="■"/>
              <a:defRPr sz="2000"/>
            </a:lvl3pPr>
            <a:lvl4pPr marL="1828800" lvl="3" indent="-342900" algn="l">
              <a:spcBef>
                <a:spcPts val="1200"/>
              </a:spcBef>
              <a:spcAft>
                <a:spcPts val="0"/>
              </a:spcAft>
              <a:buClr>
                <a:schemeClr val="dk1"/>
              </a:buClr>
              <a:buSzPts val="1800"/>
              <a:buChar char="●"/>
              <a:defRPr sz="1800"/>
            </a:lvl4pPr>
            <a:lvl5pPr marL="2286000" lvl="4" indent="-342900" algn="l">
              <a:spcBef>
                <a:spcPts val="1200"/>
              </a:spcBef>
              <a:spcAft>
                <a:spcPts val="0"/>
              </a:spcAft>
              <a:buClr>
                <a:schemeClr val="dk1"/>
              </a:buClr>
              <a:buSzPts val="1800"/>
              <a:buChar char="○"/>
              <a:defRPr sz="1800"/>
            </a:lvl5pPr>
            <a:lvl6pPr marL="2743200" lvl="5" indent="-342900" algn="l">
              <a:spcBef>
                <a:spcPts val="1200"/>
              </a:spcBef>
              <a:spcAft>
                <a:spcPts val="0"/>
              </a:spcAft>
              <a:buClr>
                <a:schemeClr val="dk1"/>
              </a:buClr>
              <a:buSzPts val="1800"/>
              <a:buChar char="■"/>
              <a:defRPr sz="1800"/>
            </a:lvl6pPr>
            <a:lvl7pPr marL="3200400" lvl="6" indent="-342900" algn="l">
              <a:spcBef>
                <a:spcPts val="1200"/>
              </a:spcBef>
              <a:spcAft>
                <a:spcPts val="0"/>
              </a:spcAft>
              <a:buClr>
                <a:schemeClr val="dk1"/>
              </a:buClr>
              <a:buSzPts val="1800"/>
              <a:buChar char="●"/>
              <a:defRPr sz="1800"/>
            </a:lvl7pPr>
            <a:lvl8pPr marL="3657600" lvl="7" indent="-342900" algn="l">
              <a:spcBef>
                <a:spcPts val="1200"/>
              </a:spcBef>
              <a:spcAft>
                <a:spcPts val="0"/>
              </a:spcAft>
              <a:buClr>
                <a:schemeClr val="dk1"/>
              </a:buClr>
              <a:buSzPts val="1800"/>
              <a:buChar char="○"/>
              <a:defRPr sz="1800"/>
            </a:lvl8pPr>
            <a:lvl9pPr marL="4114800" lvl="8" indent="-342900" algn="l">
              <a:spcBef>
                <a:spcPts val="1200"/>
              </a:spcBef>
              <a:spcAft>
                <a:spcPts val="1200"/>
              </a:spcAft>
              <a:buClr>
                <a:schemeClr val="dk1"/>
              </a:buClr>
              <a:buSzPts val="1800"/>
              <a:buChar char="■"/>
              <a:defRPr sz="1800"/>
            </a:lvl9pPr>
          </a:lstStyle>
          <a:p>
            <a:endParaRPr/>
          </a:p>
        </p:txBody>
      </p:sp>
      <p:sp>
        <p:nvSpPr>
          <p:cNvPr id="68" name="Google Shape;68;p16"/>
          <p:cNvSpPr txBox="1"/>
          <p:nvPr/>
        </p:nvSpPr>
        <p:spPr>
          <a:xfrm>
            <a:off x="3357399" y="4767263"/>
            <a:ext cx="2057400" cy="27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69748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2124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2960CAF-861B-4DA5-991A-1546B2B4F195}"/>
              </a:ext>
            </a:extLst>
          </p:cNvPr>
          <p:cNvSpPr>
            <a:spLocks noGrp="1"/>
          </p:cNvSpPr>
          <p:nvPr>
            <p:ph type="pic" sz="quarter" idx="10"/>
          </p:nvPr>
        </p:nvSpPr>
        <p:spPr>
          <a:xfrm>
            <a:off x="5514975" y="821531"/>
            <a:ext cx="2693194" cy="3500438"/>
          </a:xfrm>
          <a:custGeom>
            <a:avLst/>
            <a:gdLst>
              <a:gd name="connsiteX0" fmla="*/ 312734 w 3590925"/>
              <a:gd name="connsiteY0" fmla="*/ 0 h 4667250"/>
              <a:gd name="connsiteX1" fmla="*/ 3278191 w 3590925"/>
              <a:gd name="connsiteY1" fmla="*/ 0 h 4667250"/>
              <a:gd name="connsiteX2" fmla="*/ 3590925 w 3590925"/>
              <a:gd name="connsiteY2" fmla="*/ 312734 h 4667250"/>
              <a:gd name="connsiteX3" fmla="*/ 3590925 w 3590925"/>
              <a:gd name="connsiteY3" fmla="*/ 4354516 h 4667250"/>
              <a:gd name="connsiteX4" fmla="*/ 3278191 w 3590925"/>
              <a:gd name="connsiteY4" fmla="*/ 4667250 h 4667250"/>
              <a:gd name="connsiteX5" fmla="*/ 312734 w 3590925"/>
              <a:gd name="connsiteY5" fmla="*/ 4667250 h 4667250"/>
              <a:gd name="connsiteX6" fmla="*/ 0 w 3590925"/>
              <a:gd name="connsiteY6" fmla="*/ 4354516 h 4667250"/>
              <a:gd name="connsiteX7" fmla="*/ 0 w 3590925"/>
              <a:gd name="connsiteY7" fmla="*/ 312734 h 4667250"/>
              <a:gd name="connsiteX8" fmla="*/ 312734 w 3590925"/>
              <a:gd name="connsiteY8" fmla="*/ 0 h 466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0925" h="4667250">
                <a:moveTo>
                  <a:pt x="312734" y="0"/>
                </a:moveTo>
                <a:lnTo>
                  <a:pt x="3278191" y="0"/>
                </a:lnTo>
                <a:cubicBezTo>
                  <a:pt x="3450909" y="0"/>
                  <a:pt x="3590925" y="140016"/>
                  <a:pt x="3590925" y="312734"/>
                </a:cubicBezTo>
                <a:lnTo>
                  <a:pt x="3590925" y="4354516"/>
                </a:lnTo>
                <a:cubicBezTo>
                  <a:pt x="3590925" y="4527234"/>
                  <a:pt x="3450909" y="4667250"/>
                  <a:pt x="3278191" y="4667250"/>
                </a:cubicBezTo>
                <a:lnTo>
                  <a:pt x="312734" y="4667250"/>
                </a:lnTo>
                <a:cubicBezTo>
                  <a:pt x="140016" y="4667250"/>
                  <a:pt x="0" y="4527234"/>
                  <a:pt x="0" y="4354516"/>
                </a:cubicBezTo>
                <a:lnTo>
                  <a:pt x="0" y="312734"/>
                </a:lnTo>
                <a:cubicBezTo>
                  <a:pt x="0" y="140016"/>
                  <a:pt x="140016" y="0"/>
                  <a:pt x="312734" y="0"/>
                </a:cubicBezTo>
                <a:close/>
              </a:path>
            </a:pathLst>
          </a:custGeom>
        </p:spPr>
        <p:txBody>
          <a:bodyPr wrap="square">
            <a:noAutofit/>
          </a:bodyPr>
          <a:lstStyle/>
          <a:p>
            <a:endParaRPr lang="en-IN"/>
          </a:p>
        </p:txBody>
      </p:sp>
    </p:spTree>
    <p:extLst>
      <p:ext uri="{BB962C8B-B14F-4D97-AF65-F5344CB8AC3E}">
        <p14:creationId xmlns:p14="http://schemas.microsoft.com/office/powerpoint/2010/main" val="3677400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78" r:id="rId8"/>
    <p:sldLayoutId id="2147483679" r:id="rId9"/>
    <p:sldLayoutId id="2147483680" r:id="rId10"/>
    <p:sldLayoutId id="2147483681" r:id="rId11"/>
    <p:sldLayoutId id="214748368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77.png"/><Relationship Id="rId16"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7.png"/><Relationship Id="rId7" Type="http://schemas.openxmlformats.org/officeDocument/2006/relationships/image" Target="../media/image10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6.png"/><Relationship Id="rId9" Type="http://schemas.openxmlformats.org/officeDocument/2006/relationships/image" Target="../media/image102.png"/></Relationships>
</file>

<file path=ppt/slides/_rels/slide1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6.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8.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410.png"/><Relationship Id="rId2"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4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cwc-story.isi.edu/"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hyperlink" Target="http://cwc-story.isi.edu/"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7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63"/>
        <p:cNvGrpSpPr/>
        <p:nvPr/>
      </p:nvGrpSpPr>
      <p:grpSpPr>
        <a:xfrm>
          <a:off x="0" y="0"/>
          <a:ext cx="0" cy="0"/>
          <a:chOff x="0" y="0"/>
          <a:chExt cx="0" cy="0"/>
        </a:xfrm>
      </p:grpSpPr>
      <p:sp>
        <p:nvSpPr>
          <p:cNvPr id="1764" name="Google Shape;1764;p8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Path Finding</a:t>
            </a:r>
            <a:endParaRPr/>
          </a:p>
          <a:p>
            <a:pPr marL="0" lvl="0" indent="0" algn="ctr" rtl="0">
              <a:lnSpc>
                <a:spcPct val="115000"/>
              </a:lnSpc>
              <a:spcBef>
                <a:spcPts val="0"/>
              </a:spcBef>
              <a:spcAft>
                <a:spcPts val="1200"/>
              </a:spcAft>
              <a:buClr>
                <a:schemeClr val="dk1"/>
              </a:buClr>
              <a:buSzPct val="55000"/>
              <a:buFont typeface="Arial"/>
              <a:buNone/>
            </a:pPr>
            <a:r>
              <a:rPr lang="en" sz="2000">
                <a:solidFill>
                  <a:schemeClr val="dk2"/>
                </a:solidFill>
              </a:rPr>
              <a:t>How the search space for creative tasks is navigated.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F3D6FF-D0A9-EB0D-AD4F-E304BAAE1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8545" y="1824266"/>
            <a:ext cx="1450583" cy="1609595"/>
          </a:xfrm>
          <a:prstGeom prst="rect">
            <a:avLst/>
          </a:prstGeom>
        </p:spPr>
      </p:pic>
      <p:sp>
        <p:nvSpPr>
          <p:cNvPr id="3" name="TextBox 2">
            <a:extLst>
              <a:ext uri="{FF2B5EF4-FFF2-40B4-BE49-F238E27FC236}">
                <a16:creationId xmlns:a16="http://schemas.microsoft.com/office/drawing/2014/main" id="{AF8E8160-713A-F032-8305-4C180599E89A}"/>
              </a:ext>
            </a:extLst>
          </p:cNvPr>
          <p:cNvSpPr txBox="1"/>
          <p:nvPr/>
        </p:nvSpPr>
        <p:spPr>
          <a:xfrm>
            <a:off x="3363132" y="2122589"/>
            <a:ext cx="4572554" cy="577081"/>
          </a:xfrm>
          <a:prstGeom prst="rect">
            <a:avLst/>
          </a:prstGeom>
          <a:noFill/>
        </p:spPr>
        <p:txBody>
          <a:bodyPr wrap="square" rtlCol="0">
            <a:spAutoFit/>
          </a:bodyPr>
          <a:lstStyle/>
          <a:p>
            <a:pPr algn="l">
              <a:buFont typeface="Arial" panose="020B0604020202020204" pitchFamily="34" charset="0"/>
              <a:buChar char="•"/>
            </a:pPr>
            <a:r>
              <a:rPr lang="en-US" sz="1575" dirty="0">
                <a:solidFill>
                  <a:srgbClr val="374151"/>
                </a:solidFill>
                <a:latin typeface="Söhne"/>
              </a:rPr>
              <a:t> Third-year PhD Candidate at USC</a:t>
            </a:r>
          </a:p>
          <a:p>
            <a:pPr algn="l">
              <a:buFont typeface="Arial" panose="020B0604020202020204" pitchFamily="34" charset="0"/>
              <a:buChar char="•"/>
            </a:pPr>
            <a:r>
              <a:rPr lang="en-US" sz="1575" dirty="0">
                <a:solidFill>
                  <a:srgbClr val="374151"/>
                </a:solidFill>
                <a:latin typeface="Söhne"/>
              </a:rPr>
              <a:t> Research interests: Language Agents, IR, Planning</a:t>
            </a:r>
          </a:p>
        </p:txBody>
      </p:sp>
      <p:sp>
        <p:nvSpPr>
          <p:cNvPr id="8" name="TextBox 7">
            <a:extLst>
              <a:ext uri="{FF2B5EF4-FFF2-40B4-BE49-F238E27FC236}">
                <a16:creationId xmlns:a16="http://schemas.microsoft.com/office/drawing/2014/main" id="{E691B96A-3240-7274-72CD-2440D588C0C6}"/>
              </a:ext>
            </a:extLst>
          </p:cNvPr>
          <p:cNvSpPr txBox="1"/>
          <p:nvPr/>
        </p:nvSpPr>
        <p:spPr>
          <a:xfrm>
            <a:off x="1718545" y="923764"/>
            <a:ext cx="1319592" cy="403957"/>
          </a:xfrm>
          <a:prstGeom prst="rect">
            <a:avLst/>
          </a:prstGeom>
          <a:noFill/>
        </p:spPr>
        <p:txBody>
          <a:bodyPr wrap="none" rtlCol="0">
            <a:spAutoFit/>
          </a:bodyPr>
          <a:lstStyle/>
          <a:p>
            <a:r>
              <a:rPr lang="en-IN" sz="2025" dirty="0">
                <a:latin typeface="Fira Sans Medium" panose="020B0603050000020004" pitchFamily="34" charset="0"/>
              </a:rPr>
              <a:t>About me</a:t>
            </a:r>
            <a:endParaRPr lang="en-IN" sz="1575" dirty="0">
              <a:latin typeface="Fira Sans Medium" panose="020B0603050000020004" pitchFamily="34" charset="0"/>
            </a:endParaRPr>
          </a:p>
        </p:txBody>
      </p:sp>
      <p:pic>
        <p:nvPicPr>
          <p:cNvPr id="1026" name="Picture 2" descr="Amazon Alexa Auto">
            <a:extLst>
              <a:ext uri="{FF2B5EF4-FFF2-40B4-BE49-F238E27FC236}">
                <a16:creationId xmlns:a16="http://schemas.microsoft.com/office/drawing/2014/main" id="{1AB72688-4D36-4F5D-7C50-9654CE318E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3132" y="2912659"/>
            <a:ext cx="836106" cy="83610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Microsoft Unveils a New Look - The Official Microsoft Blog">
            <a:extLst>
              <a:ext uri="{FF2B5EF4-FFF2-40B4-BE49-F238E27FC236}">
                <a16:creationId xmlns:a16="http://schemas.microsoft.com/office/drawing/2014/main" id="{B08E6DFA-070C-9DF5-0FFF-A9EDA73C89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0156" y="2955837"/>
            <a:ext cx="1790935" cy="6582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4DC94F1-F5B8-0BAF-AE20-0AFE5A4261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3242" y="3093339"/>
            <a:ext cx="1029380" cy="4117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B42BE27-F652-77D7-E674-ECE4388779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1091" y="2912658"/>
            <a:ext cx="1504992" cy="836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590415"/>
      </p:ext>
    </p:extLst>
  </p:cSld>
  <p:clrMapOvr>
    <a:masterClrMapping/>
  </p:clrMapOvr>
  <mc:AlternateContent xmlns:mc="http://schemas.openxmlformats.org/markup-compatibility/2006" xmlns:p14="http://schemas.microsoft.com/office/powerpoint/2010/main">
    <mc:Choice Requires="p14">
      <p:transition spd="slow" p14:dur="2000" advTm="7779"/>
    </mc:Choice>
    <mc:Fallback xmlns="">
      <p:transition spd="slow" advTm="777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A51E8-8364-BD91-4E51-BC57A3228F7E}"/>
            </a:ext>
          </a:extLst>
        </p:cNvPr>
        <p:cNvGrpSpPr/>
        <p:nvPr/>
      </p:nvGrpSpPr>
      <p:grpSpPr>
        <a:xfrm>
          <a:off x="0" y="0"/>
          <a:ext cx="0" cy="0"/>
          <a:chOff x="0" y="0"/>
          <a:chExt cx="0" cy="0"/>
        </a:xfrm>
      </p:grpSpPr>
      <p:graphicFrame>
        <p:nvGraphicFramePr>
          <p:cNvPr id="23" name="Table 22">
            <a:extLst>
              <a:ext uri="{FF2B5EF4-FFF2-40B4-BE49-F238E27FC236}">
                <a16:creationId xmlns:a16="http://schemas.microsoft.com/office/drawing/2014/main" id="{EE158D7A-DEE3-F112-D8C6-9F21940E165C}"/>
              </a:ext>
            </a:extLst>
          </p:cNvPr>
          <p:cNvGraphicFramePr>
            <a:graphicFrameLocks noGrp="1"/>
          </p:cNvGraphicFramePr>
          <p:nvPr>
            <p:extLst>
              <p:ext uri="{D42A27DB-BD31-4B8C-83A1-F6EECF244321}">
                <p14:modId xmlns:p14="http://schemas.microsoft.com/office/powerpoint/2010/main" val="1468061162"/>
              </p:ext>
            </p:extLst>
          </p:nvPr>
        </p:nvGraphicFramePr>
        <p:xfrm>
          <a:off x="457199" y="1832948"/>
          <a:ext cx="7931728" cy="3237816"/>
        </p:xfrm>
        <a:graphic>
          <a:graphicData uri="http://schemas.openxmlformats.org/drawingml/2006/table">
            <a:tbl>
              <a:tblPr firstRow="1" bandRow="1">
                <a:tableStyleId>{4DC49FA6-4557-4D6F-9334-B3AAFE36C2E5}</a:tableStyleId>
              </a:tblPr>
              <a:tblGrid>
                <a:gridCol w="1982932">
                  <a:extLst>
                    <a:ext uri="{9D8B030D-6E8A-4147-A177-3AD203B41FA5}">
                      <a16:colId xmlns:a16="http://schemas.microsoft.com/office/drawing/2014/main" val="1351464005"/>
                    </a:ext>
                  </a:extLst>
                </a:gridCol>
                <a:gridCol w="1982932">
                  <a:extLst>
                    <a:ext uri="{9D8B030D-6E8A-4147-A177-3AD203B41FA5}">
                      <a16:colId xmlns:a16="http://schemas.microsoft.com/office/drawing/2014/main" val="3842580975"/>
                    </a:ext>
                  </a:extLst>
                </a:gridCol>
                <a:gridCol w="1982932">
                  <a:extLst>
                    <a:ext uri="{9D8B030D-6E8A-4147-A177-3AD203B41FA5}">
                      <a16:colId xmlns:a16="http://schemas.microsoft.com/office/drawing/2014/main" val="4196159977"/>
                    </a:ext>
                  </a:extLst>
                </a:gridCol>
                <a:gridCol w="1982932">
                  <a:extLst>
                    <a:ext uri="{9D8B030D-6E8A-4147-A177-3AD203B41FA5}">
                      <a16:colId xmlns:a16="http://schemas.microsoft.com/office/drawing/2014/main" val="2972191940"/>
                    </a:ext>
                  </a:extLst>
                </a:gridCol>
              </a:tblGrid>
              <a:tr h="917179">
                <a:tc>
                  <a:txBody>
                    <a:bodyPr/>
                    <a:lstStyle/>
                    <a:p>
                      <a:endParaRPr lang="en-US"/>
                    </a:p>
                  </a:txBody>
                  <a:tcPr/>
                </a:tc>
                <a:tc>
                  <a:txBody>
                    <a:bodyPr/>
                    <a:lstStyle/>
                    <a:p>
                      <a:endParaRPr lang="en-US" dirty="0"/>
                    </a:p>
                  </a:txBody>
                  <a:tcPr/>
                </a:tc>
                <a:tc>
                  <a:txBody>
                    <a:bodyPr/>
                    <a:lstStyle/>
                    <a:p>
                      <a:endParaRPr lang="en-US" dirty="0"/>
                    </a:p>
                  </a:txBody>
                  <a:tcPr/>
                </a:tc>
                <a:tc>
                  <a:txBody>
                    <a:bodyPr/>
                    <a:lstStyle/>
                    <a:p>
                      <a:pPr algn="ctr"/>
                      <a:endParaRPr lang="en-US" dirty="0"/>
                    </a:p>
                  </a:txBody>
                  <a:tcPr/>
                </a:tc>
                <a:extLst>
                  <a:ext uri="{0D108BD9-81ED-4DB2-BD59-A6C34878D82A}">
                    <a16:rowId xmlns:a16="http://schemas.microsoft.com/office/drawing/2014/main" val="3485295456"/>
                  </a:ext>
                </a:extLst>
              </a:tr>
              <a:tr h="1309255">
                <a:tc>
                  <a:txBody>
                    <a:bodyPr/>
                    <a:lstStyle/>
                    <a:p>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918587657"/>
                  </a:ext>
                </a:extLst>
              </a:tr>
              <a:tr h="1011382">
                <a:tc>
                  <a:txBody>
                    <a:bodyPr/>
                    <a:lstStyle/>
                    <a:p>
                      <a:endParaRPr lang="en-US" dirty="0"/>
                    </a:p>
                  </a:txBody>
                  <a:tcPr/>
                </a:tc>
                <a:tc>
                  <a:txBody>
                    <a:bodyPr/>
                    <a:lstStyle/>
                    <a:p>
                      <a:pPr algn="ctr"/>
                      <a:endParaRPr lang="en-US" dirty="0"/>
                    </a:p>
                  </a:txBody>
                  <a:tcPr/>
                </a:tc>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409763797"/>
                  </a:ext>
                </a:extLst>
              </a:tr>
            </a:tbl>
          </a:graphicData>
        </a:graphic>
      </p:graphicFrame>
      <p:sp>
        <p:nvSpPr>
          <p:cNvPr id="3" name="Google Shape;1814;p84">
            <a:extLst>
              <a:ext uri="{FF2B5EF4-FFF2-40B4-BE49-F238E27FC236}">
                <a16:creationId xmlns:a16="http://schemas.microsoft.com/office/drawing/2014/main" id="{303CAEE2-272A-BF31-1C94-C236413DD1A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500" dirty="0">
                <a:solidFill>
                  <a:schemeClr val="dk2"/>
                </a:solidFill>
              </a:rPr>
              <a:t>Challenges of creative planning	</a:t>
            </a:r>
            <a:endParaRPr sz="2400" dirty="0"/>
          </a:p>
        </p:txBody>
      </p:sp>
      <p:sp>
        <p:nvSpPr>
          <p:cNvPr id="5" name="TextBox 4">
            <a:extLst>
              <a:ext uri="{FF2B5EF4-FFF2-40B4-BE49-F238E27FC236}">
                <a16:creationId xmlns:a16="http://schemas.microsoft.com/office/drawing/2014/main" id="{C98E4FCE-A487-846E-F7DE-B0AC052C19BE}"/>
              </a:ext>
            </a:extLst>
          </p:cNvPr>
          <p:cNvSpPr txBox="1"/>
          <p:nvPr/>
        </p:nvSpPr>
        <p:spPr>
          <a:xfrm>
            <a:off x="457200" y="1212273"/>
            <a:ext cx="7772400" cy="523220"/>
          </a:xfrm>
          <a:prstGeom prst="rect">
            <a:avLst/>
          </a:prstGeom>
          <a:noFill/>
        </p:spPr>
        <p:txBody>
          <a:bodyPr wrap="square" rtlCol="0">
            <a:spAutoFit/>
          </a:bodyPr>
          <a:lstStyle/>
          <a:p>
            <a:pPr marL="285750" indent="-285750">
              <a:buFont typeface="Arial" panose="020B0604020202020204" pitchFamily="34" charset="0"/>
              <a:buChar char="•"/>
            </a:pPr>
            <a:r>
              <a:rPr lang="en-US" dirty="0"/>
              <a:t>The search space is unknown or </a:t>
            </a:r>
            <a:r>
              <a:rPr lang="en-US" b="1" u="sng" dirty="0"/>
              <a:t>large</a:t>
            </a:r>
          </a:p>
          <a:p>
            <a:pPr marL="285750" indent="-285750">
              <a:buFont typeface="Arial" panose="020B0604020202020204" pitchFamily="34" charset="0"/>
              <a:buChar char="•"/>
            </a:pPr>
            <a:r>
              <a:rPr lang="en-US" dirty="0"/>
              <a:t>The reward is </a:t>
            </a:r>
            <a:r>
              <a:rPr lang="en-US" b="1" u="sng" dirty="0"/>
              <a:t>sparse</a:t>
            </a:r>
          </a:p>
        </p:txBody>
      </p:sp>
      <p:sp>
        <p:nvSpPr>
          <p:cNvPr id="8" name="TextBox 7">
            <a:extLst>
              <a:ext uri="{FF2B5EF4-FFF2-40B4-BE49-F238E27FC236}">
                <a16:creationId xmlns:a16="http://schemas.microsoft.com/office/drawing/2014/main" id="{3C12E3B0-9ED8-8B45-F32E-756F34FF473F}"/>
              </a:ext>
            </a:extLst>
          </p:cNvPr>
          <p:cNvSpPr txBox="1"/>
          <p:nvPr/>
        </p:nvSpPr>
        <p:spPr>
          <a:xfrm>
            <a:off x="4549411" y="1949141"/>
            <a:ext cx="1845378" cy="738664"/>
          </a:xfrm>
          <a:prstGeom prst="rect">
            <a:avLst/>
          </a:prstGeom>
          <a:noFill/>
        </p:spPr>
        <p:txBody>
          <a:bodyPr wrap="none" rtlCol="0">
            <a:spAutoFit/>
          </a:bodyPr>
          <a:lstStyle/>
          <a:p>
            <a:pPr algn="ctr"/>
            <a:r>
              <a:rPr lang="en-US" dirty="0"/>
              <a:t>Information </a:t>
            </a:r>
          </a:p>
          <a:p>
            <a:pPr algn="ctr"/>
            <a:r>
              <a:rPr lang="en-US" dirty="0"/>
              <a:t>Gathering</a:t>
            </a:r>
          </a:p>
          <a:p>
            <a:pPr algn="ctr"/>
            <a:r>
              <a:rPr lang="en-US" dirty="0"/>
              <a:t>(e.g. </a:t>
            </a:r>
            <a:r>
              <a:rPr lang="en-US" dirty="0" err="1"/>
              <a:t>DeepResearch</a:t>
            </a:r>
            <a:r>
              <a:rPr lang="en-US" dirty="0"/>
              <a:t>)</a:t>
            </a:r>
          </a:p>
        </p:txBody>
      </p:sp>
      <p:sp>
        <p:nvSpPr>
          <p:cNvPr id="25" name="TextBox 24">
            <a:extLst>
              <a:ext uri="{FF2B5EF4-FFF2-40B4-BE49-F238E27FC236}">
                <a16:creationId xmlns:a16="http://schemas.microsoft.com/office/drawing/2014/main" id="{F766C33E-D631-879A-B50B-ADD6925C1F03}"/>
              </a:ext>
            </a:extLst>
          </p:cNvPr>
          <p:cNvSpPr txBox="1"/>
          <p:nvPr/>
        </p:nvSpPr>
        <p:spPr>
          <a:xfrm>
            <a:off x="3051528" y="2010696"/>
            <a:ext cx="742511" cy="307777"/>
          </a:xfrm>
          <a:prstGeom prst="rect">
            <a:avLst/>
          </a:prstGeom>
          <a:noFill/>
        </p:spPr>
        <p:txBody>
          <a:bodyPr wrap="none" rtlCol="0">
            <a:spAutoFit/>
          </a:bodyPr>
          <a:lstStyle/>
          <a:p>
            <a:r>
              <a:rPr lang="en-US" dirty="0"/>
              <a:t>Writing</a:t>
            </a:r>
          </a:p>
        </p:txBody>
      </p:sp>
      <p:sp>
        <p:nvSpPr>
          <p:cNvPr id="26" name="TextBox 25">
            <a:extLst>
              <a:ext uri="{FF2B5EF4-FFF2-40B4-BE49-F238E27FC236}">
                <a16:creationId xmlns:a16="http://schemas.microsoft.com/office/drawing/2014/main" id="{B139C8DF-B9FE-2C02-65DB-0A2BA31A05DD}"/>
              </a:ext>
            </a:extLst>
          </p:cNvPr>
          <p:cNvSpPr txBox="1"/>
          <p:nvPr/>
        </p:nvSpPr>
        <p:spPr>
          <a:xfrm>
            <a:off x="755073" y="3297967"/>
            <a:ext cx="1309974" cy="307777"/>
          </a:xfrm>
          <a:prstGeom prst="rect">
            <a:avLst/>
          </a:prstGeom>
          <a:noFill/>
        </p:spPr>
        <p:txBody>
          <a:bodyPr wrap="none" rtlCol="0">
            <a:spAutoFit/>
          </a:bodyPr>
          <a:lstStyle/>
          <a:p>
            <a:r>
              <a:rPr lang="en-US" dirty="0"/>
              <a:t>Search Space</a:t>
            </a:r>
          </a:p>
        </p:txBody>
      </p:sp>
      <p:sp>
        <p:nvSpPr>
          <p:cNvPr id="27" name="TextBox 26">
            <a:extLst>
              <a:ext uri="{FF2B5EF4-FFF2-40B4-BE49-F238E27FC236}">
                <a16:creationId xmlns:a16="http://schemas.microsoft.com/office/drawing/2014/main" id="{1DEEE6A1-1453-22BB-044C-C8AC16FD5D9E}"/>
              </a:ext>
            </a:extLst>
          </p:cNvPr>
          <p:cNvSpPr txBox="1"/>
          <p:nvPr/>
        </p:nvSpPr>
        <p:spPr>
          <a:xfrm>
            <a:off x="6762743" y="1940542"/>
            <a:ext cx="1289134" cy="523220"/>
          </a:xfrm>
          <a:prstGeom prst="rect">
            <a:avLst/>
          </a:prstGeom>
          <a:noFill/>
        </p:spPr>
        <p:txBody>
          <a:bodyPr wrap="none" rtlCol="0">
            <a:spAutoFit/>
          </a:bodyPr>
          <a:lstStyle/>
          <a:p>
            <a:pPr algn="ctr"/>
            <a:r>
              <a:rPr lang="en-US" dirty="0"/>
              <a:t>Brainstorming</a:t>
            </a:r>
          </a:p>
          <a:p>
            <a:pPr algn="ctr"/>
            <a:r>
              <a:rPr lang="en-US" dirty="0"/>
              <a:t>(AI4Science)</a:t>
            </a:r>
          </a:p>
        </p:txBody>
      </p:sp>
      <p:sp>
        <p:nvSpPr>
          <p:cNvPr id="28" name="TextBox 27">
            <a:extLst>
              <a:ext uri="{FF2B5EF4-FFF2-40B4-BE49-F238E27FC236}">
                <a16:creationId xmlns:a16="http://schemas.microsoft.com/office/drawing/2014/main" id="{9BA1FEF0-8270-EE77-A038-C815E715AF5A}"/>
              </a:ext>
            </a:extLst>
          </p:cNvPr>
          <p:cNvSpPr txBox="1"/>
          <p:nvPr/>
        </p:nvSpPr>
        <p:spPr>
          <a:xfrm>
            <a:off x="735011" y="4429967"/>
            <a:ext cx="1359668" cy="307777"/>
          </a:xfrm>
          <a:prstGeom prst="rect">
            <a:avLst/>
          </a:prstGeom>
          <a:noFill/>
        </p:spPr>
        <p:txBody>
          <a:bodyPr wrap="none" rtlCol="0">
            <a:spAutoFit/>
          </a:bodyPr>
          <a:lstStyle/>
          <a:p>
            <a:r>
              <a:rPr lang="en-US" dirty="0"/>
              <a:t>Reward Space</a:t>
            </a:r>
          </a:p>
        </p:txBody>
      </p:sp>
      <p:sp>
        <p:nvSpPr>
          <p:cNvPr id="33" name="Google Shape;1773;p83">
            <a:extLst>
              <a:ext uri="{FF2B5EF4-FFF2-40B4-BE49-F238E27FC236}">
                <a16:creationId xmlns:a16="http://schemas.microsoft.com/office/drawing/2014/main" id="{E45E40C9-44C1-7109-581F-3BCD143C2C97}"/>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Tree>
    <p:extLst>
      <p:ext uri="{BB962C8B-B14F-4D97-AF65-F5344CB8AC3E}">
        <p14:creationId xmlns:p14="http://schemas.microsoft.com/office/powerpoint/2010/main" val="3391268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a:extLst>
              <a:ext uri="{FF2B5EF4-FFF2-40B4-BE49-F238E27FC236}">
                <a16:creationId xmlns:a16="http://schemas.microsoft.com/office/drawing/2014/main" id="{F370E00B-82BB-CF7B-83C7-05AD9A412AE8}"/>
              </a:ext>
            </a:extLst>
          </p:cNvPr>
          <p:cNvGraphicFramePr>
            <a:graphicFrameLocks noGrp="1"/>
          </p:cNvGraphicFramePr>
          <p:nvPr>
            <p:extLst>
              <p:ext uri="{D42A27DB-BD31-4B8C-83A1-F6EECF244321}">
                <p14:modId xmlns:p14="http://schemas.microsoft.com/office/powerpoint/2010/main" val="190290583"/>
              </p:ext>
            </p:extLst>
          </p:nvPr>
        </p:nvGraphicFramePr>
        <p:xfrm>
          <a:off x="457199" y="1832948"/>
          <a:ext cx="7931728" cy="3237816"/>
        </p:xfrm>
        <a:graphic>
          <a:graphicData uri="http://schemas.openxmlformats.org/drawingml/2006/table">
            <a:tbl>
              <a:tblPr firstRow="1" bandRow="1">
                <a:tableStyleId>{4DC49FA6-4557-4D6F-9334-B3AAFE36C2E5}</a:tableStyleId>
              </a:tblPr>
              <a:tblGrid>
                <a:gridCol w="1982932">
                  <a:extLst>
                    <a:ext uri="{9D8B030D-6E8A-4147-A177-3AD203B41FA5}">
                      <a16:colId xmlns:a16="http://schemas.microsoft.com/office/drawing/2014/main" val="1351464005"/>
                    </a:ext>
                  </a:extLst>
                </a:gridCol>
                <a:gridCol w="1982932">
                  <a:extLst>
                    <a:ext uri="{9D8B030D-6E8A-4147-A177-3AD203B41FA5}">
                      <a16:colId xmlns:a16="http://schemas.microsoft.com/office/drawing/2014/main" val="3842580975"/>
                    </a:ext>
                  </a:extLst>
                </a:gridCol>
                <a:gridCol w="1982932">
                  <a:extLst>
                    <a:ext uri="{9D8B030D-6E8A-4147-A177-3AD203B41FA5}">
                      <a16:colId xmlns:a16="http://schemas.microsoft.com/office/drawing/2014/main" val="4196159977"/>
                    </a:ext>
                  </a:extLst>
                </a:gridCol>
                <a:gridCol w="1982932">
                  <a:extLst>
                    <a:ext uri="{9D8B030D-6E8A-4147-A177-3AD203B41FA5}">
                      <a16:colId xmlns:a16="http://schemas.microsoft.com/office/drawing/2014/main" val="2972191940"/>
                    </a:ext>
                  </a:extLst>
                </a:gridCol>
              </a:tblGrid>
              <a:tr h="917179">
                <a:tc>
                  <a:txBody>
                    <a:bodyPr/>
                    <a:lstStyle/>
                    <a:p>
                      <a:endParaRPr lang="en-US"/>
                    </a:p>
                  </a:txBody>
                  <a:tcPr/>
                </a:tc>
                <a:tc>
                  <a:txBody>
                    <a:bodyPr/>
                    <a:lstStyle/>
                    <a:p>
                      <a:endParaRPr lang="en-US" dirty="0"/>
                    </a:p>
                  </a:txBody>
                  <a:tcPr/>
                </a:tc>
                <a:tc>
                  <a:txBody>
                    <a:bodyPr/>
                    <a:lstStyle/>
                    <a:p>
                      <a:endParaRPr lang="en-US" dirty="0"/>
                    </a:p>
                  </a:txBody>
                  <a:tcPr/>
                </a:tc>
                <a:tc>
                  <a:txBody>
                    <a:bodyPr/>
                    <a:lstStyle/>
                    <a:p>
                      <a:pPr algn="ctr"/>
                      <a:endParaRPr lang="en-US" dirty="0"/>
                    </a:p>
                  </a:txBody>
                  <a:tcPr/>
                </a:tc>
                <a:extLst>
                  <a:ext uri="{0D108BD9-81ED-4DB2-BD59-A6C34878D82A}">
                    <a16:rowId xmlns:a16="http://schemas.microsoft.com/office/drawing/2014/main" val="3485295456"/>
                  </a:ext>
                </a:extLst>
              </a:tr>
              <a:tr h="1309255">
                <a:tc>
                  <a:txBody>
                    <a:bodyPr/>
                    <a:lstStyle/>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 infinite</a:t>
                      </a:r>
                    </a:p>
                    <a:p>
                      <a:pPr algn="ct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internet</a:t>
                      </a:r>
                    </a:p>
                    <a:p>
                      <a:pPr algn="ctr"/>
                      <a:endParaRPr lang="en-US" dirty="0"/>
                    </a:p>
                  </a:txBody>
                  <a:tcPr/>
                </a:tc>
                <a:tc>
                  <a:txBody>
                    <a:bodyPr/>
                    <a:lstStyle/>
                    <a:p>
                      <a:pPr algn="ctr"/>
                      <a:r>
                        <a:rPr lang="en-US" dirty="0"/>
                        <a:t>internet + database</a:t>
                      </a:r>
                    </a:p>
                  </a:txBody>
                  <a:tcPr/>
                </a:tc>
                <a:extLst>
                  <a:ext uri="{0D108BD9-81ED-4DB2-BD59-A6C34878D82A}">
                    <a16:rowId xmlns:a16="http://schemas.microsoft.com/office/drawing/2014/main" val="2918587657"/>
                  </a:ext>
                </a:extLst>
              </a:tr>
              <a:tr h="1011382">
                <a:tc>
                  <a:txBody>
                    <a:bodyPr/>
                    <a:lstStyle/>
                    <a:p>
                      <a:endParaRPr lang="en-US" dirty="0"/>
                    </a:p>
                  </a:txBody>
                  <a:tcPr/>
                </a:tc>
                <a:tc>
                  <a:txBody>
                    <a:bodyPr/>
                    <a:lstStyle/>
                    <a:p>
                      <a:pPr algn="ctr"/>
                      <a:endParaRPr lang="en-US" dirty="0"/>
                    </a:p>
                  </a:txBody>
                  <a:tcPr/>
                </a:tc>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409763797"/>
                  </a:ext>
                </a:extLst>
              </a:tr>
            </a:tbl>
          </a:graphicData>
        </a:graphic>
      </p:graphicFrame>
      <p:sp>
        <p:nvSpPr>
          <p:cNvPr id="3" name="Google Shape;1814;p84">
            <a:extLst>
              <a:ext uri="{FF2B5EF4-FFF2-40B4-BE49-F238E27FC236}">
                <a16:creationId xmlns:a16="http://schemas.microsoft.com/office/drawing/2014/main" id="{0EEFA069-A381-C021-2A03-D73F2928C0E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500" dirty="0">
                <a:solidFill>
                  <a:schemeClr val="dk2"/>
                </a:solidFill>
              </a:rPr>
              <a:t>Challenges of creative planning	</a:t>
            </a:r>
            <a:endParaRPr sz="2400" dirty="0"/>
          </a:p>
        </p:txBody>
      </p:sp>
      <p:sp>
        <p:nvSpPr>
          <p:cNvPr id="5" name="TextBox 4">
            <a:extLst>
              <a:ext uri="{FF2B5EF4-FFF2-40B4-BE49-F238E27FC236}">
                <a16:creationId xmlns:a16="http://schemas.microsoft.com/office/drawing/2014/main" id="{FE04E557-45D1-FA2D-BC54-19523F93CECD}"/>
              </a:ext>
            </a:extLst>
          </p:cNvPr>
          <p:cNvSpPr txBox="1"/>
          <p:nvPr/>
        </p:nvSpPr>
        <p:spPr>
          <a:xfrm>
            <a:off x="457200" y="1212273"/>
            <a:ext cx="7772400" cy="523220"/>
          </a:xfrm>
          <a:prstGeom prst="rect">
            <a:avLst/>
          </a:prstGeom>
          <a:noFill/>
        </p:spPr>
        <p:txBody>
          <a:bodyPr wrap="square" rtlCol="0">
            <a:spAutoFit/>
          </a:bodyPr>
          <a:lstStyle/>
          <a:p>
            <a:pPr marL="285750" indent="-285750">
              <a:buFont typeface="Arial" panose="020B0604020202020204" pitchFamily="34" charset="0"/>
              <a:buChar char="•"/>
            </a:pPr>
            <a:r>
              <a:rPr lang="en-US" dirty="0"/>
              <a:t>The search space is unknown or </a:t>
            </a:r>
            <a:r>
              <a:rPr lang="en-US" b="1" u="sng" dirty="0"/>
              <a:t>large</a:t>
            </a:r>
          </a:p>
          <a:p>
            <a:pPr marL="285750" indent="-285750">
              <a:buFont typeface="Arial" panose="020B0604020202020204" pitchFamily="34" charset="0"/>
              <a:buChar char="•"/>
            </a:pPr>
            <a:r>
              <a:rPr lang="en-US" dirty="0"/>
              <a:t>The reward is </a:t>
            </a:r>
            <a:r>
              <a:rPr lang="en-US" b="1" u="sng" dirty="0"/>
              <a:t>sparse</a:t>
            </a:r>
          </a:p>
        </p:txBody>
      </p:sp>
      <p:pic>
        <p:nvPicPr>
          <p:cNvPr id="1028" name="Picture 4" descr="Monkeys Will Never Type Shakespeare ...">
            <a:extLst>
              <a:ext uri="{FF2B5EF4-FFF2-40B4-BE49-F238E27FC236}">
                <a16:creationId xmlns:a16="http://schemas.microsoft.com/office/drawing/2014/main" id="{9C4116CF-0AB8-8BE1-1376-6CEEEFD42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9232" y="2995954"/>
            <a:ext cx="10287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plex network - Wikipedia">
            <a:extLst>
              <a:ext uri="{FF2B5EF4-FFF2-40B4-BE49-F238E27FC236}">
                <a16:creationId xmlns:a16="http://schemas.microsoft.com/office/drawing/2014/main" id="{39E07347-1CC7-8C6D-EC3D-3002205753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2118" y="2995954"/>
            <a:ext cx="1379964" cy="1028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04A6262-74A6-DE47-2CCE-09A22F81BB4B}"/>
              </a:ext>
            </a:extLst>
          </p:cNvPr>
          <p:cNvSpPr txBox="1"/>
          <p:nvPr/>
        </p:nvSpPr>
        <p:spPr>
          <a:xfrm>
            <a:off x="4549411" y="1949141"/>
            <a:ext cx="1845378" cy="738664"/>
          </a:xfrm>
          <a:prstGeom prst="rect">
            <a:avLst/>
          </a:prstGeom>
          <a:noFill/>
        </p:spPr>
        <p:txBody>
          <a:bodyPr wrap="none" rtlCol="0">
            <a:spAutoFit/>
          </a:bodyPr>
          <a:lstStyle/>
          <a:p>
            <a:pPr algn="ctr"/>
            <a:r>
              <a:rPr lang="en-US" dirty="0"/>
              <a:t>Information </a:t>
            </a:r>
          </a:p>
          <a:p>
            <a:pPr algn="ctr"/>
            <a:r>
              <a:rPr lang="en-US" dirty="0"/>
              <a:t>Gathering</a:t>
            </a:r>
          </a:p>
          <a:p>
            <a:pPr algn="ctr"/>
            <a:r>
              <a:rPr lang="en-US" dirty="0"/>
              <a:t>(e.g. </a:t>
            </a:r>
            <a:r>
              <a:rPr lang="en-US" dirty="0" err="1"/>
              <a:t>DeepResearch</a:t>
            </a:r>
            <a:r>
              <a:rPr lang="en-US" dirty="0"/>
              <a:t>)</a:t>
            </a:r>
          </a:p>
        </p:txBody>
      </p:sp>
      <p:sp>
        <p:nvSpPr>
          <p:cNvPr id="25" name="TextBox 24">
            <a:extLst>
              <a:ext uri="{FF2B5EF4-FFF2-40B4-BE49-F238E27FC236}">
                <a16:creationId xmlns:a16="http://schemas.microsoft.com/office/drawing/2014/main" id="{C4D32E74-5AA3-156D-5F34-F0319E566839}"/>
              </a:ext>
            </a:extLst>
          </p:cNvPr>
          <p:cNvSpPr txBox="1"/>
          <p:nvPr/>
        </p:nvSpPr>
        <p:spPr>
          <a:xfrm>
            <a:off x="3051528" y="2010696"/>
            <a:ext cx="742511" cy="307777"/>
          </a:xfrm>
          <a:prstGeom prst="rect">
            <a:avLst/>
          </a:prstGeom>
          <a:noFill/>
        </p:spPr>
        <p:txBody>
          <a:bodyPr wrap="none" rtlCol="0">
            <a:spAutoFit/>
          </a:bodyPr>
          <a:lstStyle/>
          <a:p>
            <a:r>
              <a:rPr lang="en-US" dirty="0"/>
              <a:t>Writing</a:t>
            </a:r>
          </a:p>
        </p:txBody>
      </p:sp>
      <p:sp>
        <p:nvSpPr>
          <p:cNvPr id="26" name="TextBox 25">
            <a:extLst>
              <a:ext uri="{FF2B5EF4-FFF2-40B4-BE49-F238E27FC236}">
                <a16:creationId xmlns:a16="http://schemas.microsoft.com/office/drawing/2014/main" id="{607D3499-3150-DFF6-6185-B28FA3A5A258}"/>
              </a:ext>
            </a:extLst>
          </p:cNvPr>
          <p:cNvSpPr txBox="1"/>
          <p:nvPr/>
        </p:nvSpPr>
        <p:spPr>
          <a:xfrm>
            <a:off x="755073" y="3297967"/>
            <a:ext cx="1309974" cy="307777"/>
          </a:xfrm>
          <a:prstGeom prst="rect">
            <a:avLst/>
          </a:prstGeom>
          <a:noFill/>
        </p:spPr>
        <p:txBody>
          <a:bodyPr wrap="none" rtlCol="0">
            <a:spAutoFit/>
          </a:bodyPr>
          <a:lstStyle/>
          <a:p>
            <a:r>
              <a:rPr lang="en-US" dirty="0"/>
              <a:t>Search Space</a:t>
            </a:r>
          </a:p>
        </p:txBody>
      </p:sp>
      <p:sp>
        <p:nvSpPr>
          <p:cNvPr id="27" name="TextBox 26">
            <a:extLst>
              <a:ext uri="{FF2B5EF4-FFF2-40B4-BE49-F238E27FC236}">
                <a16:creationId xmlns:a16="http://schemas.microsoft.com/office/drawing/2014/main" id="{6CAB4CFA-E98A-FA25-B7EC-FB3E8E837E7E}"/>
              </a:ext>
            </a:extLst>
          </p:cNvPr>
          <p:cNvSpPr txBox="1"/>
          <p:nvPr/>
        </p:nvSpPr>
        <p:spPr>
          <a:xfrm>
            <a:off x="6762743" y="1940542"/>
            <a:ext cx="1289134" cy="523220"/>
          </a:xfrm>
          <a:prstGeom prst="rect">
            <a:avLst/>
          </a:prstGeom>
          <a:noFill/>
        </p:spPr>
        <p:txBody>
          <a:bodyPr wrap="none" rtlCol="0">
            <a:spAutoFit/>
          </a:bodyPr>
          <a:lstStyle/>
          <a:p>
            <a:pPr algn="ctr"/>
            <a:r>
              <a:rPr lang="en-US" dirty="0"/>
              <a:t>Brainstorming</a:t>
            </a:r>
          </a:p>
          <a:p>
            <a:pPr algn="ctr"/>
            <a:r>
              <a:rPr lang="en-US" dirty="0"/>
              <a:t>(AI4Science)</a:t>
            </a:r>
          </a:p>
        </p:txBody>
      </p:sp>
      <p:sp>
        <p:nvSpPr>
          <p:cNvPr id="28" name="TextBox 27">
            <a:extLst>
              <a:ext uri="{FF2B5EF4-FFF2-40B4-BE49-F238E27FC236}">
                <a16:creationId xmlns:a16="http://schemas.microsoft.com/office/drawing/2014/main" id="{FE13CD76-00D1-BE4F-CE6F-1FD4B9EE5644}"/>
              </a:ext>
            </a:extLst>
          </p:cNvPr>
          <p:cNvSpPr txBox="1"/>
          <p:nvPr/>
        </p:nvSpPr>
        <p:spPr>
          <a:xfrm>
            <a:off x="735011" y="4429967"/>
            <a:ext cx="1359668" cy="307777"/>
          </a:xfrm>
          <a:prstGeom prst="rect">
            <a:avLst/>
          </a:prstGeom>
          <a:noFill/>
        </p:spPr>
        <p:txBody>
          <a:bodyPr wrap="none" rtlCol="0">
            <a:spAutoFit/>
          </a:bodyPr>
          <a:lstStyle/>
          <a:p>
            <a:r>
              <a:rPr lang="en-US" dirty="0"/>
              <a:t>Reward Space</a:t>
            </a:r>
          </a:p>
        </p:txBody>
      </p:sp>
      <p:pic>
        <p:nvPicPr>
          <p:cNvPr id="29" name="Picture 6" descr="Complex network - Wikipedia">
            <a:extLst>
              <a:ext uri="{FF2B5EF4-FFF2-40B4-BE49-F238E27FC236}">
                <a16:creationId xmlns:a16="http://schemas.microsoft.com/office/drawing/2014/main" id="{51860992-58BD-F306-088C-41223716BA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7015" y="2995954"/>
            <a:ext cx="1379964" cy="10287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elational ">
            <a:extLst>
              <a:ext uri="{FF2B5EF4-FFF2-40B4-BE49-F238E27FC236}">
                <a16:creationId xmlns:a16="http://schemas.microsoft.com/office/drawing/2014/main" id="{F51C55DE-CED2-00BA-7A47-B4BB9A3820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6268" y="3109768"/>
            <a:ext cx="821459" cy="821459"/>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C5D34DA1-5655-BCF0-C3AD-2A76EF58C301}"/>
              </a:ext>
            </a:extLst>
          </p:cNvPr>
          <p:cNvSpPr txBox="1"/>
          <p:nvPr/>
        </p:nvSpPr>
        <p:spPr>
          <a:xfrm>
            <a:off x="2922485" y="4429967"/>
            <a:ext cx="1000595" cy="307777"/>
          </a:xfrm>
          <a:prstGeom prst="rect">
            <a:avLst/>
          </a:prstGeom>
          <a:noFill/>
        </p:spPr>
        <p:txBody>
          <a:bodyPr wrap="none" rtlCol="0">
            <a:spAutoFit/>
          </a:bodyPr>
          <a:lstStyle/>
          <a:p>
            <a:r>
              <a:rPr lang="en-US" dirty="0"/>
              <a:t>Undefined</a:t>
            </a:r>
          </a:p>
        </p:txBody>
      </p:sp>
      <p:sp>
        <p:nvSpPr>
          <p:cNvPr id="31" name="TextBox 30">
            <a:extLst>
              <a:ext uri="{FF2B5EF4-FFF2-40B4-BE49-F238E27FC236}">
                <a16:creationId xmlns:a16="http://schemas.microsoft.com/office/drawing/2014/main" id="{6AF6F741-AB6E-3239-EE31-65CF3F722348}"/>
              </a:ext>
            </a:extLst>
          </p:cNvPr>
          <p:cNvSpPr txBox="1"/>
          <p:nvPr/>
        </p:nvSpPr>
        <p:spPr>
          <a:xfrm>
            <a:off x="5027810" y="4429967"/>
            <a:ext cx="752129" cy="307777"/>
          </a:xfrm>
          <a:prstGeom prst="rect">
            <a:avLst/>
          </a:prstGeom>
          <a:noFill/>
        </p:spPr>
        <p:txBody>
          <a:bodyPr wrap="none" rtlCol="0">
            <a:spAutoFit/>
          </a:bodyPr>
          <a:lstStyle/>
          <a:p>
            <a:r>
              <a:rPr lang="en-US" dirty="0"/>
              <a:t>Sparse</a:t>
            </a:r>
          </a:p>
        </p:txBody>
      </p:sp>
      <p:sp>
        <p:nvSpPr>
          <p:cNvPr id="33" name="Google Shape;1773;p83">
            <a:extLst>
              <a:ext uri="{FF2B5EF4-FFF2-40B4-BE49-F238E27FC236}">
                <a16:creationId xmlns:a16="http://schemas.microsoft.com/office/drawing/2014/main" id="{2E97D968-D772-3544-263A-F9858CD4E760}"/>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pic>
        <p:nvPicPr>
          <p:cNvPr id="1040" name="Picture 16" descr="Venues | OpenReview">
            <a:extLst>
              <a:ext uri="{FF2B5EF4-FFF2-40B4-BE49-F238E27FC236}">
                <a16:creationId xmlns:a16="http://schemas.microsoft.com/office/drawing/2014/main" id="{79067E94-AB34-67B2-BA8F-F52E82A1EF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45348" y="4156519"/>
            <a:ext cx="782379" cy="782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982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2">
          <a:extLst>
            <a:ext uri="{FF2B5EF4-FFF2-40B4-BE49-F238E27FC236}">
              <a16:creationId xmlns:a16="http://schemas.microsoft.com/office/drawing/2014/main" id="{A1BB6175-DB5D-F69D-19DB-B9609D9650C9}"/>
            </a:ext>
          </a:extLst>
        </p:cNvPr>
        <p:cNvGrpSpPr/>
        <p:nvPr/>
      </p:nvGrpSpPr>
      <p:grpSpPr>
        <a:xfrm>
          <a:off x="0" y="0"/>
          <a:ext cx="0" cy="0"/>
          <a:chOff x="0" y="0"/>
          <a:chExt cx="0" cy="0"/>
        </a:xfrm>
      </p:grpSpPr>
      <p:sp>
        <p:nvSpPr>
          <p:cNvPr id="1836" name="Google Shape;1836;p85">
            <a:extLst>
              <a:ext uri="{FF2B5EF4-FFF2-40B4-BE49-F238E27FC236}">
                <a16:creationId xmlns:a16="http://schemas.microsoft.com/office/drawing/2014/main" id="{0F3327F2-7C0B-A6F0-FBD5-B6E30C50D92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500" dirty="0">
                <a:solidFill>
                  <a:schemeClr val="dk2"/>
                </a:solidFill>
              </a:rPr>
              <a:t>Conventional Planning</a:t>
            </a:r>
            <a:endParaRPr sz="2400" dirty="0"/>
          </a:p>
        </p:txBody>
      </p:sp>
      <p:grpSp>
        <p:nvGrpSpPr>
          <p:cNvPr id="48" name="Google Shape;1837;p85">
            <a:extLst>
              <a:ext uri="{FF2B5EF4-FFF2-40B4-BE49-F238E27FC236}">
                <a16:creationId xmlns:a16="http://schemas.microsoft.com/office/drawing/2014/main" id="{73978DC0-195D-058E-F8BB-BB8F273947B5}"/>
              </a:ext>
            </a:extLst>
          </p:cNvPr>
          <p:cNvGrpSpPr/>
          <p:nvPr/>
        </p:nvGrpSpPr>
        <p:grpSpPr>
          <a:xfrm>
            <a:off x="1718922" y="1017725"/>
            <a:ext cx="4642298" cy="1674274"/>
            <a:chOff x="1526926" y="1127825"/>
            <a:chExt cx="5368060" cy="1936025"/>
          </a:xfrm>
        </p:grpSpPr>
        <p:cxnSp>
          <p:nvCxnSpPr>
            <p:cNvPr id="49" name="Google Shape;1838;p85">
              <a:extLst>
                <a:ext uri="{FF2B5EF4-FFF2-40B4-BE49-F238E27FC236}">
                  <a16:creationId xmlns:a16="http://schemas.microsoft.com/office/drawing/2014/main" id="{B33EE3D4-74C8-4F2A-2A49-BB2FFA315158}"/>
                </a:ext>
              </a:extLst>
            </p:cNvPr>
            <p:cNvCxnSpPr>
              <a:stCxn id="1796" idx="7"/>
              <a:endCxn id="1802" idx="3"/>
            </p:cNvCxnSpPr>
            <p:nvPr/>
          </p:nvCxnSpPr>
          <p:spPr>
            <a:xfrm rot="10800000" flipH="1">
              <a:off x="5805441" y="1850044"/>
              <a:ext cx="228600" cy="491700"/>
            </a:xfrm>
            <a:prstGeom prst="straightConnector1">
              <a:avLst/>
            </a:prstGeom>
            <a:noFill/>
            <a:ln w="9525" cap="flat" cmpd="sng">
              <a:solidFill>
                <a:schemeClr val="dk2"/>
              </a:solidFill>
              <a:prstDash val="solid"/>
              <a:round/>
              <a:headEnd type="none" w="med" len="med"/>
              <a:tailEnd type="triangle" w="med" len="med"/>
            </a:ln>
          </p:spPr>
        </p:cxnSp>
        <p:pic>
          <p:nvPicPr>
            <p:cNvPr id="50" name="Google Shape;1841;p85">
              <a:extLst>
                <a:ext uri="{FF2B5EF4-FFF2-40B4-BE49-F238E27FC236}">
                  <a16:creationId xmlns:a16="http://schemas.microsoft.com/office/drawing/2014/main" id="{BCC68B68-01C8-030D-EEF1-62AE63B8FF9A}"/>
                </a:ext>
              </a:extLst>
            </p:cNvPr>
            <p:cNvPicPr preferRelativeResize="0"/>
            <p:nvPr/>
          </p:nvPicPr>
          <p:blipFill>
            <a:blip r:embed="rId3">
              <a:alphaModFix/>
            </a:blip>
            <a:stretch>
              <a:fillRect/>
            </a:stretch>
          </p:blipFill>
          <p:spPr>
            <a:xfrm>
              <a:off x="4254752" y="1177138"/>
              <a:ext cx="670447" cy="670454"/>
            </a:xfrm>
            <a:prstGeom prst="rect">
              <a:avLst/>
            </a:prstGeom>
            <a:noFill/>
            <a:ln>
              <a:noFill/>
            </a:ln>
          </p:spPr>
        </p:pic>
        <p:pic>
          <p:nvPicPr>
            <p:cNvPr id="51" name="Google Shape;1842;p85">
              <a:extLst>
                <a:ext uri="{FF2B5EF4-FFF2-40B4-BE49-F238E27FC236}">
                  <a16:creationId xmlns:a16="http://schemas.microsoft.com/office/drawing/2014/main" id="{FDC72F33-F911-339D-947F-D343E5D1E880}"/>
                </a:ext>
              </a:extLst>
            </p:cNvPr>
            <p:cNvPicPr preferRelativeResize="0"/>
            <p:nvPr/>
          </p:nvPicPr>
          <p:blipFill>
            <a:blip r:embed="rId4">
              <a:alphaModFix/>
            </a:blip>
            <a:stretch>
              <a:fillRect/>
            </a:stretch>
          </p:blipFill>
          <p:spPr>
            <a:xfrm>
              <a:off x="5974965" y="1177134"/>
              <a:ext cx="670458" cy="670467"/>
            </a:xfrm>
            <a:prstGeom prst="rect">
              <a:avLst/>
            </a:prstGeom>
            <a:noFill/>
            <a:ln>
              <a:noFill/>
            </a:ln>
          </p:spPr>
        </p:pic>
        <p:grpSp>
          <p:nvGrpSpPr>
            <p:cNvPr id="52" name="Google Shape;1843;p85">
              <a:extLst>
                <a:ext uri="{FF2B5EF4-FFF2-40B4-BE49-F238E27FC236}">
                  <a16:creationId xmlns:a16="http://schemas.microsoft.com/office/drawing/2014/main" id="{56C1898F-579E-A259-8460-A30174CA6C97}"/>
                </a:ext>
              </a:extLst>
            </p:cNvPr>
            <p:cNvGrpSpPr/>
            <p:nvPr/>
          </p:nvGrpSpPr>
          <p:grpSpPr>
            <a:xfrm>
              <a:off x="2379283" y="1127825"/>
              <a:ext cx="846000" cy="846000"/>
              <a:chOff x="2379283" y="1127825"/>
              <a:chExt cx="846000" cy="846000"/>
            </a:xfrm>
          </p:grpSpPr>
          <p:sp>
            <p:nvSpPr>
              <p:cNvPr id="1806" name="Google Shape;1844;p85">
                <a:extLst>
                  <a:ext uri="{FF2B5EF4-FFF2-40B4-BE49-F238E27FC236}">
                    <a16:creationId xmlns:a16="http://schemas.microsoft.com/office/drawing/2014/main" id="{03FD8DB6-321B-422B-B52D-25E6B86FFF3B}"/>
                  </a:ext>
                </a:extLst>
              </p:cNvPr>
              <p:cNvSpPr/>
              <p:nvPr/>
            </p:nvSpPr>
            <p:spPr>
              <a:xfrm>
                <a:off x="2379283" y="1127825"/>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pic>
            <p:nvPicPr>
              <p:cNvPr id="1807" name="Google Shape;1845;p85">
                <a:extLst>
                  <a:ext uri="{FF2B5EF4-FFF2-40B4-BE49-F238E27FC236}">
                    <a16:creationId xmlns:a16="http://schemas.microsoft.com/office/drawing/2014/main" id="{E02688ED-E976-0169-A050-623371A7A720}"/>
                  </a:ext>
                </a:extLst>
              </p:cNvPr>
              <p:cNvPicPr preferRelativeResize="0"/>
              <p:nvPr/>
            </p:nvPicPr>
            <p:blipFill rotWithShape="1">
              <a:blip r:embed="rId5">
                <a:alphaModFix/>
              </a:blip>
              <a:srcRect r="31243" b="10"/>
              <a:stretch/>
            </p:blipFill>
            <p:spPr>
              <a:xfrm>
                <a:off x="2658060" y="1445851"/>
                <a:ext cx="303050" cy="238400"/>
              </a:xfrm>
              <a:prstGeom prst="rect">
                <a:avLst/>
              </a:prstGeom>
              <a:noFill/>
              <a:ln>
                <a:noFill/>
              </a:ln>
            </p:spPr>
          </p:pic>
        </p:grpSp>
        <p:grpSp>
          <p:nvGrpSpPr>
            <p:cNvPr id="53" name="Google Shape;1846;p85">
              <a:extLst>
                <a:ext uri="{FF2B5EF4-FFF2-40B4-BE49-F238E27FC236}">
                  <a16:creationId xmlns:a16="http://schemas.microsoft.com/office/drawing/2014/main" id="{7A85CDD1-9519-4FF7-552C-0E3D0F90DCF2}"/>
                </a:ext>
              </a:extLst>
            </p:cNvPr>
            <p:cNvGrpSpPr/>
            <p:nvPr/>
          </p:nvGrpSpPr>
          <p:grpSpPr>
            <a:xfrm>
              <a:off x="4144506" y="1127825"/>
              <a:ext cx="846000" cy="846000"/>
              <a:chOff x="4144506" y="1127825"/>
              <a:chExt cx="846000" cy="846000"/>
            </a:xfrm>
          </p:grpSpPr>
          <p:sp>
            <p:nvSpPr>
              <p:cNvPr id="1804" name="Google Shape;1847;p85">
                <a:extLst>
                  <a:ext uri="{FF2B5EF4-FFF2-40B4-BE49-F238E27FC236}">
                    <a16:creationId xmlns:a16="http://schemas.microsoft.com/office/drawing/2014/main" id="{86EDC95F-E32C-2209-4909-1343A3CA3DC0}"/>
                  </a:ext>
                </a:extLst>
              </p:cNvPr>
              <p:cNvSpPr/>
              <p:nvPr/>
            </p:nvSpPr>
            <p:spPr>
              <a:xfrm>
                <a:off x="4144506" y="1127825"/>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pic>
            <p:nvPicPr>
              <p:cNvPr id="1805" name="Google Shape;1848;p85">
                <a:extLst>
                  <a:ext uri="{FF2B5EF4-FFF2-40B4-BE49-F238E27FC236}">
                    <a16:creationId xmlns:a16="http://schemas.microsoft.com/office/drawing/2014/main" id="{F742312F-039A-CDC2-C68B-FDDA52A434E9}"/>
                  </a:ext>
                </a:extLst>
              </p:cNvPr>
              <p:cNvPicPr preferRelativeResize="0"/>
              <p:nvPr/>
            </p:nvPicPr>
            <p:blipFill rotWithShape="1">
              <a:blip r:embed="rId6">
                <a:alphaModFix/>
              </a:blip>
              <a:srcRect r="23815"/>
              <a:stretch/>
            </p:blipFill>
            <p:spPr>
              <a:xfrm>
                <a:off x="4415445" y="1448078"/>
                <a:ext cx="335725" cy="238400"/>
              </a:xfrm>
              <a:prstGeom prst="rect">
                <a:avLst/>
              </a:prstGeom>
              <a:noFill/>
              <a:ln>
                <a:noFill/>
              </a:ln>
            </p:spPr>
          </p:pic>
        </p:grpSp>
        <p:grpSp>
          <p:nvGrpSpPr>
            <p:cNvPr id="54" name="Google Shape;1849;p85">
              <a:extLst>
                <a:ext uri="{FF2B5EF4-FFF2-40B4-BE49-F238E27FC236}">
                  <a16:creationId xmlns:a16="http://schemas.microsoft.com/office/drawing/2014/main" id="{C6005886-B3F5-9DE4-F291-4BA245383D99}"/>
                </a:ext>
              </a:extLst>
            </p:cNvPr>
            <p:cNvGrpSpPr/>
            <p:nvPr/>
          </p:nvGrpSpPr>
          <p:grpSpPr>
            <a:xfrm>
              <a:off x="5910079" y="1127825"/>
              <a:ext cx="846000" cy="846000"/>
              <a:chOff x="5910079" y="1127825"/>
              <a:chExt cx="846000" cy="846000"/>
            </a:xfrm>
          </p:grpSpPr>
          <p:sp>
            <p:nvSpPr>
              <p:cNvPr id="1802" name="Google Shape;1840;p85">
                <a:extLst>
                  <a:ext uri="{FF2B5EF4-FFF2-40B4-BE49-F238E27FC236}">
                    <a16:creationId xmlns:a16="http://schemas.microsoft.com/office/drawing/2014/main" id="{EFCCF1BB-BC35-3285-C9E6-332A21388BCB}"/>
                  </a:ext>
                </a:extLst>
              </p:cNvPr>
              <p:cNvSpPr/>
              <p:nvPr/>
            </p:nvSpPr>
            <p:spPr>
              <a:xfrm>
                <a:off x="5910079" y="1127825"/>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pic>
            <p:nvPicPr>
              <p:cNvPr id="1803" name="Google Shape;1850;p85">
                <a:extLst>
                  <a:ext uri="{FF2B5EF4-FFF2-40B4-BE49-F238E27FC236}">
                    <a16:creationId xmlns:a16="http://schemas.microsoft.com/office/drawing/2014/main" id="{D511C5D2-702C-5906-5681-7B7895E58C38}"/>
                  </a:ext>
                </a:extLst>
              </p:cNvPr>
              <p:cNvPicPr preferRelativeResize="0"/>
              <p:nvPr/>
            </p:nvPicPr>
            <p:blipFill rotWithShape="1">
              <a:blip r:embed="rId7">
                <a:alphaModFix/>
              </a:blip>
              <a:srcRect r="23826"/>
              <a:stretch/>
            </p:blipFill>
            <p:spPr>
              <a:xfrm>
                <a:off x="6179523" y="1441400"/>
                <a:ext cx="335725" cy="242050"/>
              </a:xfrm>
              <a:prstGeom prst="rect">
                <a:avLst/>
              </a:prstGeom>
              <a:noFill/>
              <a:ln>
                <a:noFill/>
              </a:ln>
            </p:spPr>
          </p:pic>
        </p:grpSp>
        <p:cxnSp>
          <p:nvCxnSpPr>
            <p:cNvPr id="55" name="Google Shape;1851;p85">
              <a:extLst>
                <a:ext uri="{FF2B5EF4-FFF2-40B4-BE49-F238E27FC236}">
                  <a16:creationId xmlns:a16="http://schemas.microsoft.com/office/drawing/2014/main" id="{A8C01D8F-10CC-E63D-895A-B8E0322D924D}"/>
                </a:ext>
              </a:extLst>
            </p:cNvPr>
            <p:cNvCxnSpPr>
              <a:stCxn id="1800" idx="6"/>
              <a:endCxn id="1798" idx="2"/>
            </p:cNvCxnSpPr>
            <p:nvPr/>
          </p:nvCxnSpPr>
          <p:spPr>
            <a:xfrm>
              <a:off x="2372926" y="2640850"/>
              <a:ext cx="906600" cy="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854;p85">
              <a:extLst>
                <a:ext uri="{FF2B5EF4-FFF2-40B4-BE49-F238E27FC236}">
                  <a16:creationId xmlns:a16="http://schemas.microsoft.com/office/drawing/2014/main" id="{DA90CA12-4C94-5C95-9C12-66CA9250ED28}"/>
                </a:ext>
              </a:extLst>
            </p:cNvPr>
            <p:cNvCxnSpPr>
              <a:stCxn id="1798" idx="6"/>
              <a:endCxn id="1796" idx="2"/>
            </p:cNvCxnSpPr>
            <p:nvPr/>
          </p:nvCxnSpPr>
          <p:spPr>
            <a:xfrm>
              <a:off x="4125526" y="2640850"/>
              <a:ext cx="957900" cy="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855;p85">
              <a:extLst>
                <a:ext uri="{FF2B5EF4-FFF2-40B4-BE49-F238E27FC236}">
                  <a16:creationId xmlns:a16="http://schemas.microsoft.com/office/drawing/2014/main" id="{6C95E7CC-27B6-D1F6-AFCB-504826473D3D}"/>
                </a:ext>
              </a:extLst>
            </p:cNvPr>
            <p:cNvCxnSpPr>
              <a:stCxn id="1796" idx="6"/>
            </p:cNvCxnSpPr>
            <p:nvPr/>
          </p:nvCxnSpPr>
          <p:spPr>
            <a:xfrm>
              <a:off x="5929335" y="2640850"/>
              <a:ext cx="841800" cy="0"/>
            </a:xfrm>
            <a:prstGeom prst="straightConnector1">
              <a:avLst/>
            </a:prstGeom>
            <a:noFill/>
            <a:ln w="9525" cap="flat" cmpd="sng">
              <a:solidFill>
                <a:schemeClr val="dk2"/>
              </a:solidFill>
              <a:prstDash val="solid"/>
              <a:round/>
              <a:headEnd type="none" w="med" len="med"/>
              <a:tailEnd type="triangle" w="med" len="med"/>
            </a:ln>
          </p:spPr>
        </p:cxnSp>
        <p:grpSp>
          <p:nvGrpSpPr>
            <p:cNvPr id="58" name="Google Shape;1856;p85">
              <a:extLst>
                <a:ext uri="{FF2B5EF4-FFF2-40B4-BE49-F238E27FC236}">
                  <a16:creationId xmlns:a16="http://schemas.microsoft.com/office/drawing/2014/main" id="{DA6BF41E-C639-53B3-F222-74F75E9AD655}"/>
                </a:ext>
              </a:extLst>
            </p:cNvPr>
            <p:cNvGrpSpPr/>
            <p:nvPr/>
          </p:nvGrpSpPr>
          <p:grpSpPr>
            <a:xfrm>
              <a:off x="1526926" y="2217850"/>
              <a:ext cx="846000" cy="846000"/>
              <a:chOff x="1526926" y="2217850"/>
              <a:chExt cx="846000" cy="846000"/>
            </a:xfrm>
          </p:grpSpPr>
          <p:sp>
            <p:nvSpPr>
              <p:cNvPr id="1800" name="Google Shape;1852;p85">
                <a:extLst>
                  <a:ext uri="{FF2B5EF4-FFF2-40B4-BE49-F238E27FC236}">
                    <a16:creationId xmlns:a16="http://schemas.microsoft.com/office/drawing/2014/main" id="{97DC476C-09E3-DB53-8B57-6492562FF8BD}"/>
                  </a:ext>
                </a:extLst>
              </p:cNvPr>
              <p:cNvSpPr/>
              <p:nvPr/>
            </p:nvSpPr>
            <p:spPr>
              <a:xfrm>
                <a:off x="1526926" y="2217850"/>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p:pic>
            <p:nvPicPr>
              <p:cNvPr id="1801" name="Google Shape;1857;p85">
                <a:extLst>
                  <a:ext uri="{FF2B5EF4-FFF2-40B4-BE49-F238E27FC236}">
                    <a16:creationId xmlns:a16="http://schemas.microsoft.com/office/drawing/2014/main" id="{522B22C5-E951-9D06-6E0E-32ACEAA089AD}"/>
                  </a:ext>
                </a:extLst>
              </p:cNvPr>
              <p:cNvPicPr preferRelativeResize="0"/>
              <p:nvPr/>
            </p:nvPicPr>
            <p:blipFill>
              <a:blip r:embed="rId8">
                <a:alphaModFix/>
              </a:blip>
              <a:stretch>
                <a:fillRect/>
              </a:stretch>
            </p:blipFill>
            <p:spPr>
              <a:xfrm>
                <a:off x="1793060" y="2520298"/>
                <a:ext cx="303052" cy="259750"/>
              </a:xfrm>
              <a:prstGeom prst="rect">
                <a:avLst/>
              </a:prstGeom>
              <a:noFill/>
              <a:ln>
                <a:noFill/>
              </a:ln>
            </p:spPr>
          </p:pic>
        </p:grpSp>
        <p:grpSp>
          <p:nvGrpSpPr>
            <p:cNvPr id="59" name="Google Shape;1858;p85">
              <a:extLst>
                <a:ext uri="{FF2B5EF4-FFF2-40B4-BE49-F238E27FC236}">
                  <a16:creationId xmlns:a16="http://schemas.microsoft.com/office/drawing/2014/main" id="{27B16E04-517A-E6FC-00F7-313AB4C1EE29}"/>
                </a:ext>
              </a:extLst>
            </p:cNvPr>
            <p:cNvGrpSpPr/>
            <p:nvPr/>
          </p:nvGrpSpPr>
          <p:grpSpPr>
            <a:xfrm>
              <a:off x="3279526" y="2217850"/>
              <a:ext cx="846000" cy="846000"/>
              <a:chOff x="3279526" y="2217850"/>
              <a:chExt cx="846000" cy="846000"/>
            </a:xfrm>
          </p:grpSpPr>
          <p:sp>
            <p:nvSpPr>
              <p:cNvPr id="1798" name="Google Shape;1853;p85">
                <a:extLst>
                  <a:ext uri="{FF2B5EF4-FFF2-40B4-BE49-F238E27FC236}">
                    <a16:creationId xmlns:a16="http://schemas.microsoft.com/office/drawing/2014/main" id="{3C731B1E-9410-B02A-2F00-576452E821DA}"/>
                  </a:ext>
                </a:extLst>
              </p:cNvPr>
              <p:cNvSpPr/>
              <p:nvPr/>
            </p:nvSpPr>
            <p:spPr>
              <a:xfrm>
                <a:off x="3279526" y="2217850"/>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p:pic>
            <p:nvPicPr>
              <p:cNvPr id="1799" name="Google Shape;1859;p85">
                <a:extLst>
                  <a:ext uri="{FF2B5EF4-FFF2-40B4-BE49-F238E27FC236}">
                    <a16:creationId xmlns:a16="http://schemas.microsoft.com/office/drawing/2014/main" id="{669B07EA-BC7D-E40A-1D81-AF4453EEDAA2}"/>
                  </a:ext>
                </a:extLst>
              </p:cNvPr>
              <p:cNvPicPr preferRelativeResize="0"/>
              <p:nvPr/>
            </p:nvPicPr>
            <p:blipFill>
              <a:blip r:embed="rId9">
                <a:alphaModFix/>
              </a:blip>
              <a:stretch>
                <a:fillRect/>
              </a:stretch>
            </p:blipFill>
            <p:spPr>
              <a:xfrm>
                <a:off x="3545225" y="2523020"/>
                <a:ext cx="303050" cy="253181"/>
              </a:xfrm>
              <a:prstGeom prst="rect">
                <a:avLst/>
              </a:prstGeom>
              <a:noFill/>
              <a:ln>
                <a:noFill/>
              </a:ln>
            </p:spPr>
          </p:pic>
        </p:grpSp>
        <p:grpSp>
          <p:nvGrpSpPr>
            <p:cNvPr id="60" name="Google Shape;1860;p85">
              <a:extLst>
                <a:ext uri="{FF2B5EF4-FFF2-40B4-BE49-F238E27FC236}">
                  <a16:creationId xmlns:a16="http://schemas.microsoft.com/office/drawing/2014/main" id="{4E30AF6E-E758-62B2-48B0-55B5D7F5467C}"/>
                </a:ext>
              </a:extLst>
            </p:cNvPr>
            <p:cNvGrpSpPr/>
            <p:nvPr/>
          </p:nvGrpSpPr>
          <p:grpSpPr>
            <a:xfrm>
              <a:off x="5083335" y="2217850"/>
              <a:ext cx="846000" cy="846000"/>
              <a:chOff x="5083335" y="2217850"/>
              <a:chExt cx="846000" cy="846000"/>
            </a:xfrm>
          </p:grpSpPr>
          <p:sp>
            <p:nvSpPr>
              <p:cNvPr id="1796" name="Google Shape;1839;p85">
                <a:extLst>
                  <a:ext uri="{FF2B5EF4-FFF2-40B4-BE49-F238E27FC236}">
                    <a16:creationId xmlns:a16="http://schemas.microsoft.com/office/drawing/2014/main" id="{86A18EA2-7D98-49B2-BBCB-C5F97A4C0141}"/>
                  </a:ext>
                </a:extLst>
              </p:cNvPr>
              <p:cNvSpPr/>
              <p:nvPr/>
            </p:nvSpPr>
            <p:spPr>
              <a:xfrm>
                <a:off x="5083335" y="2217850"/>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p:pic>
            <p:nvPicPr>
              <p:cNvPr id="1797" name="Google Shape;1861;p85">
                <a:extLst>
                  <a:ext uri="{FF2B5EF4-FFF2-40B4-BE49-F238E27FC236}">
                    <a16:creationId xmlns:a16="http://schemas.microsoft.com/office/drawing/2014/main" id="{2146E33B-D78D-74AA-A9A1-8F3F4628CFEC}"/>
                  </a:ext>
                </a:extLst>
              </p:cNvPr>
              <p:cNvPicPr preferRelativeResize="0"/>
              <p:nvPr/>
            </p:nvPicPr>
            <p:blipFill>
              <a:blip r:embed="rId10">
                <a:alphaModFix/>
              </a:blip>
              <a:stretch>
                <a:fillRect/>
              </a:stretch>
            </p:blipFill>
            <p:spPr>
              <a:xfrm>
                <a:off x="5335297" y="2527169"/>
                <a:ext cx="303050" cy="253805"/>
              </a:xfrm>
              <a:prstGeom prst="rect">
                <a:avLst/>
              </a:prstGeom>
              <a:noFill/>
              <a:ln>
                <a:noFill/>
              </a:ln>
            </p:spPr>
          </p:pic>
        </p:grpSp>
        <p:cxnSp>
          <p:nvCxnSpPr>
            <p:cNvPr id="61" name="Google Shape;1862;p85">
              <a:extLst>
                <a:ext uri="{FF2B5EF4-FFF2-40B4-BE49-F238E27FC236}">
                  <a16:creationId xmlns:a16="http://schemas.microsoft.com/office/drawing/2014/main" id="{9352E354-57B2-A5EC-C3E1-47EF4CA1F6DF}"/>
                </a:ext>
              </a:extLst>
            </p:cNvPr>
            <p:cNvCxnSpPr>
              <a:stCxn id="1806" idx="5"/>
              <a:endCxn id="1798" idx="1"/>
            </p:cNvCxnSpPr>
            <p:nvPr/>
          </p:nvCxnSpPr>
          <p:spPr>
            <a:xfrm>
              <a:off x="3101389" y="1849931"/>
              <a:ext cx="302100" cy="491700"/>
            </a:xfrm>
            <a:prstGeom prst="straightConnector1">
              <a:avLst/>
            </a:prstGeom>
            <a:noFill/>
            <a:ln w="9525" cap="flat" cmpd="sng">
              <a:solidFill>
                <a:schemeClr val="dk2"/>
              </a:solidFill>
              <a:prstDash val="solid"/>
              <a:round/>
              <a:headEnd type="none" w="med" len="med"/>
              <a:tailEnd type="triangle" w="med" len="med"/>
            </a:ln>
          </p:spPr>
        </p:cxnSp>
        <p:cxnSp>
          <p:nvCxnSpPr>
            <p:cNvPr id="62" name="Google Shape;1863;p85">
              <a:extLst>
                <a:ext uri="{FF2B5EF4-FFF2-40B4-BE49-F238E27FC236}">
                  <a16:creationId xmlns:a16="http://schemas.microsoft.com/office/drawing/2014/main" id="{341106B3-81F9-6AE2-A90E-B0A89AA55102}"/>
                </a:ext>
              </a:extLst>
            </p:cNvPr>
            <p:cNvCxnSpPr>
              <a:stCxn id="1804" idx="5"/>
              <a:endCxn id="1796" idx="1"/>
            </p:cNvCxnSpPr>
            <p:nvPr/>
          </p:nvCxnSpPr>
          <p:spPr>
            <a:xfrm>
              <a:off x="4866612" y="1849931"/>
              <a:ext cx="340500" cy="491700"/>
            </a:xfrm>
            <a:prstGeom prst="straightConnector1">
              <a:avLst/>
            </a:prstGeom>
            <a:noFill/>
            <a:ln w="9525" cap="flat" cmpd="sng">
              <a:solidFill>
                <a:schemeClr val="dk2"/>
              </a:solidFill>
              <a:prstDash val="solid"/>
              <a:round/>
              <a:headEnd type="none" w="med" len="med"/>
              <a:tailEnd type="triangle" w="med" len="med"/>
            </a:ln>
          </p:spPr>
        </p:cxnSp>
        <p:cxnSp>
          <p:nvCxnSpPr>
            <p:cNvPr id="63" name="Google Shape;1864;p85">
              <a:extLst>
                <a:ext uri="{FF2B5EF4-FFF2-40B4-BE49-F238E27FC236}">
                  <a16:creationId xmlns:a16="http://schemas.microsoft.com/office/drawing/2014/main" id="{65224020-4183-7635-6BB9-6B440BE0B062}"/>
                </a:ext>
              </a:extLst>
            </p:cNvPr>
            <p:cNvCxnSpPr>
              <a:stCxn id="1802" idx="5"/>
            </p:cNvCxnSpPr>
            <p:nvPr/>
          </p:nvCxnSpPr>
          <p:spPr>
            <a:xfrm>
              <a:off x="6632185" y="1849931"/>
              <a:ext cx="262800" cy="491700"/>
            </a:xfrm>
            <a:prstGeom prst="straightConnector1">
              <a:avLst/>
            </a:prstGeom>
            <a:noFill/>
            <a:ln w="9525" cap="flat" cmpd="sng">
              <a:solidFill>
                <a:schemeClr val="dk2"/>
              </a:solidFill>
              <a:prstDash val="solid"/>
              <a:round/>
              <a:headEnd type="none" w="med" len="med"/>
              <a:tailEnd type="triangle" w="med" len="med"/>
            </a:ln>
          </p:spPr>
        </p:cxnSp>
        <p:cxnSp>
          <p:nvCxnSpPr>
            <p:cNvPr id="1792" name="Google Shape;1865;p85">
              <a:extLst>
                <a:ext uri="{FF2B5EF4-FFF2-40B4-BE49-F238E27FC236}">
                  <a16:creationId xmlns:a16="http://schemas.microsoft.com/office/drawing/2014/main" id="{874062A1-1C65-DF11-C28C-4A8727A722B7}"/>
                </a:ext>
              </a:extLst>
            </p:cNvPr>
            <p:cNvCxnSpPr>
              <a:stCxn id="1806" idx="6"/>
              <a:endCxn id="1804" idx="2"/>
            </p:cNvCxnSpPr>
            <p:nvPr/>
          </p:nvCxnSpPr>
          <p:spPr>
            <a:xfrm>
              <a:off x="3225283" y="1550825"/>
              <a:ext cx="919200" cy="0"/>
            </a:xfrm>
            <a:prstGeom prst="straightConnector1">
              <a:avLst/>
            </a:prstGeom>
            <a:noFill/>
            <a:ln w="9525" cap="flat" cmpd="sng">
              <a:solidFill>
                <a:schemeClr val="dk2"/>
              </a:solidFill>
              <a:prstDash val="solid"/>
              <a:round/>
              <a:headEnd type="none" w="med" len="med"/>
              <a:tailEnd type="triangle" w="med" len="med"/>
            </a:ln>
          </p:spPr>
        </p:cxnSp>
        <p:cxnSp>
          <p:nvCxnSpPr>
            <p:cNvPr id="1793" name="Google Shape;1866;p85">
              <a:extLst>
                <a:ext uri="{FF2B5EF4-FFF2-40B4-BE49-F238E27FC236}">
                  <a16:creationId xmlns:a16="http://schemas.microsoft.com/office/drawing/2014/main" id="{7CA01FC6-B3DB-2EF7-072A-086582FD848A}"/>
                </a:ext>
              </a:extLst>
            </p:cNvPr>
            <p:cNvCxnSpPr>
              <a:stCxn id="1804" idx="6"/>
              <a:endCxn id="1802" idx="2"/>
            </p:cNvCxnSpPr>
            <p:nvPr/>
          </p:nvCxnSpPr>
          <p:spPr>
            <a:xfrm>
              <a:off x="4990506" y="1550825"/>
              <a:ext cx="919500" cy="0"/>
            </a:xfrm>
            <a:prstGeom prst="straightConnector1">
              <a:avLst/>
            </a:prstGeom>
            <a:noFill/>
            <a:ln w="9525" cap="flat" cmpd="sng">
              <a:solidFill>
                <a:schemeClr val="dk2"/>
              </a:solidFill>
              <a:prstDash val="solid"/>
              <a:round/>
              <a:headEnd type="none" w="med" len="med"/>
              <a:tailEnd type="triangle" w="med" len="med"/>
            </a:ln>
          </p:spPr>
        </p:cxnSp>
        <p:cxnSp>
          <p:nvCxnSpPr>
            <p:cNvPr id="1794" name="Google Shape;1867;p85">
              <a:extLst>
                <a:ext uri="{FF2B5EF4-FFF2-40B4-BE49-F238E27FC236}">
                  <a16:creationId xmlns:a16="http://schemas.microsoft.com/office/drawing/2014/main" id="{AD65E6C2-411A-C6C2-28E3-4930099DD44D}"/>
                </a:ext>
              </a:extLst>
            </p:cNvPr>
            <p:cNvCxnSpPr>
              <a:stCxn id="1800" idx="7"/>
              <a:endCxn id="1806" idx="3"/>
            </p:cNvCxnSpPr>
            <p:nvPr/>
          </p:nvCxnSpPr>
          <p:spPr>
            <a:xfrm rot="10800000" flipH="1">
              <a:off x="2249032" y="1850044"/>
              <a:ext cx="254100" cy="491700"/>
            </a:xfrm>
            <a:prstGeom prst="straightConnector1">
              <a:avLst/>
            </a:prstGeom>
            <a:noFill/>
            <a:ln w="9525" cap="flat" cmpd="sng">
              <a:solidFill>
                <a:schemeClr val="dk2"/>
              </a:solidFill>
              <a:prstDash val="solid"/>
              <a:round/>
              <a:headEnd type="none" w="med" len="med"/>
              <a:tailEnd type="triangle" w="med" len="med"/>
            </a:ln>
          </p:spPr>
        </p:cxnSp>
        <p:cxnSp>
          <p:nvCxnSpPr>
            <p:cNvPr id="1795" name="Google Shape;1868;p85">
              <a:extLst>
                <a:ext uri="{FF2B5EF4-FFF2-40B4-BE49-F238E27FC236}">
                  <a16:creationId xmlns:a16="http://schemas.microsoft.com/office/drawing/2014/main" id="{81F15B73-0034-88EF-9508-76BD906FF760}"/>
                </a:ext>
              </a:extLst>
            </p:cNvPr>
            <p:cNvCxnSpPr>
              <a:stCxn id="1798" idx="7"/>
              <a:endCxn id="1804" idx="3"/>
            </p:cNvCxnSpPr>
            <p:nvPr/>
          </p:nvCxnSpPr>
          <p:spPr>
            <a:xfrm rot="10800000" flipH="1">
              <a:off x="4001632" y="1850044"/>
              <a:ext cx="266700" cy="491700"/>
            </a:xfrm>
            <a:prstGeom prst="straightConnector1">
              <a:avLst/>
            </a:prstGeom>
            <a:noFill/>
            <a:ln w="9525" cap="flat" cmpd="sng">
              <a:solidFill>
                <a:schemeClr val="dk2"/>
              </a:solidFill>
              <a:prstDash val="solid"/>
              <a:round/>
              <a:headEnd type="none" w="med" len="med"/>
              <a:tailEnd type="triangle" w="med" len="med"/>
            </a:ln>
          </p:spPr>
        </p:cxnSp>
      </p:grpSp>
      <p:grpSp>
        <p:nvGrpSpPr>
          <p:cNvPr id="1808" name="Google Shape;1869;p85">
            <a:extLst>
              <a:ext uri="{FF2B5EF4-FFF2-40B4-BE49-F238E27FC236}">
                <a16:creationId xmlns:a16="http://schemas.microsoft.com/office/drawing/2014/main" id="{9CA0A0B9-3E0A-ACDC-4DDB-56A81736F88C}"/>
              </a:ext>
            </a:extLst>
          </p:cNvPr>
          <p:cNvGrpSpPr/>
          <p:nvPr/>
        </p:nvGrpSpPr>
        <p:grpSpPr>
          <a:xfrm>
            <a:off x="6277857" y="1974997"/>
            <a:ext cx="731621" cy="731621"/>
            <a:chOff x="6918153" y="2353200"/>
            <a:chExt cx="846000" cy="846000"/>
          </a:xfrm>
        </p:grpSpPr>
        <p:sp>
          <p:nvSpPr>
            <p:cNvPr id="1809" name="Google Shape;1870;p85">
              <a:extLst>
                <a:ext uri="{FF2B5EF4-FFF2-40B4-BE49-F238E27FC236}">
                  <a16:creationId xmlns:a16="http://schemas.microsoft.com/office/drawing/2014/main" id="{1F320DE3-2E63-BF64-5AF6-D1BA89771D76}"/>
                </a:ext>
              </a:extLst>
            </p:cNvPr>
            <p:cNvSpPr/>
            <p:nvPr/>
          </p:nvSpPr>
          <p:spPr>
            <a:xfrm>
              <a:off x="6918153" y="2353200"/>
              <a:ext cx="846000" cy="846000"/>
            </a:xfrm>
            <a:prstGeom prst="ellipse">
              <a:avLst/>
            </a:prstGeom>
            <a:solidFill>
              <a:srgbClr val="99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p:pic>
          <p:nvPicPr>
            <p:cNvPr id="1810" name="Google Shape;1871;p85">
              <a:extLst>
                <a:ext uri="{FF2B5EF4-FFF2-40B4-BE49-F238E27FC236}">
                  <a16:creationId xmlns:a16="http://schemas.microsoft.com/office/drawing/2014/main" id="{88CB3F4D-B040-62D4-B013-BADBF12ACF54}"/>
                </a:ext>
              </a:extLst>
            </p:cNvPr>
            <p:cNvPicPr preferRelativeResize="0"/>
            <p:nvPr/>
          </p:nvPicPr>
          <p:blipFill>
            <a:blip r:embed="rId11">
              <a:alphaModFix/>
            </a:blip>
            <a:stretch>
              <a:fillRect/>
            </a:stretch>
          </p:blipFill>
          <p:spPr>
            <a:xfrm>
              <a:off x="7181686" y="2652734"/>
              <a:ext cx="303050" cy="246930"/>
            </a:xfrm>
            <a:prstGeom prst="rect">
              <a:avLst/>
            </a:prstGeom>
            <a:noFill/>
            <a:ln>
              <a:noFill/>
            </a:ln>
          </p:spPr>
        </p:pic>
      </p:grpSp>
      <p:grpSp>
        <p:nvGrpSpPr>
          <p:cNvPr id="2" name="Google Shape;1856;p85">
            <a:extLst>
              <a:ext uri="{FF2B5EF4-FFF2-40B4-BE49-F238E27FC236}">
                <a16:creationId xmlns:a16="http://schemas.microsoft.com/office/drawing/2014/main" id="{77EE4325-CCBF-0AAF-97C6-E567028AA9D7}"/>
              </a:ext>
            </a:extLst>
          </p:cNvPr>
          <p:cNvGrpSpPr/>
          <p:nvPr/>
        </p:nvGrpSpPr>
        <p:grpSpPr>
          <a:xfrm>
            <a:off x="2144367" y="4006533"/>
            <a:ext cx="731621" cy="731621"/>
            <a:chOff x="1526926" y="2217850"/>
            <a:chExt cx="846000" cy="846000"/>
          </a:xfrm>
        </p:grpSpPr>
        <p:sp>
          <p:nvSpPr>
            <p:cNvPr id="3" name="Google Shape;1852;p85">
              <a:extLst>
                <a:ext uri="{FF2B5EF4-FFF2-40B4-BE49-F238E27FC236}">
                  <a16:creationId xmlns:a16="http://schemas.microsoft.com/office/drawing/2014/main" id="{5991E65C-1898-E7B9-0349-AC9C580BBA76}"/>
                </a:ext>
              </a:extLst>
            </p:cNvPr>
            <p:cNvSpPr/>
            <p:nvPr/>
          </p:nvSpPr>
          <p:spPr>
            <a:xfrm>
              <a:off x="1526926" y="2217850"/>
              <a:ext cx="846000" cy="8460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p:pic>
          <p:nvPicPr>
            <p:cNvPr id="4" name="Google Shape;1857;p85">
              <a:extLst>
                <a:ext uri="{FF2B5EF4-FFF2-40B4-BE49-F238E27FC236}">
                  <a16:creationId xmlns:a16="http://schemas.microsoft.com/office/drawing/2014/main" id="{3ECEF6B0-48F6-A049-C12C-C99B6339A4A8}"/>
                </a:ext>
              </a:extLst>
            </p:cNvPr>
            <p:cNvPicPr preferRelativeResize="0"/>
            <p:nvPr/>
          </p:nvPicPr>
          <p:blipFill>
            <a:blip r:embed="rId8">
              <a:alphaModFix/>
            </a:blip>
            <a:stretch>
              <a:fillRect/>
            </a:stretch>
          </p:blipFill>
          <p:spPr>
            <a:xfrm>
              <a:off x="1793060" y="2520298"/>
              <a:ext cx="303052" cy="259750"/>
            </a:xfrm>
            <a:prstGeom prst="rect">
              <a:avLst/>
            </a:prstGeom>
            <a:noFill/>
            <a:ln>
              <a:noFill/>
            </a:ln>
          </p:spPr>
        </p:pic>
      </p:grpSp>
      <p:grpSp>
        <p:nvGrpSpPr>
          <p:cNvPr id="5" name="Google Shape;1869;p85">
            <a:extLst>
              <a:ext uri="{FF2B5EF4-FFF2-40B4-BE49-F238E27FC236}">
                <a16:creationId xmlns:a16="http://schemas.microsoft.com/office/drawing/2014/main" id="{2B049A0B-985A-A3E2-023A-842790F5A0B7}"/>
              </a:ext>
            </a:extLst>
          </p:cNvPr>
          <p:cNvGrpSpPr/>
          <p:nvPr/>
        </p:nvGrpSpPr>
        <p:grpSpPr>
          <a:xfrm>
            <a:off x="5482664" y="4005043"/>
            <a:ext cx="731621" cy="731621"/>
            <a:chOff x="6771074" y="2217850"/>
            <a:chExt cx="846000" cy="846000"/>
          </a:xfrm>
        </p:grpSpPr>
        <p:sp>
          <p:nvSpPr>
            <p:cNvPr id="6" name="Google Shape;1870;p85">
              <a:extLst>
                <a:ext uri="{FF2B5EF4-FFF2-40B4-BE49-F238E27FC236}">
                  <a16:creationId xmlns:a16="http://schemas.microsoft.com/office/drawing/2014/main" id="{F0F29564-4F07-FC80-3597-F779F93B9C71}"/>
                </a:ext>
              </a:extLst>
            </p:cNvPr>
            <p:cNvSpPr/>
            <p:nvPr/>
          </p:nvSpPr>
          <p:spPr>
            <a:xfrm>
              <a:off x="6771074" y="2217850"/>
              <a:ext cx="846000" cy="846000"/>
            </a:xfrm>
            <a:prstGeom prst="ellipse">
              <a:avLst/>
            </a:prstGeom>
            <a:solidFill>
              <a:srgbClr val="99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p:pic>
          <p:nvPicPr>
            <p:cNvPr id="7" name="Google Shape;1871;p85">
              <a:extLst>
                <a:ext uri="{FF2B5EF4-FFF2-40B4-BE49-F238E27FC236}">
                  <a16:creationId xmlns:a16="http://schemas.microsoft.com/office/drawing/2014/main" id="{540F520D-1597-37D4-CC46-4CE4E533D3C2}"/>
                </a:ext>
              </a:extLst>
            </p:cNvPr>
            <p:cNvPicPr preferRelativeResize="0"/>
            <p:nvPr/>
          </p:nvPicPr>
          <p:blipFill>
            <a:blip r:embed="rId11">
              <a:alphaModFix/>
            </a:blip>
            <a:stretch>
              <a:fillRect/>
            </a:stretch>
          </p:blipFill>
          <p:spPr>
            <a:xfrm>
              <a:off x="7030896" y="2529271"/>
              <a:ext cx="303050" cy="246930"/>
            </a:xfrm>
            <a:prstGeom prst="rect">
              <a:avLst/>
            </a:prstGeom>
            <a:noFill/>
            <a:ln>
              <a:noFill/>
            </a:ln>
          </p:spPr>
        </p:pic>
      </p:grpSp>
      <p:cxnSp>
        <p:nvCxnSpPr>
          <p:cNvPr id="9" name="Straight Connector 8">
            <a:extLst>
              <a:ext uri="{FF2B5EF4-FFF2-40B4-BE49-F238E27FC236}">
                <a16:creationId xmlns:a16="http://schemas.microsoft.com/office/drawing/2014/main" id="{16D51993-9161-C615-6BEA-3929D27E207A}"/>
              </a:ext>
            </a:extLst>
          </p:cNvPr>
          <p:cNvCxnSpPr/>
          <p:nvPr/>
        </p:nvCxnSpPr>
        <p:spPr>
          <a:xfrm>
            <a:off x="443345" y="2854036"/>
            <a:ext cx="7897091"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Google Shape;1836;p85">
            <a:extLst>
              <a:ext uri="{FF2B5EF4-FFF2-40B4-BE49-F238E27FC236}">
                <a16:creationId xmlns:a16="http://schemas.microsoft.com/office/drawing/2014/main" id="{38A46DD2-CCB4-DF2C-7799-3A737B68B8F1}"/>
              </a:ext>
            </a:extLst>
          </p:cNvPr>
          <p:cNvSpPr txBox="1">
            <a:spLocks/>
          </p:cNvSpPr>
          <p:nvPr/>
        </p:nvSpPr>
        <p:spPr>
          <a:xfrm>
            <a:off x="311700" y="2943502"/>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Creative Planning</a:t>
            </a:r>
            <a:endParaRPr lang="en-US" sz="2400" dirty="0"/>
          </a:p>
        </p:txBody>
      </p:sp>
      <p:cxnSp>
        <p:nvCxnSpPr>
          <p:cNvPr id="11" name="Google Shape;1851;p85">
            <a:extLst>
              <a:ext uri="{FF2B5EF4-FFF2-40B4-BE49-F238E27FC236}">
                <a16:creationId xmlns:a16="http://schemas.microsoft.com/office/drawing/2014/main" id="{D58AE97D-A096-0F05-519B-530796ECDCCC}"/>
              </a:ext>
            </a:extLst>
          </p:cNvPr>
          <p:cNvCxnSpPr>
            <a:cxnSpLocks/>
          </p:cNvCxnSpPr>
          <p:nvPr/>
        </p:nvCxnSpPr>
        <p:spPr>
          <a:xfrm>
            <a:off x="3211146" y="4397486"/>
            <a:ext cx="2138906" cy="0"/>
          </a:xfrm>
          <a:prstGeom prst="straightConnector1">
            <a:avLst/>
          </a:prstGeom>
          <a:noFill/>
          <a:ln w="9525" cap="flat" cmpd="sng">
            <a:solidFill>
              <a:schemeClr val="dk2"/>
            </a:solidFill>
            <a:prstDash val="solid"/>
            <a:round/>
            <a:headEnd type="none" w="med" len="med"/>
            <a:tailEnd type="triangle" w="med" len="med"/>
          </a:ln>
        </p:spPr>
      </p:cxnSp>
      <p:pic>
        <p:nvPicPr>
          <p:cNvPr id="2050" name="Picture 2" descr="Question mark ">
            <a:extLst>
              <a:ext uri="{FF2B5EF4-FFF2-40B4-BE49-F238E27FC236}">
                <a16:creationId xmlns:a16="http://schemas.microsoft.com/office/drawing/2014/main" id="{72AE11D7-A1DB-B43F-CA4B-F1226A26704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2465" y="3324524"/>
            <a:ext cx="968895" cy="968895"/>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1881;p85">
            <a:extLst>
              <a:ext uri="{FF2B5EF4-FFF2-40B4-BE49-F238E27FC236}">
                <a16:creationId xmlns:a16="http://schemas.microsoft.com/office/drawing/2014/main" id="{69ADB1C9-9731-EB2A-B3E8-167E0C482FFB}"/>
              </a:ext>
            </a:extLst>
          </p:cNvPr>
          <p:cNvSpPr/>
          <p:nvPr/>
        </p:nvSpPr>
        <p:spPr>
          <a:xfrm>
            <a:off x="6505760" y="3171744"/>
            <a:ext cx="1484100" cy="785100"/>
          </a:xfrm>
          <a:prstGeom prst="wedgeRectCallout">
            <a:avLst>
              <a:gd name="adj1" fmla="val -38331"/>
              <a:gd name="adj2" fmla="val 74639"/>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How to find paths?</a:t>
            </a:r>
            <a:endParaRPr dirty="0"/>
          </a:p>
        </p:txBody>
      </p:sp>
      <p:sp>
        <p:nvSpPr>
          <p:cNvPr id="18" name="Google Shape;1773;p83">
            <a:extLst>
              <a:ext uri="{FF2B5EF4-FFF2-40B4-BE49-F238E27FC236}">
                <a16:creationId xmlns:a16="http://schemas.microsoft.com/office/drawing/2014/main" id="{176EF00E-9F2A-3719-0C3D-CE6CCFE37614}"/>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Tree>
    <p:extLst>
      <p:ext uri="{BB962C8B-B14F-4D97-AF65-F5344CB8AC3E}">
        <p14:creationId xmlns:p14="http://schemas.microsoft.com/office/powerpoint/2010/main" val="317843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a:extLst>
              <a:ext uri="{FF2B5EF4-FFF2-40B4-BE49-F238E27FC236}">
                <a16:creationId xmlns:a16="http://schemas.microsoft.com/office/drawing/2014/main" id="{D498BF81-D175-AA92-C475-6E0C51CEE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00" y="1468486"/>
            <a:ext cx="2170894" cy="3292929"/>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a:extLst>
              <a:ext uri="{FF2B5EF4-FFF2-40B4-BE49-F238E27FC236}">
                <a16:creationId xmlns:a16="http://schemas.microsoft.com/office/drawing/2014/main" id="{01B018AD-9935-394E-730E-8F52CA34EF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2594" y="1629322"/>
            <a:ext cx="4422036" cy="29712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83F66C5-6620-63DF-37BA-96982FBE7AAD}"/>
              </a:ext>
            </a:extLst>
          </p:cNvPr>
          <p:cNvSpPr txBox="1"/>
          <p:nvPr/>
        </p:nvSpPr>
        <p:spPr>
          <a:xfrm>
            <a:off x="6985467" y="1604070"/>
            <a:ext cx="2090057" cy="3539430"/>
          </a:xfrm>
          <a:prstGeom prst="rect">
            <a:avLst/>
          </a:prstGeom>
          <a:noFill/>
        </p:spPr>
        <p:txBody>
          <a:bodyPr wrap="square">
            <a:spAutoFit/>
          </a:bodyPr>
          <a:lstStyle/>
          <a:p>
            <a:pPr rtl="0">
              <a:buNone/>
            </a:pPr>
            <a:r>
              <a:rPr lang="en-US" sz="1400" b="0" i="0" u="none" strike="noStrike" dirty="0" err="1">
                <a:solidFill>
                  <a:srgbClr val="000000"/>
                </a:solidFill>
                <a:effectLst/>
                <a:latin typeface="Arial" panose="020B0604020202020204" pitchFamily="34" charset="0"/>
              </a:rPr>
              <a:t>Geneplore</a:t>
            </a:r>
            <a:r>
              <a:rPr lang="en-US" sz="1400" b="0" i="0" u="none" strike="noStrike" dirty="0">
                <a:solidFill>
                  <a:srgbClr val="000000"/>
                </a:solidFill>
                <a:effectLst/>
                <a:latin typeface="Arial" panose="020B0604020202020204" pitchFamily="34" charset="0"/>
              </a:rPr>
              <a:t> Model (1992): </a:t>
            </a:r>
            <a:endParaRPr lang="en-US" b="0" dirty="0">
              <a:effectLst/>
            </a:endParaRPr>
          </a:p>
          <a:p>
            <a:pPr rtl="0">
              <a:buNone/>
            </a:pPr>
            <a:br>
              <a:rPr lang="en-US" b="0" dirty="0">
                <a:effectLst/>
              </a:rPr>
            </a:br>
            <a:r>
              <a:rPr lang="en-US" sz="1400" b="0" i="0" u="none" strike="noStrike" dirty="0">
                <a:solidFill>
                  <a:srgbClr val="000000"/>
                </a:solidFill>
                <a:effectLst/>
                <a:latin typeface="Arial" panose="020B0604020202020204" pitchFamily="34" charset="0"/>
              </a:rPr>
              <a:t>First cognitive model to break creativity down into an exploratory function</a:t>
            </a:r>
            <a:endParaRPr lang="en-US" b="0" dirty="0">
              <a:effectLst/>
            </a:endParaRPr>
          </a:p>
          <a:p>
            <a:pPr rtl="0">
              <a:buNone/>
            </a:pPr>
            <a:br>
              <a:rPr lang="en-US" b="0" dirty="0">
                <a:effectLst/>
              </a:rPr>
            </a:br>
            <a:r>
              <a:rPr lang="en-US" sz="1400" b="0" i="0" u="none" strike="noStrike" dirty="0">
                <a:solidFill>
                  <a:srgbClr val="000000"/>
                </a:solidFill>
                <a:effectLst/>
                <a:latin typeface="Arial" panose="020B0604020202020204" pitchFamily="34" charset="0"/>
              </a:rPr>
              <a:t>Finke, R. A., Ward, T. B., &amp; Smith, S. M. (1992). </a:t>
            </a:r>
            <a:r>
              <a:rPr lang="en-US" sz="1400" b="0" i="1" u="none" strike="noStrike" dirty="0">
                <a:solidFill>
                  <a:srgbClr val="000000"/>
                </a:solidFill>
                <a:effectLst/>
                <a:latin typeface="Arial" panose="020B0604020202020204" pitchFamily="34" charset="0"/>
              </a:rPr>
              <a:t>Creative cognition: Theory, research, and applications</a:t>
            </a:r>
            <a:r>
              <a:rPr lang="en-US" sz="1400" b="0" i="0" u="none" strike="noStrike" dirty="0">
                <a:solidFill>
                  <a:srgbClr val="000000"/>
                </a:solidFill>
                <a:effectLst/>
                <a:latin typeface="Arial" panose="020B0604020202020204" pitchFamily="34" charset="0"/>
              </a:rPr>
              <a:t>. MIT Press.</a:t>
            </a:r>
            <a:endParaRPr lang="en-US" b="0" dirty="0">
              <a:effectLst/>
            </a:endParaRPr>
          </a:p>
          <a:p>
            <a:pPr>
              <a:buNone/>
            </a:pPr>
            <a:br>
              <a:rPr lang="en-US" dirty="0"/>
            </a:br>
            <a:endParaRPr lang="en-US" dirty="0"/>
          </a:p>
        </p:txBody>
      </p:sp>
      <p:sp>
        <p:nvSpPr>
          <p:cNvPr id="7" name="Google Shape;1836;p85">
            <a:extLst>
              <a:ext uri="{FF2B5EF4-FFF2-40B4-BE49-F238E27FC236}">
                <a16:creationId xmlns:a16="http://schemas.microsoft.com/office/drawing/2014/main" id="{2CA1B576-F7AC-E6A8-FC26-082F96CBF28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rmAutofit/>
          </a:bodyPr>
          <a:lstStyle/>
          <a:p>
            <a:r>
              <a:rPr lang="en-US" sz="2400" dirty="0">
                <a:solidFill>
                  <a:schemeClr val="dk2"/>
                </a:solidFill>
              </a:rPr>
              <a:t>Path-finding: Overview and Background</a:t>
            </a:r>
            <a:endParaRPr sz="2400" dirty="0"/>
          </a:p>
        </p:txBody>
      </p:sp>
      <p:pic>
        <p:nvPicPr>
          <p:cNvPr id="2057" name="Picture 9">
            <a:extLst>
              <a:ext uri="{FF2B5EF4-FFF2-40B4-BE49-F238E27FC236}">
                <a16:creationId xmlns:a16="http://schemas.microsoft.com/office/drawing/2014/main" id="{5E21582E-AA7A-2857-D708-2E34FB1802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5399" y="977550"/>
            <a:ext cx="2996178" cy="651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193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836;p85">
            <a:extLst>
              <a:ext uri="{FF2B5EF4-FFF2-40B4-BE49-F238E27FC236}">
                <a16:creationId xmlns:a16="http://schemas.microsoft.com/office/drawing/2014/main" id="{1D818377-04A2-C1CD-EF63-2F3624540B6D}"/>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Path-Finding – Overview and Background</a:t>
            </a:r>
            <a:endParaRPr lang="en-US" sz="2400" dirty="0"/>
          </a:p>
        </p:txBody>
      </p:sp>
      <p:sp>
        <p:nvSpPr>
          <p:cNvPr id="4" name="TextBox 3">
            <a:extLst>
              <a:ext uri="{FF2B5EF4-FFF2-40B4-BE49-F238E27FC236}">
                <a16:creationId xmlns:a16="http://schemas.microsoft.com/office/drawing/2014/main" id="{0E7D7735-BC23-BC20-5945-CACADD0C14EB}"/>
              </a:ext>
            </a:extLst>
          </p:cNvPr>
          <p:cNvSpPr txBox="1"/>
          <p:nvPr/>
        </p:nvSpPr>
        <p:spPr>
          <a:xfrm>
            <a:off x="443345" y="1330036"/>
            <a:ext cx="7287491" cy="1631216"/>
          </a:xfrm>
          <a:prstGeom prst="rect">
            <a:avLst/>
          </a:prstGeom>
          <a:noFill/>
        </p:spPr>
        <p:txBody>
          <a:bodyPr wrap="square" rtlCol="0">
            <a:spAutoFit/>
          </a:bodyPr>
          <a:lstStyle/>
          <a:p>
            <a:pPr marL="285750" lvl="8" indent="-285750">
              <a:buFont typeface="Arial" panose="020B0604020202020204" pitchFamily="34" charset="0"/>
              <a:buChar char="•"/>
            </a:pPr>
            <a:r>
              <a:rPr lang="en-US" sz="2000" dirty="0"/>
              <a:t>Search</a:t>
            </a:r>
          </a:p>
          <a:p>
            <a:pPr marL="285750" indent="-285750">
              <a:buFont typeface="Arial" panose="020B0604020202020204" pitchFamily="34" charset="0"/>
              <a:buChar char="•"/>
            </a:pPr>
            <a:r>
              <a:rPr lang="en-US" sz="2000" dirty="0"/>
              <a:t>Hierarchical Planning</a:t>
            </a:r>
          </a:p>
          <a:p>
            <a:pPr marL="285750" indent="-285750">
              <a:buFont typeface="Arial" panose="020B0604020202020204" pitchFamily="34" charset="0"/>
              <a:buChar char="•"/>
            </a:pPr>
            <a:r>
              <a:rPr lang="en-US" sz="2000" dirty="0"/>
              <a:t>Constraint-following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
        <p:nvSpPr>
          <p:cNvPr id="5" name="Google Shape;1773;p83">
            <a:extLst>
              <a:ext uri="{FF2B5EF4-FFF2-40B4-BE49-F238E27FC236}">
                <a16:creationId xmlns:a16="http://schemas.microsoft.com/office/drawing/2014/main" id="{E4986ADD-EEEC-89E4-6986-20527FAFBB8A}"/>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Tree>
    <p:extLst>
      <p:ext uri="{BB962C8B-B14F-4D97-AF65-F5344CB8AC3E}">
        <p14:creationId xmlns:p14="http://schemas.microsoft.com/office/powerpoint/2010/main" val="2257929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6DE3-7727-7B4A-D5E5-85E84A27E9CE}"/>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CA5F6309-45B3-2BEE-74E1-5E38754FFB8B}"/>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Search</a:t>
            </a:r>
            <a:endParaRPr lang="en-US" sz="2400" dirty="0"/>
          </a:p>
        </p:txBody>
      </p:sp>
      <p:sp>
        <p:nvSpPr>
          <p:cNvPr id="5" name="TextBox 4">
            <a:extLst>
              <a:ext uri="{FF2B5EF4-FFF2-40B4-BE49-F238E27FC236}">
                <a16:creationId xmlns:a16="http://schemas.microsoft.com/office/drawing/2014/main" id="{2895EBFC-59B2-1D59-3294-B93F56A91DCD}"/>
              </a:ext>
            </a:extLst>
          </p:cNvPr>
          <p:cNvSpPr txBox="1"/>
          <p:nvPr/>
        </p:nvSpPr>
        <p:spPr>
          <a:xfrm>
            <a:off x="2286000" y="1069608"/>
            <a:ext cx="4572000" cy="738664"/>
          </a:xfrm>
          <a:prstGeom prst="rect">
            <a:avLst/>
          </a:prstGeom>
          <a:noFill/>
        </p:spPr>
        <p:txBody>
          <a:bodyPr wrap="square">
            <a:spAutoFit/>
          </a:bodyPr>
          <a:lstStyle/>
          <a:p>
            <a:r>
              <a:rPr lang="en-US" i="1" dirty="0"/>
              <a:t>“Art consists of limitation. The most beautiful part of every picture is the frame.”</a:t>
            </a:r>
            <a:br>
              <a:rPr lang="en-US" dirty="0"/>
            </a:br>
            <a:r>
              <a:rPr lang="en-US" dirty="0"/>
              <a:t>— G. K. Chesterton, </a:t>
            </a:r>
            <a:r>
              <a:rPr lang="en-US" i="1" dirty="0"/>
              <a:t>Tremendous Trifles</a:t>
            </a:r>
            <a:r>
              <a:rPr lang="en-US" dirty="0"/>
              <a:t> (1909)</a:t>
            </a:r>
          </a:p>
        </p:txBody>
      </p:sp>
      <p:sp>
        <p:nvSpPr>
          <p:cNvPr id="10" name="TextBox 9">
            <a:extLst>
              <a:ext uri="{FF2B5EF4-FFF2-40B4-BE49-F238E27FC236}">
                <a16:creationId xmlns:a16="http://schemas.microsoft.com/office/drawing/2014/main" id="{DB3C3780-39D1-4160-15D7-99AEEF259989}"/>
              </a:ext>
            </a:extLst>
          </p:cNvPr>
          <p:cNvSpPr txBox="1"/>
          <p:nvPr/>
        </p:nvSpPr>
        <p:spPr>
          <a:xfrm>
            <a:off x="404037" y="1880582"/>
            <a:ext cx="7584557" cy="523220"/>
          </a:xfrm>
          <a:prstGeom prst="rect">
            <a:avLst/>
          </a:prstGeom>
          <a:noFill/>
        </p:spPr>
        <p:txBody>
          <a:bodyPr wrap="square">
            <a:spAutoFit/>
          </a:bodyPr>
          <a:lstStyle/>
          <a:p>
            <a:pPr marL="285750" indent="-285750">
              <a:buFont typeface="Arial" panose="020B0604020202020204" pitchFamily="34" charset="0"/>
              <a:buChar char="•"/>
            </a:pPr>
            <a:r>
              <a:rPr lang="en-US" b="1" u="sng" dirty="0"/>
              <a:t>Constrained beam search </a:t>
            </a:r>
            <a:r>
              <a:rPr lang="en-US" dirty="0"/>
              <a:t>(Hokamp &amp; Liu 2017) inserts required tokens driven by </a:t>
            </a:r>
            <a:r>
              <a:rPr lang="en-US" b="1" dirty="0"/>
              <a:t>heuristics</a:t>
            </a:r>
            <a:r>
              <a:rPr lang="en-US" dirty="0"/>
              <a:t> without harming fluency.</a:t>
            </a:r>
          </a:p>
        </p:txBody>
      </p:sp>
      <p:sp>
        <p:nvSpPr>
          <p:cNvPr id="16" name="Google Shape;1771;p83">
            <a:extLst>
              <a:ext uri="{FF2B5EF4-FFF2-40B4-BE49-F238E27FC236}">
                <a16:creationId xmlns:a16="http://schemas.microsoft.com/office/drawing/2014/main" id="{E874A664-F6EB-CDB3-CB4B-B224FD533788}"/>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9" name="Google Shape;1772;p83">
            <a:extLst>
              <a:ext uri="{FF2B5EF4-FFF2-40B4-BE49-F238E27FC236}">
                <a16:creationId xmlns:a16="http://schemas.microsoft.com/office/drawing/2014/main" id="{9C52C8E9-C0B6-76E8-20E7-2818C66378A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20" name="Google Shape;1773;p83">
            <a:extLst>
              <a:ext uri="{FF2B5EF4-FFF2-40B4-BE49-F238E27FC236}">
                <a16:creationId xmlns:a16="http://schemas.microsoft.com/office/drawing/2014/main" id="{07F61B41-ACAC-427E-C6FB-A68C5B5FCB3C}"/>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21" name="Google Shape;1774;p83">
            <a:extLst>
              <a:ext uri="{FF2B5EF4-FFF2-40B4-BE49-F238E27FC236}">
                <a16:creationId xmlns:a16="http://schemas.microsoft.com/office/drawing/2014/main" id="{4457F236-307A-1429-AE92-99B7056E4E96}"/>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45262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836;p85">
            <a:extLst>
              <a:ext uri="{FF2B5EF4-FFF2-40B4-BE49-F238E27FC236}">
                <a16:creationId xmlns:a16="http://schemas.microsoft.com/office/drawing/2014/main" id="{477D663E-5BB5-30B2-230D-7891B0617B2E}"/>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Examples of </a:t>
            </a:r>
            <a:r>
              <a:rPr lang="en-US" sz="2500" dirty="0" err="1">
                <a:solidFill>
                  <a:schemeClr val="dk2"/>
                </a:solidFill>
              </a:rPr>
              <a:t>Heuristics</a:t>
            </a:r>
            <a:r>
              <a:rPr lang="en-US" sz="2500" dirty="0">
                <a:solidFill>
                  <a:schemeClr val="dk2"/>
                </a:solidFill>
              </a:rPr>
              <a:t> in Creative Tasks</a:t>
            </a:r>
            <a:endParaRPr lang="en-US" sz="2400" dirty="0"/>
          </a:p>
        </p:txBody>
      </p:sp>
      <p:pic>
        <p:nvPicPr>
          <p:cNvPr id="4" name="Google Shape;1979;p91">
            <a:extLst>
              <a:ext uri="{FF2B5EF4-FFF2-40B4-BE49-F238E27FC236}">
                <a16:creationId xmlns:a16="http://schemas.microsoft.com/office/drawing/2014/main" id="{76450C22-C685-CA7A-19AD-FCA384A7959E}"/>
              </a:ext>
            </a:extLst>
          </p:cNvPr>
          <p:cNvPicPr preferRelativeResize="0"/>
          <p:nvPr/>
        </p:nvPicPr>
        <p:blipFill rotWithShape="1">
          <a:blip r:embed="rId2">
            <a:alphaModFix/>
          </a:blip>
          <a:srcRect b="27782"/>
          <a:stretch/>
        </p:blipFill>
        <p:spPr>
          <a:xfrm>
            <a:off x="1099815" y="2091326"/>
            <a:ext cx="2797672" cy="1694884"/>
          </a:xfrm>
          <a:prstGeom prst="rect">
            <a:avLst/>
          </a:prstGeom>
          <a:noFill/>
          <a:ln>
            <a:noFill/>
          </a:ln>
        </p:spPr>
      </p:pic>
      <p:sp>
        <p:nvSpPr>
          <p:cNvPr id="6" name="TextBox 5">
            <a:extLst>
              <a:ext uri="{FF2B5EF4-FFF2-40B4-BE49-F238E27FC236}">
                <a16:creationId xmlns:a16="http://schemas.microsoft.com/office/drawing/2014/main" id="{57E7D09A-FFAA-A107-F5E7-114D6D973A5F}"/>
              </a:ext>
            </a:extLst>
          </p:cNvPr>
          <p:cNvSpPr txBox="1"/>
          <p:nvPr/>
        </p:nvSpPr>
        <p:spPr>
          <a:xfrm>
            <a:off x="1189060" y="4133956"/>
            <a:ext cx="2261190" cy="523220"/>
          </a:xfrm>
          <a:prstGeom prst="rect">
            <a:avLst/>
          </a:prstGeom>
          <a:noFill/>
        </p:spPr>
        <p:txBody>
          <a:bodyPr wrap="square" rtlCol="0">
            <a:spAutoFit/>
          </a:bodyPr>
          <a:lstStyle/>
          <a:p>
            <a:pPr algn="ctr"/>
            <a:r>
              <a:rPr lang="en" sz="1400" dirty="0">
                <a:solidFill>
                  <a:schemeClr val="dk1"/>
                </a:solidFill>
              </a:rPr>
              <a:t>(Sebastian, et. </a:t>
            </a:r>
            <a:r>
              <a:rPr lang="en-US" dirty="0">
                <a:solidFill>
                  <a:schemeClr val="dk1"/>
                </a:solidFill>
              </a:rPr>
              <a:t>al. 2019)</a:t>
            </a:r>
          </a:p>
          <a:p>
            <a:pPr algn="ctr"/>
            <a:r>
              <a:rPr lang="en-US" dirty="0">
                <a:solidFill>
                  <a:schemeClr val="dk1"/>
                </a:solidFill>
              </a:rPr>
              <a:t>(Huang, et. al. 2023)</a:t>
            </a:r>
            <a:endParaRPr lang="en-US" dirty="0"/>
          </a:p>
        </p:txBody>
      </p:sp>
      <p:sp>
        <p:nvSpPr>
          <p:cNvPr id="8" name="TextBox 7">
            <a:extLst>
              <a:ext uri="{FF2B5EF4-FFF2-40B4-BE49-F238E27FC236}">
                <a16:creationId xmlns:a16="http://schemas.microsoft.com/office/drawing/2014/main" id="{970275C9-FB63-AA1E-F4D0-6A6D7179E63C}"/>
              </a:ext>
            </a:extLst>
          </p:cNvPr>
          <p:cNvSpPr txBox="1"/>
          <p:nvPr/>
        </p:nvSpPr>
        <p:spPr>
          <a:xfrm>
            <a:off x="5794963" y="4395566"/>
            <a:ext cx="2261190" cy="307777"/>
          </a:xfrm>
          <a:prstGeom prst="rect">
            <a:avLst/>
          </a:prstGeom>
          <a:noFill/>
        </p:spPr>
        <p:txBody>
          <a:bodyPr wrap="square" rtlCol="0">
            <a:spAutoFit/>
          </a:bodyPr>
          <a:lstStyle/>
          <a:p>
            <a:r>
              <a:rPr lang="en" sz="1400" dirty="0">
                <a:solidFill>
                  <a:schemeClr val="dk1"/>
                </a:solidFill>
              </a:rPr>
              <a:t>(Tian, et. </a:t>
            </a:r>
            <a:r>
              <a:rPr lang="en-US" dirty="0">
                <a:solidFill>
                  <a:schemeClr val="dk1"/>
                </a:solidFill>
              </a:rPr>
              <a:t>al. 2022)</a:t>
            </a:r>
            <a:endParaRPr lang="en-US" dirty="0"/>
          </a:p>
        </p:txBody>
      </p:sp>
      <p:sp>
        <p:nvSpPr>
          <p:cNvPr id="9" name="TextBox 8">
            <a:extLst>
              <a:ext uri="{FF2B5EF4-FFF2-40B4-BE49-F238E27FC236}">
                <a16:creationId xmlns:a16="http://schemas.microsoft.com/office/drawing/2014/main" id="{374EE495-5A2A-A797-B76F-8EFE4C0FF59C}"/>
              </a:ext>
            </a:extLst>
          </p:cNvPr>
          <p:cNvSpPr txBox="1"/>
          <p:nvPr/>
        </p:nvSpPr>
        <p:spPr>
          <a:xfrm>
            <a:off x="1036019" y="1126503"/>
            <a:ext cx="2797671" cy="738664"/>
          </a:xfrm>
          <a:prstGeom prst="rect">
            <a:avLst/>
          </a:prstGeom>
          <a:noFill/>
        </p:spPr>
        <p:txBody>
          <a:bodyPr wrap="square" rtlCol="0">
            <a:spAutoFit/>
          </a:bodyPr>
          <a:lstStyle/>
          <a:p>
            <a:r>
              <a:rPr lang="en-US" sz="1400" b="1" u="sng" dirty="0">
                <a:solidFill>
                  <a:schemeClr val="dk1"/>
                </a:solidFill>
              </a:rPr>
              <a:t>Human stories have more “high-rank” words than machine generated stories.</a:t>
            </a:r>
            <a:endParaRPr lang="en-US" b="1" u="sng" dirty="0"/>
          </a:p>
        </p:txBody>
      </p:sp>
      <p:grpSp>
        <p:nvGrpSpPr>
          <p:cNvPr id="15" name="Group 14">
            <a:extLst>
              <a:ext uri="{FF2B5EF4-FFF2-40B4-BE49-F238E27FC236}">
                <a16:creationId xmlns:a16="http://schemas.microsoft.com/office/drawing/2014/main" id="{597C990D-7266-02AF-F07C-E266D4770160}"/>
              </a:ext>
            </a:extLst>
          </p:cNvPr>
          <p:cNvGrpSpPr/>
          <p:nvPr/>
        </p:nvGrpSpPr>
        <p:grpSpPr>
          <a:xfrm>
            <a:off x="3833690" y="3029193"/>
            <a:ext cx="4823122" cy="1213025"/>
            <a:chOff x="3833692" y="2055672"/>
            <a:chExt cx="4823122" cy="1213025"/>
          </a:xfrm>
        </p:grpSpPr>
        <p:pic>
          <p:nvPicPr>
            <p:cNvPr id="11" name="Google Shape;2294;p115">
              <a:extLst>
                <a:ext uri="{FF2B5EF4-FFF2-40B4-BE49-F238E27FC236}">
                  <a16:creationId xmlns:a16="http://schemas.microsoft.com/office/drawing/2014/main" id="{8E654FEA-71FF-5794-596A-855AD1A2024E}"/>
                </a:ext>
              </a:extLst>
            </p:cNvPr>
            <p:cNvPicPr preferRelativeResize="0">
              <a:picLocks/>
            </p:cNvPicPr>
            <p:nvPr/>
          </p:nvPicPr>
          <p:blipFill rotWithShape="1">
            <a:blip r:embed="rId3">
              <a:alphaModFix/>
            </a:blip>
            <a:srcRect t="2339" b="75625"/>
            <a:stretch/>
          </p:blipFill>
          <p:spPr>
            <a:xfrm>
              <a:off x="3833692" y="2055672"/>
              <a:ext cx="4823122" cy="1213025"/>
            </a:xfrm>
            <a:prstGeom prst="rect">
              <a:avLst/>
            </a:prstGeom>
            <a:noFill/>
            <a:ln>
              <a:noFill/>
            </a:ln>
          </p:spPr>
        </p:pic>
        <p:sp>
          <p:nvSpPr>
            <p:cNvPr id="12" name="Google Shape;2296;p115">
              <a:extLst>
                <a:ext uri="{FF2B5EF4-FFF2-40B4-BE49-F238E27FC236}">
                  <a16:creationId xmlns:a16="http://schemas.microsoft.com/office/drawing/2014/main" id="{81C22E57-3F84-A592-10C2-056B4982772D}"/>
                </a:ext>
              </a:extLst>
            </p:cNvPr>
            <p:cNvSpPr/>
            <p:nvPr/>
          </p:nvSpPr>
          <p:spPr>
            <a:xfrm>
              <a:off x="5935744" y="2537641"/>
              <a:ext cx="370800" cy="685800"/>
            </a:xfrm>
            <a:prstGeom prst="ellipse">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2297;p115">
              <a:extLst>
                <a:ext uri="{FF2B5EF4-FFF2-40B4-BE49-F238E27FC236}">
                  <a16:creationId xmlns:a16="http://schemas.microsoft.com/office/drawing/2014/main" id="{11DE6FA9-45C1-0A96-AD7D-16DED5BCD57A}"/>
                </a:ext>
              </a:extLst>
            </p:cNvPr>
            <p:cNvSpPr/>
            <p:nvPr/>
          </p:nvSpPr>
          <p:spPr>
            <a:xfrm>
              <a:off x="6925560" y="2536312"/>
              <a:ext cx="370800" cy="685800"/>
            </a:xfrm>
            <a:prstGeom prst="ellipse">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2298;p115">
              <a:extLst>
                <a:ext uri="{FF2B5EF4-FFF2-40B4-BE49-F238E27FC236}">
                  <a16:creationId xmlns:a16="http://schemas.microsoft.com/office/drawing/2014/main" id="{F9062574-C527-AC75-9211-30EB02066510}"/>
                </a:ext>
              </a:extLst>
            </p:cNvPr>
            <p:cNvSpPr/>
            <p:nvPr/>
          </p:nvSpPr>
          <p:spPr>
            <a:xfrm>
              <a:off x="7863001" y="2536312"/>
              <a:ext cx="481800" cy="685800"/>
            </a:xfrm>
            <a:prstGeom prst="ellipse">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5124" name="Picture 4" descr="Multis, Inners &amp; Schemes: How to Rhyme ...">
            <a:extLst>
              <a:ext uri="{FF2B5EF4-FFF2-40B4-BE49-F238E27FC236}">
                <a16:creationId xmlns:a16="http://schemas.microsoft.com/office/drawing/2014/main" id="{B64CB7A0-EB05-4B04-DA9E-43AC40231B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6515" y="1950927"/>
            <a:ext cx="3424063" cy="917301"/>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C73F5771-258D-98BE-7653-8B37E6C52767}"/>
              </a:ext>
            </a:extLst>
          </p:cNvPr>
          <p:cNvCxnSpPr/>
          <p:nvPr/>
        </p:nvCxnSpPr>
        <p:spPr>
          <a:xfrm>
            <a:off x="311700" y="2938768"/>
            <a:ext cx="816525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3C31C40-63DD-B6A9-59BE-94049E7EB619}"/>
              </a:ext>
            </a:extLst>
          </p:cNvPr>
          <p:cNvSpPr txBox="1"/>
          <p:nvPr/>
        </p:nvSpPr>
        <p:spPr>
          <a:xfrm>
            <a:off x="5083382" y="1234225"/>
            <a:ext cx="2797671" cy="523220"/>
          </a:xfrm>
          <a:prstGeom prst="rect">
            <a:avLst/>
          </a:prstGeom>
          <a:noFill/>
        </p:spPr>
        <p:txBody>
          <a:bodyPr wrap="square" rtlCol="0">
            <a:spAutoFit/>
          </a:bodyPr>
          <a:lstStyle/>
          <a:p>
            <a:r>
              <a:rPr lang="en-US" sz="1400" b="1" u="sng" dirty="0">
                <a:solidFill>
                  <a:schemeClr val="dk1"/>
                </a:solidFill>
              </a:rPr>
              <a:t>Machine generated lyrics </a:t>
            </a:r>
            <a:r>
              <a:rPr lang="en-US" b="1" u="sng" dirty="0">
                <a:solidFill>
                  <a:schemeClr val="dk1"/>
                </a:solidFill>
              </a:rPr>
              <a:t>are not rhyming correctly.</a:t>
            </a:r>
            <a:endParaRPr lang="en-US" b="1" u="sng" dirty="0"/>
          </a:p>
        </p:txBody>
      </p:sp>
      <p:sp>
        <p:nvSpPr>
          <p:cNvPr id="2" name="Google Shape;1771;p83">
            <a:extLst>
              <a:ext uri="{FF2B5EF4-FFF2-40B4-BE49-F238E27FC236}">
                <a16:creationId xmlns:a16="http://schemas.microsoft.com/office/drawing/2014/main" id="{0B95E587-4E16-B92D-5605-0297E305340E}"/>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5" name="Google Shape;1772;p83">
            <a:extLst>
              <a:ext uri="{FF2B5EF4-FFF2-40B4-BE49-F238E27FC236}">
                <a16:creationId xmlns:a16="http://schemas.microsoft.com/office/drawing/2014/main" id="{7D1BF907-02A8-261E-3209-65FD2355F817}"/>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7" name="Google Shape;1773;p83">
            <a:extLst>
              <a:ext uri="{FF2B5EF4-FFF2-40B4-BE49-F238E27FC236}">
                <a16:creationId xmlns:a16="http://schemas.microsoft.com/office/drawing/2014/main" id="{32C6B040-6726-DED8-389E-57ED016A162E}"/>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0" name="Google Shape;1774;p83">
            <a:extLst>
              <a:ext uri="{FF2B5EF4-FFF2-40B4-BE49-F238E27FC236}">
                <a16:creationId xmlns:a16="http://schemas.microsoft.com/office/drawing/2014/main" id="{82BB8A16-F0FA-ED86-BAAD-D1442B077B98}"/>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86878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23C7A8F-ED28-59AF-7ECB-0B4282E5BD76}"/>
              </a:ext>
            </a:extLst>
          </p:cNvPr>
          <p:cNvSpPr/>
          <p:nvPr/>
        </p:nvSpPr>
        <p:spPr>
          <a:xfrm>
            <a:off x="2165496" y="1637413"/>
            <a:ext cx="1718932" cy="3289005"/>
          </a:xfrm>
          <a:prstGeom prst="rect">
            <a:avLst/>
          </a:prstGeom>
          <a:solidFill>
            <a:schemeClr val="bg1"/>
          </a:solidFill>
          <a:ln w="63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Google Shape;1836;p85">
            <a:extLst>
              <a:ext uri="{FF2B5EF4-FFF2-40B4-BE49-F238E27FC236}">
                <a16:creationId xmlns:a16="http://schemas.microsoft.com/office/drawing/2014/main" id="{174C26C3-2320-3A19-54F3-17A30DF957A3}"/>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Constrained Beam Search</a:t>
            </a:r>
            <a:endParaRPr lang="en-US" sz="2400"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E8C4325-001D-F5A6-03C4-C322048C824D}"/>
                  </a:ext>
                </a:extLst>
              </p:cNvPr>
              <p:cNvSpPr/>
              <p:nvPr/>
            </p:nvSpPr>
            <p:spPr>
              <a:xfrm>
                <a:off x="574157" y="2542067"/>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5" name="Rectangle 4">
                <a:extLst>
                  <a:ext uri="{FF2B5EF4-FFF2-40B4-BE49-F238E27FC236}">
                    <a16:creationId xmlns:a16="http://schemas.microsoft.com/office/drawing/2014/main" id="{6E8C4325-001D-F5A6-03C4-C322048C824D}"/>
                  </a:ext>
                </a:extLst>
              </p:cNvPr>
              <p:cNvSpPr>
                <a:spLocks noRot="1" noChangeAspect="1" noMove="1" noResize="1" noEditPoints="1" noAdjustHandles="1" noChangeArrowheads="1" noChangeShapeType="1" noTextEdit="1"/>
              </p:cNvSpPr>
              <p:nvPr/>
            </p:nvSpPr>
            <p:spPr>
              <a:xfrm>
                <a:off x="574157" y="2542067"/>
                <a:ext cx="467833" cy="36992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1CF19E6-A5CC-89B5-0331-B8D733107D20}"/>
                  </a:ext>
                </a:extLst>
              </p:cNvPr>
              <p:cNvSpPr/>
              <p:nvPr/>
            </p:nvSpPr>
            <p:spPr>
              <a:xfrm>
                <a:off x="1422990" y="2542067"/>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6" name="Rectangle 5">
                <a:extLst>
                  <a:ext uri="{FF2B5EF4-FFF2-40B4-BE49-F238E27FC236}">
                    <a16:creationId xmlns:a16="http://schemas.microsoft.com/office/drawing/2014/main" id="{F1CF19E6-A5CC-89B5-0331-B8D733107D20}"/>
                  </a:ext>
                </a:extLst>
              </p:cNvPr>
              <p:cNvSpPr>
                <a:spLocks noRot="1" noChangeAspect="1" noMove="1" noResize="1" noEditPoints="1" noAdjustHandles="1" noChangeArrowheads="1" noChangeShapeType="1" noTextEdit="1"/>
              </p:cNvSpPr>
              <p:nvPr/>
            </p:nvSpPr>
            <p:spPr>
              <a:xfrm>
                <a:off x="1422990" y="2542067"/>
                <a:ext cx="467833" cy="36992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9EEA018-7E24-781F-C1BA-48BE5F760F52}"/>
                  </a:ext>
                </a:extLst>
              </p:cNvPr>
              <p:cNvSpPr/>
              <p:nvPr/>
            </p:nvSpPr>
            <p:spPr>
              <a:xfrm>
                <a:off x="2332074" y="2542067"/>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7" name="Rectangle 6">
                <a:extLst>
                  <a:ext uri="{FF2B5EF4-FFF2-40B4-BE49-F238E27FC236}">
                    <a16:creationId xmlns:a16="http://schemas.microsoft.com/office/drawing/2014/main" id="{29EEA018-7E24-781F-C1BA-48BE5F760F52}"/>
                  </a:ext>
                </a:extLst>
              </p:cNvPr>
              <p:cNvSpPr>
                <a:spLocks noRot="1" noChangeAspect="1" noMove="1" noResize="1" noEditPoints="1" noAdjustHandles="1" noChangeArrowheads="1" noChangeShapeType="1" noTextEdit="1"/>
              </p:cNvSpPr>
              <p:nvPr/>
            </p:nvSpPr>
            <p:spPr>
              <a:xfrm>
                <a:off x="2332074" y="2542067"/>
                <a:ext cx="467833" cy="369924"/>
              </a:xfrm>
              <a:prstGeom prst="rect">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F2C2BD89-8F4B-FD92-511B-357737FE169A}"/>
              </a:ext>
            </a:extLst>
          </p:cNvPr>
          <p:cNvCxnSpPr>
            <a:stCxn id="5" idx="3"/>
            <a:endCxn id="6" idx="1"/>
          </p:cNvCxnSpPr>
          <p:nvPr/>
        </p:nvCxnSpPr>
        <p:spPr>
          <a:xfrm>
            <a:off x="1041990" y="2727029"/>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C6EDA16-EA44-CB57-9A52-EEC451951B1A}"/>
              </a:ext>
            </a:extLst>
          </p:cNvPr>
          <p:cNvCxnSpPr>
            <a:cxnSpLocks/>
            <a:stCxn id="6" idx="3"/>
            <a:endCxn id="7" idx="1"/>
          </p:cNvCxnSpPr>
          <p:nvPr/>
        </p:nvCxnSpPr>
        <p:spPr>
          <a:xfrm>
            <a:off x="1890823" y="2727029"/>
            <a:ext cx="441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F5C87D9-F0BA-8CB1-72B3-02070F681C24}"/>
              </a:ext>
            </a:extLst>
          </p:cNvPr>
          <p:cNvCxnSpPr>
            <a:cxnSpLocks/>
            <a:stCxn id="6" idx="3"/>
          </p:cNvCxnSpPr>
          <p:nvPr/>
        </p:nvCxnSpPr>
        <p:spPr>
          <a:xfrm flipV="1">
            <a:off x="1890823" y="2176794"/>
            <a:ext cx="441251" cy="550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12ADC84A-9CBC-D87A-4DAD-9C9FE82EDADE}"/>
                  </a:ext>
                </a:extLst>
              </p:cNvPr>
              <p:cNvSpPr/>
              <p:nvPr/>
            </p:nvSpPr>
            <p:spPr>
              <a:xfrm>
                <a:off x="2332074" y="1806870"/>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15" name="Rectangle 14">
                <a:extLst>
                  <a:ext uri="{FF2B5EF4-FFF2-40B4-BE49-F238E27FC236}">
                    <a16:creationId xmlns:a16="http://schemas.microsoft.com/office/drawing/2014/main" id="{12ADC84A-9CBC-D87A-4DAD-9C9FE82EDADE}"/>
                  </a:ext>
                </a:extLst>
              </p:cNvPr>
              <p:cNvSpPr>
                <a:spLocks noRot="1" noChangeAspect="1" noMove="1" noResize="1" noEditPoints="1" noAdjustHandles="1" noChangeArrowheads="1" noChangeShapeType="1" noTextEdit="1"/>
              </p:cNvSpPr>
              <p:nvPr/>
            </p:nvSpPr>
            <p:spPr>
              <a:xfrm>
                <a:off x="2332074" y="1806870"/>
                <a:ext cx="467833" cy="369924"/>
              </a:xfrm>
              <a:prstGeom prst="rect">
                <a:avLst/>
              </a:prstGeom>
              <a:blipFill>
                <a:blip r:embed="rId5"/>
                <a:stretch>
                  <a:fillRect l="-2500"/>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9803D5EC-F097-B12D-7E9B-AC72A6F8CD76}"/>
              </a:ext>
            </a:extLst>
          </p:cNvPr>
          <p:cNvCxnSpPr>
            <a:cxnSpLocks/>
            <a:stCxn id="7" idx="3"/>
            <a:endCxn id="22" idx="1"/>
          </p:cNvCxnSpPr>
          <p:nvPr/>
        </p:nvCxnSpPr>
        <p:spPr>
          <a:xfrm flipV="1">
            <a:off x="2799907" y="2721270"/>
            <a:ext cx="381000" cy="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8B2E6545-F47A-706F-FCA6-3BCA92A4B72C}"/>
                  </a:ext>
                </a:extLst>
              </p:cNvPr>
              <p:cNvSpPr/>
              <p:nvPr/>
            </p:nvSpPr>
            <p:spPr>
              <a:xfrm>
                <a:off x="3180907" y="2536308"/>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22" name="Rectangle 21">
                <a:extLst>
                  <a:ext uri="{FF2B5EF4-FFF2-40B4-BE49-F238E27FC236}">
                    <a16:creationId xmlns:a16="http://schemas.microsoft.com/office/drawing/2014/main" id="{8B2E6545-F47A-706F-FCA6-3BCA92A4B72C}"/>
                  </a:ext>
                </a:extLst>
              </p:cNvPr>
              <p:cNvSpPr>
                <a:spLocks noRot="1" noChangeAspect="1" noMove="1" noResize="1" noEditPoints="1" noAdjustHandles="1" noChangeArrowheads="1" noChangeShapeType="1" noTextEdit="1"/>
              </p:cNvSpPr>
              <p:nvPr/>
            </p:nvSpPr>
            <p:spPr>
              <a:xfrm>
                <a:off x="3180907" y="2536308"/>
                <a:ext cx="467833" cy="369924"/>
              </a:xfrm>
              <a:prstGeom prst="rect">
                <a:avLst/>
              </a:prstGeom>
              <a:blipFill>
                <a:blip r:embed="rId6"/>
                <a:stretch>
                  <a:fillRect b="-3125"/>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D130209B-B3BF-6F6B-1496-62FF1E700780}"/>
              </a:ext>
            </a:extLst>
          </p:cNvPr>
          <p:cNvCxnSpPr>
            <a:cxnSpLocks/>
            <a:stCxn id="15" idx="3"/>
            <a:endCxn id="27" idx="1"/>
          </p:cNvCxnSpPr>
          <p:nvPr/>
        </p:nvCxnSpPr>
        <p:spPr>
          <a:xfrm flipV="1">
            <a:off x="2799907" y="1986628"/>
            <a:ext cx="380999" cy="5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0E985C41-A0E9-CF3B-87E2-B3A7FEAFB54D}"/>
                  </a:ext>
                </a:extLst>
              </p:cNvPr>
              <p:cNvSpPr/>
              <p:nvPr/>
            </p:nvSpPr>
            <p:spPr>
              <a:xfrm>
                <a:off x="3180906" y="1801666"/>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27" name="Rectangle 26">
                <a:extLst>
                  <a:ext uri="{FF2B5EF4-FFF2-40B4-BE49-F238E27FC236}">
                    <a16:creationId xmlns:a16="http://schemas.microsoft.com/office/drawing/2014/main" id="{0E985C41-A0E9-CF3B-87E2-B3A7FEAFB54D}"/>
                  </a:ext>
                </a:extLst>
              </p:cNvPr>
              <p:cNvSpPr>
                <a:spLocks noRot="1" noChangeAspect="1" noMove="1" noResize="1" noEditPoints="1" noAdjustHandles="1" noChangeArrowheads="1" noChangeShapeType="1" noTextEdit="1"/>
              </p:cNvSpPr>
              <p:nvPr/>
            </p:nvSpPr>
            <p:spPr>
              <a:xfrm>
                <a:off x="3180906" y="1801666"/>
                <a:ext cx="467833" cy="369924"/>
              </a:xfrm>
              <a:prstGeom prst="rect">
                <a:avLst/>
              </a:prstGeom>
              <a:blipFill>
                <a:blip r:embed="rId7"/>
                <a:stretch>
                  <a:fillRect b="-3226"/>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98C229A7-A781-7EE9-E0A8-8064EA9B8541}"/>
              </a:ext>
            </a:extLst>
          </p:cNvPr>
          <p:cNvCxnSpPr>
            <a:cxnSpLocks/>
            <a:stCxn id="6" idx="3"/>
          </p:cNvCxnSpPr>
          <p:nvPr/>
        </p:nvCxnSpPr>
        <p:spPr>
          <a:xfrm>
            <a:off x="1890823" y="2727029"/>
            <a:ext cx="441251" cy="45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04B966CB-867B-3E77-903B-BFB3157821DB}"/>
              </a:ext>
            </a:extLst>
          </p:cNvPr>
          <p:cNvSpPr/>
          <p:nvPr/>
        </p:nvSpPr>
        <p:spPr>
          <a:xfrm>
            <a:off x="2332074" y="3181139"/>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294943E-B554-E83F-0CE6-FE8FD2A5B2E0}"/>
                  </a:ext>
                </a:extLst>
              </p:cNvPr>
              <p:cNvSpPr txBox="1"/>
              <p:nvPr/>
            </p:nvSpPr>
            <p:spPr>
              <a:xfrm>
                <a:off x="2199166" y="3743980"/>
                <a:ext cx="1651591" cy="710003"/>
              </a:xfrm>
              <a:prstGeom prst="rect">
                <a:avLst/>
              </a:prstGeom>
              <a:noFill/>
            </p:spPr>
            <p:txBody>
              <a:bodyPr wrap="square" rtlCol="0">
                <a:spAutoFit/>
              </a:bodyPr>
              <a:lstStyle/>
              <a:p>
                <a:pPr algn="ctr"/>
                <a:r>
                  <a:rPr lang="en-US" b="1" u="sng" dirty="0"/>
                  <a:t>Sort</a:t>
                </a:r>
                <a:r>
                  <a:rPr lang="en-US" dirty="0"/>
                  <a:t> by heuristics function</a:t>
                </a:r>
              </a:p>
              <a:p>
                <a:pPr algn="ctr"/>
                <a14:m>
                  <m:oMathPara xmlns:m="http://schemas.openxmlformats.org/officeDocument/2006/math">
                    <m:oMathParaPr>
                      <m:jc m:val="centerGroup"/>
                    </m:oMathParaPr>
                    <m:oMath xmlns:m="http://schemas.openxmlformats.org/officeDocument/2006/math">
                      <m:r>
                        <a:rPr lang="en-US" sz="1200" b="0" i="1" smtClean="0">
                          <a:solidFill>
                            <a:srgbClr val="C00000"/>
                          </a:solidFill>
                          <a:latin typeface="Cambria Math" panose="02040503050406030204" pitchFamily="18" charset="0"/>
                        </a:rPr>
                        <m:t>h</m:t>
                      </m:r>
                      <m:d>
                        <m:dPr>
                          <m:ctrlPr>
                            <a:rPr lang="en-US" sz="1200" b="0" i="1" smtClean="0">
                              <a:solidFill>
                                <a:srgbClr val="C00000"/>
                              </a:solidFill>
                              <a:latin typeface="Cambria Math" panose="02040503050406030204" pitchFamily="18" charset="0"/>
                            </a:rPr>
                          </m:ctrlPr>
                        </m:dPr>
                        <m:e>
                          <m:sSub>
                            <m:sSubPr>
                              <m:ctrlPr>
                                <a:rPr lang="en-US" sz="1200" b="0" i="1" smtClean="0">
                                  <a:solidFill>
                                    <a:srgbClr val="C00000"/>
                                  </a:solidFill>
                                  <a:latin typeface="Cambria Math" panose="02040503050406030204" pitchFamily="18" charset="0"/>
                                </a:rPr>
                              </m:ctrlPr>
                            </m:sSubPr>
                            <m:e>
                              <m:r>
                                <a:rPr lang="en-US" sz="1200" b="0" i="1" smtClean="0">
                                  <a:solidFill>
                                    <a:srgbClr val="C00000"/>
                                  </a:solidFill>
                                  <a:latin typeface="Cambria Math" panose="02040503050406030204" pitchFamily="18" charset="0"/>
                                </a:rPr>
                                <m:t>𝑡</m:t>
                              </m:r>
                            </m:e>
                            <m:sub>
                              <m:r>
                                <a:rPr lang="en-US" sz="1200" b="0" i="1" smtClean="0">
                                  <a:solidFill>
                                    <a:srgbClr val="C00000"/>
                                  </a:solidFill>
                                  <a:latin typeface="Cambria Math" panose="02040503050406030204" pitchFamily="18" charset="0"/>
                                </a:rPr>
                                <m:t>3</m:t>
                              </m:r>
                            </m:sub>
                          </m:sSub>
                          <m:r>
                            <a:rPr lang="en-US" sz="1200" b="0" i="1" smtClean="0">
                              <a:solidFill>
                                <a:srgbClr val="C00000"/>
                              </a:solidFill>
                              <a:latin typeface="Cambria Math" panose="02040503050406030204" pitchFamily="18" charset="0"/>
                            </a:rPr>
                            <m:t>,</m:t>
                          </m:r>
                          <m:sSub>
                            <m:sSubPr>
                              <m:ctrlPr>
                                <a:rPr lang="en-US" sz="1200" b="0" i="1" smtClean="0">
                                  <a:solidFill>
                                    <a:srgbClr val="C00000"/>
                                  </a:solidFill>
                                  <a:latin typeface="Cambria Math" panose="02040503050406030204" pitchFamily="18" charset="0"/>
                                </a:rPr>
                              </m:ctrlPr>
                            </m:sSubPr>
                            <m:e>
                              <m:r>
                                <a:rPr lang="en-US" sz="1200" b="0" i="1" smtClean="0">
                                  <a:solidFill>
                                    <a:srgbClr val="C00000"/>
                                  </a:solidFill>
                                  <a:latin typeface="Cambria Math" panose="02040503050406030204" pitchFamily="18" charset="0"/>
                                </a:rPr>
                                <m:t>𝑡</m:t>
                              </m:r>
                            </m:e>
                            <m:sub>
                              <m:r>
                                <a:rPr lang="en-US" sz="1200" b="0" i="1" smtClean="0">
                                  <a:solidFill>
                                    <a:srgbClr val="C00000"/>
                                  </a:solidFill>
                                  <a:latin typeface="Cambria Math" panose="02040503050406030204" pitchFamily="18" charset="0"/>
                                </a:rPr>
                                <m:t>4</m:t>
                              </m:r>
                            </m:sub>
                          </m:sSub>
                        </m:e>
                      </m:d>
                      <m:r>
                        <a:rPr lang="en-US" sz="1200" b="0" i="1" smtClean="0">
                          <a:solidFill>
                            <a:srgbClr val="C00000"/>
                          </a:solidFill>
                          <a:latin typeface="Cambria Math" panose="02040503050406030204" pitchFamily="18" charset="0"/>
                        </a:rPr>
                        <m:t>&lt;</m:t>
                      </m:r>
                      <m:r>
                        <a:rPr lang="en-US" sz="1200" b="0" i="1" smtClean="0">
                          <a:solidFill>
                            <a:srgbClr val="C00000"/>
                          </a:solidFill>
                          <a:latin typeface="Cambria Math" panose="02040503050406030204" pitchFamily="18" charset="0"/>
                        </a:rPr>
                        <m:t>h</m:t>
                      </m:r>
                      <m:r>
                        <a:rPr lang="en-US" sz="1200" b="0" i="1" smtClean="0">
                          <a:solidFill>
                            <a:srgbClr val="C00000"/>
                          </a:solidFill>
                          <a:latin typeface="Cambria Math" panose="02040503050406030204" pitchFamily="18" charset="0"/>
                        </a:rPr>
                        <m:t>(</m:t>
                      </m:r>
                      <m:sSub>
                        <m:sSubPr>
                          <m:ctrlPr>
                            <a:rPr lang="en-US" sz="1200" b="0" i="1" smtClean="0">
                              <a:solidFill>
                                <a:srgbClr val="C00000"/>
                              </a:solidFill>
                              <a:latin typeface="Cambria Math" panose="02040503050406030204" pitchFamily="18" charset="0"/>
                            </a:rPr>
                          </m:ctrlPr>
                        </m:sSubPr>
                        <m:e>
                          <m:r>
                            <a:rPr lang="en-US" sz="1200" b="0" i="1" smtClean="0">
                              <a:solidFill>
                                <a:srgbClr val="C00000"/>
                              </a:solidFill>
                              <a:latin typeface="Cambria Math" panose="02040503050406030204" pitchFamily="18" charset="0"/>
                            </a:rPr>
                            <m:t>𝑡</m:t>
                          </m:r>
                        </m:e>
                        <m:sub>
                          <m:sSup>
                            <m:sSupPr>
                              <m:ctrlPr>
                                <a:rPr lang="en-US" sz="1200" b="0" i="1" smtClean="0">
                                  <a:solidFill>
                                    <a:srgbClr val="C00000"/>
                                  </a:solidFill>
                                  <a:latin typeface="Cambria Math" panose="02040503050406030204" pitchFamily="18" charset="0"/>
                                </a:rPr>
                              </m:ctrlPr>
                            </m:sSupPr>
                            <m:e>
                              <m:r>
                                <a:rPr lang="en-US" sz="1200" b="0" i="1" smtClean="0">
                                  <a:solidFill>
                                    <a:srgbClr val="C00000"/>
                                  </a:solidFill>
                                  <a:latin typeface="Cambria Math" panose="02040503050406030204" pitchFamily="18" charset="0"/>
                                </a:rPr>
                                <m:t>3</m:t>
                              </m:r>
                            </m:e>
                            <m:sup>
                              <m:r>
                                <a:rPr lang="en-US" sz="1200" b="0" i="1" smtClean="0">
                                  <a:solidFill>
                                    <a:srgbClr val="C00000"/>
                                  </a:solidFill>
                                  <a:latin typeface="Cambria Math" panose="02040503050406030204" pitchFamily="18" charset="0"/>
                                </a:rPr>
                                <m:t>′</m:t>
                              </m:r>
                            </m:sup>
                          </m:sSup>
                        </m:sub>
                      </m:sSub>
                      <m:r>
                        <a:rPr lang="en-US" sz="1200" b="0" i="1" smtClean="0">
                          <a:solidFill>
                            <a:srgbClr val="C00000"/>
                          </a:solidFill>
                          <a:latin typeface="Cambria Math" panose="02040503050406030204" pitchFamily="18" charset="0"/>
                        </a:rPr>
                        <m:t>,</m:t>
                      </m:r>
                      <m:sSub>
                        <m:sSubPr>
                          <m:ctrlPr>
                            <a:rPr lang="en-US" sz="1200" b="0" i="1" smtClean="0">
                              <a:solidFill>
                                <a:srgbClr val="C00000"/>
                              </a:solidFill>
                              <a:latin typeface="Cambria Math" panose="02040503050406030204" pitchFamily="18" charset="0"/>
                            </a:rPr>
                          </m:ctrlPr>
                        </m:sSubPr>
                        <m:e>
                          <m:r>
                            <a:rPr lang="en-US" sz="1200" b="0" i="1" smtClean="0">
                              <a:solidFill>
                                <a:srgbClr val="C00000"/>
                              </a:solidFill>
                              <a:latin typeface="Cambria Math" panose="02040503050406030204" pitchFamily="18" charset="0"/>
                            </a:rPr>
                            <m:t>𝑡</m:t>
                          </m:r>
                        </m:e>
                        <m:sub>
                          <m:r>
                            <a:rPr lang="en-US" sz="1200" b="0" i="1" smtClean="0">
                              <a:solidFill>
                                <a:srgbClr val="C00000"/>
                              </a:solidFill>
                              <a:latin typeface="Cambria Math" panose="02040503050406030204" pitchFamily="18" charset="0"/>
                            </a:rPr>
                            <m:t>4′</m:t>
                          </m:r>
                        </m:sub>
                      </m:sSub>
                      <m:r>
                        <a:rPr lang="en-US" sz="1200" b="0" i="1" smtClean="0">
                          <a:solidFill>
                            <a:srgbClr val="C00000"/>
                          </a:solidFill>
                          <a:latin typeface="Cambria Math" panose="02040503050406030204" pitchFamily="18" charset="0"/>
                        </a:rPr>
                        <m:t>)</m:t>
                      </m:r>
                    </m:oMath>
                  </m:oMathPara>
                </a14:m>
                <a:endParaRPr lang="en-US" sz="1200" dirty="0">
                  <a:solidFill>
                    <a:srgbClr val="C00000"/>
                  </a:solidFill>
                </a:endParaRPr>
              </a:p>
            </p:txBody>
          </p:sp>
        </mc:Choice>
        <mc:Fallback xmlns="">
          <p:sp>
            <p:nvSpPr>
              <p:cNvPr id="35" name="TextBox 34">
                <a:extLst>
                  <a:ext uri="{FF2B5EF4-FFF2-40B4-BE49-F238E27FC236}">
                    <a16:creationId xmlns:a16="http://schemas.microsoft.com/office/drawing/2014/main" id="{D294943E-B554-E83F-0CE6-FE8FD2A5B2E0}"/>
                  </a:ext>
                </a:extLst>
              </p:cNvPr>
              <p:cNvSpPr txBox="1">
                <a:spLocks noRot="1" noChangeAspect="1" noMove="1" noResize="1" noEditPoints="1" noAdjustHandles="1" noChangeArrowheads="1" noChangeShapeType="1" noTextEdit="1"/>
              </p:cNvSpPr>
              <p:nvPr/>
            </p:nvSpPr>
            <p:spPr>
              <a:xfrm>
                <a:off x="2199166" y="3743980"/>
                <a:ext cx="1651591" cy="710003"/>
              </a:xfrm>
              <a:prstGeom prst="rect">
                <a:avLst/>
              </a:prstGeom>
              <a:blipFill>
                <a:blip r:embed="rId8"/>
                <a:stretch>
                  <a:fillRect t="-1754" r="-763" b="-3509"/>
                </a:stretch>
              </a:blipFill>
            </p:spPr>
            <p:txBody>
              <a:bodyPr/>
              <a:lstStyle/>
              <a:p>
                <a:r>
                  <a:rPr lang="en-US">
                    <a:noFill/>
                  </a:rPr>
                  <a:t> </a:t>
                </a:r>
              </a:p>
            </p:txBody>
          </p:sp>
        </mc:Fallback>
      </mc:AlternateContent>
      <p:cxnSp>
        <p:nvCxnSpPr>
          <p:cNvPr id="38" name="Straight Connector 37">
            <a:extLst>
              <a:ext uri="{FF2B5EF4-FFF2-40B4-BE49-F238E27FC236}">
                <a16:creationId xmlns:a16="http://schemas.microsoft.com/office/drawing/2014/main" id="{D8FB95A1-33F6-29F6-4040-583A09EB0873}"/>
              </a:ext>
            </a:extLst>
          </p:cNvPr>
          <p:cNvCxnSpPr/>
          <p:nvPr/>
        </p:nvCxnSpPr>
        <p:spPr>
          <a:xfrm>
            <a:off x="4260111" y="1234696"/>
            <a:ext cx="0" cy="382063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111DCEB-3AAF-418D-B5DA-184FC9EDBCC1}"/>
              </a:ext>
            </a:extLst>
          </p:cNvPr>
          <p:cNvSpPr txBox="1"/>
          <p:nvPr/>
        </p:nvSpPr>
        <p:spPr>
          <a:xfrm>
            <a:off x="4260111" y="1329637"/>
            <a:ext cx="1651591" cy="307777"/>
          </a:xfrm>
          <a:prstGeom prst="rect">
            <a:avLst/>
          </a:prstGeom>
          <a:noFill/>
        </p:spPr>
        <p:txBody>
          <a:bodyPr wrap="square" rtlCol="0">
            <a:spAutoFit/>
          </a:bodyPr>
          <a:lstStyle/>
          <a:p>
            <a:pPr algn="ctr"/>
            <a:r>
              <a:rPr lang="en-US" b="1" u="sng" dirty="0"/>
              <a:t>Originally</a:t>
            </a:r>
            <a:endParaRPr lang="en-US"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D2B85AC6-44A2-8339-C359-2A63758EE5E6}"/>
                  </a:ext>
                </a:extLst>
              </p:cNvPr>
              <p:cNvSpPr/>
              <p:nvPr/>
            </p:nvSpPr>
            <p:spPr>
              <a:xfrm>
                <a:off x="4752754" y="2042336"/>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0" name="Rectangle 39">
                <a:extLst>
                  <a:ext uri="{FF2B5EF4-FFF2-40B4-BE49-F238E27FC236}">
                    <a16:creationId xmlns:a16="http://schemas.microsoft.com/office/drawing/2014/main" id="{D2B85AC6-44A2-8339-C359-2A63758EE5E6}"/>
                  </a:ext>
                </a:extLst>
              </p:cNvPr>
              <p:cNvSpPr>
                <a:spLocks noRot="1" noChangeAspect="1" noMove="1" noResize="1" noEditPoints="1" noAdjustHandles="1" noChangeArrowheads="1" noChangeShapeType="1" noTextEdit="1"/>
              </p:cNvSpPr>
              <p:nvPr/>
            </p:nvSpPr>
            <p:spPr>
              <a:xfrm>
                <a:off x="4752754" y="2042336"/>
                <a:ext cx="467833" cy="36992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8844902-B2D9-97C7-1844-117F54A1A939}"/>
                  </a:ext>
                </a:extLst>
              </p:cNvPr>
              <p:cNvSpPr/>
              <p:nvPr/>
            </p:nvSpPr>
            <p:spPr>
              <a:xfrm>
                <a:off x="5601587" y="2042336"/>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41" name="Rectangle 40">
                <a:extLst>
                  <a:ext uri="{FF2B5EF4-FFF2-40B4-BE49-F238E27FC236}">
                    <a16:creationId xmlns:a16="http://schemas.microsoft.com/office/drawing/2014/main" id="{78844902-B2D9-97C7-1844-117F54A1A939}"/>
                  </a:ext>
                </a:extLst>
              </p:cNvPr>
              <p:cNvSpPr>
                <a:spLocks noRot="1" noChangeAspect="1" noMove="1" noResize="1" noEditPoints="1" noAdjustHandles="1" noChangeArrowheads="1" noChangeShapeType="1" noTextEdit="1"/>
              </p:cNvSpPr>
              <p:nvPr/>
            </p:nvSpPr>
            <p:spPr>
              <a:xfrm>
                <a:off x="5601587" y="2042336"/>
                <a:ext cx="467833" cy="36992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8A3DA3C-4FB4-4D8E-92EE-CEB477C04BA3}"/>
                  </a:ext>
                </a:extLst>
              </p:cNvPr>
              <p:cNvSpPr/>
              <p:nvPr/>
            </p:nvSpPr>
            <p:spPr>
              <a:xfrm>
                <a:off x="6510671" y="2042336"/>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42" name="Rectangle 41">
                <a:extLst>
                  <a:ext uri="{FF2B5EF4-FFF2-40B4-BE49-F238E27FC236}">
                    <a16:creationId xmlns:a16="http://schemas.microsoft.com/office/drawing/2014/main" id="{28A3DA3C-4FB4-4D8E-92EE-CEB477C04BA3}"/>
                  </a:ext>
                </a:extLst>
              </p:cNvPr>
              <p:cNvSpPr>
                <a:spLocks noRot="1" noChangeAspect="1" noMove="1" noResize="1" noEditPoints="1" noAdjustHandles="1" noChangeArrowheads="1" noChangeShapeType="1" noTextEdit="1"/>
              </p:cNvSpPr>
              <p:nvPr/>
            </p:nvSpPr>
            <p:spPr>
              <a:xfrm>
                <a:off x="6510671" y="2042336"/>
                <a:ext cx="467833" cy="369924"/>
              </a:xfrm>
              <a:prstGeom prst="rect">
                <a:avLst/>
              </a:prstGeom>
              <a:blipFill>
                <a:blip r:embed="rId11"/>
                <a:stretch>
                  <a:fillRect/>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902A69D1-7EFF-90FA-D518-6D377E9CC180}"/>
              </a:ext>
            </a:extLst>
          </p:cNvPr>
          <p:cNvCxnSpPr>
            <a:stCxn id="40" idx="3"/>
            <a:endCxn id="41" idx="1"/>
          </p:cNvCxnSpPr>
          <p:nvPr/>
        </p:nvCxnSpPr>
        <p:spPr>
          <a:xfrm>
            <a:off x="5220587" y="2227298"/>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52A6B22-047D-5E28-1413-EE8EE0BD6960}"/>
              </a:ext>
            </a:extLst>
          </p:cNvPr>
          <p:cNvCxnSpPr>
            <a:cxnSpLocks/>
            <a:stCxn id="41" idx="3"/>
            <a:endCxn id="42" idx="1"/>
          </p:cNvCxnSpPr>
          <p:nvPr/>
        </p:nvCxnSpPr>
        <p:spPr>
          <a:xfrm>
            <a:off x="6069420" y="2227298"/>
            <a:ext cx="441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DA8E501-9CF1-C497-1CF4-8AD2507201EB}"/>
              </a:ext>
            </a:extLst>
          </p:cNvPr>
          <p:cNvCxnSpPr>
            <a:cxnSpLocks/>
            <a:stCxn id="42" idx="3"/>
            <a:endCxn id="46" idx="1"/>
          </p:cNvCxnSpPr>
          <p:nvPr/>
        </p:nvCxnSpPr>
        <p:spPr>
          <a:xfrm flipV="1">
            <a:off x="6978504" y="2221539"/>
            <a:ext cx="381000" cy="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298A743-752F-466D-CE12-8692008DD702}"/>
                  </a:ext>
                </a:extLst>
              </p:cNvPr>
              <p:cNvSpPr/>
              <p:nvPr/>
            </p:nvSpPr>
            <p:spPr>
              <a:xfrm>
                <a:off x="7359504" y="2036577"/>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46" name="Rectangle 45">
                <a:extLst>
                  <a:ext uri="{FF2B5EF4-FFF2-40B4-BE49-F238E27FC236}">
                    <a16:creationId xmlns:a16="http://schemas.microsoft.com/office/drawing/2014/main" id="{1298A743-752F-466D-CE12-8692008DD702}"/>
                  </a:ext>
                </a:extLst>
              </p:cNvPr>
              <p:cNvSpPr>
                <a:spLocks noRot="1" noChangeAspect="1" noMove="1" noResize="1" noEditPoints="1" noAdjustHandles="1" noChangeArrowheads="1" noChangeShapeType="1" noTextEdit="1"/>
              </p:cNvSpPr>
              <p:nvPr/>
            </p:nvSpPr>
            <p:spPr>
              <a:xfrm>
                <a:off x="7359504" y="2036577"/>
                <a:ext cx="467833" cy="369924"/>
              </a:xfrm>
              <a:prstGeom prst="rect">
                <a:avLst/>
              </a:prstGeom>
              <a:blipFill>
                <a:blip r:embed="rId12"/>
                <a:stretch>
                  <a:fillRect b="-312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19626BF7-1909-4281-3020-AE38FE48D353}"/>
              </a:ext>
            </a:extLst>
          </p:cNvPr>
          <p:cNvSpPr txBox="1"/>
          <p:nvPr/>
        </p:nvSpPr>
        <p:spPr>
          <a:xfrm>
            <a:off x="4241505" y="2694367"/>
            <a:ext cx="3117997" cy="307777"/>
          </a:xfrm>
          <a:prstGeom prst="rect">
            <a:avLst/>
          </a:prstGeom>
          <a:noFill/>
        </p:spPr>
        <p:txBody>
          <a:bodyPr wrap="square" rtlCol="0">
            <a:spAutoFit/>
          </a:bodyPr>
          <a:lstStyle/>
          <a:p>
            <a:pPr algn="ctr"/>
            <a:r>
              <a:rPr lang="en-US" b="1" u="sng" dirty="0"/>
              <a:t>Constrained Beam Search</a:t>
            </a:r>
            <a:endParaRPr lang="en-US" dirty="0"/>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8DAFC892-D050-5696-F14A-1023BA29507E}"/>
                  </a:ext>
                </a:extLst>
              </p:cNvPr>
              <p:cNvSpPr/>
              <p:nvPr/>
            </p:nvSpPr>
            <p:spPr>
              <a:xfrm>
                <a:off x="4752754" y="3366101"/>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8" name="Rectangle 47">
                <a:extLst>
                  <a:ext uri="{FF2B5EF4-FFF2-40B4-BE49-F238E27FC236}">
                    <a16:creationId xmlns:a16="http://schemas.microsoft.com/office/drawing/2014/main" id="{8DAFC892-D050-5696-F14A-1023BA29507E}"/>
                  </a:ext>
                </a:extLst>
              </p:cNvPr>
              <p:cNvSpPr>
                <a:spLocks noRot="1" noChangeAspect="1" noMove="1" noResize="1" noEditPoints="1" noAdjustHandles="1" noChangeArrowheads="1" noChangeShapeType="1" noTextEdit="1"/>
              </p:cNvSpPr>
              <p:nvPr/>
            </p:nvSpPr>
            <p:spPr>
              <a:xfrm>
                <a:off x="4752754" y="3366101"/>
                <a:ext cx="467833" cy="36992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DF5307C8-188F-5087-D18D-366C259C58D2}"/>
                  </a:ext>
                </a:extLst>
              </p:cNvPr>
              <p:cNvSpPr/>
              <p:nvPr/>
            </p:nvSpPr>
            <p:spPr>
              <a:xfrm>
                <a:off x="5601587" y="3366101"/>
                <a:ext cx="467833" cy="3699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𝑡</m:t>
                          </m:r>
                        </m:e>
                        <m:sub>
                          <m:r>
                            <a:rPr lang="en-US" b="0" i="1" dirty="0"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49" name="Rectangle 48">
                <a:extLst>
                  <a:ext uri="{FF2B5EF4-FFF2-40B4-BE49-F238E27FC236}">
                    <a16:creationId xmlns:a16="http://schemas.microsoft.com/office/drawing/2014/main" id="{DF5307C8-188F-5087-D18D-366C259C58D2}"/>
                  </a:ext>
                </a:extLst>
              </p:cNvPr>
              <p:cNvSpPr>
                <a:spLocks noRot="1" noChangeAspect="1" noMove="1" noResize="1" noEditPoints="1" noAdjustHandles="1" noChangeArrowheads="1" noChangeShapeType="1" noTextEdit="1"/>
              </p:cNvSpPr>
              <p:nvPr/>
            </p:nvSpPr>
            <p:spPr>
              <a:xfrm>
                <a:off x="5601587" y="3366101"/>
                <a:ext cx="467833" cy="36992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204D8189-2142-DFD2-7ED4-655909CF67E7}"/>
                  </a:ext>
                </a:extLst>
              </p:cNvPr>
              <p:cNvSpPr/>
              <p:nvPr/>
            </p:nvSpPr>
            <p:spPr>
              <a:xfrm>
                <a:off x="6510671" y="3366101"/>
                <a:ext cx="467833" cy="369924"/>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rgbClr val="C00000"/>
                              </a:solidFill>
                              <a:latin typeface="Cambria Math" panose="02040503050406030204" pitchFamily="18" charset="0"/>
                            </a:rPr>
                          </m:ctrlPr>
                        </m:sSubPr>
                        <m:e>
                          <m:r>
                            <a:rPr lang="en-US" b="0" i="1" dirty="0" smtClean="0">
                              <a:solidFill>
                                <a:srgbClr val="C00000"/>
                              </a:solidFill>
                              <a:latin typeface="Cambria Math" panose="02040503050406030204" pitchFamily="18" charset="0"/>
                            </a:rPr>
                            <m:t>  </m:t>
                          </m:r>
                          <m:r>
                            <a:rPr lang="en-US" b="0" i="1" dirty="0" smtClean="0">
                              <a:solidFill>
                                <a:srgbClr val="C00000"/>
                              </a:solidFill>
                              <a:latin typeface="Cambria Math" panose="02040503050406030204" pitchFamily="18" charset="0"/>
                            </a:rPr>
                            <m:t>𝑡</m:t>
                          </m:r>
                        </m:e>
                        <m:sub>
                          <m:r>
                            <a:rPr lang="en-US" b="0" i="1" dirty="0" smtClean="0">
                              <a:solidFill>
                                <a:srgbClr val="C00000"/>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50" name="Rectangle 49">
                <a:extLst>
                  <a:ext uri="{FF2B5EF4-FFF2-40B4-BE49-F238E27FC236}">
                    <a16:creationId xmlns:a16="http://schemas.microsoft.com/office/drawing/2014/main" id="{204D8189-2142-DFD2-7ED4-655909CF67E7}"/>
                  </a:ext>
                </a:extLst>
              </p:cNvPr>
              <p:cNvSpPr>
                <a:spLocks noRot="1" noChangeAspect="1" noMove="1" noResize="1" noEditPoints="1" noAdjustHandles="1" noChangeArrowheads="1" noChangeShapeType="1" noTextEdit="1"/>
              </p:cNvSpPr>
              <p:nvPr/>
            </p:nvSpPr>
            <p:spPr>
              <a:xfrm>
                <a:off x="6510671" y="3366101"/>
                <a:ext cx="467833" cy="369924"/>
              </a:xfrm>
              <a:prstGeom prst="rect">
                <a:avLst/>
              </a:prstGeom>
              <a:blipFill>
                <a:blip r:embed="rId15"/>
                <a:stretch>
                  <a:fillRect/>
                </a:stretch>
              </a:blipFill>
              <a:ln>
                <a:solidFill>
                  <a:srgbClr val="C00000"/>
                </a:solidFill>
              </a:ln>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12A03112-EC58-D40D-317D-D5DD6E48E190}"/>
              </a:ext>
            </a:extLst>
          </p:cNvPr>
          <p:cNvCxnSpPr>
            <a:stCxn id="48" idx="3"/>
            <a:endCxn id="49" idx="1"/>
          </p:cNvCxnSpPr>
          <p:nvPr/>
        </p:nvCxnSpPr>
        <p:spPr>
          <a:xfrm>
            <a:off x="5220587" y="3551063"/>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931CC81-14ED-D88C-6DEE-331938CAA4C6}"/>
              </a:ext>
            </a:extLst>
          </p:cNvPr>
          <p:cNvCxnSpPr>
            <a:cxnSpLocks/>
            <a:stCxn id="49" idx="3"/>
            <a:endCxn id="50" idx="1"/>
          </p:cNvCxnSpPr>
          <p:nvPr/>
        </p:nvCxnSpPr>
        <p:spPr>
          <a:xfrm>
            <a:off x="6069420" y="3551063"/>
            <a:ext cx="441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E0BC077-19D2-B231-EEF4-A73388381A7C}"/>
              </a:ext>
            </a:extLst>
          </p:cNvPr>
          <p:cNvCxnSpPr>
            <a:cxnSpLocks/>
            <a:stCxn id="50" idx="3"/>
            <a:endCxn id="54" idx="1"/>
          </p:cNvCxnSpPr>
          <p:nvPr/>
        </p:nvCxnSpPr>
        <p:spPr>
          <a:xfrm flipV="1">
            <a:off x="6978504" y="3545304"/>
            <a:ext cx="381000" cy="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568F0675-EA3A-CB67-5F72-E55D57C771B2}"/>
                  </a:ext>
                </a:extLst>
              </p:cNvPr>
              <p:cNvSpPr/>
              <p:nvPr/>
            </p:nvSpPr>
            <p:spPr>
              <a:xfrm>
                <a:off x="7359504" y="3360342"/>
                <a:ext cx="467833" cy="369924"/>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i="1" dirty="0" smtClean="0">
                              <a:solidFill>
                                <a:srgbClr val="C00000"/>
                              </a:solidFill>
                              <a:latin typeface="Cambria Math" panose="02040503050406030204" pitchFamily="18" charset="0"/>
                            </a:rPr>
                          </m:ctrlPr>
                        </m:sSubPr>
                        <m:e>
                          <m:r>
                            <a:rPr lang="en-US" b="0" i="1" dirty="0" smtClean="0">
                              <a:solidFill>
                                <a:srgbClr val="C00000"/>
                              </a:solidFill>
                              <a:latin typeface="Cambria Math" panose="02040503050406030204" pitchFamily="18" charset="0"/>
                            </a:rPr>
                            <m:t>  </m:t>
                          </m:r>
                          <m:r>
                            <a:rPr lang="en-US" b="0" i="1" dirty="0" smtClean="0">
                              <a:solidFill>
                                <a:srgbClr val="C00000"/>
                              </a:solidFill>
                              <a:latin typeface="Cambria Math" panose="02040503050406030204" pitchFamily="18" charset="0"/>
                            </a:rPr>
                            <m:t>𝑡</m:t>
                          </m:r>
                        </m:e>
                        <m:sub>
                          <m:r>
                            <a:rPr lang="en-US" b="0" i="1" dirty="0" smtClean="0">
                              <a:solidFill>
                                <a:srgbClr val="C00000"/>
                              </a:solidFill>
                              <a:latin typeface="Cambria Math" panose="02040503050406030204" pitchFamily="18" charset="0"/>
                            </a:rPr>
                            <m:t>4′</m:t>
                          </m:r>
                        </m:sub>
                      </m:sSub>
                    </m:oMath>
                  </m:oMathPara>
                </a14:m>
                <a:endParaRPr lang="en-US" dirty="0">
                  <a:solidFill>
                    <a:srgbClr val="C00000"/>
                  </a:solidFill>
                </a:endParaRPr>
              </a:p>
            </p:txBody>
          </p:sp>
        </mc:Choice>
        <mc:Fallback xmlns="">
          <p:sp>
            <p:nvSpPr>
              <p:cNvPr id="54" name="Rectangle 53">
                <a:extLst>
                  <a:ext uri="{FF2B5EF4-FFF2-40B4-BE49-F238E27FC236}">
                    <a16:creationId xmlns:a16="http://schemas.microsoft.com/office/drawing/2014/main" id="{568F0675-EA3A-CB67-5F72-E55D57C771B2}"/>
                  </a:ext>
                </a:extLst>
              </p:cNvPr>
              <p:cNvSpPr>
                <a:spLocks noRot="1" noChangeAspect="1" noMove="1" noResize="1" noEditPoints="1" noAdjustHandles="1" noChangeArrowheads="1" noChangeShapeType="1" noTextEdit="1"/>
              </p:cNvSpPr>
              <p:nvPr/>
            </p:nvSpPr>
            <p:spPr>
              <a:xfrm>
                <a:off x="7359504" y="3360342"/>
                <a:ext cx="467833" cy="369924"/>
              </a:xfrm>
              <a:prstGeom prst="rect">
                <a:avLst/>
              </a:prstGeom>
              <a:blipFill>
                <a:blip r:embed="rId16"/>
                <a:stretch>
                  <a:fillRect l="-2500" b="-3125"/>
                </a:stretch>
              </a:blipFill>
              <a:ln>
                <a:solidFill>
                  <a:srgbClr val="C00000"/>
                </a:solidFill>
              </a:ln>
            </p:spPr>
            <p:txBody>
              <a:bodyPr/>
              <a:lstStyle/>
              <a:p>
                <a:r>
                  <a:rPr lang="en-US">
                    <a:noFill/>
                  </a:rPr>
                  <a:t> </a:t>
                </a:r>
              </a:p>
            </p:txBody>
          </p:sp>
        </mc:Fallback>
      </mc:AlternateContent>
      <p:sp>
        <p:nvSpPr>
          <p:cNvPr id="2" name="Google Shape;1771;p83">
            <a:extLst>
              <a:ext uri="{FF2B5EF4-FFF2-40B4-BE49-F238E27FC236}">
                <a16:creationId xmlns:a16="http://schemas.microsoft.com/office/drawing/2014/main" id="{49234E60-E8CE-E052-18DA-2F1433EA1590}"/>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4" name="Google Shape;1772;p83">
            <a:extLst>
              <a:ext uri="{FF2B5EF4-FFF2-40B4-BE49-F238E27FC236}">
                <a16:creationId xmlns:a16="http://schemas.microsoft.com/office/drawing/2014/main" id="{72B445E4-04DD-E7F9-9B60-59372ADC6A42}"/>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8" name="Google Shape;1773;p83">
            <a:extLst>
              <a:ext uri="{FF2B5EF4-FFF2-40B4-BE49-F238E27FC236}">
                <a16:creationId xmlns:a16="http://schemas.microsoft.com/office/drawing/2014/main" id="{CBD9F421-D867-1248-E187-C58EC1A81921}"/>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2" name="Google Shape;1774;p83">
            <a:extLst>
              <a:ext uri="{FF2B5EF4-FFF2-40B4-BE49-F238E27FC236}">
                <a16:creationId xmlns:a16="http://schemas.microsoft.com/office/drawing/2014/main" id="{E5CF250E-7F68-80BE-C262-D73363C9A521}"/>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553269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59FB0-19BC-D69D-BB5A-74879C323190}"/>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D3B4F862-211B-6CDC-8E56-D4F85A56C164}"/>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Constrained Beam Search</a:t>
            </a:r>
            <a:endParaRPr lang="en-US" sz="2400" dirty="0"/>
          </a:p>
        </p:txBody>
      </p:sp>
      <p:sp>
        <p:nvSpPr>
          <p:cNvPr id="2" name="TextBox 1">
            <a:extLst>
              <a:ext uri="{FF2B5EF4-FFF2-40B4-BE49-F238E27FC236}">
                <a16:creationId xmlns:a16="http://schemas.microsoft.com/office/drawing/2014/main" id="{143FC1A2-B712-54C1-134B-52568ED6585B}"/>
              </a:ext>
            </a:extLst>
          </p:cNvPr>
          <p:cNvSpPr txBox="1"/>
          <p:nvPr/>
        </p:nvSpPr>
        <p:spPr>
          <a:xfrm>
            <a:off x="311700" y="1185676"/>
            <a:ext cx="7233682" cy="307777"/>
          </a:xfrm>
          <a:prstGeom prst="rect">
            <a:avLst/>
          </a:prstGeom>
          <a:noFill/>
        </p:spPr>
        <p:txBody>
          <a:bodyPr wrap="square">
            <a:spAutoFit/>
          </a:bodyPr>
          <a:lstStyle/>
          <a:p>
            <a:pPr marL="285750" indent="-285750">
              <a:buFont typeface="Arial" panose="020B0604020202020204" pitchFamily="34" charset="0"/>
              <a:buChar char="•"/>
            </a:pPr>
            <a:r>
              <a:rPr lang="en-US" b="1" dirty="0"/>
              <a:t>OOD image captioning - </a:t>
            </a:r>
          </a:p>
        </p:txBody>
      </p:sp>
      <p:pic>
        <p:nvPicPr>
          <p:cNvPr id="8" name="Picture 7" descr="A cat sitting in a suitcase&#10;&#10;AI-generated content may be incorrect.">
            <a:extLst>
              <a:ext uri="{FF2B5EF4-FFF2-40B4-BE49-F238E27FC236}">
                <a16:creationId xmlns:a16="http://schemas.microsoft.com/office/drawing/2014/main" id="{A456CF17-2FE3-3F09-C024-8E425A3FA3AD}"/>
              </a:ext>
            </a:extLst>
          </p:cNvPr>
          <p:cNvPicPr>
            <a:picLocks noChangeAspect="1"/>
          </p:cNvPicPr>
          <p:nvPr/>
        </p:nvPicPr>
        <p:blipFill>
          <a:blip r:embed="rId2"/>
          <a:stretch>
            <a:fillRect/>
          </a:stretch>
        </p:blipFill>
        <p:spPr>
          <a:xfrm>
            <a:off x="733641" y="1607676"/>
            <a:ext cx="3689059" cy="2779233"/>
          </a:xfrm>
          <a:prstGeom prst="rect">
            <a:avLst/>
          </a:prstGeom>
        </p:spPr>
      </p:pic>
      <p:sp>
        <p:nvSpPr>
          <p:cNvPr id="12" name="TextBox 11">
            <a:extLst>
              <a:ext uri="{FF2B5EF4-FFF2-40B4-BE49-F238E27FC236}">
                <a16:creationId xmlns:a16="http://schemas.microsoft.com/office/drawing/2014/main" id="{03CEAF28-F3C6-F330-0962-75740323AD63}"/>
              </a:ext>
            </a:extLst>
          </p:cNvPr>
          <p:cNvSpPr txBox="1"/>
          <p:nvPr/>
        </p:nvSpPr>
        <p:spPr>
          <a:xfrm>
            <a:off x="1610597" y="4501132"/>
            <a:ext cx="1935145" cy="307777"/>
          </a:xfrm>
          <a:prstGeom prst="rect">
            <a:avLst/>
          </a:prstGeom>
          <a:noFill/>
        </p:spPr>
        <p:txBody>
          <a:bodyPr wrap="none" rtlCol="0">
            <a:spAutoFit/>
          </a:bodyPr>
          <a:lstStyle/>
          <a:p>
            <a:r>
              <a:rPr lang="en-US" dirty="0"/>
              <a:t>Anderson, et. al. 2017</a:t>
            </a:r>
          </a:p>
        </p:txBody>
      </p:sp>
      <p:pic>
        <p:nvPicPr>
          <p:cNvPr id="14" name="Picture 13" descr="A diagram of a work flow&#10;&#10;AI-generated content may be incorrect.">
            <a:extLst>
              <a:ext uri="{FF2B5EF4-FFF2-40B4-BE49-F238E27FC236}">
                <a16:creationId xmlns:a16="http://schemas.microsoft.com/office/drawing/2014/main" id="{71FD7CD1-03ED-B79D-8407-A060C62FEBC2}"/>
              </a:ext>
            </a:extLst>
          </p:cNvPr>
          <p:cNvPicPr>
            <a:picLocks noChangeAspect="1"/>
          </p:cNvPicPr>
          <p:nvPr/>
        </p:nvPicPr>
        <p:blipFill>
          <a:blip r:embed="rId3"/>
          <a:stretch>
            <a:fillRect/>
          </a:stretch>
        </p:blipFill>
        <p:spPr>
          <a:xfrm>
            <a:off x="4422700" y="1607675"/>
            <a:ext cx="4536619" cy="2779234"/>
          </a:xfrm>
          <a:prstGeom prst="rect">
            <a:avLst/>
          </a:prstGeom>
        </p:spPr>
      </p:pic>
      <p:sp>
        <p:nvSpPr>
          <p:cNvPr id="16" name="TextBox 15">
            <a:extLst>
              <a:ext uri="{FF2B5EF4-FFF2-40B4-BE49-F238E27FC236}">
                <a16:creationId xmlns:a16="http://schemas.microsoft.com/office/drawing/2014/main" id="{0024C608-4A66-B184-E706-98C5E07B6C05}"/>
              </a:ext>
            </a:extLst>
          </p:cNvPr>
          <p:cNvSpPr txBox="1"/>
          <p:nvPr/>
        </p:nvSpPr>
        <p:spPr>
          <a:xfrm>
            <a:off x="5610237" y="4501131"/>
            <a:ext cx="1835759" cy="307777"/>
          </a:xfrm>
          <a:prstGeom prst="rect">
            <a:avLst/>
          </a:prstGeom>
          <a:noFill/>
        </p:spPr>
        <p:txBody>
          <a:bodyPr wrap="none" rtlCol="0">
            <a:spAutoFit/>
          </a:bodyPr>
          <a:lstStyle/>
          <a:p>
            <a:r>
              <a:rPr lang="en-US" dirty="0"/>
              <a:t>Hokamp, et. al. 2017</a:t>
            </a:r>
          </a:p>
        </p:txBody>
      </p:sp>
      <p:cxnSp>
        <p:nvCxnSpPr>
          <p:cNvPr id="17" name="Straight Connector 16">
            <a:extLst>
              <a:ext uri="{FF2B5EF4-FFF2-40B4-BE49-F238E27FC236}">
                <a16:creationId xmlns:a16="http://schemas.microsoft.com/office/drawing/2014/main" id="{3BF256CE-CD5A-21D5-1C77-F8F0D75F8E30}"/>
              </a:ext>
            </a:extLst>
          </p:cNvPr>
          <p:cNvCxnSpPr/>
          <p:nvPr/>
        </p:nvCxnSpPr>
        <p:spPr>
          <a:xfrm>
            <a:off x="4429789" y="1017725"/>
            <a:ext cx="0" cy="395122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Google Shape;1771;p83">
            <a:extLst>
              <a:ext uri="{FF2B5EF4-FFF2-40B4-BE49-F238E27FC236}">
                <a16:creationId xmlns:a16="http://schemas.microsoft.com/office/drawing/2014/main" id="{3E38DB61-6700-FC2D-66D7-BD76BF632EB6}"/>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5" name="Google Shape;1772;p83">
            <a:extLst>
              <a:ext uri="{FF2B5EF4-FFF2-40B4-BE49-F238E27FC236}">
                <a16:creationId xmlns:a16="http://schemas.microsoft.com/office/drawing/2014/main" id="{9A295F9D-D865-1FBD-330A-7F7986EDF06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2689418D-58F0-C77B-9AB5-322C39F7EBBB}"/>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69A1E56F-17BE-BD57-2A38-1498342B1582}"/>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3983348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1836;p85">
            <a:extLst>
              <a:ext uri="{FF2B5EF4-FFF2-40B4-BE49-F238E27FC236}">
                <a16:creationId xmlns:a16="http://schemas.microsoft.com/office/drawing/2014/main" id="{39A8DB7E-1D40-5958-824C-2426DF6A9627}"/>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Constrained Beam Search for Creative Tasks</a:t>
            </a:r>
            <a:endParaRPr lang="en-US" sz="2400" dirty="0"/>
          </a:p>
        </p:txBody>
      </p:sp>
      <p:pic>
        <p:nvPicPr>
          <p:cNvPr id="13" name="Google Shape;2107;p99">
            <a:extLst>
              <a:ext uri="{FF2B5EF4-FFF2-40B4-BE49-F238E27FC236}">
                <a16:creationId xmlns:a16="http://schemas.microsoft.com/office/drawing/2014/main" id="{FF86A21C-DF4E-44E0-98BE-8520A620CCA8}"/>
              </a:ext>
            </a:extLst>
          </p:cNvPr>
          <p:cNvPicPr preferRelativeResize="0"/>
          <p:nvPr/>
        </p:nvPicPr>
        <p:blipFill>
          <a:blip r:embed="rId2">
            <a:alphaModFix/>
          </a:blip>
          <a:stretch>
            <a:fillRect/>
          </a:stretch>
        </p:blipFill>
        <p:spPr>
          <a:xfrm>
            <a:off x="443400" y="1138694"/>
            <a:ext cx="4439601" cy="2288725"/>
          </a:xfrm>
          <a:prstGeom prst="rect">
            <a:avLst/>
          </a:prstGeom>
          <a:noFill/>
          <a:ln>
            <a:noFill/>
          </a:ln>
        </p:spPr>
      </p:pic>
      <p:pic>
        <p:nvPicPr>
          <p:cNvPr id="16" name="Google Shape;2257;p111">
            <a:extLst>
              <a:ext uri="{FF2B5EF4-FFF2-40B4-BE49-F238E27FC236}">
                <a16:creationId xmlns:a16="http://schemas.microsoft.com/office/drawing/2014/main" id="{BDC1D379-326B-FCC4-EF7F-0632685EABEB}"/>
              </a:ext>
            </a:extLst>
          </p:cNvPr>
          <p:cNvPicPr preferRelativeResize="0"/>
          <p:nvPr/>
        </p:nvPicPr>
        <p:blipFill>
          <a:blip r:embed="rId3">
            <a:alphaModFix/>
          </a:blip>
          <a:stretch>
            <a:fillRect/>
          </a:stretch>
        </p:blipFill>
        <p:spPr>
          <a:xfrm>
            <a:off x="5285778" y="1291190"/>
            <a:ext cx="3334596" cy="3350142"/>
          </a:xfrm>
          <a:prstGeom prst="rect">
            <a:avLst/>
          </a:prstGeom>
          <a:noFill/>
          <a:ln>
            <a:noFill/>
          </a:ln>
        </p:spPr>
      </p:pic>
      <p:cxnSp>
        <p:nvCxnSpPr>
          <p:cNvPr id="18" name="Straight Connector 17">
            <a:extLst>
              <a:ext uri="{FF2B5EF4-FFF2-40B4-BE49-F238E27FC236}">
                <a16:creationId xmlns:a16="http://schemas.microsoft.com/office/drawing/2014/main" id="{FCE17939-E0E5-22FC-9C0A-2F50AA620524}"/>
              </a:ext>
            </a:extLst>
          </p:cNvPr>
          <p:cNvCxnSpPr/>
          <p:nvPr/>
        </p:nvCxnSpPr>
        <p:spPr>
          <a:xfrm>
            <a:off x="5061098" y="1017725"/>
            <a:ext cx="0" cy="395122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9" name="Google Shape;1877;p85">
            <a:extLst>
              <a:ext uri="{FF2B5EF4-FFF2-40B4-BE49-F238E27FC236}">
                <a16:creationId xmlns:a16="http://schemas.microsoft.com/office/drawing/2014/main" id="{BB052E71-970B-1497-915F-9D4D5A684B93}"/>
              </a:ext>
            </a:extLst>
          </p:cNvPr>
          <p:cNvSpPr/>
          <p:nvPr/>
        </p:nvSpPr>
        <p:spPr>
          <a:xfrm>
            <a:off x="1708299" y="3913375"/>
            <a:ext cx="1729752" cy="785100"/>
          </a:xfrm>
          <a:prstGeom prst="wedgeRectCallout">
            <a:avLst>
              <a:gd name="adj1" fmla="val -34518"/>
              <a:gd name="adj2" fmla="val -116698"/>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Not yet human level creative.</a:t>
            </a:r>
            <a:endParaRPr dirty="0"/>
          </a:p>
        </p:txBody>
      </p:sp>
      <p:sp>
        <p:nvSpPr>
          <p:cNvPr id="2" name="Google Shape;1771;p83">
            <a:extLst>
              <a:ext uri="{FF2B5EF4-FFF2-40B4-BE49-F238E27FC236}">
                <a16:creationId xmlns:a16="http://schemas.microsoft.com/office/drawing/2014/main" id="{B99C1FB1-FBC5-25E7-85D4-9804E852BF52}"/>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3" name="Google Shape;1772;p83">
            <a:extLst>
              <a:ext uri="{FF2B5EF4-FFF2-40B4-BE49-F238E27FC236}">
                <a16:creationId xmlns:a16="http://schemas.microsoft.com/office/drawing/2014/main" id="{B0A88FA0-A3F9-AEA5-5D8B-48B1968CAD54}"/>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AD621850-07D2-7760-D6E5-F78C11E37D92}"/>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9A77BC1F-3269-DCDF-0FF1-C70A63BF25D9}"/>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312455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F1A0-5F27-4C3E-F54D-D21F5CA41458}"/>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AE597902-AD27-85FD-60D9-A3C03F07F807}"/>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Search</a:t>
            </a:r>
            <a:endParaRPr lang="en-US" sz="2400" dirty="0"/>
          </a:p>
        </p:txBody>
      </p:sp>
      <p:grpSp>
        <p:nvGrpSpPr>
          <p:cNvPr id="20" name="Google Shape;1856;p85">
            <a:extLst>
              <a:ext uri="{FF2B5EF4-FFF2-40B4-BE49-F238E27FC236}">
                <a16:creationId xmlns:a16="http://schemas.microsoft.com/office/drawing/2014/main" id="{F3F9FB55-D06C-7456-2495-EA1702D43F8B}"/>
              </a:ext>
            </a:extLst>
          </p:cNvPr>
          <p:cNvGrpSpPr/>
          <p:nvPr/>
        </p:nvGrpSpPr>
        <p:grpSpPr>
          <a:xfrm>
            <a:off x="284195" y="3553601"/>
            <a:ext cx="731621" cy="731621"/>
            <a:chOff x="1526926" y="2217850"/>
            <a:chExt cx="846000" cy="846000"/>
          </a:xfrm>
        </p:grpSpPr>
        <p:sp>
          <p:nvSpPr>
            <p:cNvPr id="23" name="Google Shape;1852;p85">
              <a:extLst>
                <a:ext uri="{FF2B5EF4-FFF2-40B4-BE49-F238E27FC236}">
                  <a16:creationId xmlns:a16="http://schemas.microsoft.com/office/drawing/2014/main" id="{6383AA2E-B983-DCA7-F8B6-58910CBCEF6B}"/>
                </a:ext>
              </a:extLst>
            </p:cNvPr>
            <p:cNvSpPr/>
            <p:nvPr/>
          </p:nvSpPr>
          <p:spPr>
            <a:xfrm>
              <a:off x="1526926" y="2217850"/>
              <a:ext cx="846000" cy="846000"/>
            </a:xfrm>
            <a:prstGeom prst="ellipse">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p:pic>
          <p:nvPicPr>
            <p:cNvPr id="24" name="Google Shape;1857;p85">
              <a:extLst>
                <a:ext uri="{FF2B5EF4-FFF2-40B4-BE49-F238E27FC236}">
                  <a16:creationId xmlns:a16="http://schemas.microsoft.com/office/drawing/2014/main" id="{51FF83BF-0FA7-81A2-0938-04E16C4C91A6}"/>
                </a:ext>
              </a:extLst>
            </p:cNvPr>
            <p:cNvPicPr preferRelativeResize="0"/>
            <p:nvPr/>
          </p:nvPicPr>
          <p:blipFill>
            <a:blip r:embed="rId2">
              <a:alphaModFix/>
            </a:blip>
            <a:stretch>
              <a:fillRect/>
            </a:stretch>
          </p:blipFill>
          <p:spPr>
            <a:xfrm>
              <a:off x="1793060" y="2520298"/>
              <a:ext cx="303052" cy="259750"/>
            </a:xfrm>
            <a:prstGeom prst="rect">
              <a:avLst/>
            </a:prstGeom>
            <a:noFill/>
            <a:ln>
              <a:noFill/>
            </a:ln>
          </p:spPr>
        </p:pic>
      </p:grpSp>
      <p:sp>
        <p:nvSpPr>
          <p:cNvPr id="26" name="Google Shape;1870;p85">
            <a:extLst>
              <a:ext uri="{FF2B5EF4-FFF2-40B4-BE49-F238E27FC236}">
                <a16:creationId xmlns:a16="http://schemas.microsoft.com/office/drawing/2014/main" id="{C98775E6-7004-7D82-D7B9-6574A3CC084A}"/>
              </a:ext>
            </a:extLst>
          </p:cNvPr>
          <p:cNvSpPr/>
          <p:nvPr/>
        </p:nvSpPr>
        <p:spPr>
          <a:xfrm>
            <a:off x="3770802" y="3553601"/>
            <a:ext cx="731621" cy="731621"/>
          </a:xfrm>
          <a:prstGeom prst="ellipse">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0E7517F-A1C9-0F92-AA95-826737E27D56}"/>
                  </a:ext>
                </a:extLst>
              </p:cNvPr>
              <p:cNvSpPr txBox="1"/>
              <p:nvPr/>
            </p:nvSpPr>
            <p:spPr>
              <a:xfrm>
                <a:off x="3952314" y="3660625"/>
                <a:ext cx="3685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𝑛</m:t>
                          </m:r>
                        </m:sub>
                      </m:sSub>
                    </m:oMath>
                  </m:oMathPara>
                </a14:m>
                <a:endParaRPr lang="en-US" sz="1800" dirty="0"/>
              </a:p>
            </p:txBody>
          </p:sp>
        </mc:Choice>
        <mc:Fallback xmlns="">
          <p:sp>
            <p:nvSpPr>
              <p:cNvPr id="34" name="TextBox 33">
                <a:extLst>
                  <a:ext uri="{FF2B5EF4-FFF2-40B4-BE49-F238E27FC236}">
                    <a16:creationId xmlns:a16="http://schemas.microsoft.com/office/drawing/2014/main" id="{B0E7517F-A1C9-0F92-AA95-826737E27D56}"/>
                  </a:ext>
                </a:extLst>
              </p:cNvPr>
              <p:cNvSpPr txBox="1">
                <a:spLocks noRot="1" noChangeAspect="1" noMove="1" noResize="1" noEditPoints="1" noAdjustHandles="1" noChangeArrowheads="1" noChangeShapeType="1" noTextEdit="1"/>
              </p:cNvSpPr>
              <p:nvPr/>
            </p:nvSpPr>
            <p:spPr>
              <a:xfrm>
                <a:off x="3952314" y="3660625"/>
                <a:ext cx="368596" cy="369332"/>
              </a:xfrm>
              <a:prstGeom prst="rect">
                <a:avLst/>
              </a:prstGeom>
              <a:blipFill>
                <a:blip r:embed="rId3"/>
                <a:stretch>
                  <a:fillRect/>
                </a:stretch>
              </a:blipFill>
            </p:spPr>
            <p:txBody>
              <a:bodyPr/>
              <a:lstStyle/>
              <a:p>
                <a:r>
                  <a:rPr lang="en-US">
                    <a:noFill/>
                  </a:rPr>
                  <a:t> </a:t>
                </a:r>
              </a:p>
            </p:txBody>
          </p:sp>
        </mc:Fallback>
      </mc:AlternateContent>
      <p:sp>
        <p:nvSpPr>
          <p:cNvPr id="2" name="Google Shape;1771;p83">
            <a:extLst>
              <a:ext uri="{FF2B5EF4-FFF2-40B4-BE49-F238E27FC236}">
                <a16:creationId xmlns:a16="http://schemas.microsoft.com/office/drawing/2014/main" id="{63E168B7-4177-C206-83FC-E783EBA10A20}"/>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4" name="Google Shape;1772;p83">
            <a:extLst>
              <a:ext uri="{FF2B5EF4-FFF2-40B4-BE49-F238E27FC236}">
                <a16:creationId xmlns:a16="http://schemas.microsoft.com/office/drawing/2014/main" id="{483BD5F1-D9F3-9408-ABF3-D8BA886A7EC6}"/>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9DDE7BA3-3721-51E6-F799-A077EF642B4F}"/>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FF97C572-02BA-6942-894F-8C177CB7B07B}"/>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3850666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3486F-BB44-BF35-4E12-CAA01A955123}"/>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A66023AB-F79A-314A-9345-9F5B4B7DB1E1}"/>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Search</a:t>
            </a:r>
            <a:endParaRPr lang="en-US" sz="2400" dirty="0"/>
          </a:p>
        </p:txBody>
      </p:sp>
      <p:grpSp>
        <p:nvGrpSpPr>
          <p:cNvPr id="12" name="Google Shape;1856;p85">
            <a:extLst>
              <a:ext uri="{FF2B5EF4-FFF2-40B4-BE49-F238E27FC236}">
                <a16:creationId xmlns:a16="http://schemas.microsoft.com/office/drawing/2014/main" id="{50F5B479-38F8-1B07-9D84-42EC108FBC65}"/>
              </a:ext>
            </a:extLst>
          </p:cNvPr>
          <p:cNvGrpSpPr/>
          <p:nvPr/>
        </p:nvGrpSpPr>
        <p:grpSpPr>
          <a:xfrm>
            <a:off x="284195" y="3553601"/>
            <a:ext cx="731621" cy="731621"/>
            <a:chOff x="1526926" y="2217850"/>
            <a:chExt cx="846000" cy="846000"/>
          </a:xfrm>
        </p:grpSpPr>
        <p:sp>
          <p:nvSpPr>
            <p:cNvPr id="13" name="Google Shape;1852;p85">
              <a:extLst>
                <a:ext uri="{FF2B5EF4-FFF2-40B4-BE49-F238E27FC236}">
                  <a16:creationId xmlns:a16="http://schemas.microsoft.com/office/drawing/2014/main" id="{88FC34DF-B194-683A-22D5-9EE62D1ED5A3}"/>
                </a:ext>
              </a:extLst>
            </p:cNvPr>
            <p:cNvSpPr/>
            <p:nvPr/>
          </p:nvSpPr>
          <p:spPr>
            <a:xfrm>
              <a:off x="1526926" y="2217850"/>
              <a:ext cx="846000" cy="846000"/>
            </a:xfrm>
            <a:prstGeom prst="ellipse">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p:pic>
          <p:nvPicPr>
            <p:cNvPr id="14" name="Google Shape;1857;p85">
              <a:extLst>
                <a:ext uri="{FF2B5EF4-FFF2-40B4-BE49-F238E27FC236}">
                  <a16:creationId xmlns:a16="http://schemas.microsoft.com/office/drawing/2014/main" id="{CE0FC5C0-3710-67B9-8AB9-5C20A4D052AB}"/>
                </a:ext>
              </a:extLst>
            </p:cNvPr>
            <p:cNvPicPr preferRelativeResize="0"/>
            <p:nvPr/>
          </p:nvPicPr>
          <p:blipFill>
            <a:blip r:embed="rId2">
              <a:alphaModFix/>
            </a:blip>
            <a:stretch>
              <a:fillRect/>
            </a:stretch>
          </p:blipFill>
          <p:spPr>
            <a:xfrm>
              <a:off x="1793060" y="2520298"/>
              <a:ext cx="303052" cy="259750"/>
            </a:xfrm>
            <a:prstGeom prst="rect">
              <a:avLst/>
            </a:prstGeom>
            <a:noFill/>
            <a:ln>
              <a:noFill/>
            </a:ln>
          </p:spPr>
        </p:pic>
      </p:grpSp>
      <p:sp>
        <p:nvSpPr>
          <p:cNvPr id="16" name="Google Shape;1870;p85">
            <a:extLst>
              <a:ext uri="{FF2B5EF4-FFF2-40B4-BE49-F238E27FC236}">
                <a16:creationId xmlns:a16="http://schemas.microsoft.com/office/drawing/2014/main" id="{CF9C1340-D741-845D-340A-00E5DF3BEC07}"/>
              </a:ext>
            </a:extLst>
          </p:cNvPr>
          <p:cNvSpPr/>
          <p:nvPr/>
        </p:nvSpPr>
        <p:spPr>
          <a:xfrm>
            <a:off x="3770802" y="3553601"/>
            <a:ext cx="731621" cy="731621"/>
          </a:xfrm>
          <a:prstGeom prst="ellipse">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p:grpSp>
        <p:nvGrpSpPr>
          <p:cNvPr id="29" name="Group 28">
            <a:extLst>
              <a:ext uri="{FF2B5EF4-FFF2-40B4-BE49-F238E27FC236}">
                <a16:creationId xmlns:a16="http://schemas.microsoft.com/office/drawing/2014/main" id="{4CF4EB32-FB4A-0D57-5641-1F257C167B9D}"/>
              </a:ext>
            </a:extLst>
          </p:cNvPr>
          <p:cNvGrpSpPr/>
          <p:nvPr/>
        </p:nvGrpSpPr>
        <p:grpSpPr>
          <a:xfrm>
            <a:off x="1968392" y="2036603"/>
            <a:ext cx="731621" cy="731621"/>
            <a:chOff x="3147371" y="3109854"/>
            <a:chExt cx="731621" cy="731621"/>
          </a:xfrm>
          <a:solidFill>
            <a:schemeClr val="bg1"/>
          </a:solidFill>
        </p:grpSpPr>
        <p:sp>
          <p:nvSpPr>
            <p:cNvPr id="30" name="Google Shape;1852;p85">
              <a:extLst>
                <a:ext uri="{FF2B5EF4-FFF2-40B4-BE49-F238E27FC236}">
                  <a16:creationId xmlns:a16="http://schemas.microsoft.com/office/drawing/2014/main" id="{C54CA5DB-5585-18F1-6283-23370B6D610F}"/>
                </a:ext>
              </a:extLst>
            </p:cNvPr>
            <p:cNvSpPr/>
            <p:nvPr/>
          </p:nvSpPr>
          <p:spPr>
            <a:xfrm>
              <a:off x="3147371" y="3109854"/>
              <a:ext cx="731621" cy="731621"/>
            </a:xfrm>
            <a:prstGeom prst="ellipse">
              <a:avLst/>
            </a:prstGeom>
            <a:grpFill/>
            <a:ln w="9525" cap="flat" cmpd="sng">
              <a:solidFill>
                <a:schemeClr val="dk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6A58397-46D0-7183-5A7C-9054465EE160}"/>
                    </a:ext>
                  </a:extLst>
                </p:cNvPr>
                <p:cNvSpPr txBox="1"/>
                <p:nvPr/>
              </p:nvSpPr>
              <p:spPr>
                <a:xfrm>
                  <a:off x="3328883" y="3290998"/>
                  <a:ext cx="368596" cy="369332"/>
                </a:xfrm>
                <a:prstGeom prst="rect">
                  <a:avLst/>
                </a:prstGeom>
                <a:grp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3</m:t>
                            </m:r>
                          </m:sub>
                        </m:sSub>
                        <m:r>
                          <a:rPr lang="en-US" sz="1800" i="1" dirty="0" smtClean="0">
                            <a:latin typeface="Cambria Math" panose="02040503050406030204" pitchFamily="18" charset="0"/>
                          </a:rPr>
                          <m:t> </m:t>
                        </m:r>
                      </m:oMath>
                    </m:oMathPara>
                  </a14:m>
                  <a:endParaRPr lang="en-US" sz="1800" dirty="0"/>
                </a:p>
              </p:txBody>
            </p:sp>
          </mc:Choice>
          <mc:Fallback xmlns="">
            <p:sp>
              <p:nvSpPr>
                <p:cNvPr id="31" name="TextBox 30">
                  <a:extLst>
                    <a:ext uri="{FF2B5EF4-FFF2-40B4-BE49-F238E27FC236}">
                      <a16:creationId xmlns:a16="http://schemas.microsoft.com/office/drawing/2014/main" id="{76A58397-46D0-7183-5A7C-9054465EE160}"/>
                    </a:ext>
                  </a:extLst>
                </p:cNvPr>
                <p:cNvSpPr txBox="1">
                  <a:spLocks noRot="1" noChangeAspect="1" noMove="1" noResize="1" noEditPoints="1" noAdjustHandles="1" noChangeArrowheads="1" noChangeShapeType="1" noTextEdit="1"/>
                </p:cNvSpPr>
                <p:nvPr/>
              </p:nvSpPr>
              <p:spPr>
                <a:xfrm>
                  <a:off x="3328883" y="3290998"/>
                  <a:ext cx="368596" cy="369332"/>
                </a:xfrm>
                <a:prstGeom prst="rect">
                  <a:avLst/>
                </a:prstGeom>
                <a:blipFill>
                  <a:blip r:embed="rId3"/>
                  <a:stretch>
                    <a:fillRect r="-26667" b="-20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19CEA32-074D-8430-66A5-E9486E3E17DE}"/>
                  </a:ext>
                </a:extLst>
              </p:cNvPr>
              <p:cNvSpPr txBox="1"/>
              <p:nvPr/>
            </p:nvSpPr>
            <p:spPr>
              <a:xfrm>
                <a:off x="3952314" y="3660625"/>
                <a:ext cx="3685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𝑛</m:t>
                          </m:r>
                        </m:sub>
                      </m:sSub>
                    </m:oMath>
                  </m:oMathPara>
                </a14:m>
                <a:endParaRPr lang="en-US" sz="1800" dirty="0"/>
              </a:p>
            </p:txBody>
          </p:sp>
        </mc:Choice>
        <mc:Fallback xmlns="">
          <p:sp>
            <p:nvSpPr>
              <p:cNvPr id="52" name="TextBox 51">
                <a:extLst>
                  <a:ext uri="{FF2B5EF4-FFF2-40B4-BE49-F238E27FC236}">
                    <a16:creationId xmlns:a16="http://schemas.microsoft.com/office/drawing/2014/main" id="{819CEA32-074D-8430-66A5-E9486E3E17DE}"/>
                  </a:ext>
                </a:extLst>
              </p:cNvPr>
              <p:cNvSpPr txBox="1">
                <a:spLocks noRot="1" noChangeAspect="1" noMove="1" noResize="1" noEditPoints="1" noAdjustHandles="1" noChangeArrowheads="1" noChangeShapeType="1" noTextEdit="1"/>
              </p:cNvSpPr>
              <p:nvPr/>
            </p:nvSpPr>
            <p:spPr>
              <a:xfrm>
                <a:off x="3952314" y="3660625"/>
                <a:ext cx="368596" cy="369332"/>
              </a:xfrm>
              <a:prstGeom prst="rect">
                <a:avLst/>
              </a:prstGeom>
              <a:blipFill>
                <a:blip r:embed="rId4"/>
                <a:stretch>
                  <a:fillRect/>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E8126FC-D90D-F1CF-7326-BE4843494D03}"/>
              </a:ext>
            </a:extLst>
          </p:cNvPr>
          <p:cNvGrpSpPr/>
          <p:nvPr/>
        </p:nvGrpSpPr>
        <p:grpSpPr>
          <a:xfrm>
            <a:off x="1200819" y="2647908"/>
            <a:ext cx="731621" cy="731621"/>
            <a:chOff x="3147371" y="3109854"/>
            <a:chExt cx="731621" cy="731621"/>
          </a:xfrm>
          <a:solidFill>
            <a:schemeClr val="bg1"/>
          </a:solidFill>
        </p:grpSpPr>
        <p:sp>
          <p:nvSpPr>
            <p:cNvPr id="6" name="Google Shape;1852;p85">
              <a:extLst>
                <a:ext uri="{FF2B5EF4-FFF2-40B4-BE49-F238E27FC236}">
                  <a16:creationId xmlns:a16="http://schemas.microsoft.com/office/drawing/2014/main" id="{F462FE07-30CE-1A16-9EAF-639479C737C3}"/>
                </a:ext>
              </a:extLst>
            </p:cNvPr>
            <p:cNvSpPr/>
            <p:nvPr/>
          </p:nvSpPr>
          <p:spPr>
            <a:xfrm>
              <a:off x="3147371" y="3109854"/>
              <a:ext cx="731621" cy="731621"/>
            </a:xfrm>
            <a:prstGeom prst="ellipse">
              <a:avLst/>
            </a:prstGeom>
            <a:grpFill/>
            <a:ln w="9525" cap="flat" cmpd="sng">
              <a:solidFill>
                <a:schemeClr val="dk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8B3B9F6-D290-EC11-13A8-46EB39839296}"/>
                    </a:ext>
                  </a:extLst>
                </p:cNvPr>
                <p:cNvSpPr txBox="1"/>
                <p:nvPr/>
              </p:nvSpPr>
              <p:spPr>
                <a:xfrm>
                  <a:off x="3328883" y="3290998"/>
                  <a:ext cx="368596" cy="369332"/>
                </a:xfrm>
                <a:prstGeom prst="rect">
                  <a:avLst/>
                </a:prstGeom>
                <a:grp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2</m:t>
                            </m:r>
                          </m:sub>
                        </m:sSub>
                        <m:r>
                          <a:rPr lang="en-US" sz="1800" i="1" dirty="0" smtClean="0">
                            <a:latin typeface="Cambria Math" panose="02040503050406030204" pitchFamily="18" charset="0"/>
                          </a:rPr>
                          <m:t> </m:t>
                        </m:r>
                      </m:oMath>
                    </m:oMathPara>
                  </a14:m>
                  <a:endParaRPr lang="en-US" sz="1800" dirty="0"/>
                </a:p>
              </p:txBody>
            </p:sp>
          </mc:Choice>
          <mc:Fallback xmlns="">
            <p:sp>
              <p:nvSpPr>
                <p:cNvPr id="7" name="TextBox 6">
                  <a:extLst>
                    <a:ext uri="{FF2B5EF4-FFF2-40B4-BE49-F238E27FC236}">
                      <a16:creationId xmlns:a16="http://schemas.microsoft.com/office/drawing/2014/main" id="{58B3B9F6-D290-EC11-13A8-46EB39839296}"/>
                    </a:ext>
                  </a:extLst>
                </p:cNvPr>
                <p:cNvSpPr txBox="1">
                  <a:spLocks noRot="1" noChangeAspect="1" noMove="1" noResize="1" noEditPoints="1" noAdjustHandles="1" noChangeArrowheads="1" noChangeShapeType="1" noTextEdit="1"/>
                </p:cNvSpPr>
                <p:nvPr/>
              </p:nvSpPr>
              <p:spPr>
                <a:xfrm>
                  <a:off x="3328883" y="3290998"/>
                  <a:ext cx="368596" cy="369332"/>
                </a:xfrm>
                <a:prstGeom prst="rect">
                  <a:avLst/>
                </a:prstGeom>
                <a:blipFill>
                  <a:blip r:embed="rId5"/>
                  <a:stretch>
                    <a:fillRect r="-30000" b="-16129"/>
                  </a:stretch>
                </a:blipFill>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CE48AD7B-08C3-31D8-CF3C-9F695FFBFC37}"/>
              </a:ext>
            </a:extLst>
          </p:cNvPr>
          <p:cNvGrpSpPr/>
          <p:nvPr/>
        </p:nvGrpSpPr>
        <p:grpSpPr>
          <a:xfrm>
            <a:off x="2824829" y="2658017"/>
            <a:ext cx="731621" cy="731621"/>
            <a:chOff x="3147371" y="3109854"/>
            <a:chExt cx="731621" cy="731621"/>
          </a:xfrm>
          <a:solidFill>
            <a:schemeClr val="bg1"/>
          </a:solidFill>
        </p:grpSpPr>
        <p:sp>
          <p:nvSpPr>
            <p:cNvPr id="18" name="Google Shape;1852;p85">
              <a:extLst>
                <a:ext uri="{FF2B5EF4-FFF2-40B4-BE49-F238E27FC236}">
                  <a16:creationId xmlns:a16="http://schemas.microsoft.com/office/drawing/2014/main" id="{8CB572AB-6A35-CEC6-1A2C-DD32931C80FB}"/>
                </a:ext>
              </a:extLst>
            </p:cNvPr>
            <p:cNvSpPr/>
            <p:nvPr/>
          </p:nvSpPr>
          <p:spPr>
            <a:xfrm>
              <a:off x="3147371" y="3109854"/>
              <a:ext cx="731621" cy="731621"/>
            </a:xfrm>
            <a:prstGeom prst="ellipse">
              <a:avLst/>
            </a:prstGeom>
            <a:grpFill/>
            <a:ln w="9525" cap="flat" cmpd="sng">
              <a:solidFill>
                <a:schemeClr val="dk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EEF69DC-7D68-7BF7-D14D-4496775F0F33}"/>
                    </a:ext>
                  </a:extLst>
                </p:cNvPr>
                <p:cNvSpPr txBox="1"/>
                <p:nvPr/>
              </p:nvSpPr>
              <p:spPr>
                <a:xfrm>
                  <a:off x="3328883" y="3290998"/>
                  <a:ext cx="368596" cy="369332"/>
                </a:xfrm>
                <a:prstGeom prst="rect">
                  <a:avLst/>
                </a:prstGeom>
                <a:grp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m:t>
                            </m:r>
                          </m:sub>
                        </m:sSub>
                        <m:r>
                          <a:rPr lang="en-US" sz="1800" i="1" dirty="0" smtClean="0">
                            <a:latin typeface="Cambria Math" panose="02040503050406030204" pitchFamily="18" charset="0"/>
                          </a:rPr>
                          <m:t> </m:t>
                        </m:r>
                      </m:oMath>
                    </m:oMathPara>
                  </a14:m>
                  <a:endParaRPr lang="en-US" sz="1800" dirty="0"/>
                </a:p>
              </p:txBody>
            </p:sp>
          </mc:Choice>
          <mc:Fallback xmlns="">
            <p:sp>
              <p:nvSpPr>
                <p:cNvPr id="19" name="TextBox 18">
                  <a:extLst>
                    <a:ext uri="{FF2B5EF4-FFF2-40B4-BE49-F238E27FC236}">
                      <a16:creationId xmlns:a16="http://schemas.microsoft.com/office/drawing/2014/main" id="{4EEF69DC-7D68-7BF7-D14D-4496775F0F33}"/>
                    </a:ext>
                  </a:extLst>
                </p:cNvPr>
                <p:cNvSpPr txBox="1">
                  <a:spLocks noRot="1" noChangeAspect="1" noMove="1" noResize="1" noEditPoints="1" noAdjustHandles="1" noChangeArrowheads="1" noChangeShapeType="1" noTextEdit="1"/>
                </p:cNvSpPr>
                <p:nvPr/>
              </p:nvSpPr>
              <p:spPr>
                <a:xfrm>
                  <a:off x="3328883" y="3290998"/>
                  <a:ext cx="368596" cy="369332"/>
                </a:xfrm>
                <a:prstGeom prst="rect">
                  <a:avLst/>
                </a:prstGeom>
                <a:blipFill>
                  <a:blip r:embed="rId6"/>
                  <a:stretch>
                    <a:fillRect r="-36667" b="-20000"/>
                  </a:stretch>
                </a:blipFill>
              </p:spPr>
              <p:txBody>
                <a:bodyPr/>
                <a:lstStyle/>
                <a:p>
                  <a:r>
                    <a:rPr lang="en-US">
                      <a:noFill/>
                    </a:rPr>
                    <a:t> </a:t>
                  </a:r>
                </a:p>
              </p:txBody>
            </p:sp>
          </mc:Fallback>
        </mc:AlternateContent>
      </p:grpSp>
      <p:cxnSp>
        <p:nvCxnSpPr>
          <p:cNvPr id="21" name="Straight Arrow Connector 20">
            <a:extLst>
              <a:ext uri="{FF2B5EF4-FFF2-40B4-BE49-F238E27FC236}">
                <a16:creationId xmlns:a16="http://schemas.microsoft.com/office/drawing/2014/main" id="{4F83114C-D06B-CA31-EC18-A42794E908BC}"/>
              </a:ext>
            </a:extLst>
          </p:cNvPr>
          <p:cNvCxnSpPr>
            <a:stCxn id="13" idx="7"/>
            <a:endCxn id="6" idx="3"/>
          </p:cNvCxnSpPr>
          <p:nvPr/>
        </p:nvCxnSpPr>
        <p:spPr>
          <a:xfrm flipV="1">
            <a:off x="908673" y="3272386"/>
            <a:ext cx="399289" cy="3883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90F99673-6C38-3EAB-AEB4-0264406D6DAF}"/>
              </a:ext>
            </a:extLst>
          </p:cNvPr>
          <p:cNvCxnSpPr>
            <a:cxnSpLocks/>
            <a:stCxn id="6" idx="7"/>
          </p:cNvCxnSpPr>
          <p:nvPr/>
        </p:nvCxnSpPr>
        <p:spPr>
          <a:xfrm flipV="1">
            <a:off x="1825297" y="2587079"/>
            <a:ext cx="143095" cy="167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012F9B30-AB7B-7499-0F6E-7D1CF3E01B3F}"/>
              </a:ext>
            </a:extLst>
          </p:cNvPr>
          <p:cNvCxnSpPr>
            <a:cxnSpLocks/>
            <a:stCxn id="30" idx="5"/>
          </p:cNvCxnSpPr>
          <p:nvPr/>
        </p:nvCxnSpPr>
        <p:spPr>
          <a:xfrm>
            <a:off x="2592870" y="2661081"/>
            <a:ext cx="224455" cy="1780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8E4E42-1801-B491-3655-FA54610DE40A}"/>
              </a:ext>
            </a:extLst>
          </p:cNvPr>
          <p:cNvCxnSpPr>
            <a:cxnSpLocks/>
            <a:stCxn id="18" idx="5"/>
            <a:endCxn id="16" idx="1"/>
          </p:cNvCxnSpPr>
          <p:nvPr/>
        </p:nvCxnSpPr>
        <p:spPr>
          <a:xfrm>
            <a:off x="3449307" y="3282495"/>
            <a:ext cx="428638" cy="3782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AA581F1E-0CEB-941C-96C6-10766C0508CC}"/>
              </a:ext>
            </a:extLst>
          </p:cNvPr>
          <p:cNvCxnSpPr>
            <a:cxnSpLocks/>
          </p:cNvCxnSpPr>
          <p:nvPr/>
        </p:nvCxnSpPr>
        <p:spPr>
          <a:xfrm>
            <a:off x="2095287" y="4357474"/>
            <a:ext cx="524874" cy="5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A6747C0-AA63-7613-0296-CFE8EF1D1363}"/>
                  </a:ext>
                </a:extLst>
              </p:cNvPr>
              <p:cNvSpPr txBox="1"/>
              <p:nvPr/>
            </p:nvSpPr>
            <p:spPr>
              <a:xfrm>
                <a:off x="2159190" y="3927474"/>
                <a:ext cx="382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𝑎</m:t>
                      </m:r>
                    </m:oMath>
                  </m:oMathPara>
                </a14:m>
                <a:endParaRPr lang="en-US" sz="1800" dirty="0"/>
              </a:p>
            </p:txBody>
          </p:sp>
        </mc:Choice>
        <mc:Fallback xmlns="">
          <p:sp>
            <p:nvSpPr>
              <p:cNvPr id="51" name="TextBox 50">
                <a:extLst>
                  <a:ext uri="{FF2B5EF4-FFF2-40B4-BE49-F238E27FC236}">
                    <a16:creationId xmlns:a16="http://schemas.microsoft.com/office/drawing/2014/main" id="{BA6747C0-AA63-7613-0296-CFE8EF1D1363}"/>
                  </a:ext>
                </a:extLst>
              </p:cNvPr>
              <p:cNvSpPr txBox="1">
                <a:spLocks noRot="1" noChangeAspect="1" noMove="1" noResize="1" noEditPoints="1" noAdjustHandles="1" noChangeArrowheads="1" noChangeShapeType="1" noTextEdit="1"/>
              </p:cNvSpPr>
              <p:nvPr/>
            </p:nvSpPr>
            <p:spPr>
              <a:xfrm>
                <a:off x="2159190" y="3927474"/>
                <a:ext cx="38266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C1644DF-F0B7-FA60-C7F7-FE4BD59BE9A9}"/>
                  </a:ext>
                </a:extLst>
              </p:cNvPr>
              <p:cNvSpPr txBox="1"/>
              <p:nvPr/>
            </p:nvSpPr>
            <p:spPr>
              <a:xfrm>
                <a:off x="4448984" y="3384896"/>
                <a:ext cx="4253952" cy="43973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R</m:t>
                      </m:r>
                      <m:r>
                        <a:rPr lang="en-US" sz="2000" i="1">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𝜷</m:t>
                      </m:r>
                      <m:r>
                        <a:rPr lang="en-US" altLang="zh-CN"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r>
                            <a:rPr lang="en-US" sz="2000" i="1">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e>
                      </m:d>
                    </m:oMath>
                  </m:oMathPara>
                </a14:m>
                <a:endParaRPr lang="en-US" sz="2000" b="0" dirty="0"/>
              </a:p>
            </p:txBody>
          </p:sp>
        </mc:Choice>
        <mc:Fallback xmlns="">
          <p:sp>
            <p:nvSpPr>
              <p:cNvPr id="23" name="TextBox 22">
                <a:extLst>
                  <a:ext uri="{FF2B5EF4-FFF2-40B4-BE49-F238E27FC236}">
                    <a16:creationId xmlns:a16="http://schemas.microsoft.com/office/drawing/2014/main" id="{6C1644DF-F0B7-FA60-C7F7-FE4BD59BE9A9}"/>
                  </a:ext>
                </a:extLst>
              </p:cNvPr>
              <p:cNvSpPr txBox="1">
                <a:spLocks noRot="1" noChangeAspect="1" noMove="1" noResize="1" noEditPoints="1" noAdjustHandles="1" noChangeArrowheads="1" noChangeShapeType="1" noTextEdit="1"/>
              </p:cNvSpPr>
              <p:nvPr/>
            </p:nvSpPr>
            <p:spPr>
              <a:xfrm>
                <a:off x="4448984" y="3384896"/>
                <a:ext cx="4253952" cy="439736"/>
              </a:xfrm>
              <a:prstGeom prst="rect">
                <a:avLst/>
              </a:prstGeom>
              <a:blipFill>
                <a:blip r:embed="rId8"/>
                <a:stretch>
                  <a:fillRect b="-1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Google Shape;1877;p85">
                <a:extLst>
                  <a:ext uri="{FF2B5EF4-FFF2-40B4-BE49-F238E27FC236}">
                    <a16:creationId xmlns:a16="http://schemas.microsoft.com/office/drawing/2014/main" id="{4827763B-F3C3-239F-C24B-FC0C6503882F}"/>
                  </a:ext>
                </a:extLst>
              </p:cNvPr>
              <p:cNvSpPr/>
              <p:nvPr/>
            </p:nvSpPr>
            <p:spPr>
              <a:xfrm>
                <a:off x="7318702" y="2217747"/>
                <a:ext cx="1513597" cy="1127693"/>
              </a:xfrm>
              <a:prstGeom prst="wedgeRectCallout">
                <a:avLst>
                  <a:gd name="adj1" fmla="val -72912"/>
                  <a:gd name="adj2" fmla="val 58588"/>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14:m>
                  <m:oMath xmlns:m="http://schemas.openxmlformats.org/officeDocument/2006/math">
                    <m:r>
                      <a:rPr lang="en-US" sz="1600" i="1" dirty="0" smtClean="0">
                        <a:latin typeface="Cambria Math" panose="02040503050406030204" pitchFamily="18" charset="0"/>
                      </a:rPr>
                      <m:t>h</m:t>
                    </m:r>
                  </m:oMath>
                </a14:m>
                <a:r>
                  <a:rPr lang="en-US" sz="1600" dirty="0"/>
                  <a:t> is the heuristics-driven value function</a:t>
                </a:r>
                <a:endParaRPr sz="1600" dirty="0"/>
              </a:p>
            </p:txBody>
          </p:sp>
        </mc:Choice>
        <mc:Fallback xmlns="">
          <p:sp>
            <p:nvSpPr>
              <p:cNvPr id="27" name="Google Shape;1877;p85">
                <a:extLst>
                  <a:ext uri="{FF2B5EF4-FFF2-40B4-BE49-F238E27FC236}">
                    <a16:creationId xmlns:a16="http://schemas.microsoft.com/office/drawing/2014/main" id="{4827763B-F3C3-239F-C24B-FC0C6503882F}"/>
                  </a:ext>
                </a:extLst>
              </p:cNvPr>
              <p:cNvSpPr>
                <a:spLocks noRot="1" noChangeAspect="1" noMove="1" noResize="1" noEditPoints="1" noAdjustHandles="1" noChangeArrowheads="1" noChangeShapeType="1" noTextEdit="1"/>
              </p:cNvSpPr>
              <p:nvPr/>
            </p:nvSpPr>
            <p:spPr>
              <a:xfrm>
                <a:off x="7318702" y="2217747"/>
                <a:ext cx="1513597" cy="1127693"/>
              </a:xfrm>
              <a:prstGeom prst="wedgeRectCallout">
                <a:avLst>
                  <a:gd name="adj1" fmla="val -72912"/>
                  <a:gd name="adj2" fmla="val 58588"/>
                </a:avLst>
              </a:prstGeom>
              <a:blipFill>
                <a:blip r:embed="rId9"/>
                <a:stretch>
                  <a:fillRect/>
                </a:stretch>
              </a:blipFill>
              <a:ln w="9525" cap="flat" cmpd="sng">
                <a:solidFill>
                  <a:schemeClr val="dk2"/>
                </a:solidFill>
                <a:prstDash val="solid"/>
                <a:round/>
                <a:headEnd type="none" w="sm" len="sm"/>
                <a:tailEnd type="none" w="sm" len="sm"/>
              </a:ln>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C1008748-BB7F-58D4-1271-48513B040A37}"/>
              </a:ext>
            </a:extLst>
          </p:cNvPr>
          <p:cNvCxnSpPr>
            <a:cxnSpLocks/>
          </p:cNvCxnSpPr>
          <p:nvPr/>
        </p:nvCxnSpPr>
        <p:spPr>
          <a:xfrm>
            <a:off x="5433321" y="3805218"/>
            <a:ext cx="8418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24C1E26-195A-535D-2A0B-8CAF33C837E6}"/>
              </a:ext>
            </a:extLst>
          </p:cNvPr>
          <p:cNvSpPr txBox="1"/>
          <p:nvPr/>
        </p:nvSpPr>
        <p:spPr>
          <a:xfrm>
            <a:off x="5433321" y="3818154"/>
            <a:ext cx="1029449" cy="338554"/>
          </a:xfrm>
          <a:prstGeom prst="rect">
            <a:avLst/>
          </a:prstGeom>
          <a:noFill/>
        </p:spPr>
        <p:txBody>
          <a:bodyPr wrap="none" rtlCol="0">
            <a:spAutoFit/>
          </a:bodyPr>
          <a:lstStyle/>
          <a:p>
            <a:r>
              <a:rPr lang="en-US" sz="1600" b="1" dirty="0">
                <a:solidFill>
                  <a:schemeClr val="accent1"/>
                </a:solidFill>
              </a:rPr>
              <a:t>extrinsic</a:t>
            </a:r>
            <a:endParaRPr lang="en-US" b="1" dirty="0">
              <a:solidFill>
                <a:schemeClr val="accent1"/>
              </a:solidFill>
            </a:endParaRPr>
          </a:p>
        </p:txBody>
      </p:sp>
      <p:cxnSp>
        <p:nvCxnSpPr>
          <p:cNvPr id="36" name="Straight Connector 35">
            <a:extLst>
              <a:ext uri="{FF2B5EF4-FFF2-40B4-BE49-F238E27FC236}">
                <a16:creationId xmlns:a16="http://schemas.microsoft.com/office/drawing/2014/main" id="{7BAC42DF-B9CF-8320-690F-81B098656BA9}"/>
              </a:ext>
            </a:extLst>
          </p:cNvPr>
          <p:cNvCxnSpPr>
            <a:cxnSpLocks/>
          </p:cNvCxnSpPr>
          <p:nvPr/>
        </p:nvCxnSpPr>
        <p:spPr>
          <a:xfrm>
            <a:off x="6807411" y="3797989"/>
            <a:ext cx="1383270" cy="2664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79907BD1-566F-EC69-0F08-B153A5C7134A}"/>
              </a:ext>
            </a:extLst>
          </p:cNvPr>
          <p:cNvSpPr txBox="1"/>
          <p:nvPr/>
        </p:nvSpPr>
        <p:spPr>
          <a:xfrm>
            <a:off x="7206116" y="3802856"/>
            <a:ext cx="984565" cy="338554"/>
          </a:xfrm>
          <a:prstGeom prst="rect">
            <a:avLst/>
          </a:prstGeom>
          <a:noFill/>
        </p:spPr>
        <p:txBody>
          <a:bodyPr wrap="none" rtlCol="0">
            <a:spAutoFit/>
          </a:bodyPr>
          <a:lstStyle/>
          <a:p>
            <a:r>
              <a:rPr lang="en-US" sz="1600" b="1" dirty="0">
                <a:solidFill>
                  <a:srgbClr val="C00000"/>
                </a:solidFill>
              </a:rPr>
              <a:t>intrinsic</a:t>
            </a:r>
            <a:endParaRPr lang="en-US" b="1" dirty="0">
              <a:solidFill>
                <a:srgbClr val="C00000"/>
              </a:solidFill>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936D590-8A85-D491-3386-223E6363AB68}"/>
                  </a:ext>
                </a:extLst>
              </p:cNvPr>
              <p:cNvSpPr txBox="1"/>
              <p:nvPr/>
            </p:nvSpPr>
            <p:spPr>
              <a:xfrm>
                <a:off x="4334192" y="2312177"/>
                <a:ext cx="3998994" cy="400110"/>
              </a:xfrm>
              <a:prstGeom prst="rect">
                <a:avLst/>
              </a:prstGeom>
              <a:noFill/>
            </p:spPr>
            <p:txBody>
              <a:bodyPr wrap="square">
                <a:spAutoFit/>
              </a:bodyPr>
              <a:lstStyle/>
              <a:p>
                <a:pPr algn="ct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 </m:t>
                    </m:r>
                    <m:r>
                      <a:rPr lang="en-US" sz="2000" i="1" smtClean="0">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oMath>
                </a14:m>
                <a:r>
                  <a:rPr lang="en-US" sz="2000" dirty="0"/>
                  <a:t>.</a:t>
                </a:r>
              </a:p>
            </p:txBody>
          </p:sp>
        </mc:Choice>
        <mc:Fallback xmlns="">
          <p:sp>
            <p:nvSpPr>
              <p:cNvPr id="53" name="TextBox 52">
                <a:extLst>
                  <a:ext uri="{FF2B5EF4-FFF2-40B4-BE49-F238E27FC236}">
                    <a16:creationId xmlns:a16="http://schemas.microsoft.com/office/drawing/2014/main" id="{4936D590-8A85-D491-3386-223E6363AB68}"/>
                  </a:ext>
                </a:extLst>
              </p:cNvPr>
              <p:cNvSpPr txBox="1">
                <a:spLocks noRot="1" noChangeAspect="1" noMove="1" noResize="1" noEditPoints="1" noAdjustHandles="1" noChangeArrowheads="1" noChangeShapeType="1" noTextEdit="1"/>
              </p:cNvSpPr>
              <p:nvPr/>
            </p:nvSpPr>
            <p:spPr>
              <a:xfrm>
                <a:off x="4334192" y="2312177"/>
                <a:ext cx="3998994" cy="400110"/>
              </a:xfrm>
              <a:prstGeom prst="rect">
                <a:avLst/>
              </a:prstGeom>
              <a:blipFill>
                <a:blip r:embed="rId10"/>
                <a:stretch>
                  <a:fillRect t="-6061" b="-24242"/>
                </a:stretch>
              </a:blipFill>
            </p:spPr>
            <p:txBody>
              <a:bodyPr/>
              <a:lstStyle/>
              <a:p>
                <a:r>
                  <a:rPr lang="en-US">
                    <a:noFill/>
                  </a:rPr>
                  <a:t> </a:t>
                </a:r>
              </a:p>
            </p:txBody>
          </p:sp>
        </mc:Fallback>
      </mc:AlternateContent>
      <p:sp>
        <p:nvSpPr>
          <p:cNvPr id="2" name="Google Shape;1771;p83">
            <a:extLst>
              <a:ext uri="{FF2B5EF4-FFF2-40B4-BE49-F238E27FC236}">
                <a16:creationId xmlns:a16="http://schemas.microsoft.com/office/drawing/2014/main" id="{0237E3E7-2CFD-D0C8-E6F1-4F4A4090B0EA}"/>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0" name="Google Shape;1772;p83">
            <a:extLst>
              <a:ext uri="{FF2B5EF4-FFF2-40B4-BE49-F238E27FC236}">
                <a16:creationId xmlns:a16="http://schemas.microsoft.com/office/drawing/2014/main" id="{9C4E4236-3E8E-DF7D-8EA8-CBC8E441EBB7}"/>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20" name="Google Shape;1773;p83">
            <a:extLst>
              <a:ext uri="{FF2B5EF4-FFF2-40B4-BE49-F238E27FC236}">
                <a16:creationId xmlns:a16="http://schemas.microsoft.com/office/drawing/2014/main" id="{73D7466E-C972-7782-6305-533FCAC21B87}"/>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24" name="Google Shape;1774;p83">
            <a:extLst>
              <a:ext uri="{FF2B5EF4-FFF2-40B4-BE49-F238E27FC236}">
                <a16:creationId xmlns:a16="http://schemas.microsoft.com/office/drawing/2014/main" id="{A8D2F8C7-7121-C9EA-4E34-688CC8C88884}"/>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214546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5" grpId="0"/>
      <p:bldP spid="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3F19-1405-6D50-EC52-E23109401265}"/>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2733A8B9-4C2C-FA20-A405-F7ABECFFAC15}"/>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Search</a:t>
            </a:r>
            <a:endParaRPr lang="en-US" sz="24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D93B90-F86A-CA8E-226F-39163D5373CE}"/>
                  </a:ext>
                </a:extLst>
              </p:cNvPr>
              <p:cNvSpPr txBox="1"/>
              <p:nvPr/>
            </p:nvSpPr>
            <p:spPr>
              <a:xfrm>
                <a:off x="2314868" y="2383067"/>
                <a:ext cx="4253952" cy="50917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sz="2400">
                          <a:latin typeface="Cambria Math" panose="02040503050406030204" pitchFamily="18" charset="0"/>
                        </a:rPr>
                        <m:t>R</m:t>
                      </m:r>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i="1">
                          <a:latin typeface="Cambria Math" panose="02040503050406030204" pitchFamily="18" charset="0"/>
                        </a:rPr>
                        <m:t>)</m:t>
                      </m:r>
                      <m:r>
                        <a:rPr lang="en-US" sz="2400" b="0" i="1" smtClean="0">
                          <a:latin typeface="Cambria Math" panose="02040503050406030204" pitchFamily="18" charset="0"/>
                        </a:rPr>
                        <m:t>+</m:t>
                      </m:r>
                      <m:r>
                        <a:rPr lang="en-US" sz="2400" b="0" i="1" smtClean="0">
                          <a:latin typeface="Cambria Math" panose="02040503050406030204" pitchFamily="18" charset="0"/>
                        </a:rPr>
                        <m:t>𝜷</m:t>
                      </m:r>
                      <m:r>
                        <a:rPr lang="en-US" altLang="zh-CN" sz="2400" b="0" i="1" smtClean="0">
                          <a:latin typeface="Cambria Math" panose="02040503050406030204" pitchFamily="18" charset="0"/>
                        </a:rPr>
                        <m:t>·</m:t>
                      </m:r>
                      <m:r>
                        <a:rPr lang="en-US" sz="2400" b="0" i="1" smtClean="0">
                          <a:latin typeface="Cambria Math" panose="02040503050406030204" pitchFamily="18" charset="0"/>
                        </a:rPr>
                        <m:t>h</m:t>
                      </m:r>
                      <m:d>
                        <m:dPr>
                          <m:ctrlPr>
                            <a:rPr lang="en-US" sz="2400" b="0" i="1" smtClean="0">
                              <a:latin typeface="Cambria Math" panose="02040503050406030204" pitchFamily="18" charset="0"/>
                            </a:rPr>
                          </m:ctrlPr>
                        </m:dPr>
                        <m:e>
                          <m:r>
                            <a:rPr lang="en-US" sz="2400" i="1">
                              <a:latin typeface="Cambria Math" panose="02040503050406030204" pitchFamily="18" charset="0"/>
                            </a:rPr>
                            <m:t>𝑓</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𝑆</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𝑡</m:t>
                                  </m:r>
                                </m:sub>
                              </m:sSub>
                            </m:e>
                          </m:d>
                        </m:e>
                      </m:d>
                    </m:oMath>
                  </m:oMathPara>
                </a14:m>
                <a:endParaRPr lang="en-US" sz="2400" b="0" dirty="0"/>
              </a:p>
            </p:txBody>
          </p:sp>
        </mc:Choice>
        <mc:Fallback xmlns="">
          <p:sp>
            <p:nvSpPr>
              <p:cNvPr id="9" name="TextBox 8">
                <a:extLst>
                  <a:ext uri="{FF2B5EF4-FFF2-40B4-BE49-F238E27FC236}">
                    <a16:creationId xmlns:a16="http://schemas.microsoft.com/office/drawing/2014/main" id="{DED93B90-F86A-CA8E-226F-39163D5373CE}"/>
                  </a:ext>
                </a:extLst>
              </p:cNvPr>
              <p:cNvSpPr txBox="1">
                <a:spLocks noRot="1" noChangeAspect="1" noMove="1" noResize="1" noEditPoints="1" noAdjustHandles="1" noChangeArrowheads="1" noChangeShapeType="1" noTextEdit="1"/>
              </p:cNvSpPr>
              <p:nvPr/>
            </p:nvSpPr>
            <p:spPr>
              <a:xfrm>
                <a:off x="2314868" y="2383067"/>
                <a:ext cx="4253952" cy="509178"/>
              </a:xfrm>
              <a:prstGeom prst="rect">
                <a:avLst/>
              </a:prstGeom>
              <a:blipFill>
                <a:blip r:embed="rId2"/>
                <a:stretch>
                  <a:fillRect b="-12195"/>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3A6C25BD-5528-5F58-855F-C5B5CD0F4712}"/>
              </a:ext>
            </a:extLst>
          </p:cNvPr>
          <p:cNvCxnSpPr>
            <a:cxnSpLocks/>
          </p:cNvCxnSpPr>
          <p:nvPr/>
        </p:nvCxnSpPr>
        <p:spPr>
          <a:xfrm>
            <a:off x="2974582" y="2891693"/>
            <a:ext cx="106690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12046D6-0216-C0C4-4288-C0A95790E6C0}"/>
              </a:ext>
            </a:extLst>
          </p:cNvPr>
          <p:cNvSpPr txBox="1"/>
          <p:nvPr/>
        </p:nvSpPr>
        <p:spPr>
          <a:xfrm>
            <a:off x="2974582" y="2924138"/>
            <a:ext cx="1123855" cy="369332"/>
          </a:xfrm>
          <a:prstGeom prst="rect">
            <a:avLst/>
          </a:prstGeom>
          <a:noFill/>
        </p:spPr>
        <p:txBody>
          <a:bodyPr wrap="square" rtlCol="0">
            <a:spAutoFit/>
          </a:bodyPr>
          <a:lstStyle/>
          <a:p>
            <a:r>
              <a:rPr lang="en-US" sz="1800" dirty="0">
                <a:solidFill>
                  <a:schemeClr val="accent1"/>
                </a:solidFill>
              </a:rPr>
              <a:t>extrinsic</a:t>
            </a:r>
          </a:p>
        </p:txBody>
      </p:sp>
      <p:cxnSp>
        <p:nvCxnSpPr>
          <p:cNvPr id="12" name="Straight Connector 11">
            <a:extLst>
              <a:ext uri="{FF2B5EF4-FFF2-40B4-BE49-F238E27FC236}">
                <a16:creationId xmlns:a16="http://schemas.microsoft.com/office/drawing/2014/main" id="{C0B79779-FCBD-4EAC-C256-D25F4BDE6DDD}"/>
              </a:ext>
            </a:extLst>
          </p:cNvPr>
          <p:cNvCxnSpPr>
            <a:cxnSpLocks/>
          </p:cNvCxnSpPr>
          <p:nvPr/>
        </p:nvCxnSpPr>
        <p:spPr>
          <a:xfrm>
            <a:off x="4893301" y="2931307"/>
            <a:ext cx="1573983" cy="973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22412F6-DADE-EBF1-2CAA-24B54B3047F5}"/>
              </a:ext>
            </a:extLst>
          </p:cNvPr>
          <p:cNvSpPr txBox="1"/>
          <p:nvPr/>
        </p:nvSpPr>
        <p:spPr>
          <a:xfrm>
            <a:off x="5072000" y="2958166"/>
            <a:ext cx="966931" cy="369332"/>
          </a:xfrm>
          <a:prstGeom prst="rect">
            <a:avLst/>
          </a:prstGeom>
          <a:noFill/>
        </p:spPr>
        <p:txBody>
          <a:bodyPr wrap="none" rtlCol="0">
            <a:spAutoFit/>
          </a:bodyPr>
          <a:lstStyle/>
          <a:p>
            <a:r>
              <a:rPr lang="en-US" sz="1800" dirty="0">
                <a:solidFill>
                  <a:srgbClr val="C00000"/>
                </a:solidFill>
              </a:rPr>
              <a:t>intrinsic</a:t>
            </a:r>
            <a:endParaRPr lang="en-US" dirty="0">
              <a:solidFill>
                <a:srgbClr val="C00000"/>
              </a:solidFill>
            </a:endParaRPr>
          </a:p>
        </p:txBody>
      </p:sp>
      <p:sp>
        <p:nvSpPr>
          <p:cNvPr id="15" name="Google Shape;1877;p85">
            <a:extLst>
              <a:ext uri="{FF2B5EF4-FFF2-40B4-BE49-F238E27FC236}">
                <a16:creationId xmlns:a16="http://schemas.microsoft.com/office/drawing/2014/main" id="{68BAD08B-9194-9DCB-1EFF-2E76EE6A6471}"/>
              </a:ext>
            </a:extLst>
          </p:cNvPr>
          <p:cNvSpPr/>
          <p:nvPr/>
        </p:nvSpPr>
        <p:spPr>
          <a:xfrm>
            <a:off x="3987489" y="537039"/>
            <a:ext cx="1811624" cy="1002146"/>
          </a:xfrm>
          <a:prstGeom prst="wedgeRectCallout">
            <a:avLst>
              <a:gd name="adj1" fmla="val -11267"/>
              <a:gd name="adj2" fmla="val 104714"/>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800" dirty="0"/>
              <a:t>Is the transition function always available?</a:t>
            </a:r>
            <a:endParaRPr sz="1800" dirty="0"/>
          </a:p>
        </p:txBody>
      </p:sp>
      <p:sp>
        <p:nvSpPr>
          <p:cNvPr id="16" name="Google Shape;1877;p85">
            <a:extLst>
              <a:ext uri="{FF2B5EF4-FFF2-40B4-BE49-F238E27FC236}">
                <a16:creationId xmlns:a16="http://schemas.microsoft.com/office/drawing/2014/main" id="{B4716161-CFCC-4534-A675-626E50188D28}"/>
              </a:ext>
            </a:extLst>
          </p:cNvPr>
          <p:cNvSpPr/>
          <p:nvPr/>
        </p:nvSpPr>
        <p:spPr>
          <a:xfrm>
            <a:off x="2314868" y="3677512"/>
            <a:ext cx="2024258" cy="812634"/>
          </a:xfrm>
          <a:prstGeom prst="wedgeRectCallout">
            <a:avLst>
              <a:gd name="adj1" fmla="val 11625"/>
              <a:gd name="adj2" fmla="val -97265"/>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800" dirty="0"/>
              <a:t>Is the step-by-step reward always available?</a:t>
            </a:r>
            <a:endParaRPr sz="1800" dirty="0"/>
          </a:p>
        </p:txBody>
      </p:sp>
      <p:sp>
        <p:nvSpPr>
          <p:cNvPr id="19" name="Google Shape;1877;p85">
            <a:extLst>
              <a:ext uri="{FF2B5EF4-FFF2-40B4-BE49-F238E27FC236}">
                <a16:creationId xmlns:a16="http://schemas.microsoft.com/office/drawing/2014/main" id="{05A0B9F3-8091-1986-A3C0-D6EF0A64667D}"/>
              </a:ext>
            </a:extLst>
          </p:cNvPr>
          <p:cNvSpPr/>
          <p:nvPr/>
        </p:nvSpPr>
        <p:spPr>
          <a:xfrm>
            <a:off x="5072000" y="3677512"/>
            <a:ext cx="2024259" cy="807241"/>
          </a:xfrm>
          <a:prstGeom prst="wedgeRectCallout">
            <a:avLst>
              <a:gd name="adj1" fmla="val -28208"/>
              <a:gd name="adj2" fmla="val -8773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sz="1800" dirty="0"/>
              <a:t>Can rule-based heuristics lead to true creativity?</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99B2679-8713-E696-7B77-1516442D190B}"/>
                  </a:ext>
                </a:extLst>
              </p:cNvPr>
              <p:cNvSpPr txBox="1"/>
              <p:nvPr/>
            </p:nvSpPr>
            <p:spPr>
              <a:xfrm>
                <a:off x="2893804" y="2008005"/>
                <a:ext cx="3998994" cy="400110"/>
              </a:xfrm>
              <a:prstGeom prst="rect">
                <a:avLst/>
              </a:prstGeom>
              <a:noFill/>
            </p:spPr>
            <p:txBody>
              <a:bodyPr wrap="square">
                <a:spAutoFit/>
              </a:bodyPr>
              <a:lstStyle/>
              <a:p>
                <a:pPr algn="ct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 </m:t>
                    </m:r>
                    <m:r>
                      <a:rPr lang="en-US" sz="2000" i="1" smtClean="0">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oMath>
                </a14:m>
                <a:r>
                  <a:rPr lang="en-US" sz="2000" dirty="0"/>
                  <a:t>.</a:t>
                </a:r>
              </a:p>
            </p:txBody>
          </p:sp>
        </mc:Choice>
        <mc:Fallback xmlns="">
          <p:sp>
            <p:nvSpPr>
              <p:cNvPr id="22" name="TextBox 21">
                <a:extLst>
                  <a:ext uri="{FF2B5EF4-FFF2-40B4-BE49-F238E27FC236}">
                    <a16:creationId xmlns:a16="http://schemas.microsoft.com/office/drawing/2014/main" id="{B99B2679-8713-E696-7B77-1516442D190B}"/>
                  </a:ext>
                </a:extLst>
              </p:cNvPr>
              <p:cNvSpPr txBox="1">
                <a:spLocks noRot="1" noChangeAspect="1" noMove="1" noResize="1" noEditPoints="1" noAdjustHandles="1" noChangeArrowheads="1" noChangeShapeType="1" noTextEdit="1"/>
              </p:cNvSpPr>
              <p:nvPr/>
            </p:nvSpPr>
            <p:spPr>
              <a:xfrm>
                <a:off x="2893804" y="2008005"/>
                <a:ext cx="3998994" cy="400110"/>
              </a:xfrm>
              <a:prstGeom prst="rect">
                <a:avLst/>
              </a:prstGeom>
              <a:blipFill>
                <a:blip r:embed="rId3"/>
                <a:stretch>
                  <a:fillRect t="-6061" b="-24242"/>
                </a:stretch>
              </a:blipFill>
            </p:spPr>
            <p:txBody>
              <a:bodyPr/>
              <a:lstStyle/>
              <a:p>
                <a:r>
                  <a:rPr lang="en-US">
                    <a:noFill/>
                  </a:rPr>
                  <a:t> </a:t>
                </a:r>
              </a:p>
            </p:txBody>
          </p:sp>
        </mc:Fallback>
      </mc:AlternateContent>
      <p:sp>
        <p:nvSpPr>
          <p:cNvPr id="2" name="Google Shape;1771;p83">
            <a:extLst>
              <a:ext uri="{FF2B5EF4-FFF2-40B4-BE49-F238E27FC236}">
                <a16:creationId xmlns:a16="http://schemas.microsoft.com/office/drawing/2014/main" id="{DAD79FC0-1C48-F064-9A60-C882F8FCA1D9}"/>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8" name="Google Shape;1772;p83">
            <a:extLst>
              <a:ext uri="{FF2B5EF4-FFF2-40B4-BE49-F238E27FC236}">
                <a16:creationId xmlns:a16="http://schemas.microsoft.com/office/drawing/2014/main" id="{1D102043-835C-0897-41A4-BD9545FE74C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4" name="Google Shape;1773;p83">
            <a:extLst>
              <a:ext uri="{FF2B5EF4-FFF2-40B4-BE49-F238E27FC236}">
                <a16:creationId xmlns:a16="http://schemas.microsoft.com/office/drawing/2014/main" id="{7AD00887-DBBB-E6F7-08DB-E1B4113BD0BC}"/>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7" name="Google Shape;1774;p83">
            <a:extLst>
              <a:ext uri="{FF2B5EF4-FFF2-40B4-BE49-F238E27FC236}">
                <a16:creationId xmlns:a16="http://schemas.microsoft.com/office/drawing/2014/main" id="{6AC0716C-267F-AA00-5244-4F90A0313FD8}"/>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238743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0F982-7B79-ADE8-FF44-63F6A0BB7465}"/>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89BAFF21-0DDD-A28A-F859-FD94EFCA36D5}"/>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RQ1: Is the transition function always available?</a:t>
            </a:r>
          </a:p>
        </p:txBody>
      </p:sp>
      <p:sp>
        <p:nvSpPr>
          <p:cNvPr id="2" name="TextBox 1">
            <a:extLst>
              <a:ext uri="{FF2B5EF4-FFF2-40B4-BE49-F238E27FC236}">
                <a16:creationId xmlns:a16="http://schemas.microsoft.com/office/drawing/2014/main" id="{08731FEA-D607-B9FB-AA30-2BB551595B7F}"/>
              </a:ext>
            </a:extLst>
          </p:cNvPr>
          <p:cNvSpPr txBox="1"/>
          <p:nvPr/>
        </p:nvSpPr>
        <p:spPr>
          <a:xfrm>
            <a:off x="424507" y="1865650"/>
            <a:ext cx="2779928" cy="307777"/>
          </a:xfrm>
          <a:prstGeom prst="rect">
            <a:avLst/>
          </a:prstGeom>
          <a:noFill/>
        </p:spPr>
        <p:txBody>
          <a:bodyPr wrap="none" rtlCol="0">
            <a:spAutoFit/>
          </a:bodyPr>
          <a:lstStyle/>
          <a:p>
            <a:pPr marL="285750" indent="-285750">
              <a:buFont typeface="Arial" panose="020B0604020202020204" pitchFamily="34" charset="0"/>
              <a:buChar char="•"/>
            </a:pPr>
            <a:r>
              <a:rPr lang="en-US" dirty="0"/>
              <a:t>Depends on the data regime</a:t>
            </a:r>
          </a:p>
        </p:txBody>
      </p:sp>
      <p:graphicFrame>
        <p:nvGraphicFramePr>
          <p:cNvPr id="97" name="Table 96">
            <a:extLst>
              <a:ext uri="{FF2B5EF4-FFF2-40B4-BE49-F238E27FC236}">
                <a16:creationId xmlns:a16="http://schemas.microsoft.com/office/drawing/2014/main" id="{07770F3C-217C-7D02-F485-8AA3FC54885E}"/>
              </a:ext>
            </a:extLst>
          </p:cNvPr>
          <p:cNvGraphicFramePr>
            <a:graphicFrameLocks noGrp="1"/>
          </p:cNvGraphicFramePr>
          <p:nvPr>
            <p:extLst>
              <p:ext uri="{D42A27DB-BD31-4B8C-83A1-F6EECF244321}">
                <p14:modId xmlns:p14="http://schemas.microsoft.com/office/powerpoint/2010/main" val="1547448652"/>
              </p:ext>
            </p:extLst>
          </p:nvPr>
        </p:nvGraphicFramePr>
        <p:xfrm>
          <a:off x="1356575" y="2459865"/>
          <a:ext cx="6096000" cy="2263968"/>
        </p:xfrm>
        <a:graphic>
          <a:graphicData uri="http://schemas.openxmlformats.org/drawingml/2006/table">
            <a:tbl>
              <a:tblPr firstRow="1" bandRow="1">
                <a:tableStyleId>{9DBD82F4-FF5A-4DA7-A40D-C38478E7092A}</a:tableStyleId>
              </a:tblPr>
              <a:tblGrid>
                <a:gridCol w="1524000">
                  <a:extLst>
                    <a:ext uri="{9D8B030D-6E8A-4147-A177-3AD203B41FA5}">
                      <a16:colId xmlns:a16="http://schemas.microsoft.com/office/drawing/2014/main" val="849280095"/>
                    </a:ext>
                  </a:extLst>
                </a:gridCol>
                <a:gridCol w="1524000">
                  <a:extLst>
                    <a:ext uri="{9D8B030D-6E8A-4147-A177-3AD203B41FA5}">
                      <a16:colId xmlns:a16="http://schemas.microsoft.com/office/drawing/2014/main" val="504799605"/>
                    </a:ext>
                  </a:extLst>
                </a:gridCol>
                <a:gridCol w="1524000">
                  <a:extLst>
                    <a:ext uri="{9D8B030D-6E8A-4147-A177-3AD203B41FA5}">
                      <a16:colId xmlns:a16="http://schemas.microsoft.com/office/drawing/2014/main" val="1589875997"/>
                    </a:ext>
                  </a:extLst>
                </a:gridCol>
                <a:gridCol w="1524000">
                  <a:extLst>
                    <a:ext uri="{9D8B030D-6E8A-4147-A177-3AD203B41FA5}">
                      <a16:colId xmlns:a16="http://schemas.microsoft.com/office/drawing/2014/main" val="3137776082"/>
                    </a:ext>
                  </a:extLst>
                </a:gridCol>
              </a:tblGrid>
              <a:tr h="174986">
                <a:tc>
                  <a:txBody>
                    <a:bodyPr/>
                    <a:lstStyle/>
                    <a:p>
                      <a:pPr algn="ctr"/>
                      <a:endParaRPr lang="en-US" dirty="0"/>
                    </a:p>
                  </a:txBody>
                  <a:tcPr/>
                </a:tc>
                <a:tc>
                  <a:txBody>
                    <a:bodyPr/>
                    <a:lstStyle/>
                    <a:p>
                      <a:pPr algn="ctr"/>
                      <a:r>
                        <a:rPr lang="en-US" dirty="0"/>
                        <a:t>Low</a:t>
                      </a:r>
                    </a:p>
                  </a:txBody>
                  <a:tcPr/>
                </a:tc>
                <a:tc>
                  <a:txBody>
                    <a:bodyPr/>
                    <a:lstStyle/>
                    <a:p>
                      <a:pPr algn="ctr"/>
                      <a:r>
                        <a:rPr lang="en-US" dirty="0"/>
                        <a:t>Mid</a:t>
                      </a:r>
                    </a:p>
                  </a:txBody>
                  <a:tcPr/>
                </a:tc>
                <a:tc>
                  <a:txBody>
                    <a:bodyPr/>
                    <a:lstStyle/>
                    <a:p>
                      <a:pPr algn="ctr"/>
                      <a:r>
                        <a:rPr lang="en-US" dirty="0"/>
                        <a:t>High</a:t>
                      </a:r>
                    </a:p>
                  </a:txBody>
                  <a:tcPr/>
                </a:tc>
                <a:extLst>
                  <a:ext uri="{0D108BD9-81ED-4DB2-BD59-A6C34878D82A}">
                    <a16:rowId xmlns:a16="http://schemas.microsoft.com/office/drawing/2014/main" val="100575806"/>
                  </a:ext>
                </a:extLst>
              </a:tr>
              <a:tr h="461424">
                <a:tc>
                  <a:txBody>
                    <a:bodyPr/>
                    <a:lstStyle/>
                    <a:p>
                      <a:pPr algn="ctr"/>
                      <a:r>
                        <a:rPr lang="en-US" dirty="0"/>
                        <a:t>Start State</a:t>
                      </a:r>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264158122"/>
                  </a:ext>
                </a:extLst>
              </a:tr>
              <a:tr h="264086">
                <a:tc>
                  <a:txBody>
                    <a:bodyPr/>
                    <a:lstStyle/>
                    <a:p>
                      <a:pPr algn="ctr"/>
                      <a:r>
                        <a:rPr lang="en-US" dirty="0"/>
                        <a:t>Intermediate States</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443055322"/>
                  </a:ext>
                </a:extLst>
              </a:tr>
              <a:tr h="461424">
                <a:tc>
                  <a:txBody>
                    <a:bodyPr/>
                    <a:lstStyle/>
                    <a:p>
                      <a:pPr algn="ctr"/>
                      <a:r>
                        <a:rPr lang="en-US" dirty="0"/>
                        <a:t>End </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618645196"/>
                  </a:ext>
                </a:extLst>
              </a:tr>
              <a:tr h="461424">
                <a:tc>
                  <a:txBody>
                    <a:bodyPr/>
                    <a:lstStyle/>
                    <a:p>
                      <a:pPr algn="ctr"/>
                      <a:r>
                        <a:rPr lang="en-US" dirty="0"/>
                        <a:t>Transition</a:t>
                      </a:r>
                    </a:p>
                    <a:p>
                      <a:pPr algn="ctr"/>
                      <a:r>
                        <a:rPr lang="en-US" dirty="0"/>
                        <a:t>Function?</a:t>
                      </a:r>
                    </a:p>
                  </a:txBody>
                  <a:tcPr/>
                </a:tc>
                <a:tc>
                  <a:txBody>
                    <a:bodyPr/>
                    <a:lstStyle/>
                    <a:p>
                      <a:pPr algn="ctr"/>
                      <a:r>
                        <a:rPr lang="en-US" dirty="0"/>
                        <a:t>no</a:t>
                      </a:r>
                    </a:p>
                  </a:txBody>
                  <a:tcPr/>
                </a:tc>
                <a:tc>
                  <a:txBody>
                    <a:bodyPr/>
                    <a:lstStyle/>
                    <a:p>
                      <a:pPr algn="ctr"/>
                      <a:r>
                        <a:rPr lang="en-US" dirty="0"/>
                        <a:t>no</a:t>
                      </a:r>
                    </a:p>
                  </a:txBody>
                  <a:tcPr/>
                </a:tc>
                <a:tc>
                  <a:txBody>
                    <a:bodyPr/>
                    <a:lstStyle/>
                    <a:p>
                      <a:pPr algn="ctr"/>
                      <a:r>
                        <a:rPr lang="en-US" dirty="0"/>
                        <a:t>yes</a:t>
                      </a:r>
                    </a:p>
                  </a:txBody>
                  <a:tcPr/>
                </a:tc>
                <a:extLst>
                  <a:ext uri="{0D108BD9-81ED-4DB2-BD59-A6C34878D82A}">
                    <a16:rowId xmlns:a16="http://schemas.microsoft.com/office/drawing/2014/main" val="2324410144"/>
                  </a:ext>
                </a:extLst>
              </a:tr>
            </a:tbl>
          </a:graphicData>
        </a:graphic>
      </p:graphicFrame>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55BF179A-6373-3A76-6B03-9A2E3C70D0B7}"/>
                  </a:ext>
                </a:extLst>
              </p:cNvPr>
              <p:cNvSpPr txBox="1"/>
              <p:nvPr/>
            </p:nvSpPr>
            <p:spPr>
              <a:xfrm>
                <a:off x="2818632" y="1200060"/>
                <a:ext cx="3998994" cy="400110"/>
              </a:xfrm>
              <a:prstGeom prst="rect">
                <a:avLst/>
              </a:prstGeom>
              <a:noFill/>
            </p:spPr>
            <p:txBody>
              <a:bodyPr wrap="square">
                <a:spAutoFit/>
              </a:bodyPr>
              <a:lstStyle/>
              <a:p>
                <a:pPr algn="ct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 </m:t>
                    </m:r>
                    <m:r>
                      <a:rPr lang="en-US" sz="2000" i="1" smtClean="0">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oMath>
                </a14:m>
                <a:r>
                  <a:rPr lang="en-US" sz="2000" dirty="0"/>
                  <a:t>.</a:t>
                </a:r>
              </a:p>
            </p:txBody>
          </p:sp>
        </mc:Choice>
        <mc:Fallback xmlns="">
          <p:sp>
            <p:nvSpPr>
              <p:cNvPr id="98" name="TextBox 97">
                <a:extLst>
                  <a:ext uri="{FF2B5EF4-FFF2-40B4-BE49-F238E27FC236}">
                    <a16:creationId xmlns:a16="http://schemas.microsoft.com/office/drawing/2014/main" id="{55BF179A-6373-3A76-6B03-9A2E3C70D0B7}"/>
                  </a:ext>
                </a:extLst>
              </p:cNvPr>
              <p:cNvSpPr txBox="1">
                <a:spLocks noRot="1" noChangeAspect="1" noMove="1" noResize="1" noEditPoints="1" noAdjustHandles="1" noChangeArrowheads="1" noChangeShapeType="1" noTextEdit="1"/>
              </p:cNvSpPr>
              <p:nvPr/>
            </p:nvSpPr>
            <p:spPr>
              <a:xfrm>
                <a:off x="2818632" y="1200060"/>
                <a:ext cx="3998994" cy="400110"/>
              </a:xfrm>
              <a:prstGeom prst="rect">
                <a:avLst/>
              </a:prstGeom>
              <a:blipFill>
                <a:blip r:embed="rId2"/>
                <a:stretch>
                  <a:fillRect t="-9375" b="-28125"/>
                </a:stretch>
              </a:blipFill>
            </p:spPr>
            <p:txBody>
              <a:bodyPr/>
              <a:lstStyle/>
              <a:p>
                <a:r>
                  <a:rPr lang="en-US">
                    <a:noFill/>
                  </a:rPr>
                  <a:t> </a:t>
                </a:r>
              </a:p>
            </p:txBody>
          </p:sp>
        </mc:Fallback>
      </mc:AlternateContent>
      <p:sp>
        <p:nvSpPr>
          <p:cNvPr id="8" name="Google Shape;1771;p83">
            <a:extLst>
              <a:ext uri="{FF2B5EF4-FFF2-40B4-BE49-F238E27FC236}">
                <a16:creationId xmlns:a16="http://schemas.microsoft.com/office/drawing/2014/main" id="{97A9F621-9B6F-5205-9FF2-CD7C16895759}"/>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9" name="Google Shape;1772;p83">
            <a:extLst>
              <a:ext uri="{FF2B5EF4-FFF2-40B4-BE49-F238E27FC236}">
                <a16:creationId xmlns:a16="http://schemas.microsoft.com/office/drawing/2014/main" id="{7527E7F0-055B-7890-59C0-503786389943}"/>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0" name="Google Shape;1773;p83">
            <a:extLst>
              <a:ext uri="{FF2B5EF4-FFF2-40B4-BE49-F238E27FC236}">
                <a16:creationId xmlns:a16="http://schemas.microsoft.com/office/drawing/2014/main" id="{22CF0063-7409-3877-5EF3-7E95AE2712E4}"/>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1" name="Google Shape;1774;p83">
            <a:extLst>
              <a:ext uri="{FF2B5EF4-FFF2-40B4-BE49-F238E27FC236}">
                <a16:creationId xmlns:a16="http://schemas.microsoft.com/office/drawing/2014/main" id="{207BDAFD-E215-8232-FDEF-43B89BD4B92C}"/>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pic>
        <p:nvPicPr>
          <p:cNvPr id="4100" name="Picture 4" descr="Check mark ">
            <a:extLst>
              <a:ext uri="{FF2B5EF4-FFF2-40B4-BE49-F238E27FC236}">
                <a16:creationId xmlns:a16="http://schemas.microsoft.com/office/drawing/2014/main" id="{2C32CC37-0413-1A15-B78F-F7F39AEEF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81" y="2821009"/>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heck mark ">
            <a:extLst>
              <a:ext uri="{FF2B5EF4-FFF2-40B4-BE49-F238E27FC236}">
                <a16:creationId xmlns:a16="http://schemas.microsoft.com/office/drawing/2014/main" id="{E5ED58FD-BFE6-CE54-B107-0894BCCE4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80" y="3257610"/>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Check mark ">
            <a:extLst>
              <a:ext uri="{FF2B5EF4-FFF2-40B4-BE49-F238E27FC236}">
                <a16:creationId xmlns:a16="http://schemas.microsoft.com/office/drawing/2014/main" id="{99FD7792-4A63-DE04-DD38-5C1869958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80" y="3769421"/>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Check mark ">
            <a:extLst>
              <a:ext uri="{FF2B5EF4-FFF2-40B4-BE49-F238E27FC236}">
                <a16:creationId xmlns:a16="http://schemas.microsoft.com/office/drawing/2014/main" id="{62AC6FBA-00BE-48E1-C112-24C436B01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0149" y="3769421"/>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Check mark ">
            <a:extLst>
              <a:ext uri="{FF2B5EF4-FFF2-40B4-BE49-F238E27FC236}">
                <a16:creationId xmlns:a16="http://schemas.microsoft.com/office/drawing/2014/main" id="{3A265544-3B8B-E91F-A3C8-574FE9F12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689" y="3769420"/>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Check mark ">
            <a:extLst>
              <a:ext uri="{FF2B5EF4-FFF2-40B4-BE49-F238E27FC236}">
                <a16:creationId xmlns:a16="http://schemas.microsoft.com/office/drawing/2014/main" id="{83447320-3140-3873-A761-1AB83E901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0148" y="2815009"/>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hape ">
            <a:extLst>
              <a:ext uri="{FF2B5EF4-FFF2-40B4-BE49-F238E27FC236}">
                <a16:creationId xmlns:a16="http://schemas.microsoft.com/office/drawing/2014/main" id="{337A332F-7872-AC1C-B836-6F65324CD0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1042" y="2735722"/>
            <a:ext cx="521886" cy="52188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Shape ">
            <a:extLst>
              <a:ext uri="{FF2B5EF4-FFF2-40B4-BE49-F238E27FC236}">
                <a16:creationId xmlns:a16="http://schemas.microsoft.com/office/drawing/2014/main" id="{C31778BF-CAF7-7AD4-38A2-91C99842FF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0446" y="3211281"/>
            <a:ext cx="521886" cy="52188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Shape ">
            <a:extLst>
              <a:ext uri="{FF2B5EF4-FFF2-40B4-BE49-F238E27FC236}">
                <a16:creationId xmlns:a16="http://schemas.microsoft.com/office/drawing/2014/main" id="{0414D8F3-45B1-A73F-321A-DA2BF9E130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863" y="3211281"/>
            <a:ext cx="521886" cy="521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692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1D32-6832-5BA2-2F18-5CC4DED94C31}"/>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0B3831E4-3485-D1A7-FB65-15D05E7CC827}"/>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RQ1: Is the transition function always available?</a:t>
            </a:r>
          </a:p>
        </p:txBody>
      </p:sp>
      <p:sp>
        <p:nvSpPr>
          <p:cNvPr id="2" name="TextBox 1">
            <a:extLst>
              <a:ext uri="{FF2B5EF4-FFF2-40B4-BE49-F238E27FC236}">
                <a16:creationId xmlns:a16="http://schemas.microsoft.com/office/drawing/2014/main" id="{48372F2B-4A4D-A60D-356F-20512DD542E4}"/>
              </a:ext>
            </a:extLst>
          </p:cNvPr>
          <p:cNvSpPr txBox="1"/>
          <p:nvPr/>
        </p:nvSpPr>
        <p:spPr>
          <a:xfrm>
            <a:off x="422460" y="1971585"/>
            <a:ext cx="5102679" cy="1200329"/>
          </a:xfrm>
          <a:prstGeom prst="rect">
            <a:avLst/>
          </a:prstGeom>
          <a:noFill/>
        </p:spPr>
        <p:txBody>
          <a:bodyPr wrap="none" rtlCol="0">
            <a:spAutoFit/>
          </a:bodyPr>
          <a:lstStyle/>
          <a:p>
            <a:pPr marL="285750" indent="-285750">
              <a:buFont typeface="Arial" panose="020B0604020202020204" pitchFamily="34" charset="0"/>
              <a:buChar char="•"/>
            </a:pPr>
            <a:r>
              <a:rPr lang="en-US" sz="1800" dirty="0"/>
              <a:t>Depends on the data regime</a:t>
            </a:r>
          </a:p>
          <a:p>
            <a:pPr marL="285750" indent="-285750">
              <a:buFont typeface="Arial" panose="020B0604020202020204" pitchFamily="34" charset="0"/>
              <a:buChar char="•"/>
            </a:pPr>
            <a:r>
              <a:rPr lang="en-US" sz="1800" dirty="0"/>
              <a:t>What to do if there is no transition function?</a:t>
            </a:r>
          </a:p>
          <a:p>
            <a:pPr marL="285750" lvl="1" indent="-285750">
              <a:buFont typeface="Arial" panose="020B0604020202020204" pitchFamily="34" charset="0"/>
              <a:buChar char="•"/>
            </a:pPr>
            <a:r>
              <a:rPr lang="en-US" sz="1800" dirty="0"/>
              <a:t>Incorporate human knowledge and workflows</a:t>
            </a:r>
          </a:p>
          <a:p>
            <a:pPr marL="285750" indent="-285750">
              <a:buFont typeface="Arial" panose="020B0604020202020204" pitchFamily="34" charset="0"/>
              <a:buChar char="•"/>
            </a:pPr>
            <a:endParaRPr lang="en-US" sz="1800"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1338098-33CD-6CE5-9BA4-FB817828CC4E}"/>
                  </a:ext>
                </a:extLst>
              </p:cNvPr>
              <p:cNvSpPr txBox="1"/>
              <p:nvPr/>
            </p:nvSpPr>
            <p:spPr>
              <a:xfrm>
                <a:off x="2818632" y="1200060"/>
                <a:ext cx="3998994" cy="400110"/>
              </a:xfrm>
              <a:prstGeom prst="rect">
                <a:avLst/>
              </a:prstGeom>
              <a:noFill/>
            </p:spPr>
            <p:txBody>
              <a:bodyPr wrap="square">
                <a:spAutoFit/>
              </a:bodyPr>
              <a:lstStyle/>
              <a:p>
                <a:pPr algn="ct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b="0" i="1" smtClean="0">
                        <a:latin typeface="Cambria Math" panose="02040503050406030204" pitchFamily="18" charset="0"/>
                      </a:rPr>
                      <m:t>= </m:t>
                    </m:r>
                    <m:r>
                      <a:rPr lang="en-US" sz="2000" i="1" smtClean="0">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oMath>
                </a14:m>
                <a:r>
                  <a:rPr lang="en-US" sz="2000" dirty="0"/>
                  <a:t>.</a:t>
                </a:r>
              </a:p>
            </p:txBody>
          </p:sp>
        </mc:Choice>
        <mc:Fallback xmlns="">
          <p:sp>
            <p:nvSpPr>
              <p:cNvPr id="18" name="TextBox 17">
                <a:extLst>
                  <a:ext uri="{FF2B5EF4-FFF2-40B4-BE49-F238E27FC236}">
                    <a16:creationId xmlns:a16="http://schemas.microsoft.com/office/drawing/2014/main" id="{A1338098-33CD-6CE5-9BA4-FB817828CC4E}"/>
                  </a:ext>
                </a:extLst>
              </p:cNvPr>
              <p:cNvSpPr txBox="1">
                <a:spLocks noRot="1" noChangeAspect="1" noMove="1" noResize="1" noEditPoints="1" noAdjustHandles="1" noChangeArrowheads="1" noChangeShapeType="1" noTextEdit="1"/>
              </p:cNvSpPr>
              <p:nvPr/>
            </p:nvSpPr>
            <p:spPr>
              <a:xfrm>
                <a:off x="2818632" y="1200060"/>
                <a:ext cx="3998994" cy="400110"/>
              </a:xfrm>
              <a:prstGeom prst="rect">
                <a:avLst/>
              </a:prstGeom>
              <a:blipFill>
                <a:blip r:embed="rId2"/>
                <a:stretch>
                  <a:fillRect t="-9375"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F82898-0B97-D96E-D8D1-625E7F68216B}"/>
                  </a:ext>
                </a:extLst>
              </p:cNvPr>
              <p:cNvSpPr txBox="1"/>
              <p:nvPr/>
            </p:nvSpPr>
            <p:spPr>
              <a:xfrm>
                <a:off x="2525690" y="3175728"/>
                <a:ext cx="4584878" cy="735201"/>
              </a:xfrm>
              <a:prstGeom prst="rect">
                <a:avLst/>
              </a:prstGeom>
              <a:noFill/>
            </p:spPr>
            <p:txBody>
              <a:bodyPr wrap="square">
                <a:spAutoFit/>
              </a:bodyPr>
              <a:lstStyle/>
              <a:p>
                <a:pPr algn="ct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𝜙</m:t>
                        </m:r>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𝑆</m:t>
                                </m:r>
                              </m:e>
                              <m:sub>
                                <m:r>
                                  <a:rPr lang="en-US" sz="2000" b="0" i="1" smtClean="0">
                                    <a:latin typeface="Cambria Math" panose="02040503050406030204" pitchFamily="18" charset="0"/>
                                    <a:ea typeface="Cambria Math" panose="02040503050406030204" pitchFamily="18" charset="0"/>
                                  </a:rPr>
                                  <m:t>𝑡</m:t>
                                </m:r>
                              </m:sub>
                            </m:sSub>
                          </m:e>
                        </m:d>
                        <m:r>
                          <a:rPr lang="en-US" sz="2000" b="0" i="1" smtClean="0">
                            <a:latin typeface="Cambria Math" panose="02040503050406030204" pitchFamily="18" charset="0"/>
                            <a:ea typeface="Cambria Math" panose="02040503050406030204" pitchFamily="18" charset="0"/>
                          </a:rPr>
                          <m:t>, </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𝑡</m:t>
                            </m:r>
                          </m:sub>
                        </m:sSub>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𝜙</m:t>
                    </m:r>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𝑆</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e>
                    </m:d>
                  </m:oMath>
                </a14:m>
                <a:r>
                  <a:rPr lang="en-US" sz="2000" dirty="0"/>
                  <a:t>, where 𝝓 is latent space encoding function.</a:t>
                </a:r>
              </a:p>
            </p:txBody>
          </p:sp>
        </mc:Choice>
        <mc:Fallback xmlns="">
          <p:sp>
            <p:nvSpPr>
              <p:cNvPr id="9" name="TextBox 8">
                <a:extLst>
                  <a:ext uri="{FF2B5EF4-FFF2-40B4-BE49-F238E27FC236}">
                    <a16:creationId xmlns:a16="http://schemas.microsoft.com/office/drawing/2014/main" id="{64F82898-0B97-D96E-D8D1-625E7F68216B}"/>
                  </a:ext>
                </a:extLst>
              </p:cNvPr>
              <p:cNvSpPr txBox="1">
                <a:spLocks noRot="1" noChangeAspect="1" noMove="1" noResize="1" noEditPoints="1" noAdjustHandles="1" noChangeArrowheads="1" noChangeShapeType="1" noTextEdit="1"/>
              </p:cNvSpPr>
              <p:nvPr/>
            </p:nvSpPr>
            <p:spPr>
              <a:xfrm>
                <a:off x="2525690" y="3175728"/>
                <a:ext cx="4584878" cy="735201"/>
              </a:xfrm>
              <a:prstGeom prst="rect">
                <a:avLst/>
              </a:prstGeom>
              <a:blipFill>
                <a:blip r:embed="rId3"/>
                <a:stretch>
                  <a:fillRect t="-5085" b="-13559"/>
                </a:stretch>
              </a:blipFill>
            </p:spPr>
            <p:txBody>
              <a:bodyPr/>
              <a:lstStyle/>
              <a:p>
                <a:r>
                  <a:rPr lang="en-US">
                    <a:noFill/>
                  </a:rPr>
                  <a:t> </a:t>
                </a:r>
              </a:p>
            </p:txBody>
          </p:sp>
        </mc:Fallback>
      </mc:AlternateContent>
      <p:sp>
        <p:nvSpPr>
          <p:cNvPr id="10" name="Google Shape;1877;p85">
            <a:extLst>
              <a:ext uri="{FF2B5EF4-FFF2-40B4-BE49-F238E27FC236}">
                <a16:creationId xmlns:a16="http://schemas.microsoft.com/office/drawing/2014/main" id="{836B3C72-E760-8040-2FFC-DA9C815E51EA}"/>
              </a:ext>
            </a:extLst>
          </p:cNvPr>
          <p:cNvSpPr/>
          <p:nvPr/>
        </p:nvSpPr>
        <p:spPr>
          <a:xfrm>
            <a:off x="5844733" y="1782506"/>
            <a:ext cx="2230321" cy="855800"/>
          </a:xfrm>
          <a:prstGeom prst="wedgeRectCallout">
            <a:avLst>
              <a:gd name="adj1" fmla="val -70546"/>
              <a:gd name="adj2" fmla="val 24828"/>
            </a:avLst>
          </a:prstGeom>
          <a:solidFill>
            <a:srgbClr val="D9EAD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800" dirty="0"/>
              <a:t>Will cover it later!</a:t>
            </a:r>
            <a:endParaRPr sz="1800" dirty="0"/>
          </a:p>
        </p:txBody>
      </p:sp>
      <p:sp>
        <p:nvSpPr>
          <p:cNvPr id="8" name="Google Shape;1771;p83">
            <a:extLst>
              <a:ext uri="{FF2B5EF4-FFF2-40B4-BE49-F238E27FC236}">
                <a16:creationId xmlns:a16="http://schemas.microsoft.com/office/drawing/2014/main" id="{55E42800-C5EB-B5DD-B871-C47D2F145F41}"/>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1" name="Google Shape;1772;p83">
            <a:extLst>
              <a:ext uri="{FF2B5EF4-FFF2-40B4-BE49-F238E27FC236}">
                <a16:creationId xmlns:a16="http://schemas.microsoft.com/office/drawing/2014/main" id="{EF4444D4-6285-0D8E-1D80-665445DD609C}"/>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2" name="Google Shape;1773;p83">
            <a:extLst>
              <a:ext uri="{FF2B5EF4-FFF2-40B4-BE49-F238E27FC236}">
                <a16:creationId xmlns:a16="http://schemas.microsoft.com/office/drawing/2014/main" id="{A6850436-30BE-8565-5DE0-4FB320853474}"/>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3" name="Google Shape;1774;p83">
            <a:extLst>
              <a:ext uri="{FF2B5EF4-FFF2-40B4-BE49-F238E27FC236}">
                <a16:creationId xmlns:a16="http://schemas.microsoft.com/office/drawing/2014/main" id="{50E16FD5-623F-1331-0DA4-C434D0AED7F1}"/>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301259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D9D10-D7D0-8BC8-5F54-E17D1C0ABDAD}"/>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D7D6297B-B35E-4BEA-D4B0-69F79841BA19}"/>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RQ2: Is the step-by-step reward always available?</a:t>
            </a:r>
          </a:p>
        </p:txBody>
      </p:sp>
      <p:sp>
        <p:nvSpPr>
          <p:cNvPr id="2" name="TextBox 1">
            <a:extLst>
              <a:ext uri="{FF2B5EF4-FFF2-40B4-BE49-F238E27FC236}">
                <a16:creationId xmlns:a16="http://schemas.microsoft.com/office/drawing/2014/main" id="{2774CC7A-971A-C22A-947F-DA0927855322}"/>
              </a:ext>
            </a:extLst>
          </p:cNvPr>
          <p:cNvSpPr txBox="1"/>
          <p:nvPr/>
        </p:nvSpPr>
        <p:spPr>
          <a:xfrm>
            <a:off x="424507" y="1865650"/>
            <a:ext cx="2779928" cy="307777"/>
          </a:xfrm>
          <a:prstGeom prst="rect">
            <a:avLst/>
          </a:prstGeom>
          <a:noFill/>
        </p:spPr>
        <p:txBody>
          <a:bodyPr wrap="none" rtlCol="0">
            <a:spAutoFit/>
          </a:bodyPr>
          <a:lstStyle/>
          <a:p>
            <a:pPr marL="285750" indent="-285750">
              <a:buFont typeface="Arial" panose="020B0604020202020204" pitchFamily="34" charset="0"/>
              <a:buChar char="•"/>
            </a:pPr>
            <a:r>
              <a:rPr lang="en-US" dirty="0"/>
              <a:t>Depends on the data regime</a:t>
            </a:r>
          </a:p>
        </p:txBody>
      </p:sp>
      <p:graphicFrame>
        <p:nvGraphicFramePr>
          <p:cNvPr id="97" name="Table 96">
            <a:extLst>
              <a:ext uri="{FF2B5EF4-FFF2-40B4-BE49-F238E27FC236}">
                <a16:creationId xmlns:a16="http://schemas.microsoft.com/office/drawing/2014/main" id="{78169C1D-AAC1-06ED-5847-FB6586EB8AA7}"/>
              </a:ext>
            </a:extLst>
          </p:cNvPr>
          <p:cNvGraphicFramePr>
            <a:graphicFrameLocks noGrp="1"/>
          </p:cNvGraphicFramePr>
          <p:nvPr>
            <p:extLst>
              <p:ext uri="{D42A27DB-BD31-4B8C-83A1-F6EECF244321}">
                <p14:modId xmlns:p14="http://schemas.microsoft.com/office/powerpoint/2010/main" val="124988603"/>
              </p:ext>
            </p:extLst>
          </p:nvPr>
        </p:nvGraphicFramePr>
        <p:xfrm>
          <a:off x="1356575" y="2459865"/>
          <a:ext cx="6096000" cy="2263968"/>
        </p:xfrm>
        <a:graphic>
          <a:graphicData uri="http://schemas.openxmlformats.org/drawingml/2006/table">
            <a:tbl>
              <a:tblPr firstRow="1" bandRow="1">
                <a:tableStyleId>{9DBD82F4-FF5A-4DA7-A40D-C38478E7092A}</a:tableStyleId>
              </a:tblPr>
              <a:tblGrid>
                <a:gridCol w="1524000">
                  <a:extLst>
                    <a:ext uri="{9D8B030D-6E8A-4147-A177-3AD203B41FA5}">
                      <a16:colId xmlns:a16="http://schemas.microsoft.com/office/drawing/2014/main" val="849280095"/>
                    </a:ext>
                  </a:extLst>
                </a:gridCol>
                <a:gridCol w="1524000">
                  <a:extLst>
                    <a:ext uri="{9D8B030D-6E8A-4147-A177-3AD203B41FA5}">
                      <a16:colId xmlns:a16="http://schemas.microsoft.com/office/drawing/2014/main" val="504799605"/>
                    </a:ext>
                  </a:extLst>
                </a:gridCol>
                <a:gridCol w="1524000">
                  <a:extLst>
                    <a:ext uri="{9D8B030D-6E8A-4147-A177-3AD203B41FA5}">
                      <a16:colId xmlns:a16="http://schemas.microsoft.com/office/drawing/2014/main" val="1589875997"/>
                    </a:ext>
                  </a:extLst>
                </a:gridCol>
                <a:gridCol w="1524000">
                  <a:extLst>
                    <a:ext uri="{9D8B030D-6E8A-4147-A177-3AD203B41FA5}">
                      <a16:colId xmlns:a16="http://schemas.microsoft.com/office/drawing/2014/main" val="3137776082"/>
                    </a:ext>
                  </a:extLst>
                </a:gridCol>
              </a:tblGrid>
              <a:tr h="174986">
                <a:tc>
                  <a:txBody>
                    <a:bodyPr/>
                    <a:lstStyle/>
                    <a:p>
                      <a:pPr algn="ctr"/>
                      <a:endParaRPr lang="en-US"/>
                    </a:p>
                  </a:txBody>
                  <a:tcPr/>
                </a:tc>
                <a:tc>
                  <a:txBody>
                    <a:bodyPr/>
                    <a:lstStyle/>
                    <a:p>
                      <a:pPr algn="ctr"/>
                      <a:r>
                        <a:rPr lang="en-US" dirty="0"/>
                        <a:t>Low</a:t>
                      </a:r>
                    </a:p>
                  </a:txBody>
                  <a:tcPr/>
                </a:tc>
                <a:tc>
                  <a:txBody>
                    <a:bodyPr/>
                    <a:lstStyle/>
                    <a:p>
                      <a:pPr algn="ctr"/>
                      <a:r>
                        <a:rPr lang="en-US" dirty="0"/>
                        <a:t>Mid</a:t>
                      </a:r>
                    </a:p>
                  </a:txBody>
                  <a:tcPr/>
                </a:tc>
                <a:tc>
                  <a:txBody>
                    <a:bodyPr/>
                    <a:lstStyle/>
                    <a:p>
                      <a:pPr algn="ctr"/>
                      <a:r>
                        <a:rPr lang="en-US" dirty="0"/>
                        <a:t>High</a:t>
                      </a:r>
                    </a:p>
                  </a:txBody>
                  <a:tcPr/>
                </a:tc>
                <a:extLst>
                  <a:ext uri="{0D108BD9-81ED-4DB2-BD59-A6C34878D82A}">
                    <a16:rowId xmlns:a16="http://schemas.microsoft.com/office/drawing/2014/main" val="100575806"/>
                  </a:ext>
                </a:extLst>
              </a:tr>
              <a:tr h="461424">
                <a:tc>
                  <a:txBody>
                    <a:bodyPr/>
                    <a:lstStyle/>
                    <a:p>
                      <a:pPr algn="ctr"/>
                      <a:r>
                        <a:rPr lang="en-US" dirty="0"/>
                        <a:t>Start State</a:t>
                      </a:r>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264158122"/>
                  </a:ext>
                </a:extLst>
              </a:tr>
              <a:tr h="264086">
                <a:tc>
                  <a:txBody>
                    <a:bodyPr/>
                    <a:lstStyle/>
                    <a:p>
                      <a:pPr algn="ctr"/>
                      <a:r>
                        <a:rPr lang="en-US" dirty="0"/>
                        <a:t>Intermediate State</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443055322"/>
                  </a:ext>
                </a:extLst>
              </a:tr>
              <a:tr h="461424">
                <a:tc>
                  <a:txBody>
                    <a:bodyPr/>
                    <a:lstStyle/>
                    <a:p>
                      <a:pPr algn="ctr"/>
                      <a:r>
                        <a:rPr lang="en-US" dirty="0"/>
                        <a:t>End </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618645196"/>
                  </a:ext>
                </a:extLst>
              </a:tr>
              <a:tr h="461424">
                <a:tc>
                  <a:txBody>
                    <a:bodyPr/>
                    <a:lstStyle/>
                    <a:p>
                      <a:pPr algn="ctr"/>
                      <a:r>
                        <a:rPr lang="en-US" dirty="0"/>
                        <a:t>Step-by-step</a:t>
                      </a:r>
                    </a:p>
                    <a:p>
                      <a:pPr algn="ctr"/>
                      <a:r>
                        <a:rPr lang="en-US" dirty="0"/>
                        <a:t>Reward?</a:t>
                      </a:r>
                    </a:p>
                  </a:txBody>
                  <a:tcPr/>
                </a:tc>
                <a:tc>
                  <a:txBody>
                    <a:bodyPr/>
                    <a:lstStyle/>
                    <a:p>
                      <a:pPr algn="ctr"/>
                      <a:r>
                        <a:rPr lang="en-US" dirty="0"/>
                        <a:t>no</a:t>
                      </a:r>
                    </a:p>
                  </a:txBody>
                  <a:tcPr/>
                </a:tc>
                <a:tc>
                  <a:txBody>
                    <a:bodyPr/>
                    <a:lstStyle/>
                    <a:p>
                      <a:pPr algn="ctr"/>
                      <a:r>
                        <a:rPr lang="en-US" dirty="0"/>
                        <a:t>no</a:t>
                      </a:r>
                    </a:p>
                  </a:txBody>
                  <a:tcPr/>
                </a:tc>
                <a:tc>
                  <a:txBody>
                    <a:bodyPr/>
                    <a:lstStyle/>
                    <a:p>
                      <a:pPr algn="ctr"/>
                      <a:r>
                        <a:rPr lang="en-US" dirty="0"/>
                        <a:t>maybe</a:t>
                      </a:r>
                    </a:p>
                  </a:txBody>
                  <a:tcPr/>
                </a:tc>
                <a:extLst>
                  <a:ext uri="{0D108BD9-81ED-4DB2-BD59-A6C34878D82A}">
                    <a16:rowId xmlns:a16="http://schemas.microsoft.com/office/drawing/2014/main" val="2324410144"/>
                  </a:ext>
                </a:extLst>
              </a:tr>
            </a:tbl>
          </a:graphicData>
        </a:graphic>
      </p:graphicFrame>
      <p:cxnSp>
        <p:nvCxnSpPr>
          <p:cNvPr id="9" name="Straight Connector 8">
            <a:extLst>
              <a:ext uri="{FF2B5EF4-FFF2-40B4-BE49-F238E27FC236}">
                <a16:creationId xmlns:a16="http://schemas.microsoft.com/office/drawing/2014/main" id="{C21A59BD-F75D-8270-0F8B-0496A5F5F019}"/>
              </a:ext>
            </a:extLst>
          </p:cNvPr>
          <p:cNvCxnSpPr>
            <a:cxnSpLocks/>
          </p:cNvCxnSpPr>
          <p:nvPr/>
        </p:nvCxnSpPr>
        <p:spPr>
          <a:xfrm>
            <a:off x="3440690" y="1499598"/>
            <a:ext cx="683311" cy="74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9951007-B8D3-AE87-3164-8DF70C6C7694}"/>
              </a:ext>
            </a:extLst>
          </p:cNvPr>
          <p:cNvSpPr txBox="1"/>
          <p:nvPr/>
        </p:nvSpPr>
        <p:spPr>
          <a:xfrm>
            <a:off x="3361396" y="1530589"/>
            <a:ext cx="841897" cy="307777"/>
          </a:xfrm>
          <a:prstGeom prst="rect">
            <a:avLst/>
          </a:prstGeom>
          <a:noFill/>
        </p:spPr>
        <p:txBody>
          <a:bodyPr wrap="none" rtlCol="0">
            <a:spAutoFit/>
          </a:bodyPr>
          <a:lstStyle/>
          <a:p>
            <a:r>
              <a:rPr lang="en-US" dirty="0">
                <a:solidFill>
                  <a:schemeClr val="accent1"/>
                </a:solidFill>
              </a:rPr>
              <a:t>extrinsic</a:t>
            </a:r>
          </a:p>
        </p:txBody>
      </p:sp>
      <p:cxnSp>
        <p:nvCxnSpPr>
          <p:cNvPr id="11" name="Straight Connector 10">
            <a:extLst>
              <a:ext uri="{FF2B5EF4-FFF2-40B4-BE49-F238E27FC236}">
                <a16:creationId xmlns:a16="http://schemas.microsoft.com/office/drawing/2014/main" id="{9DE4E65D-6A7D-9E27-6E0C-86A6841E1A1E}"/>
              </a:ext>
            </a:extLst>
          </p:cNvPr>
          <p:cNvCxnSpPr>
            <a:cxnSpLocks/>
          </p:cNvCxnSpPr>
          <p:nvPr/>
        </p:nvCxnSpPr>
        <p:spPr>
          <a:xfrm>
            <a:off x="4731063" y="1538389"/>
            <a:ext cx="126329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9305096-6EE7-9B65-23A3-CDDA0D1806DF}"/>
              </a:ext>
            </a:extLst>
          </p:cNvPr>
          <p:cNvSpPr txBox="1"/>
          <p:nvPr/>
        </p:nvSpPr>
        <p:spPr>
          <a:xfrm>
            <a:off x="4966609" y="1557695"/>
            <a:ext cx="792205" cy="307777"/>
          </a:xfrm>
          <a:prstGeom prst="rect">
            <a:avLst/>
          </a:prstGeom>
          <a:noFill/>
        </p:spPr>
        <p:txBody>
          <a:bodyPr wrap="none" rtlCol="0">
            <a:spAutoFit/>
          </a:bodyPr>
          <a:lstStyle/>
          <a:p>
            <a:r>
              <a:rPr lang="en-US" dirty="0">
                <a:solidFill>
                  <a:srgbClr val="C00000"/>
                </a:solidFill>
              </a:rPr>
              <a:t>intrinsic</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AA8A5AF-13E0-ADD8-73F0-24795870F0DB}"/>
                  </a:ext>
                </a:extLst>
              </p:cNvPr>
              <p:cNvSpPr txBox="1"/>
              <p:nvPr/>
            </p:nvSpPr>
            <p:spPr>
              <a:xfrm>
                <a:off x="2351360" y="1088063"/>
                <a:ext cx="4253952" cy="41524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rPr>
                        <m:t>R</m:t>
                      </m:r>
                      <m:r>
                        <a:rPr lang="en-US" sz="1800" i="1">
                          <a:latin typeface="Cambria Math" panose="02040503050406030204" pitchFamily="18" charset="0"/>
                        </a:rPr>
                        <m:t>=</m:t>
                      </m:r>
                      <m:r>
                        <a:rPr lang="en-US" sz="1800" b="0" i="1" smtClean="0">
                          <a:latin typeface="Cambria Math" panose="02040503050406030204" pitchFamily="18" charset="0"/>
                        </a:rPr>
                        <m:t>𝑟</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𝑆</m:t>
                          </m:r>
                        </m:e>
                        <m:sub>
                          <m:r>
                            <a:rPr lang="en-US" sz="1800" b="0" i="1" smtClean="0">
                              <a:latin typeface="Cambria Math" panose="02040503050406030204" pitchFamily="18" charset="0"/>
                            </a:rPr>
                            <m:t>𝑡</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r>
                        <a:rPr lang="en-US" sz="1800" b="0" i="1" smtClean="0">
                          <a:latin typeface="Cambria Math" panose="02040503050406030204" pitchFamily="18" charset="0"/>
                        </a:rPr>
                        <m:t>𝜷</m:t>
                      </m:r>
                      <m:r>
                        <a:rPr lang="en-US" altLang="zh-CN" sz="1800" b="0" i="1" smtClean="0">
                          <a:latin typeface="Cambria Math" panose="02040503050406030204" pitchFamily="18" charset="0"/>
                        </a:rPr>
                        <m:t>·</m:t>
                      </m:r>
                      <m:r>
                        <a:rPr lang="en-US" sz="1800" b="0" i="1" smtClean="0">
                          <a:latin typeface="Cambria Math" panose="02040503050406030204" pitchFamily="18" charset="0"/>
                        </a:rPr>
                        <m:t>h</m:t>
                      </m:r>
                      <m:d>
                        <m:dPr>
                          <m:ctrlPr>
                            <a:rPr lang="en-US" sz="1800" b="0" i="1" smtClean="0">
                              <a:latin typeface="Cambria Math" panose="02040503050406030204" pitchFamily="18" charset="0"/>
                            </a:rPr>
                          </m:ctrlPr>
                        </m:dPr>
                        <m:e>
                          <m:r>
                            <a:rPr lang="en-US" sz="1800" i="1">
                              <a:latin typeface="Cambria Math" panose="02040503050406030204" pitchFamily="18" charset="0"/>
                            </a:rPr>
                            <m:t>𝑓</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𝑡</m:t>
                                  </m:r>
                                </m:sub>
                              </m:sSub>
                            </m:e>
                          </m:d>
                        </m:e>
                      </m:d>
                    </m:oMath>
                  </m:oMathPara>
                </a14:m>
                <a:endParaRPr lang="en-US" sz="1800" b="0" dirty="0"/>
              </a:p>
            </p:txBody>
          </p:sp>
        </mc:Choice>
        <mc:Fallback xmlns="">
          <p:sp>
            <p:nvSpPr>
              <p:cNvPr id="14" name="TextBox 13">
                <a:extLst>
                  <a:ext uri="{FF2B5EF4-FFF2-40B4-BE49-F238E27FC236}">
                    <a16:creationId xmlns:a16="http://schemas.microsoft.com/office/drawing/2014/main" id="{8AA8A5AF-13E0-ADD8-73F0-24795870F0DB}"/>
                  </a:ext>
                </a:extLst>
              </p:cNvPr>
              <p:cNvSpPr txBox="1">
                <a:spLocks noRot="1" noChangeAspect="1" noMove="1" noResize="1" noEditPoints="1" noAdjustHandles="1" noChangeArrowheads="1" noChangeShapeType="1" noTextEdit="1"/>
              </p:cNvSpPr>
              <p:nvPr/>
            </p:nvSpPr>
            <p:spPr>
              <a:xfrm>
                <a:off x="2351360" y="1088063"/>
                <a:ext cx="4253952" cy="415242"/>
              </a:xfrm>
              <a:prstGeom prst="rect">
                <a:avLst/>
              </a:prstGeom>
              <a:blipFill>
                <a:blip r:embed="rId2"/>
                <a:stretch>
                  <a:fillRect b="-5882"/>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DD507AE9-E37C-8E97-ED93-F7BBED50A832}"/>
              </a:ext>
            </a:extLst>
          </p:cNvPr>
          <p:cNvSpPr/>
          <p:nvPr/>
        </p:nvSpPr>
        <p:spPr>
          <a:xfrm>
            <a:off x="3401042" y="1078284"/>
            <a:ext cx="762603" cy="773877"/>
          </a:xfrm>
          <a:prstGeom prst="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1771;p83">
            <a:extLst>
              <a:ext uri="{FF2B5EF4-FFF2-40B4-BE49-F238E27FC236}">
                <a16:creationId xmlns:a16="http://schemas.microsoft.com/office/drawing/2014/main" id="{32C02F45-28AD-3579-DBBC-D5DF7BFDFEB0}"/>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3" name="Google Shape;1772;p83">
            <a:extLst>
              <a:ext uri="{FF2B5EF4-FFF2-40B4-BE49-F238E27FC236}">
                <a16:creationId xmlns:a16="http://schemas.microsoft.com/office/drawing/2014/main" id="{B18FD36C-172D-171C-E0AA-68E94E1CE7EB}"/>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5" name="Google Shape;1773;p83">
            <a:extLst>
              <a:ext uri="{FF2B5EF4-FFF2-40B4-BE49-F238E27FC236}">
                <a16:creationId xmlns:a16="http://schemas.microsoft.com/office/drawing/2014/main" id="{C8C17719-DDD2-7FA9-FA7F-4FB90E4AB286}"/>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6" name="Google Shape;1774;p83">
            <a:extLst>
              <a:ext uri="{FF2B5EF4-FFF2-40B4-BE49-F238E27FC236}">
                <a16:creationId xmlns:a16="http://schemas.microsoft.com/office/drawing/2014/main" id="{C9BA4034-6E79-77FE-9B8A-6C68D25C5C1B}"/>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pic>
        <p:nvPicPr>
          <p:cNvPr id="17" name="Picture 4" descr="Check mark ">
            <a:extLst>
              <a:ext uri="{FF2B5EF4-FFF2-40B4-BE49-F238E27FC236}">
                <a16:creationId xmlns:a16="http://schemas.microsoft.com/office/drawing/2014/main" id="{FC288268-5549-3594-812F-B8530A911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81" y="2821009"/>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Check mark ">
            <a:extLst>
              <a:ext uri="{FF2B5EF4-FFF2-40B4-BE49-F238E27FC236}">
                <a16:creationId xmlns:a16="http://schemas.microsoft.com/office/drawing/2014/main" id="{F41C809B-C267-6084-CC61-ABB833A2D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80" y="3257610"/>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Check mark ">
            <a:extLst>
              <a:ext uri="{FF2B5EF4-FFF2-40B4-BE49-F238E27FC236}">
                <a16:creationId xmlns:a16="http://schemas.microsoft.com/office/drawing/2014/main" id="{187ABF0D-2719-D137-C3F3-E8F8413EC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80" y="3769421"/>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heck mark ">
            <a:extLst>
              <a:ext uri="{FF2B5EF4-FFF2-40B4-BE49-F238E27FC236}">
                <a16:creationId xmlns:a16="http://schemas.microsoft.com/office/drawing/2014/main" id="{214EE4C0-D18D-C28B-CBA6-940F503C6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0149" y="3769421"/>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Check mark ">
            <a:extLst>
              <a:ext uri="{FF2B5EF4-FFF2-40B4-BE49-F238E27FC236}">
                <a16:creationId xmlns:a16="http://schemas.microsoft.com/office/drawing/2014/main" id="{6D80B700-8FF8-177F-66F8-376B633AC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689" y="3769420"/>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Check mark ">
            <a:extLst>
              <a:ext uri="{FF2B5EF4-FFF2-40B4-BE49-F238E27FC236}">
                <a16:creationId xmlns:a16="http://schemas.microsoft.com/office/drawing/2014/main" id="{10324E02-6491-DBB4-48A2-607C1C1138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0148" y="2815009"/>
            <a:ext cx="442601" cy="442601"/>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Shape ">
            <a:extLst>
              <a:ext uri="{FF2B5EF4-FFF2-40B4-BE49-F238E27FC236}">
                <a16:creationId xmlns:a16="http://schemas.microsoft.com/office/drawing/2014/main" id="{9DBE3D9F-ACF2-9CFA-C161-19A8C1702F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1042" y="2735722"/>
            <a:ext cx="521886" cy="52188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Shape ">
            <a:extLst>
              <a:ext uri="{FF2B5EF4-FFF2-40B4-BE49-F238E27FC236}">
                <a16:creationId xmlns:a16="http://schemas.microsoft.com/office/drawing/2014/main" id="{C0E5D991-38F0-FC50-8C04-069D337428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0446" y="3211281"/>
            <a:ext cx="521886" cy="5218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Shape ">
            <a:extLst>
              <a:ext uri="{FF2B5EF4-FFF2-40B4-BE49-F238E27FC236}">
                <a16:creationId xmlns:a16="http://schemas.microsoft.com/office/drawing/2014/main" id="{D92579AA-19A7-05A3-D96A-6E324EBDDB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863" y="3211281"/>
            <a:ext cx="521886" cy="521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646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AD23-570E-A84B-F3F7-9DC9D2743E9F}"/>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15ACA96F-D5D9-32C1-4099-6E00B8B80F8D}"/>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RQ2: Is the step-by-step reward always available?</a:t>
            </a:r>
          </a:p>
        </p:txBody>
      </p:sp>
      <p:sp>
        <p:nvSpPr>
          <p:cNvPr id="2" name="TextBox 1">
            <a:extLst>
              <a:ext uri="{FF2B5EF4-FFF2-40B4-BE49-F238E27FC236}">
                <a16:creationId xmlns:a16="http://schemas.microsoft.com/office/drawing/2014/main" id="{2A3C7DB2-4DFA-92B1-B340-61E4AE3BA1CF}"/>
              </a:ext>
            </a:extLst>
          </p:cNvPr>
          <p:cNvSpPr txBox="1"/>
          <p:nvPr/>
        </p:nvSpPr>
        <p:spPr>
          <a:xfrm>
            <a:off x="424507" y="1865650"/>
            <a:ext cx="4564070" cy="646331"/>
          </a:xfrm>
          <a:prstGeom prst="rect">
            <a:avLst/>
          </a:prstGeom>
          <a:noFill/>
        </p:spPr>
        <p:txBody>
          <a:bodyPr wrap="none" rtlCol="0">
            <a:spAutoFit/>
          </a:bodyPr>
          <a:lstStyle/>
          <a:p>
            <a:pPr marL="285750" indent="-285750">
              <a:buFont typeface="Arial" panose="020B0604020202020204" pitchFamily="34" charset="0"/>
              <a:buChar char="•"/>
            </a:pPr>
            <a:r>
              <a:rPr lang="en-US" sz="1800" dirty="0"/>
              <a:t>Depends on the data regime</a:t>
            </a:r>
          </a:p>
          <a:p>
            <a:pPr marL="285750" indent="-285750">
              <a:buFont typeface="Arial" panose="020B0604020202020204" pitchFamily="34" charset="0"/>
              <a:buChar char="•"/>
            </a:pPr>
            <a:r>
              <a:rPr lang="en-US" sz="1800" dirty="0"/>
              <a:t>What if there is no step-by-step reward?</a:t>
            </a:r>
          </a:p>
        </p:txBody>
      </p:sp>
      <p:cxnSp>
        <p:nvCxnSpPr>
          <p:cNvPr id="9" name="Straight Connector 8">
            <a:extLst>
              <a:ext uri="{FF2B5EF4-FFF2-40B4-BE49-F238E27FC236}">
                <a16:creationId xmlns:a16="http://schemas.microsoft.com/office/drawing/2014/main" id="{481D9185-A14B-35C7-CC21-E47A8B7C27E0}"/>
              </a:ext>
            </a:extLst>
          </p:cNvPr>
          <p:cNvCxnSpPr>
            <a:cxnSpLocks/>
          </p:cNvCxnSpPr>
          <p:nvPr/>
        </p:nvCxnSpPr>
        <p:spPr>
          <a:xfrm>
            <a:off x="3440690" y="1499598"/>
            <a:ext cx="683311" cy="74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BC4F9D3-363A-334F-5FEB-7CA935D57B48}"/>
              </a:ext>
            </a:extLst>
          </p:cNvPr>
          <p:cNvSpPr txBox="1"/>
          <p:nvPr/>
        </p:nvSpPr>
        <p:spPr>
          <a:xfrm>
            <a:off x="3361396" y="1530589"/>
            <a:ext cx="841897" cy="307777"/>
          </a:xfrm>
          <a:prstGeom prst="rect">
            <a:avLst/>
          </a:prstGeom>
          <a:noFill/>
        </p:spPr>
        <p:txBody>
          <a:bodyPr wrap="none" rtlCol="0">
            <a:spAutoFit/>
          </a:bodyPr>
          <a:lstStyle/>
          <a:p>
            <a:r>
              <a:rPr lang="en-US" dirty="0">
                <a:solidFill>
                  <a:schemeClr val="accent1"/>
                </a:solidFill>
              </a:rPr>
              <a:t>extrinsic</a:t>
            </a:r>
          </a:p>
        </p:txBody>
      </p:sp>
      <p:cxnSp>
        <p:nvCxnSpPr>
          <p:cNvPr id="11" name="Straight Connector 10">
            <a:extLst>
              <a:ext uri="{FF2B5EF4-FFF2-40B4-BE49-F238E27FC236}">
                <a16:creationId xmlns:a16="http://schemas.microsoft.com/office/drawing/2014/main" id="{1811ECAE-ACF7-880A-B42E-3CC6D12FEA80}"/>
              </a:ext>
            </a:extLst>
          </p:cNvPr>
          <p:cNvCxnSpPr>
            <a:cxnSpLocks/>
          </p:cNvCxnSpPr>
          <p:nvPr/>
        </p:nvCxnSpPr>
        <p:spPr>
          <a:xfrm>
            <a:off x="4731063" y="1538389"/>
            <a:ext cx="126329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FDB0C29-D480-E1FD-BF70-EC9B8E800783}"/>
              </a:ext>
            </a:extLst>
          </p:cNvPr>
          <p:cNvSpPr txBox="1"/>
          <p:nvPr/>
        </p:nvSpPr>
        <p:spPr>
          <a:xfrm>
            <a:off x="4966609" y="1557695"/>
            <a:ext cx="792205" cy="307777"/>
          </a:xfrm>
          <a:prstGeom prst="rect">
            <a:avLst/>
          </a:prstGeom>
          <a:noFill/>
        </p:spPr>
        <p:txBody>
          <a:bodyPr wrap="none" rtlCol="0">
            <a:spAutoFit/>
          </a:bodyPr>
          <a:lstStyle/>
          <a:p>
            <a:r>
              <a:rPr lang="en-US" dirty="0">
                <a:solidFill>
                  <a:srgbClr val="C00000"/>
                </a:solidFill>
              </a:rPr>
              <a:t>intrinsic</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697C281-04AF-F65D-CA19-10F100273017}"/>
                  </a:ext>
                </a:extLst>
              </p:cNvPr>
              <p:cNvSpPr txBox="1"/>
              <p:nvPr/>
            </p:nvSpPr>
            <p:spPr>
              <a:xfrm>
                <a:off x="2351360" y="1088063"/>
                <a:ext cx="4253952" cy="43973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R</m:t>
                      </m:r>
                      <m:r>
                        <a:rPr lang="en-US" sz="2000" i="1">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𝜷</m:t>
                      </m:r>
                      <m:r>
                        <a:rPr lang="en-US" altLang="zh-CN"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r>
                            <a:rPr lang="en-US" sz="2000" i="1">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e>
                      </m:d>
                    </m:oMath>
                  </m:oMathPara>
                </a14:m>
                <a:endParaRPr lang="en-US" sz="2000" b="0" dirty="0"/>
              </a:p>
            </p:txBody>
          </p:sp>
        </mc:Choice>
        <mc:Fallback xmlns="">
          <p:sp>
            <p:nvSpPr>
              <p:cNvPr id="14" name="TextBox 13">
                <a:extLst>
                  <a:ext uri="{FF2B5EF4-FFF2-40B4-BE49-F238E27FC236}">
                    <a16:creationId xmlns:a16="http://schemas.microsoft.com/office/drawing/2014/main" id="{F697C281-04AF-F65D-CA19-10F100273017}"/>
                  </a:ext>
                </a:extLst>
              </p:cNvPr>
              <p:cNvSpPr txBox="1">
                <a:spLocks noRot="1" noChangeAspect="1" noMove="1" noResize="1" noEditPoints="1" noAdjustHandles="1" noChangeArrowheads="1" noChangeShapeType="1" noTextEdit="1"/>
              </p:cNvSpPr>
              <p:nvPr/>
            </p:nvSpPr>
            <p:spPr>
              <a:xfrm>
                <a:off x="2351360" y="1088063"/>
                <a:ext cx="4253952" cy="439736"/>
              </a:xfrm>
              <a:prstGeom prst="rect">
                <a:avLst/>
              </a:prstGeom>
              <a:blipFill>
                <a:blip r:embed="rId2"/>
                <a:stretch>
                  <a:fillRect b="-8333"/>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DDE50642-26CF-AD3C-6090-B02885189B6C}"/>
              </a:ext>
            </a:extLst>
          </p:cNvPr>
          <p:cNvSpPr/>
          <p:nvPr/>
        </p:nvSpPr>
        <p:spPr>
          <a:xfrm>
            <a:off x="3401042" y="1078284"/>
            <a:ext cx="762603" cy="773877"/>
          </a:xfrm>
          <a:prstGeom prst="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1877;p85">
            <a:extLst>
              <a:ext uri="{FF2B5EF4-FFF2-40B4-BE49-F238E27FC236}">
                <a16:creationId xmlns:a16="http://schemas.microsoft.com/office/drawing/2014/main" id="{B47BF001-1541-9C60-DA88-742B54B769FF}"/>
              </a:ext>
            </a:extLst>
          </p:cNvPr>
          <p:cNvSpPr/>
          <p:nvPr/>
        </p:nvSpPr>
        <p:spPr>
          <a:xfrm>
            <a:off x="5058439" y="4055283"/>
            <a:ext cx="2230321" cy="855800"/>
          </a:xfrm>
          <a:prstGeom prst="wedgeRectCallout">
            <a:avLst>
              <a:gd name="adj1" fmla="val -23773"/>
              <a:gd name="adj2" fmla="val -104593"/>
            </a:avLst>
          </a:prstGeom>
          <a:solidFill>
            <a:srgbClr val="FFC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800" dirty="0"/>
              <a:t>Talk about it more in </a:t>
            </a:r>
            <a:r>
              <a:rPr lang="en-US" sz="1800" b="1" u="sng" dirty="0"/>
              <a:t>Eval section</a:t>
            </a:r>
            <a:r>
              <a:rPr lang="en-US" sz="1800" dirty="0"/>
              <a:t>.</a:t>
            </a:r>
            <a:endParaRPr sz="1800" dirty="0"/>
          </a:p>
        </p:txBody>
      </p:sp>
      <p:sp>
        <p:nvSpPr>
          <p:cNvPr id="13" name="TextBox 12">
            <a:extLst>
              <a:ext uri="{FF2B5EF4-FFF2-40B4-BE49-F238E27FC236}">
                <a16:creationId xmlns:a16="http://schemas.microsoft.com/office/drawing/2014/main" id="{DA0CB2BC-694F-91A3-0A46-113C7808C707}"/>
              </a:ext>
            </a:extLst>
          </p:cNvPr>
          <p:cNvSpPr txBox="1"/>
          <p:nvPr/>
        </p:nvSpPr>
        <p:spPr>
          <a:xfrm>
            <a:off x="2676307" y="2993904"/>
            <a:ext cx="3467616" cy="461665"/>
          </a:xfrm>
          <a:prstGeom prst="rect">
            <a:avLst/>
          </a:prstGeom>
          <a:noFill/>
        </p:spPr>
        <p:txBody>
          <a:bodyPr wrap="none" rtlCol="0">
            <a:spAutoFit/>
          </a:bodyPr>
          <a:lstStyle/>
          <a:p>
            <a:r>
              <a:rPr lang="en-US" sz="2400" b="1" dirty="0"/>
              <a:t>Learn a reward model!</a:t>
            </a:r>
          </a:p>
        </p:txBody>
      </p:sp>
      <p:sp>
        <p:nvSpPr>
          <p:cNvPr id="15" name="Google Shape;1771;p83">
            <a:extLst>
              <a:ext uri="{FF2B5EF4-FFF2-40B4-BE49-F238E27FC236}">
                <a16:creationId xmlns:a16="http://schemas.microsoft.com/office/drawing/2014/main" id="{DAF7FBE7-D09E-4BB2-748E-8D82FCA5DA70}"/>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6" name="Google Shape;1772;p83">
            <a:extLst>
              <a:ext uri="{FF2B5EF4-FFF2-40B4-BE49-F238E27FC236}">
                <a16:creationId xmlns:a16="http://schemas.microsoft.com/office/drawing/2014/main" id="{5147A2C6-2840-0714-5E2E-8BF0A023E692}"/>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7" name="Google Shape;1773;p83">
            <a:extLst>
              <a:ext uri="{FF2B5EF4-FFF2-40B4-BE49-F238E27FC236}">
                <a16:creationId xmlns:a16="http://schemas.microsoft.com/office/drawing/2014/main" id="{521A1A49-A043-B4AC-0FC9-1FEE1EBA956B}"/>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8" name="Google Shape;1774;p83">
            <a:extLst>
              <a:ext uri="{FF2B5EF4-FFF2-40B4-BE49-F238E27FC236}">
                <a16:creationId xmlns:a16="http://schemas.microsoft.com/office/drawing/2014/main" id="{742725CF-1C20-EDEE-8246-492FB5ED027B}"/>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61182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68779-0C90-37BB-FB95-8B81DA5B4ACD}"/>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6F7E329F-A0A3-564D-DCDE-5D377AB4F346}"/>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RQ3: Can rule-based heuristics lead to true creativity?</a:t>
            </a:r>
          </a:p>
        </p:txBody>
      </p:sp>
      <p:sp>
        <p:nvSpPr>
          <p:cNvPr id="2" name="TextBox 1">
            <a:extLst>
              <a:ext uri="{FF2B5EF4-FFF2-40B4-BE49-F238E27FC236}">
                <a16:creationId xmlns:a16="http://schemas.microsoft.com/office/drawing/2014/main" id="{C3D42F16-35FD-C8AA-D276-61148A60EBDB}"/>
              </a:ext>
            </a:extLst>
          </p:cNvPr>
          <p:cNvSpPr txBox="1"/>
          <p:nvPr/>
        </p:nvSpPr>
        <p:spPr>
          <a:xfrm>
            <a:off x="599632" y="2048530"/>
            <a:ext cx="8402700" cy="1200329"/>
          </a:xfrm>
          <a:prstGeom prst="rect">
            <a:avLst/>
          </a:prstGeom>
          <a:noFill/>
        </p:spPr>
        <p:txBody>
          <a:bodyPr wrap="square" rtlCol="0">
            <a:spAutoFit/>
          </a:bodyPr>
          <a:lstStyle/>
          <a:p>
            <a:pPr marL="285750" indent="-285750">
              <a:buFont typeface="Arial" panose="020B0604020202020204" pitchFamily="34" charset="0"/>
              <a:buChar char="•"/>
            </a:pPr>
            <a:r>
              <a:rPr lang="en-US" sz="1800" dirty="0"/>
              <a:t>Exploitation vs. Exploration </a:t>
            </a:r>
          </a:p>
          <a:p>
            <a:pPr marL="285750" indent="-285750">
              <a:buFont typeface="Arial" panose="020B0604020202020204" pitchFamily="34" charset="0"/>
              <a:buChar char="•"/>
            </a:pPr>
            <a:r>
              <a:rPr lang="en-US" sz="1800" dirty="0"/>
              <a:t>The extrinsic reward motivates </a:t>
            </a:r>
            <a:r>
              <a:rPr lang="en-US" sz="1800" b="1" u="sng" dirty="0"/>
              <a:t>exploitation</a:t>
            </a:r>
          </a:p>
          <a:p>
            <a:pPr marL="285750" indent="-285750">
              <a:buFont typeface="Arial" panose="020B0604020202020204" pitchFamily="34" charset="0"/>
              <a:buChar char="•"/>
            </a:pPr>
            <a:r>
              <a:rPr lang="en-US" sz="1800" dirty="0"/>
              <a:t>The intrinsic reward motivates </a:t>
            </a:r>
            <a:r>
              <a:rPr lang="en-US" sz="1800" b="1" u="sng" dirty="0"/>
              <a:t>exploration</a:t>
            </a:r>
          </a:p>
          <a:p>
            <a:endParaRPr lang="en-US" sz="1800" dirty="0"/>
          </a:p>
        </p:txBody>
      </p:sp>
      <p:cxnSp>
        <p:nvCxnSpPr>
          <p:cNvPr id="8" name="Straight Connector 7">
            <a:extLst>
              <a:ext uri="{FF2B5EF4-FFF2-40B4-BE49-F238E27FC236}">
                <a16:creationId xmlns:a16="http://schemas.microsoft.com/office/drawing/2014/main" id="{9B92C5BD-327B-E50B-685E-095FFCAB5D62}"/>
              </a:ext>
            </a:extLst>
          </p:cNvPr>
          <p:cNvCxnSpPr>
            <a:cxnSpLocks/>
          </p:cNvCxnSpPr>
          <p:nvPr/>
        </p:nvCxnSpPr>
        <p:spPr>
          <a:xfrm>
            <a:off x="3440690" y="1499598"/>
            <a:ext cx="683311" cy="741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B874414-D27D-AF41-2AA6-BA1070BA88E3}"/>
              </a:ext>
            </a:extLst>
          </p:cNvPr>
          <p:cNvSpPr txBox="1"/>
          <p:nvPr/>
        </p:nvSpPr>
        <p:spPr>
          <a:xfrm>
            <a:off x="3361396" y="1530589"/>
            <a:ext cx="841897" cy="307777"/>
          </a:xfrm>
          <a:prstGeom prst="rect">
            <a:avLst/>
          </a:prstGeom>
          <a:noFill/>
        </p:spPr>
        <p:txBody>
          <a:bodyPr wrap="none" rtlCol="0">
            <a:spAutoFit/>
          </a:bodyPr>
          <a:lstStyle/>
          <a:p>
            <a:r>
              <a:rPr lang="en-US" dirty="0">
                <a:solidFill>
                  <a:schemeClr val="accent1"/>
                </a:solidFill>
              </a:rPr>
              <a:t>extrinsic</a:t>
            </a:r>
          </a:p>
        </p:txBody>
      </p:sp>
      <p:cxnSp>
        <p:nvCxnSpPr>
          <p:cNvPr id="21" name="Straight Connector 20">
            <a:extLst>
              <a:ext uri="{FF2B5EF4-FFF2-40B4-BE49-F238E27FC236}">
                <a16:creationId xmlns:a16="http://schemas.microsoft.com/office/drawing/2014/main" id="{E019E0C1-AB81-2770-1588-414AEC5CE724}"/>
              </a:ext>
            </a:extLst>
          </p:cNvPr>
          <p:cNvCxnSpPr>
            <a:cxnSpLocks/>
          </p:cNvCxnSpPr>
          <p:nvPr/>
        </p:nvCxnSpPr>
        <p:spPr>
          <a:xfrm>
            <a:off x="4731063" y="1538389"/>
            <a:ext cx="126329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BF8BCDA-B598-0E2C-DE14-E7E4AD1EBD90}"/>
              </a:ext>
            </a:extLst>
          </p:cNvPr>
          <p:cNvSpPr txBox="1"/>
          <p:nvPr/>
        </p:nvSpPr>
        <p:spPr>
          <a:xfrm>
            <a:off x="4966609" y="1557695"/>
            <a:ext cx="792205" cy="307777"/>
          </a:xfrm>
          <a:prstGeom prst="rect">
            <a:avLst/>
          </a:prstGeom>
          <a:noFill/>
        </p:spPr>
        <p:txBody>
          <a:bodyPr wrap="none" rtlCol="0">
            <a:spAutoFit/>
          </a:bodyPr>
          <a:lstStyle/>
          <a:p>
            <a:r>
              <a:rPr lang="en-US" dirty="0">
                <a:solidFill>
                  <a:srgbClr val="C00000"/>
                </a:solidFill>
              </a:rPr>
              <a:t>intrinsic</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9294168-BFE8-C0C9-4861-D8793627DE97}"/>
                  </a:ext>
                </a:extLst>
              </p:cNvPr>
              <p:cNvSpPr txBox="1"/>
              <p:nvPr/>
            </p:nvSpPr>
            <p:spPr>
              <a:xfrm>
                <a:off x="2351360" y="1088063"/>
                <a:ext cx="4253952" cy="43973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R</m:t>
                      </m:r>
                      <m:r>
                        <a:rPr lang="en-US" sz="2000" i="1">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𝜷</m:t>
                      </m:r>
                      <m:r>
                        <a:rPr lang="en-US" altLang="zh-CN" sz="2000" b="0" i="1" smtClean="0">
                          <a:latin typeface="Cambria Math" panose="02040503050406030204" pitchFamily="18" charset="0"/>
                        </a:rPr>
                        <m:t>·</m:t>
                      </m:r>
                      <m:r>
                        <a:rPr lang="en-US" sz="2000" b="0" i="1" smtClean="0">
                          <a:latin typeface="Cambria Math" panose="02040503050406030204" pitchFamily="18" charset="0"/>
                        </a:rPr>
                        <m:t>h</m:t>
                      </m:r>
                      <m:d>
                        <m:dPr>
                          <m:ctrlPr>
                            <a:rPr lang="en-US" sz="2000" b="0" i="1" smtClean="0">
                              <a:latin typeface="Cambria Math" panose="02040503050406030204" pitchFamily="18" charset="0"/>
                            </a:rPr>
                          </m:ctrlPr>
                        </m:dPr>
                        <m:e>
                          <m:r>
                            <a:rPr lang="en-US" sz="2000" i="1">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e>
                      </m:d>
                    </m:oMath>
                  </m:oMathPara>
                </a14:m>
                <a:endParaRPr lang="en-US" sz="2000" b="0" dirty="0"/>
              </a:p>
            </p:txBody>
          </p:sp>
        </mc:Choice>
        <mc:Fallback xmlns="">
          <p:sp>
            <p:nvSpPr>
              <p:cNvPr id="23" name="TextBox 22">
                <a:extLst>
                  <a:ext uri="{FF2B5EF4-FFF2-40B4-BE49-F238E27FC236}">
                    <a16:creationId xmlns:a16="http://schemas.microsoft.com/office/drawing/2014/main" id="{49294168-BFE8-C0C9-4861-D8793627DE97}"/>
                  </a:ext>
                </a:extLst>
              </p:cNvPr>
              <p:cNvSpPr txBox="1">
                <a:spLocks noRot="1" noChangeAspect="1" noMove="1" noResize="1" noEditPoints="1" noAdjustHandles="1" noChangeArrowheads="1" noChangeShapeType="1" noTextEdit="1"/>
              </p:cNvSpPr>
              <p:nvPr/>
            </p:nvSpPr>
            <p:spPr>
              <a:xfrm>
                <a:off x="2351360" y="1088063"/>
                <a:ext cx="4253952" cy="439736"/>
              </a:xfrm>
              <a:prstGeom prst="rect">
                <a:avLst/>
              </a:prstGeom>
              <a:blipFill>
                <a:blip r:embed="rId2"/>
                <a:stretch>
                  <a:fillRect b="-8333"/>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96092CF4-2306-35F9-4EE2-90A4F8C85893}"/>
              </a:ext>
            </a:extLst>
          </p:cNvPr>
          <p:cNvSpPr/>
          <p:nvPr/>
        </p:nvSpPr>
        <p:spPr>
          <a:xfrm>
            <a:off x="4695188" y="1017725"/>
            <a:ext cx="1299173" cy="8477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0FB57DB-5A05-0FF7-1732-082816228860}"/>
              </a:ext>
            </a:extLst>
          </p:cNvPr>
          <p:cNvSpPr txBox="1"/>
          <p:nvPr/>
        </p:nvSpPr>
        <p:spPr>
          <a:xfrm>
            <a:off x="7100" y="4835723"/>
            <a:ext cx="9133200" cy="307777"/>
          </a:xfrm>
          <a:prstGeom prst="rect">
            <a:avLst/>
          </a:prstGeom>
          <a:solidFill>
            <a:schemeClr val="bg1">
              <a:lumMod val="85000"/>
            </a:schemeClr>
          </a:solidFill>
        </p:spPr>
        <p:txBody>
          <a:bodyPr wrap="square">
            <a:spAutoFit/>
          </a:bodyPr>
          <a:lstStyle/>
          <a:p>
            <a:pPr algn="ctr"/>
            <a:r>
              <a:rPr lang="en-US" b="0" i="0" dirty="0">
                <a:solidFill>
                  <a:srgbClr val="222222"/>
                </a:solidFill>
                <a:effectLst/>
                <a:latin typeface="Arial" panose="020B0604020202020204" pitchFamily="34" charset="0"/>
              </a:rPr>
              <a:t>Lilian Weng. Exploration Strategies in Deep Reinforcement Learning. Blog Post. 2020.</a:t>
            </a:r>
            <a:endParaRPr lang="en-US" dirty="0"/>
          </a:p>
        </p:txBody>
      </p:sp>
      <p:sp>
        <p:nvSpPr>
          <p:cNvPr id="9" name="Google Shape;1771;p83">
            <a:extLst>
              <a:ext uri="{FF2B5EF4-FFF2-40B4-BE49-F238E27FC236}">
                <a16:creationId xmlns:a16="http://schemas.microsoft.com/office/drawing/2014/main" id="{B419D624-ED18-F6A8-EB59-41351106AFBC}"/>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0" name="Google Shape;1772;p83">
            <a:extLst>
              <a:ext uri="{FF2B5EF4-FFF2-40B4-BE49-F238E27FC236}">
                <a16:creationId xmlns:a16="http://schemas.microsoft.com/office/drawing/2014/main" id="{BF48A75D-42FC-0CC1-D07F-7EB015F07AD1}"/>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1" name="Google Shape;1773;p83">
            <a:extLst>
              <a:ext uri="{FF2B5EF4-FFF2-40B4-BE49-F238E27FC236}">
                <a16:creationId xmlns:a16="http://schemas.microsoft.com/office/drawing/2014/main" id="{F11AA949-B3E7-500D-19E3-9D4C7B2876C8}"/>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2" name="Google Shape;1774;p83">
            <a:extLst>
              <a:ext uri="{FF2B5EF4-FFF2-40B4-BE49-F238E27FC236}">
                <a16:creationId xmlns:a16="http://schemas.microsoft.com/office/drawing/2014/main" id="{D6176F7B-FF3B-B1F2-0896-6ED77617A8F6}"/>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8800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0FF11-303E-0339-B452-2A03D3B2685B}"/>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C42EA4E5-6A27-968B-45FA-AF5051560765}"/>
              </a:ext>
            </a:extLst>
          </p:cNvPr>
          <p:cNvSpPr/>
          <p:nvPr/>
        </p:nvSpPr>
        <p:spPr>
          <a:xfrm>
            <a:off x="546410" y="1275725"/>
            <a:ext cx="4164285" cy="3756691"/>
          </a:xfrm>
          <a:custGeom>
            <a:avLst/>
            <a:gdLst>
              <a:gd name="connsiteX0" fmla="*/ 0 w 4164285"/>
              <a:gd name="connsiteY0" fmla="*/ 1878346 h 3756691"/>
              <a:gd name="connsiteX1" fmla="*/ 2082143 w 4164285"/>
              <a:gd name="connsiteY1" fmla="*/ 0 h 3756691"/>
              <a:gd name="connsiteX2" fmla="*/ 4164286 w 4164285"/>
              <a:gd name="connsiteY2" fmla="*/ 1878346 h 3756691"/>
              <a:gd name="connsiteX3" fmla="*/ 2082143 w 4164285"/>
              <a:gd name="connsiteY3" fmla="*/ 3756692 h 3756691"/>
              <a:gd name="connsiteX4" fmla="*/ 0 w 4164285"/>
              <a:gd name="connsiteY4" fmla="*/ 1878346 h 375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4285" h="3756691" fill="none" extrusionOk="0">
                <a:moveTo>
                  <a:pt x="0" y="1878346"/>
                </a:moveTo>
                <a:cubicBezTo>
                  <a:pt x="119056" y="855088"/>
                  <a:pt x="1008396" y="-156797"/>
                  <a:pt x="2082143" y="0"/>
                </a:cubicBezTo>
                <a:cubicBezTo>
                  <a:pt x="2988294" y="-37332"/>
                  <a:pt x="4106490" y="895378"/>
                  <a:pt x="4164286" y="1878346"/>
                </a:cubicBezTo>
                <a:cubicBezTo>
                  <a:pt x="4153432" y="2812219"/>
                  <a:pt x="3192426" y="3811798"/>
                  <a:pt x="2082143" y="3756692"/>
                </a:cubicBezTo>
                <a:cubicBezTo>
                  <a:pt x="1067468" y="3832417"/>
                  <a:pt x="76996" y="2934241"/>
                  <a:pt x="0" y="1878346"/>
                </a:cubicBezTo>
                <a:close/>
              </a:path>
              <a:path w="4164285" h="3756691" stroke="0" extrusionOk="0">
                <a:moveTo>
                  <a:pt x="0" y="1878346"/>
                </a:moveTo>
                <a:cubicBezTo>
                  <a:pt x="-24853" y="825634"/>
                  <a:pt x="681568" y="94069"/>
                  <a:pt x="2082143" y="0"/>
                </a:cubicBezTo>
                <a:cubicBezTo>
                  <a:pt x="3268079" y="7579"/>
                  <a:pt x="3981576" y="846774"/>
                  <a:pt x="4164286" y="1878346"/>
                </a:cubicBezTo>
                <a:cubicBezTo>
                  <a:pt x="4004884" y="3071392"/>
                  <a:pt x="3222144" y="3811606"/>
                  <a:pt x="2082143" y="3756692"/>
                </a:cubicBezTo>
                <a:cubicBezTo>
                  <a:pt x="856751" y="3715408"/>
                  <a:pt x="94937" y="2961090"/>
                  <a:pt x="0" y="1878346"/>
                </a:cubicBezTo>
                <a:close/>
              </a:path>
            </a:pathLst>
          </a:custGeom>
          <a:solidFill>
            <a:srgbClr val="CADFB9"/>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836;p85">
            <a:extLst>
              <a:ext uri="{FF2B5EF4-FFF2-40B4-BE49-F238E27FC236}">
                <a16:creationId xmlns:a16="http://schemas.microsoft.com/office/drawing/2014/main" id="{A8F29FD2-93CA-8E4D-B592-5DBFF18867AA}"/>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Heuristics-driven Search</a:t>
            </a:r>
            <a:endParaRPr lang="en-US" sz="2400" dirty="0"/>
          </a:p>
        </p:txBody>
      </p:sp>
      <p:sp>
        <p:nvSpPr>
          <p:cNvPr id="9" name="Oval 8">
            <a:extLst>
              <a:ext uri="{FF2B5EF4-FFF2-40B4-BE49-F238E27FC236}">
                <a16:creationId xmlns:a16="http://schemas.microsoft.com/office/drawing/2014/main" id="{519BEC15-3BE2-7506-8FDA-A545BB308D0C}"/>
              </a:ext>
            </a:extLst>
          </p:cNvPr>
          <p:cNvSpPr/>
          <p:nvPr/>
        </p:nvSpPr>
        <p:spPr>
          <a:xfrm>
            <a:off x="1693441" y="2503666"/>
            <a:ext cx="1672683" cy="121548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CF73D35-6A01-D573-4F1E-2E5EF38D0B5F}"/>
              </a:ext>
            </a:extLst>
          </p:cNvPr>
          <p:cNvSpPr/>
          <p:nvPr/>
        </p:nvSpPr>
        <p:spPr>
          <a:xfrm>
            <a:off x="1693441" y="1990710"/>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F011E1D-DE81-0C2A-8FEC-CC55B6BDF7B4}"/>
              </a:ext>
            </a:extLst>
          </p:cNvPr>
          <p:cNvSpPr/>
          <p:nvPr/>
        </p:nvSpPr>
        <p:spPr>
          <a:xfrm>
            <a:off x="2715636" y="1724350"/>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C50590E-AB96-3AB3-3CB3-F083C92E22C7}"/>
              </a:ext>
            </a:extLst>
          </p:cNvPr>
          <p:cNvSpPr/>
          <p:nvPr/>
        </p:nvSpPr>
        <p:spPr>
          <a:xfrm>
            <a:off x="3589149" y="2410275"/>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774F708-C981-E684-2D49-2B548F05B6DB}"/>
              </a:ext>
            </a:extLst>
          </p:cNvPr>
          <p:cNvSpPr/>
          <p:nvPr/>
        </p:nvSpPr>
        <p:spPr>
          <a:xfrm>
            <a:off x="2594783" y="2153672"/>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D92FE4D-34CD-B95E-4877-F06227457DE7}"/>
              </a:ext>
            </a:extLst>
          </p:cNvPr>
          <p:cNvSpPr/>
          <p:nvPr/>
        </p:nvSpPr>
        <p:spPr>
          <a:xfrm>
            <a:off x="1200881" y="2844095"/>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54F33DC-4148-F906-804D-057FF161608E}"/>
              </a:ext>
            </a:extLst>
          </p:cNvPr>
          <p:cNvSpPr/>
          <p:nvPr/>
        </p:nvSpPr>
        <p:spPr>
          <a:xfrm>
            <a:off x="3505515" y="3365311"/>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5F7D910-CE63-9908-10FA-86F4293C2296}"/>
              </a:ext>
            </a:extLst>
          </p:cNvPr>
          <p:cNvSpPr/>
          <p:nvPr/>
        </p:nvSpPr>
        <p:spPr>
          <a:xfrm>
            <a:off x="496449" y="1298653"/>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A8E94DD-4AD6-DBB8-76CF-1B1BB1CE2082}"/>
              </a:ext>
            </a:extLst>
          </p:cNvPr>
          <p:cNvSpPr txBox="1"/>
          <p:nvPr/>
        </p:nvSpPr>
        <p:spPr>
          <a:xfrm>
            <a:off x="752974" y="1241104"/>
            <a:ext cx="801823" cy="307777"/>
          </a:xfrm>
          <a:prstGeom prst="rect">
            <a:avLst/>
          </a:prstGeom>
          <a:noFill/>
        </p:spPr>
        <p:txBody>
          <a:bodyPr wrap="none" rtlCol="0">
            <a:spAutoFit/>
          </a:bodyPr>
          <a:lstStyle/>
          <a:p>
            <a:r>
              <a:rPr lang="en-US" dirty="0"/>
              <a:t>Reward</a:t>
            </a:r>
          </a:p>
        </p:txBody>
      </p:sp>
      <p:sp>
        <p:nvSpPr>
          <p:cNvPr id="21" name="TextBox 20">
            <a:extLst>
              <a:ext uri="{FF2B5EF4-FFF2-40B4-BE49-F238E27FC236}">
                <a16:creationId xmlns:a16="http://schemas.microsoft.com/office/drawing/2014/main" id="{692EA428-A8E6-E18C-478E-0BFC5995621E}"/>
              </a:ext>
            </a:extLst>
          </p:cNvPr>
          <p:cNvSpPr txBox="1"/>
          <p:nvPr/>
        </p:nvSpPr>
        <p:spPr>
          <a:xfrm>
            <a:off x="2003284" y="2969405"/>
            <a:ext cx="1120820" cy="369332"/>
          </a:xfrm>
          <a:prstGeom prst="rect">
            <a:avLst/>
          </a:prstGeom>
          <a:noFill/>
        </p:spPr>
        <p:txBody>
          <a:bodyPr wrap="none" rtlCol="0">
            <a:spAutoFit/>
          </a:bodyPr>
          <a:lstStyle/>
          <a:p>
            <a:pPr algn="ctr"/>
            <a:r>
              <a:rPr lang="en-US" sz="1800" dirty="0"/>
              <a:t>Low-PPL</a:t>
            </a:r>
            <a:endParaRPr lang="en-US" dirty="0"/>
          </a:p>
        </p:txBody>
      </p:sp>
      <p:sp>
        <p:nvSpPr>
          <p:cNvPr id="22" name="Right Arrow 21">
            <a:extLst>
              <a:ext uri="{FF2B5EF4-FFF2-40B4-BE49-F238E27FC236}">
                <a16:creationId xmlns:a16="http://schemas.microsoft.com/office/drawing/2014/main" id="{4CE9285F-6B32-D5EC-C6F1-CAF3179CF00D}"/>
              </a:ext>
            </a:extLst>
          </p:cNvPr>
          <p:cNvSpPr/>
          <p:nvPr/>
        </p:nvSpPr>
        <p:spPr>
          <a:xfrm rot="4979551">
            <a:off x="2544594" y="3878871"/>
            <a:ext cx="345688" cy="267312"/>
          </a:xfrm>
          <a:prstGeom prst="rightArrow">
            <a:avLst/>
          </a:prstGeom>
          <a:solidFill>
            <a:schemeClr val="accent1">
              <a:lumMod val="60000"/>
              <a:lumOff val="40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57F4D898-B902-7F37-F148-6F5D789DD5A1}"/>
              </a:ext>
            </a:extLst>
          </p:cNvPr>
          <p:cNvSpPr/>
          <p:nvPr/>
        </p:nvSpPr>
        <p:spPr>
          <a:xfrm rot="7282990">
            <a:off x="1618774" y="3744476"/>
            <a:ext cx="345688" cy="267312"/>
          </a:xfrm>
          <a:prstGeom prst="rightArrow">
            <a:avLst/>
          </a:prstGeom>
          <a:solidFill>
            <a:schemeClr val="accent1">
              <a:lumMod val="60000"/>
              <a:lumOff val="40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FF29AA6E-C433-5820-A833-029AAD0E0D22}"/>
              </a:ext>
            </a:extLst>
          </p:cNvPr>
          <p:cNvSpPr/>
          <p:nvPr/>
        </p:nvSpPr>
        <p:spPr>
          <a:xfrm rot="18275854">
            <a:off x="2976442" y="2212038"/>
            <a:ext cx="345688" cy="267312"/>
          </a:xfrm>
          <a:prstGeom prst="rightArrow">
            <a:avLst/>
          </a:prstGeom>
          <a:solidFill>
            <a:schemeClr val="accent1">
              <a:lumMod val="60000"/>
              <a:lumOff val="40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3102BB7B-9E8C-B8CE-46C8-3971457AA043}"/>
              </a:ext>
            </a:extLst>
          </p:cNvPr>
          <p:cNvSpPr/>
          <p:nvPr/>
        </p:nvSpPr>
        <p:spPr>
          <a:xfrm rot="12875552">
            <a:off x="1601046" y="2339612"/>
            <a:ext cx="345688" cy="267312"/>
          </a:xfrm>
          <a:prstGeom prst="rightArrow">
            <a:avLst/>
          </a:prstGeom>
          <a:solidFill>
            <a:schemeClr val="accent1">
              <a:lumMod val="60000"/>
              <a:lumOff val="40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8085130-E93B-7145-029A-9104EDC102A1}"/>
              </a:ext>
            </a:extLst>
          </p:cNvPr>
          <p:cNvSpPr txBox="1"/>
          <p:nvPr/>
        </p:nvSpPr>
        <p:spPr>
          <a:xfrm>
            <a:off x="3086725" y="3801903"/>
            <a:ext cx="1172117" cy="369332"/>
          </a:xfrm>
          <a:prstGeom prst="rect">
            <a:avLst/>
          </a:prstGeom>
          <a:noFill/>
        </p:spPr>
        <p:txBody>
          <a:bodyPr wrap="none" rtlCol="0">
            <a:spAutoFit/>
          </a:bodyPr>
          <a:lstStyle/>
          <a:p>
            <a:pPr algn="ctr"/>
            <a:r>
              <a:rPr lang="en-US" sz="1800" dirty="0"/>
              <a:t>High-PPL</a:t>
            </a:r>
            <a:endParaRPr lang="en-US" dirty="0"/>
          </a:p>
        </p:txBody>
      </p:sp>
      <p:sp>
        <p:nvSpPr>
          <p:cNvPr id="8" name="TextBox 7">
            <a:extLst>
              <a:ext uri="{FF2B5EF4-FFF2-40B4-BE49-F238E27FC236}">
                <a16:creationId xmlns:a16="http://schemas.microsoft.com/office/drawing/2014/main" id="{BF7736A0-4FAE-DF50-4C74-335120E5888A}"/>
              </a:ext>
            </a:extLst>
          </p:cNvPr>
          <p:cNvSpPr txBox="1"/>
          <p:nvPr/>
        </p:nvSpPr>
        <p:spPr>
          <a:xfrm>
            <a:off x="4917259" y="1449659"/>
            <a:ext cx="3915041" cy="2031325"/>
          </a:xfrm>
          <a:prstGeom prst="rect">
            <a:avLst/>
          </a:prstGeom>
          <a:noFill/>
        </p:spPr>
        <p:txBody>
          <a:bodyPr wrap="square" rtlCol="0">
            <a:spAutoFit/>
          </a:bodyPr>
          <a:lstStyle/>
          <a:p>
            <a:pPr marL="285750" indent="-285750">
              <a:buFont typeface="Arial" panose="020B0604020202020204" pitchFamily="34" charset="0"/>
              <a:buChar char="•"/>
            </a:pPr>
            <a:r>
              <a:rPr lang="en-US" sz="1800" dirty="0"/>
              <a:t>Model generations cluster in the low-PPL zone.</a:t>
            </a:r>
          </a:p>
          <a:p>
            <a:pPr marL="285750" indent="-285750">
              <a:buFont typeface="Arial" panose="020B0604020202020204" pitchFamily="34" charset="0"/>
              <a:buChar char="•"/>
            </a:pPr>
            <a:r>
              <a:rPr lang="en-US" sz="1800" dirty="0"/>
              <a:t>The high-PPL zone contains sparse reward.</a:t>
            </a:r>
          </a:p>
          <a:p>
            <a:pPr marL="285750" indent="-285750">
              <a:buFont typeface="Arial" panose="020B0604020202020204" pitchFamily="34" charset="0"/>
              <a:buChar char="•"/>
            </a:pPr>
            <a:r>
              <a:rPr lang="en-US" sz="1800" dirty="0">
                <a:solidFill>
                  <a:schemeClr val="tx1"/>
                </a:solidFill>
              </a:rPr>
              <a:t>Heuristics-driven search encourages </a:t>
            </a:r>
            <a:r>
              <a:rPr lang="en-US" sz="1800" b="1" u="sng" dirty="0">
                <a:solidFill>
                  <a:schemeClr val="tx1"/>
                </a:solidFill>
              </a:rPr>
              <a:t>guided</a:t>
            </a:r>
            <a:r>
              <a:rPr lang="en-US" sz="1800" dirty="0">
                <a:solidFill>
                  <a:schemeClr val="tx1"/>
                </a:solidFill>
              </a:rPr>
              <a:t> exploration.</a:t>
            </a:r>
          </a:p>
          <a:p>
            <a:pPr marL="285750" indent="-285750">
              <a:buFont typeface="Arial" panose="020B0604020202020204" pitchFamily="34" charset="0"/>
              <a:buChar char="•"/>
            </a:pPr>
            <a:endParaRPr lang="en-US" sz="1800" dirty="0"/>
          </a:p>
        </p:txBody>
      </p:sp>
      <p:sp>
        <p:nvSpPr>
          <p:cNvPr id="18" name="Google Shape;1771;p83">
            <a:extLst>
              <a:ext uri="{FF2B5EF4-FFF2-40B4-BE49-F238E27FC236}">
                <a16:creationId xmlns:a16="http://schemas.microsoft.com/office/drawing/2014/main" id="{1C0F96FB-E0F0-AFBB-0E23-4A7722800C73}"/>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20" name="Google Shape;1772;p83">
            <a:extLst>
              <a:ext uri="{FF2B5EF4-FFF2-40B4-BE49-F238E27FC236}">
                <a16:creationId xmlns:a16="http://schemas.microsoft.com/office/drawing/2014/main" id="{C154F52A-8542-AD73-FBDF-073C588E85C6}"/>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27" name="Google Shape;1773;p83">
            <a:extLst>
              <a:ext uri="{FF2B5EF4-FFF2-40B4-BE49-F238E27FC236}">
                <a16:creationId xmlns:a16="http://schemas.microsoft.com/office/drawing/2014/main" id="{E151E983-7670-024F-F068-5485FDCFBC86}"/>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28" name="Google Shape;1774;p83">
            <a:extLst>
              <a:ext uri="{FF2B5EF4-FFF2-40B4-BE49-F238E27FC236}">
                <a16:creationId xmlns:a16="http://schemas.microsoft.com/office/drawing/2014/main" id="{D72E7581-74CC-088E-B52E-50F067F6D873}"/>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926882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FE1C4-EF3C-702B-EC80-55C6A093ACDF}"/>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9AB0D25E-2AB3-3A9F-D12D-3B62F0BB02C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Search</a:t>
            </a:r>
            <a:endParaRPr lang="en-US" sz="2400" dirty="0"/>
          </a:p>
        </p:txBody>
      </p:sp>
      <p:sp>
        <p:nvSpPr>
          <p:cNvPr id="5" name="TextBox 4">
            <a:extLst>
              <a:ext uri="{FF2B5EF4-FFF2-40B4-BE49-F238E27FC236}">
                <a16:creationId xmlns:a16="http://schemas.microsoft.com/office/drawing/2014/main" id="{858C9808-3B5D-2727-53CF-575A5F3A49FC}"/>
              </a:ext>
            </a:extLst>
          </p:cNvPr>
          <p:cNvSpPr txBox="1"/>
          <p:nvPr/>
        </p:nvSpPr>
        <p:spPr>
          <a:xfrm>
            <a:off x="2286000" y="1069608"/>
            <a:ext cx="4572000" cy="738664"/>
          </a:xfrm>
          <a:prstGeom prst="rect">
            <a:avLst/>
          </a:prstGeom>
          <a:noFill/>
        </p:spPr>
        <p:txBody>
          <a:bodyPr wrap="square">
            <a:spAutoFit/>
          </a:bodyPr>
          <a:lstStyle/>
          <a:p>
            <a:r>
              <a:rPr lang="en-US" i="1" dirty="0"/>
              <a:t>“Art consists of limitation. The most beautiful part of every picture is the frame.”</a:t>
            </a:r>
            <a:br>
              <a:rPr lang="en-US" dirty="0"/>
            </a:br>
            <a:r>
              <a:rPr lang="en-US" dirty="0"/>
              <a:t>— G. K. Chesterton, </a:t>
            </a:r>
            <a:r>
              <a:rPr lang="en-US" i="1" dirty="0"/>
              <a:t>Tremendous Trifles</a:t>
            </a:r>
            <a:r>
              <a:rPr lang="en-US" dirty="0"/>
              <a:t> (1909)</a:t>
            </a:r>
          </a:p>
        </p:txBody>
      </p:sp>
      <p:sp>
        <p:nvSpPr>
          <p:cNvPr id="10" name="TextBox 9">
            <a:extLst>
              <a:ext uri="{FF2B5EF4-FFF2-40B4-BE49-F238E27FC236}">
                <a16:creationId xmlns:a16="http://schemas.microsoft.com/office/drawing/2014/main" id="{1969F23F-3411-3E28-8421-7CBB13AA1451}"/>
              </a:ext>
            </a:extLst>
          </p:cNvPr>
          <p:cNvSpPr txBox="1"/>
          <p:nvPr/>
        </p:nvSpPr>
        <p:spPr>
          <a:xfrm>
            <a:off x="404037" y="1880582"/>
            <a:ext cx="7755989" cy="923330"/>
          </a:xfrm>
          <a:prstGeom prst="rect">
            <a:avLst/>
          </a:prstGeom>
          <a:noFill/>
        </p:spPr>
        <p:txBody>
          <a:bodyPr wrap="square">
            <a:spAutoFit/>
          </a:bodyPr>
          <a:lstStyle/>
          <a:p>
            <a:pPr marL="285750" indent="-285750">
              <a:buFont typeface="Arial" panose="020B0604020202020204" pitchFamily="34" charset="0"/>
              <a:buChar char="•"/>
            </a:pPr>
            <a:r>
              <a:rPr lang="en-US" sz="1800" b="1" dirty="0"/>
              <a:t>Heuristics-driven search </a:t>
            </a:r>
            <a:r>
              <a:rPr lang="en-US" sz="1800" dirty="0"/>
              <a:t>steers generations by heuristic function.</a:t>
            </a:r>
          </a:p>
          <a:p>
            <a:pPr marL="285750" indent="-285750">
              <a:buFont typeface="Arial" panose="020B0604020202020204" pitchFamily="34" charset="0"/>
              <a:buChar char="•"/>
            </a:pPr>
            <a:r>
              <a:rPr lang="en-US" sz="1800" b="1" dirty="0"/>
              <a:t>Incorporating human workflows </a:t>
            </a:r>
            <a:r>
              <a:rPr lang="en-US" sz="1800" dirty="0"/>
              <a:t>encodes proven human workflow patterns to ground models’ high‑level planning.</a:t>
            </a:r>
          </a:p>
        </p:txBody>
      </p:sp>
      <p:sp>
        <p:nvSpPr>
          <p:cNvPr id="2" name="Google Shape;1771;p83">
            <a:extLst>
              <a:ext uri="{FF2B5EF4-FFF2-40B4-BE49-F238E27FC236}">
                <a16:creationId xmlns:a16="http://schemas.microsoft.com/office/drawing/2014/main" id="{27A31026-34C6-EB7A-F6A9-80B2FACCAF5B}"/>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4" name="Google Shape;1772;p83">
            <a:extLst>
              <a:ext uri="{FF2B5EF4-FFF2-40B4-BE49-F238E27FC236}">
                <a16:creationId xmlns:a16="http://schemas.microsoft.com/office/drawing/2014/main" id="{11B7C23B-5E3C-D1C5-7C32-4429C94BBF07}"/>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6265AAC6-4998-CE61-3C24-2C8C2F2B4541}"/>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5D1D4454-D9B0-F7C8-8E62-C26427B2666D}"/>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997584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BD571-54AC-C2C1-6119-5489EDBA405A}"/>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E7257CEA-FBCC-1ED1-1BE5-B52681719AD9}"/>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Incorporating human workflows</a:t>
            </a:r>
          </a:p>
        </p:txBody>
      </p:sp>
      <p:sp>
        <p:nvSpPr>
          <p:cNvPr id="4" name="TextBox 3">
            <a:extLst>
              <a:ext uri="{FF2B5EF4-FFF2-40B4-BE49-F238E27FC236}">
                <a16:creationId xmlns:a16="http://schemas.microsoft.com/office/drawing/2014/main" id="{8C8BD39C-A24A-A00C-D51F-BEEEA5FFCBC1}"/>
              </a:ext>
            </a:extLst>
          </p:cNvPr>
          <p:cNvSpPr txBox="1"/>
          <p:nvPr/>
        </p:nvSpPr>
        <p:spPr>
          <a:xfrm>
            <a:off x="443345" y="1330036"/>
            <a:ext cx="7287491"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Motivation</a:t>
            </a:r>
          </a:p>
          <a:p>
            <a:pPr marL="285750" indent="-285750">
              <a:buFont typeface="Arial" panose="020B0604020202020204" pitchFamily="34" charset="0"/>
              <a:buChar char="•"/>
            </a:pPr>
            <a:r>
              <a:rPr lang="en-US" sz="1600" dirty="0"/>
              <a:t>From Single-Shot LLM → Workflow Agent</a:t>
            </a:r>
          </a:p>
          <a:p>
            <a:pPr marL="285750" indent="-285750">
              <a:buFont typeface="Arial" panose="020B0604020202020204" pitchFamily="34" charset="0"/>
              <a:buChar char="•"/>
            </a:pPr>
            <a:r>
              <a:rPr lang="en-US" sz="1600" dirty="0"/>
              <a:t>Humans finish goals through structured workflows (gather → decide → act → verify →  (loop*)).</a:t>
            </a:r>
          </a:p>
          <a:p>
            <a:pPr marL="285750" indent="-285750">
              <a:buFont typeface="Arial" panose="020B0604020202020204" pitchFamily="34" charset="0"/>
              <a:buChar char="•"/>
            </a:pPr>
            <a:r>
              <a:rPr lang="en-US" sz="1600" b="1" dirty="0"/>
              <a:t>Gap. </a:t>
            </a:r>
            <a:r>
              <a:rPr lang="en-US" sz="1600" dirty="0"/>
              <a:t>Raw prompting still guesses those hidden latent steps.</a:t>
            </a:r>
          </a:p>
          <a:p>
            <a:pPr marL="285750" indent="-285750">
              <a:buFont typeface="Arial" panose="020B0604020202020204" pitchFamily="34" charset="0"/>
              <a:buChar char="•"/>
            </a:pPr>
            <a:r>
              <a:rPr lang="en-US" sz="1600" b="1" dirty="0"/>
              <a:t>Solution.</a:t>
            </a:r>
            <a:r>
              <a:rPr lang="en-US" sz="1600" dirty="0"/>
              <a:t> Give the model a planner-executor loop aligned with the real-world workflow.</a:t>
            </a:r>
          </a:p>
          <a:p>
            <a:pPr marL="285750" indent="-285750">
              <a:buFont typeface="Arial" panose="020B0604020202020204" pitchFamily="34" charset="0"/>
              <a:buChar char="•"/>
            </a:pPr>
            <a:endParaRPr lang="en-US" sz="1600" dirty="0"/>
          </a:p>
          <a:p>
            <a:endParaRPr lang="en-US" sz="1600" dirty="0"/>
          </a:p>
        </p:txBody>
      </p:sp>
      <p:sp>
        <p:nvSpPr>
          <p:cNvPr id="2" name="Google Shape;1771;p83">
            <a:extLst>
              <a:ext uri="{FF2B5EF4-FFF2-40B4-BE49-F238E27FC236}">
                <a16:creationId xmlns:a16="http://schemas.microsoft.com/office/drawing/2014/main" id="{0D6538DD-6AB6-7840-9520-1C571ACE9D5E}"/>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5" name="Google Shape;1772;p83">
            <a:extLst>
              <a:ext uri="{FF2B5EF4-FFF2-40B4-BE49-F238E27FC236}">
                <a16:creationId xmlns:a16="http://schemas.microsoft.com/office/drawing/2014/main" id="{E54238AB-1C9E-13FC-A5B4-6CD674F58EE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857A73A6-8E7C-58A1-D52E-A79C9777B5BD}"/>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E2DA4EA2-492E-50AD-726F-893EE5980D3B}"/>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026110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836;p85">
            <a:extLst>
              <a:ext uri="{FF2B5EF4-FFF2-40B4-BE49-F238E27FC236}">
                <a16:creationId xmlns:a16="http://schemas.microsoft.com/office/drawing/2014/main" id="{EA450546-360D-62F2-8AB7-1A067BC4559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Examples of Human Workflows for LLM</a:t>
            </a:r>
          </a:p>
        </p:txBody>
      </p:sp>
      <p:pic>
        <p:nvPicPr>
          <p:cNvPr id="11" name="Picture 10">
            <a:extLst>
              <a:ext uri="{FF2B5EF4-FFF2-40B4-BE49-F238E27FC236}">
                <a16:creationId xmlns:a16="http://schemas.microsoft.com/office/drawing/2014/main" id="{9030C663-E97A-1D9B-F6B1-083FE0A4E047}"/>
              </a:ext>
            </a:extLst>
          </p:cNvPr>
          <p:cNvPicPr>
            <a:picLocks noChangeAspect="1"/>
          </p:cNvPicPr>
          <p:nvPr/>
        </p:nvPicPr>
        <p:blipFill>
          <a:blip r:embed="rId2"/>
          <a:stretch>
            <a:fillRect/>
          </a:stretch>
        </p:blipFill>
        <p:spPr>
          <a:xfrm>
            <a:off x="634553" y="1275725"/>
            <a:ext cx="4063374" cy="2882309"/>
          </a:xfrm>
          <a:prstGeom prst="rect">
            <a:avLst/>
          </a:prstGeom>
        </p:spPr>
      </p:pic>
      <p:sp>
        <p:nvSpPr>
          <p:cNvPr id="12" name="TextBox 11">
            <a:extLst>
              <a:ext uri="{FF2B5EF4-FFF2-40B4-BE49-F238E27FC236}">
                <a16:creationId xmlns:a16="http://schemas.microsoft.com/office/drawing/2014/main" id="{BD998D88-0AF4-4BA8-1374-A1A1E93B44DC}"/>
              </a:ext>
            </a:extLst>
          </p:cNvPr>
          <p:cNvSpPr txBox="1"/>
          <p:nvPr/>
        </p:nvSpPr>
        <p:spPr>
          <a:xfrm>
            <a:off x="1063254" y="4175255"/>
            <a:ext cx="3068469" cy="523220"/>
          </a:xfrm>
          <a:prstGeom prst="rect">
            <a:avLst/>
          </a:prstGeom>
          <a:noFill/>
          <a:ln>
            <a:solidFill>
              <a:schemeClr val="tx1"/>
            </a:solidFill>
          </a:ln>
        </p:spPr>
        <p:txBody>
          <a:bodyPr wrap="none" rtlCol="0">
            <a:spAutoFit/>
          </a:bodyPr>
          <a:lstStyle/>
          <a:p>
            <a:pPr algn="ctr"/>
            <a:r>
              <a:rPr lang="en-US" dirty="0"/>
              <a:t>Look up data → design experiment </a:t>
            </a:r>
          </a:p>
          <a:p>
            <a:pPr algn="ctr"/>
            <a:r>
              <a:rPr lang="en-US" dirty="0"/>
              <a:t>→ safety check → iterate</a:t>
            </a:r>
          </a:p>
        </p:txBody>
      </p:sp>
      <p:sp>
        <p:nvSpPr>
          <p:cNvPr id="13" name="TextBox 12">
            <a:extLst>
              <a:ext uri="{FF2B5EF4-FFF2-40B4-BE49-F238E27FC236}">
                <a16:creationId xmlns:a16="http://schemas.microsoft.com/office/drawing/2014/main" id="{68D6F01B-44F8-5E60-7D56-B1196ABDA6DB}"/>
              </a:ext>
            </a:extLst>
          </p:cNvPr>
          <p:cNvSpPr txBox="1"/>
          <p:nvPr/>
        </p:nvSpPr>
        <p:spPr>
          <a:xfrm>
            <a:off x="1823879" y="4698475"/>
            <a:ext cx="1547218" cy="307777"/>
          </a:xfrm>
          <a:prstGeom prst="rect">
            <a:avLst/>
          </a:prstGeom>
          <a:noFill/>
        </p:spPr>
        <p:txBody>
          <a:bodyPr wrap="none" rtlCol="0">
            <a:spAutoFit/>
          </a:bodyPr>
          <a:lstStyle/>
          <a:p>
            <a:r>
              <a:rPr lang="en-US" dirty="0"/>
              <a:t>Bran, et. al. 2024</a:t>
            </a:r>
          </a:p>
        </p:txBody>
      </p:sp>
      <p:cxnSp>
        <p:nvCxnSpPr>
          <p:cNvPr id="14" name="Straight Connector 13">
            <a:extLst>
              <a:ext uri="{FF2B5EF4-FFF2-40B4-BE49-F238E27FC236}">
                <a16:creationId xmlns:a16="http://schemas.microsoft.com/office/drawing/2014/main" id="{2CE7F187-D26C-5A72-4798-2997714EED22}"/>
              </a:ext>
            </a:extLst>
          </p:cNvPr>
          <p:cNvCxnSpPr/>
          <p:nvPr/>
        </p:nvCxnSpPr>
        <p:spPr>
          <a:xfrm>
            <a:off x="4862623" y="1084521"/>
            <a:ext cx="0" cy="3707218"/>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79E932FC-AC8A-A971-86E4-B100B91653FB}"/>
              </a:ext>
            </a:extLst>
          </p:cNvPr>
          <p:cNvGraphicFramePr>
            <a:graphicFrameLocks noGrp="1"/>
          </p:cNvGraphicFramePr>
          <p:nvPr/>
        </p:nvGraphicFramePr>
        <p:xfrm>
          <a:off x="1750090" y="937527"/>
          <a:ext cx="2084714" cy="304800"/>
        </p:xfrm>
        <a:graphic>
          <a:graphicData uri="http://schemas.openxmlformats.org/drawingml/2006/table">
            <a:tbl>
              <a:tblPr/>
              <a:tblGrid>
                <a:gridCol w="2084714">
                  <a:extLst>
                    <a:ext uri="{9D8B030D-6E8A-4147-A177-3AD203B41FA5}">
                      <a16:colId xmlns:a16="http://schemas.microsoft.com/office/drawing/2014/main" val="4260132442"/>
                    </a:ext>
                  </a:extLst>
                </a:gridCol>
              </a:tblGrid>
              <a:tr h="0">
                <a:tc>
                  <a:txBody>
                    <a:bodyPr/>
                    <a:lstStyle/>
                    <a:p>
                      <a:r>
                        <a:rPr lang="en-US" b="1" u="sng" dirty="0"/>
                        <a:t>Scientific discovery</a:t>
                      </a:r>
                    </a:p>
                  </a:txBody>
                  <a:tcPr anchor="ctr">
                    <a:lnL>
                      <a:noFill/>
                    </a:lnL>
                    <a:lnR>
                      <a:noFill/>
                    </a:lnR>
                    <a:lnT>
                      <a:noFill/>
                    </a:lnT>
                    <a:lnB>
                      <a:noFill/>
                    </a:lnB>
                    <a:noFill/>
                  </a:tcPr>
                </a:tc>
                <a:extLst>
                  <a:ext uri="{0D108BD9-81ED-4DB2-BD59-A6C34878D82A}">
                    <a16:rowId xmlns:a16="http://schemas.microsoft.com/office/drawing/2014/main" val="1841252213"/>
                  </a:ext>
                </a:extLst>
              </a:tr>
            </a:tbl>
          </a:graphicData>
        </a:graphic>
      </p:graphicFrame>
      <p:pic>
        <p:nvPicPr>
          <p:cNvPr id="18" name="Picture 17">
            <a:extLst>
              <a:ext uri="{FF2B5EF4-FFF2-40B4-BE49-F238E27FC236}">
                <a16:creationId xmlns:a16="http://schemas.microsoft.com/office/drawing/2014/main" id="{905980D1-18EB-4E3C-0F4F-C1B539C0B02C}"/>
              </a:ext>
            </a:extLst>
          </p:cNvPr>
          <p:cNvPicPr>
            <a:picLocks noChangeAspect="1"/>
          </p:cNvPicPr>
          <p:nvPr/>
        </p:nvPicPr>
        <p:blipFill>
          <a:blip r:embed="rId3"/>
          <a:stretch>
            <a:fillRect/>
          </a:stretch>
        </p:blipFill>
        <p:spPr>
          <a:xfrm>
            <a:off x="5027320" y="1510227"/>
            <a:ext cx="3598415" cy="2586879"/>
          </a:xfrm>
          <a:prstGeom prst="rect">
            <a:avLst/>
          </a:prstGeom>
        </p:spPr>
      </p:pic>
      <p:sp>
        <p:nvSpPr>
          <p:cNvPr id="19" name="TextBox 18">
            <a:extLst>
              <a:ext uri="{FF2B5EF4-FFF2-40B4-BE49-F238E27FC236}">
                <a16:creationId xmlns:a16="http://schemas.microsoft.com/office/drawing/2014/main" id="{BF1F5B43-8E83-2A86-CD3C-FE5EFC08FCC1}"/>
              </a:ext>
            </a:extLst>
          </p:cNvPr>
          <p:cNvSpPr txBox="1"/>
          <p:nvPr/>
        </p:nvSpPr>
        <p:spPr>
          <a:xfrm>
            <a:off x="6354150" y="4698475"/>
            <a:ext cx="1627369" cy="307777"/>
          </a:xfrm>
          <a:prstGeom prst="rect">
            <a:avLst/>
          </a:prstGeom>
          <a:noFill/>
        </p:spPr>
        <p:txBody>
          <a:bodyPr wrap="none" rtlCol="0">
            <a:spAutoFit/>
          </a:bodyPr>
          <a:lstStyle/>
          <a:p>
            <a:r>
              <a:rPr lang="en-US" dirty="0"/>
              <a:t>Singh, et. al. 2024</a:t>
            </a:r>
          </a:p>
        </p:txBody>
      </p:sp>
      <p:graphicFrame>
        <p:nvGraphicFramePr>
          <p:cNvPr id="22" name="Table 21">
            <a:extLst>
              <a:ext uri="{FF2B5EF4-FFF2-40B4-BE49-F238E27FC236}">
                <a16:creationId xmlns:a16="http://schemas.microsoft.com/office/drawing/2014/main" id="{5DF628DE-15C3-EF7F-3F78-52BF196B90A7}"/>
              </a:ext>
            </a:extLst>
          </p:cNvPr>
          <p:cNvGraphicFramePr>
            <a:graphicFrameLocks noGrp="1"/>
          </p:cNvGraphicFramePr>
          <p:nvPr/>
        </p:nvGraphicFramePr>
        <p:xfrm>
          <a:off x="6276016" y="970925"/>
          <a:ext cx="2084714" cy="304800"/>
        </p:xfrm>
        <a:graphic>
          <a:graphicData uri="http://schemas.openxmlformats.org/drawingml/2006/table">
            <a:tbl>
              <a:tblPr/>
              <a:tblGrid>
                <a:gridCol w="2084714">
                  <a:extLst>
                    <a:ext uri="{9D8B030D-6E8A-4147-A177-3AD203B41FA5}">
                      <a16:colId xmlns:a16="http://schemas.microsoft.com/office/drawing/2014/main" val="4260132442"/>
                    </a:ext>
                  </a:extLst>
                </a:gridCol>
              </a:tblGrid>
              <a:tr h="0">
                <a:tc>
                  <a:txBody>
                    <a:bodyPr/>
                    <a:lstStyle/>
                    <a:p>
                      <a:r>
                        <a:rPr lang="en-US" b="1" u="sng" dirty="0"/>
                        <a:t>Travel Planning</a:t>
                      </a:r>
                    </a:p>
                  </a:txBody>
                  <a:tcPr anchor="ctr">
                    <a:lnL>
                      <a:noFill/>
                    </a:lnL>
                    <a:lnR>
                      <a:noFill/>
                    </a:lnR>
                    <a:lnT>
                      <a:noFill/>
                    </a:lnT>
                    <a:lnB>
                      <a:noFill/>
                    </a:lnB>
                    <a:noFill/>
                  </a:tcPr>
                </a:tc>
                <a:extLst>
                  <a:ext uri="{0D108BD9-81ED-4DB2-BD59-A6C34878D82A}">
                    <a16:rowId xmlns:a16="http://schemas.microsoft.com/office/drawing/2014/main" val="1841252213"/>
                  </a:ext>
                </a:extLst>
              </a:tr>
            </a:tbl>
          </a:graphicData>
        </a:graphic>
      </p:graphicFrame>
      <p:sp>
        <p:nvSpPr>
          <p:cNvPr id="2" name="Google Shape;1771;p83">
            <a:extLst>
              <a:ext uri="{FF2B5EF4-FFF2-40B4-BE49-F238E27FC236}">
                <a16:creationId xmlns:a16="http://schemas.microsoft.com/office/drawing/2014/main" id="{EDEFC8D1-5047-A882-CF50-4FE07A2ED123}"/>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B03E5C03-D389-AC7C-F542-95C5BE25E192}"/>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5186194C-4573-CC13-C734-688B18B1B3DB}"/>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5674B229-A083-4611-8202-D67FD135FAC7}"/>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
        <p:nvSpPr>
          <p:cNvPr id="6" name="TextBox 5">
            <a:extLst>
              <a:ext uri="{FF2B5EF4-FFF2-40B4-BE49-F238E27FC236}">
                <a16:creationId xmlns:a16="http://schemas.microsoft.com/office/drawing/2014/main" id="{1F8D811F-8650-4E69-A1E0-101195AB4852}"/>
              </a:ext>
            </a:extLst>
          </p:cNvPr>
          <p:cNvSpPr txBox="1"/>
          <p:nvPr/>
        </p:nvSpPr>
        <p:spPr>
          <a:xfrm>
            <a:off x="5366874" y="4175255"/>
            <a:ext cx="3139001" cy="523220"/>
          </a:xfrm>
          <a:prstGeom prst="rect">
            <a:avLst/>
          </a:prstGeom>
          <a:noFill/>
          <a:ln>
            <a:solidFill>
              <a:schemeClr val="tx1"/>
            </a:solidFill>
          </a:ln>
        </p:spPr>
        <p:txBody>
          <a:bodyPr wrap="none" rtlCol="0">
            <a:spAutoFit/>
          </a:bodyPr>
          <a:lstStyle/>
          <a:p>
            <a:pPr algn="ctr"/>
            <a:r>
              <a:rPr lang="en-US" dirty="0"/>
              <a:t>Gather preferences → Build itinerary </a:t>
            </a:r>
          </a:p>
          <a:p>
            <a:pPr algn="ctr"/>
            <a:r>
              <a:rPr lang="en-US" dirty="0"/>
              <a:t>→ Budget check</a:t>
            </a:r>
          </a:p>
        </p:txBody>
      </p:sp>
    </p:spTree>
    <p:extLst>
      <p:ext uri="{BB962C8B-B14F-4D97-AF65-F5344CB8AC3E}">
        <p14:creationId xmlns:p14="http://schemas.microsoft.com/office/powerpoint/2010/main" val="3038332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77C49-437C-DC42-954D-EC0A64C7811E}"/>
            </a:ext>
          </a:extLst>
        </p:cNvPr>
        <p:cNvGrpSpPr/>
        <p:nvPr/>
      </p:nvGrpSpPr>
      <p:grpSpPr>
        <a:xfrm>
          <a:off x="0" y="0"/>
          <a:ext cx="0" cy="0"/>
          <a:chOff x="0" y="0"/>
          <a:chExt cx="0" cy="0"/>
        </a:xfrm>
      </p:grpSpPr>
      <p:sp>
        <p:nvSpPr>
          <p:cNvPr id="9" name="Google Shape;1836;p85">
            <a:extLst>
              <a:ext uri="{FF2B5EF4-FFF2-40B4-BE49-F238E27FC236}">
                <a16:creationId xmlns:a16="http://schemas.microsoft.com/office/drawing/2014/main" id="{ADB40553-E59A-D010-FB0E-1AE55141A7B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Examples of Human Workflows for LLM</a:t>
            </a:r>
          </a:p>
        </p:txBody>
      </p:sp>
      <p:sp>
        <p:nvSpPr>
          <p:cNvPr id="12" name="TextBox 11">
            <a:extLst>
              <a:ext uri="{FF2B5EF4-FFF2-40B4-BE49-F238E27FC236}">
                <a16:creationId xmlns:a16="http://schemas.microsoft.com/office/drawing/2014/main" id="{BDB29E9B-6695-7D40-408F-3583DD5EA1E9}"/>
              </a:ext>
            </a:extLst>
          </p:cNvPr>
          <p:cNvSpPr txBox="1"/>
          <p:nvPr/>
        </p:nvSpPr>
        <p:spPr>
          <a:xfrm>
            <a:off x="1221150" y="4175255"/>
            <a:ext cx="2752678" cy="523220"/>
          </a:xfrm>
          <a:prstGeom prst="rect">
            <a:avLst/>
          </a:prstGeom>
          <a:noFill/>
          <a:ln>
            <a:solidFill>
              <a:schemeClr val="tx1"/>
            </a:solidFill>
          </a:ln>
        </p:spPr>
        <p:txBody>
          <a:bodyPr wrap="none" rtlCol="0">
            <a:spAutoFit/>
          </a:bodyPr>
          <a:lstStyle/>
          <a:p>
            <a:pPr algn="ctr"/>
            <a:r>
              <a:rPr lang="en-US" dirty="0"/>
              <a:t>Identify intent → Retrieve policy </a:t>
            </a:r>
          </a:p>
          <a:p>
            <a:pPr algn="ctr"/>
            <a:r>
              <a:rPr lang="en-US" dirty="0"/>
              <a:t>→ Resolve / escalate</a:t>
            </a:r>
          </a:p>
        </p:txBody>
      </p:sp>
      <p:sp>
        <p:nvSpPr>
          <p:cNvPr id="13" name="TextBox 12">
            <a:extLst>
              <a:ext uri="{FF2B5EF4-FFF2-40B4-BE49-F238E27FC236}">
                <a16:creationId xmlns:a16="http://schemas.microsoft.com/office/drawing/2014/main" id="{6F065AC1-1FD3-C7E3-B648-7BE8671FA437}"/>
              </a:ext>
            </a:extLst>
          </p:cNvPr>
          <p:cNvSpPr txBox="1"/>
          <p:nvPr/>
        </p:nvSpPr>
        <p:spPr>
          <a:xfrm>
            <a:off x="1823879" y="4698475"/>
            <a:ext cx="1696298" cy="307777"/>
          </a:xfrm>
          <a:prstGeom prst="rect">
            <a:avLst/>
          </a:prstGeom>
          <a:noFill/>
        </p:spPr>
        <p:txBody>
          <a:bodyPr wrap="none" rtlCol="0">
            <a:spAutoFit/>
          </a:bodyPr>
          <a:lstStyle/>
          <a:p>
            <a:r>
              <a:rPr lang="en-US" dirty="0"/>
              <a:t>Huang, et. al. 2024</a:t>
            </a:r>
          </a:p>
        </p:txBody>
      </p:sp>
      <p:cxnSp>
        <p:nvCxnSpPr>
          <p:cNvPr id="14" name="Straight Connector 13">
            <a:extLst>
              <a:ext uri="{FF2B5EF4-FFF2-40B4-BE49-F238E27FC236}">
                <a16:creationId xmlns:a16="http://schemas.microsoft.com/office/drawing/2014/main" id="{F8290B62-13D0-E9D9-6A54-0BA74C7FEA2B}"/>
              </a:ext>
            </a:extLst>
          </p:cNvPr>
          <p:cNvCxnSpPr/>
          <p:nvPr/>
        </p:nvCxnSpPr>
        <p:spPr>
          <a:xfrm>
            <a:off x="5188688" y="1089927"/>
            <a:ext cx="0" cy="3707218"/>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6828A6EC-8C56-0856-68A5-197450E6C854}"/>
              </a:ext>
            </a:extLst>
          </p:cNvPr>
          <p:cNvGraphicFramePr>
            <a:graphicFrameLocks noGrp="1"/>
          </p:cNvGraphicFramePr>
          <p:nvPr/>
        </p:nvGraphicFramePr>
        <p:xfrm>
          <a:off x="1750090" y="937527"/>
          <a:ext cx="2084714" cy="304800"/>
        </p:xfrm>
        <a:graphic>
          <a:graphicData uri="http://schemas.openxmlformats.org/drawingml/2006/table">
            <a:tbl>
              <a:tblPr/>
              <a:tblGrid>
                <a:gridCol w="2084714">
                  <a:extLst>
                    <a:ext uri="{9D8B030D-6E8A-4147-A177-3AD203B41FA5}">
                      <a16:colId xmlns:a16="http://schemas.microsoft.com/office/drawing/2014/main" val="4260132442"/>
                    </a:ext>
                  </a:extLst>
                </a:gridCol>
              </a:tblGrid>
              <a:tr h="0">
                <a:tc>
                  <a:txBody>
                    <a:bodyPr/>
                    <a:lstStyle/>
                    <a:p>
                      <a:r>
                        <a:rPr lang="en-US" b="1" u="sng" dirty="0"/>
                        <a:t>Customer service</a:t>
                      </a:r>
                      <a:endParaRPr lang="en-US" u="sng" dirty="0"/>
                    </a:p>
                  </a:txBody>
                  <a:tcPr anchor="ctr">
                    <a:lnL>
                      <a:noFill/>
                    </a:lnL>
                    <a:lnR>
                      <a:noFill/>
                    </a:lnR>
                    <a:lnT>
                      <a:noFill/>
                    </a:lnT>
                    <a:lnB>
                      <a:noFill/>
                    </a:lnB>
                    <a:noFill/>
                  </a:tcPr>
                </a:tc>
                <a:extLst>
                  <a:ext uri="{0D108BD9-81ED-4DB2-BD59-A6C34878D82A}">
                    <a16:rowId xmlns:a16="http://schemas.microsoft.com/office/drawing/2014/main" val="1841252213"/>
                  </a:ext>
                </a:extLst>
              </a:tr>
            </a:tbl>
          </a:graphicData>
        </a:graphic>
      </p:graphicFrame>
      <p:sp>
        <p:nvSpPr>
          <p:cNvPr id="19" name="TextBox 18">
            <a:extLst>
              <a:ext uri="{FF2B5EF4-FFF2-40B4-BE49-F238E27FC236}">
                <a16:creationId xmlns:a16="http://schemas.microsoft.com/office/drawing/2014/main" id="{3AF3627D-FC45-9476-179D-07A2DE8BF0A8}"/>
              </a:ext>
            </a:extLst>
          </p:cNvPr>
          <p:cNvSpPr txBox="1"/>
          <p:nvPr/>
        </p:nvSpPr>
        <p:spPr>
          <a:xfrm>
            <a:off x="6675248" y="4609498"/>
            <a:ext cx="643125" cy="307777"/>
          </a:xfrm>
          <a:prstGeom prst="rect">
            <a:avLst/>
          </a:prstGeom>
          <a:noFill/>
        </p:spPr>
        <p:txBody>
          <a:bodyPr wrap="none" rtlCol="0">
            <a:spAutoFit/>
          </a:bodyPr>
          <a:lstStyle/>
          <a:p>
            <a:r>
              <a:rPr lang="en-US" dirty="0"/>
              <a:t>Devin</a:t>
            </a:r>
          </a:p>
        </p:txBody>
      </p:sp>
      <p:graphicFrame>
        <p:nvGraphicFramePr>
          <p:cNvPr id="22" name="Table 21">
            <a:extLst>
              <a:ext uri="{FF2B5EF4-FFF2-40B4-BE49-F238E27FC236}">
                <a16:creationId xmlns:a16="http://schemas.microsoft.com/office/drawing/2014/main" id="{A3094EA9-B797-FAAD-E0F6-478A76F538FF}"/>
              </a:ext>
            </a:extLst>
          </p:cNvPr>
          <p:cNvGraphicFramePr>
            <a:graphicFrameLocks noGrp="1"/>
          </p:cNvGraphicFramePr>
          <p:nvPr/>
        </p:nvGraphicFramePr>
        <p:xfrm>
          <a:off x="6276016" y="970925"/>
          <a:ext cx="2084714" cy="304800"/>
        </p:xfrm>
        <a:graphic>
          <a:graphicData uri="http://schemas.openxmlformats.org/drawingml/2006/table">
            <a:tbl>
              <a:tblPr/>
              <a:tblGrid>
                <a:gridCol w="2084714">
                  <a:extLst>
                    <a:ext uri="{9D8B030D-6E8A-4147-A177-3AD203B41FA5}">
                      <a16:colId xmlns:a16="http://schemas.microsoft.com/office/drawing/2014/main" val="4260132442"/>
                    </a:ext>
                  </a:extLst>
                </a:gridCol>
              </a:tblGrid>
              <a:tr h="0">
                <a:tc>
                  <a:txBody>
                    <a:bodyPr/>
                    <a:lstStyle/>
                    <a:p>
                      <a:r>
                        <a:rPr lang="en-US" b="1" u="sng" dirty="0"/>
                        <a:t>Software ops</a:t>
                      </a:r>
                      <a:endParaRPr lang="en-US" u="sng" dirty="0"/>
                    </a:p>
                  </a:txBody>
                  <a:tcPr anchor="ctr">
                    <a:lnL>
                      <a:noFill/>
                    </a:lnL>
                    <a:lnR>
                      <a:noFill/>
                    </a:lnR>
                    <a:lnT>
                      <a:noFill/>
                    </a:lnT>
                    <a:lnB>
                      <a:noFill/>
                    </a:lnB>
                    <a:noFill/>
                  </a:tcPr>
                </a:tc>
                <a:extLst>
                  <a:ext uri="{0D108BD9-81ED-4DB2-BD59-A6C34878D82A}">
                    <a16:rowId xmlns:a16="http://schemas.microsoft.com/office/drawing/2014/main" val="1841252213"/>
                  </a:ext>
                </a:extLst>
              </a:tr>
            </a:tbl>
          </a:graphicData>
        </a:graphic>
      </p:graphicFrame>
      <p:pic>
        <p:nvPicPr>
          <p:cNvPr id="3" name="Picture 2">
            <a:extLst>
              <a:ext uri="{FF2B5EF4-FFF2-40B4-BE49-F238E27FC236}">
                <a16:creationId xmlns:a16="http://schemas.microsoft.com/office/drawing/2014/main" id="{0577EBF9-C58A-E95A-D39F-5787311FBF6D}"/>
              </a:ext>
            </a:extLst>
          </p:cNvPr>
          <p:cNvPicPr>
            <a:picLocks noChangeAspect="1"/>
          </p:cNvPicPr>
          <p:nvPr/>
        </p:nvPicPr>
        <p:blipFill>
          <a:blip r:embed="rId2"/>
          <a:stretch>
            <a:fillRect/>
          </a:stretch>
        </p:blipFill>
        <p:spPr>
          <a:xfrm>
            <a:off x="2597489" y="1367975"/>
            <a:ext cx="2377195" cy="2681631"/>
          </a:xfrm>
          <a:prstGeom prst="rect">
            <a:avLst/>
          </a:prstGeom>
        </p:spPr>
      </p:pic>
      <p:pic>
        <p:nvPicPr>
          <p:cNvPr id="10" name="Picture 9">
            <a:extLst>
              <a:ext uri="{FF2B5EF4-FFF2-40B4-BE49-F238E27FC236}">
                <a16:creationId xmlns:a16="http://schemas.microsoft.com/office/drawing/2014/main" id="{0C77D80B-5FCC-E2DD-AABD-96A5C2F99236}"/>
              </a:ext>
            </a:extLst>
          </p:cNvPr>
          <p:cNvPicPr>
            <a:picLocks noChangeAspect="1"/>
          </p:cNvPicPr>
          <p:nvPr/>
        </p:nvPicPr>
        <p:blipFill>
          <a:blip r:embed="rId3"/>
          <a:stretch>
            <a:fillRect/>
          </a:stretch>
        </p:blipFill>
        <p:spPr>
          <a:xfrm>
            <a:off x="116754" y="1415351"/>
            <a:ext cx="2352285" cy="2586879"/>
          </a:xfrm>
          <a:prstGeom prst="rect">
            <a:avLst/>
          </a:prstGeom>
        </p:spPr>
      </p:pic>
      <p:pic>
        <p:nvPicPr>
          <p:cNvPr id="53250" name="Picture 2" descr="What's New in Devin 2.0? Full Breakdown Inside">
            <a:extLst>
              <a:ext uri="{FF2B5EF4-FFF2-40B4-BE49-F238E27FC236}">
                <a16:creationId xmlns:a16="http://schemas.microsoft.com/office/drawing/2014/main" id="{67813AD6-A054-5E87-EC86-F48517BA66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9897" y="1452867"/>
            <a:ext cx="1726745" cy="2590118"/>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771;p83">
            <a:extLst>
              <a:ext uri="{FF2B5EF4-FFF2-40B4-BE49-F238E27FC236}">
                <a16:creationId xmlns:a16="http://schemas.microsoft.com/office/drawing/2014/main" id="{66C76FB2-F2EF-5613-A7D0-B25782EBE5E1}"/>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4" name="Google Shape;1772;p83">
            <a:extLst>
              <a:ext uri="{FF2B5EF4-FFF2-40B4-BE49-F238E27FC236}">
                <a16:creationId xmlns:a16="http://schemas.microsoft.com/office/drawing/2014/main" id="{E945C4F4-0C0A-F278-8F00-02A4DDCB22A3}"/>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5" name="Google Shape;1773;p83">
            <a:extLst>
              <a:ext uri="{FF2B5EF4-FFF2-40B4-BE49-F238E27FC236}">
                <a16:creationId xmlns:a16="http://schemas.microsoft.com/office/drawing/2014/main" id="{313832E9-EF2B-655B-3FE8-9A94282E589E}"/>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6" name="Google Shape;1774;p83">
            <a:extLst>
              <a:ext uri="{FF2B5EF4-FFF2-40B4-BE49-F238E27FC236}">
                <a16:creationId xmlns:a16="http://schemas.microsoft.com/office/drawing/2014/main" id="{4B458819-420C-23C4-69F3-67609E03E196}"/>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
        <p:nvSpPr>
          <p:cNvPr id="8" name="TextBox 7">
            <a:extLst>
              <a:ext uri="{FF2B5EF4-FFF2-40B4-BE49-F238E27FC236}">
                <a16:creationId xmlns:a16="http://schemas.microsoft.com/office/drawing/2014/main" id="{E84400B3-E182-BFAD-DDBE-65A743DA9BAC}"/>
              </a:ext>
            </a:extLst>
          </p:cNvPr>
          <p:cNvSpPr txBox="1"/>
          <p:nvPr/>
        </p:nvSpPr>
        <p:spPr>
          <a:xfrm>
            <a:off x="5642339" y="4188888"/>
            <a:ext cx="2918162" cy="307777"/>
          </a:xfrm>
          <a:prstGeom prst="rect">
            <a:avLst/>
          </a:prstGeom>
          <a:noFill/>
          <a:ln>
            <a:solidFill>
              <a:schemeClr val="tx1"/>
            </a:solidFill>
          </a:ln>
        </p:spPr>
        <p:txBody>
          <a:bodyPr wrap="square">
            <a:spAutoFit/>
          </a:bodyPr>
          <a:lstStyle/>
          <a:p>
            <a:r>
              <a:rPr lang="en-US" dirty="0"/>
              <a:t>Write code → run → debug → PR</a:t>
            </a:r>
          </a:p>
        </p:txBody>
      </p:sp>
    </p:spTree>
    <p:extLst>
      <p:ext uri="{BB962C8B-B14F-4D97-AF65-F5344CB8AC3E}">
        <p14:creationId xmlns:p14="http://schemas.microsoft.com/office/powerpoint/2010/main" val="3630712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836;p85">
            <a:extLst>
              <a:ext uri="{FF2B5EF4-FFF2-40B4-BE49-F238E27FC236}">
                <a16:creationId xmlns:a16="http://schemas.microsoft.com/office/drawing/2014/main" id="{54B2134A-6BB3-1ED6-9AE3-6B0F8D292098}"/>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are workflows in Creative Tasks?</a:t>
            </a:r>
            <a:endParaRPr lang="en-US" sz="2400" dirty="0"/>
          </a:p>
        </p:txBody>
      </p:sp>
      <p:sp>
        <p:nvSpPr>
          <p:cNvPr id="10" name="TextBox 9">
            <a:extLst>
              <a:ext uri="{FF2B5EF4-FFF2-40B4-BE49-F238E27FC236}">
                <a16:creationId xmlns:a16="http://schemas.microsoft.com/office/drawing/2014/main" id="{941254F2-55C1-B18A-9484-F9E419AC0FEB}"/>
              </a:ext>
            </a:extLst>
          </p:cNvPr>
          <p:cNvSpPr txBox="1"/>
          <p:nvPr/>
        </p:nvSpPr>
        <p:spPr>
          <a:xfrm>
            <a:off x="443345" y="1330036"/>
            <a:ext cx="7287491"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They are effective.</a:t>
            </a:r>
          </a:p>
          <a:p>
            <a:pPr marL="285750" indent="-285750">
              <a:buFont typeface="Arial" panose="020B0604020202020204" pitchFamily="34" charset="0"/>
              <a:buChar char="•"/>
            </a:pPr>
            <a:endParaRPr lang="en-US" sz="1600" dirty="0"/>
          </a:p>
          <a:p>
            <a:endParaRPr lang="en-US" sz="1600" dirty="0"/>
          </a:p>
        </p:txBody>
      </p:sp>
      <p:sp>
        <p:nvSpPr>
          <p:cNvPr id="4" name="Google Shape;1771;p83">
            <a:extLst>
              <a:ext uri="{FF2B5EF4-FFF2-40B4-BE49-F238E27FC236}">
                <a16:creationId xmlns:a16="http://schemas.microsoft.com/office/drawing/2014/main" id="{56B0BD07-A696-FF88-E0DD-C994B28F2699}"/>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5" name="Google Shape;1772;p83">
            <a:extLst>
              <a:ext uri="{FF2B5EF4-FFF2-40B4-BE49-F238E27FC236}">
                <a16:creationId xmlns:a16="http://schemas.microsoft.com/office/drawing/2014/main" id="{693DB64F-9F45-DFF2-1A3E-C95D007D0044}"/>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E1B5A1F4-8E6D-2798-1038-DA0D0713D9C0}"/>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8" name="Google Shape;1774;p83">
            <a:extLst>
              <a:ext uri="{FF2B5EF4-FFF2-40B4-BE49-F238E27FC236}">
                <a16:creationId xmlns:a16="http://schemas.microsoft.com/office/drawing/2014/main" id="{87CA7970-AF06-3150-7726-D5B968D9C851}"/>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798064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89">
          <a:extLst>
            <a:ext uri="{FF2B5EF4-FFF2-40B4-BE49-F238E27FC236}">
              <a16:creationId xmlns:a16="http://schemas.microsoft.com/office/drawing/2014/main" id="{54B7C283-8887-19AF-1725-92E583D6C00E}"/>
            </a:ext>
          </a:extLst>
        </p:cNvPr>
        <p:cNvGrpSpPr/>
        <p:nvPr/>
      </p:nvGrpSpPr>
      <p:grpSpPr>
        <a:xfrm>
          <a:off x="0" y="0"/>
          <a:ext cx="0" cy="0"/>
          <a:chOff x="0" y="0"/>
          <a:chExt cx="0" cy="0"/>
        </a:xfrm>
      </p:grpSpPr>
      <p:pic>
        <p:nvPicPr>
          <p:cNvPr id="2790" name="Google Shape;2790;p159">
            <a:extLst>
              <a:ext uri="{FF2B5EF4-FFF2-40B4-BE49-F238E27FC236}">
                <a16:creationId xmlns:a16="http://schemas.microsoft.com/office/drawing/2014/main" id="{9ACE6C3E-7647-C2FA-8C3B-A560303574D2}"/>
              </a:ext>
            </a:extLst>
          </p:cNvPr>
          <p:cNvPicPr preferRelativeResize="0"/>
          <p:nvPr/>
        </p:nvPicPr>
        <p:blipFill rotWithShape="1">
          <a:blip r:embed="rId3">
            <a:alphaModFix/>
          </a:blip>
          <a:srcRect/>
          <a:stretch/>
        </p:blipFill>
        <p:spPr>
          <a:xfrm>
            <a:off x="688574" y="1206446"/>
            <a:ext cx="3771900" cy="285750"/>
          </a:xfrm>
          <a:prstGeom prst="rect">
            <a:avLst/>
          </a:prstGeom>
          <a:noFill/>
          <a:ln>
            <a:noFill/>
          </a:ln>
        </p:spPr>
      </p:pic>
      <p:sp>
        <p:nvSpPr>
          <p:cNvPr id="2792" name="Google Shape;2792;p159">
            <a:extLst>
              <a:ext uri="{FF2B5EF4-FFF2-40B4-BE49-F238E27FC236}">
                <a16:creationId xmlns:a16="http://schemas.microsoft.com/office/drawing/2014/main" id="{079275C2-15ED-7A4F-82F5-CE0F7DF0D44F}"/>
              </a:ext>
            </a:extLst>
          </p:cNvPr>
          <p:cNvSpPr txBox="1">
            <a:spLocks noGrp="1"/>
          </p:cNvSpPr>
          <p:nvPr>
            <p:ph type="body" idx="1"/>
          </p:nvPr>
        </p:nvSpPr>
        <p:spPr>
          <a:xfrm>
            <a:off x="688574" y="3806005"/>
            <a:ext cx="7337968" cy="709588"/>
          </a:xfrm>
          <a:prstGeom prst="rect">
            <a:avLst/>
          </a:prstGeom>
          <a:noFill/>
          <a:ln>
            <a:noFill/>
          </a:ln>
        </p:spPr>
        <p:txBody>
          <a:bodyPr spcFirstLastPara="1" wrap="square" lIns="68575" tIns="34275" rIns="68575" bIns="34275" anchor="t" anchorCtr="0">
            <a:normAutofit/>
          </a:bodyPr>
          <a:lstStyle/>
          <a:p>
            <a:pPr marL="0" lvl="0" indent="0" algn="l" rtl="0">
              <a:lnSpc>
                <a:spcPct val="150000"/>
              </a:lnSpc>
              <a:spcBef>
                <a:spcPts val="0"/>
              </a:spcBef>
              <a:spcAft>
                <a:spcPts val="0"/>
              </a:spcAft>
              <a:buClr>
                <a:schemeClr val="dk1"/>
              </a:buClr>
              <a:buSzPts val="1400"/>
              <a:buNone/>
            </a:pPr>
            <a:r>
              <a:rPr lang="en" sz="1200">
                <a:latin typeface="Lucida Sans"/>
                <a:ea typeface="Lucida Sans"/>
                <a:cs typeface="Lucida Sans"/>
                <a:sym typeface="Lucida Sans"/>
              </a:rPr>
              <a:t>Table 1. </a:t>
            </a:r>
            <a:r>
              <a:rPr lang="en" sz="1200">
                <a:solidFill>
                  <a:schemeClr val="accent2"/>
                </a:solidFill>
                <a:latin typeface="Lucida Sans"/>
                <a:ea typeface="Lucida Sans"/>
                <a:cs typeface="Lucida Sans"/>
                <a:sym typeface="Lucida Sans"/>
              </a:rPr>
              <a:t>Story arc types </a:t>
            </a:r>
            <a:r>
              <a:rPr lang="en" sz="1200">
                <a:latin typeface="Lucida Sans"/>
                <a:ea typeface="Lucida Sans"/>
                <a:cs typeface="Lucida Sans"/>
                <a:sym typeface="Lucida Sans"/>
              </a:rPr>
              <a:t>that are derived from Vonnegut (1995) and are characterized by transformations of the story’s protagonist(s) across the plot progression.</a:t>
            </a:r>
            <a:endParaRPr sz="1200">
              <a:solidFill>
                <a:schemeClr val="accent2"/>
              </a:solidFill>
              <a:latin typeface="Lucida Sans"/>
              <a:ea typeface="Lucida Sans"/>
              <a:cs typeface="Lucida Sans"/>
              <a:sym typeface="Lucida Sans"/>
            </a:endParaRPr>
          </a:p>
        </p:txBody>
      </p:sp>
      <p:pic>
        <p:nvPicPr>
          <p:cNvPr id="2794" name="Google Shape;2794;p159">
            <a:extLst>
              <a:ext uri="{FF2B5EF4-FFF2-40B4-BE49-F238E27FC236}">
                <a16:creationId xmlns:a16="http://schemas.microsoft.com/office/drawing/2014/main" id="{92734AE0-9CA4-E882-5CBE-C7E33BBE6415}"/>
              </a:ext>
            </a:extLst>
          </p:cNvPr>
          <p:cNvPicPr preferRelativeResize="0"/>
          <p:nvPr/>
        </p:nvPicPr>
        <p:blipFill rotWithShape="1">
          <a:blip r:embed="rId4">
            <a:alphaModFix/>
          </a:blip>
          <a:srcRect/>
          <a:stretch/>
        </p:blipFill>
        <p:spPr>
          <a:xfrm>
            <a:off x="547555" y="1677829"/>
            <a:ext cx="7825839" cy="2042869"/>
          </a:xfrm>
          <a:prstGeom prst="rect">
            <a:avLst/>
          </a:prstGeom>
          <a:noFill/>
          <a:ln>
            <a:noFill/>
          </a:ln>
        </p:spPr>
      </p:pic>
      <p:sp>
        <p:nvSpPr>
          <p:cNvPr id="2795" name="Google Shape;2795;p159">
            <a:extLst>
              <a:ext uri="{FF2B5EF4-FFF2-40B4-BE49-F238E27FC236}">
                <a16:creationId xmlns:a16="http://schemas.microsoft.com/office/drawing/2014/main" id="{2B3A5C57-54FB-B984-E977-4C4CEBEED05A}"/>
              </a:ext>
            </a:extLst>
          </p:cNvPr>
          <p:cNvSpPr/>
          <p:nvPr/>
        </p:nvSpPr>
        <p:spPr>
          <a:xfrm>
            <a:off x="6236494" y="1677829"/>
            <a:ext cx="1082279" cy="2128175"/>
          </a:xfrm>
          <a:prstGeom prst="roundRect">
            <a:avLst>
              <a:gd name="adj" fmla="val 16667"/>
            </a:avLst>
          </a:prstGeom>
          <a:noFill/>
          <a:ln w="28575"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dk1"/>
              </a:solidFill>
              <a:latin typeface="Calibri"/>
              <a:ea typeface="Calibri"/>
              <a:cs typeface="Calibri"/>
              <a:sym typeface="Calibri"/>
            </a:endParaRPr>
          </a:p>
        </p:txBody>
      </p:sp>
      <p:sp>
        <p:nvSpPr>
          <p:cNvPr id="8" name="Google Shape;1836;p85">
            <a:extLst>
              <a:ext uri="{FF2B5EF4-FFF2-40B4-BE49-F238E27FC236}">
                <a16:creationId xmlns:a16="http://schemas.microsoft.com/office/drawing/2014/main" id="{1C974A92-F1BE-A5EF-4BCB-5835E01439A7}"/>
              </a:ext>
            </a:extLst>
          </p:cNvPr>
          <p:cNvSpPr txBox="1">
            <a:spLocks/>
          </p:cNvSpPr>
          <p:nvPr/>
        </p:nvSpPr>
        <p:spPr>
          <a:xfrm>
            <a:off x="309050" y="620731"/>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Case Study of Creative Writing</a:t>
            </a:r>
            <a:endParaRPr lang="en-US" sz="2400" dirty="0"/>
          </a:p>
        </p:txBody>
      </p:sp>
      <p:sp>
        <p:nvSpPr>
          <p:cNvPr id="2" name="Google Shape;1771;p83">
            <a:extLst>
              <a:ext uri="{FF2B5EF4-FFF2-40B4-BE49-F238E27FC236}">
                <a16:creationId xmlns:a16="http://schemas.microsoft.com/office/drawing/2014/main" id="{5F492C68-06B9-5FA9-FB99-0553F326462C}"/>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D2F38CD4-AD1E-F95F-C4D3-17C958A19669}"/>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08FFA329-6A3B-837F-3404-94B9239D63CD}"/>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D572ECD5-8B5A-7F82-EA00-65B4269CBF99}"/>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85303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95"/>
                                        </p:tgtEl>
                                        <p:attrNameLst>
                                          <p:attrName>style.visibility</p:attrName>
                                        </p:attrNameLst>
                                      </p:cBhvr>
                                      <p:to>
                                        <p:strVal val="visible"/>
                                      </p:to>
                                    </p:set>
                                    <p:animEffect transition="in" filter="fade">
                                      <p:cBhvr>
                                        <p:cTn id="7" dur="2000"/>
                                        <p:tgtEl>
                                          <p:spTgt spid="2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0">
          <a:extLst>
            <a:ext uri="{FF2B5EF4-FFF2-40B4-BE49-F238E27FC236}">
              <a16:creationId xmlns:a16="http://schemas.microsoft.com/office/drawing/2014/main" id="{85A6897A-D80F-81A0-3D84-F8D74AC60D4E}"/>
            </a:ext>
          </a:extLst>
        </p:cNvPr>
        <p:cNvGrpSpPr/>
        <p:nvPr/>
      </p:nvGrpSpPr>
      <p:grpSpPr>
        <a:xfrm>
          <a:off x="0" y="0"/>
          <a:ext cx="0" cy="0"/>
          <a:chOff x="0" y="0"/>
          <a:chExt cx="0" cy="0"/>
        </a:xfrm>
      </p:grpSpPr>
      <p:pic>
        <p:nvPicPr>
          <p:cNvPr id="2801" name="Google Shape;2801;p160">
            <a:extLst>
              <a:ext uri="{FF2B5EF4-FFF2-40B4-BE49-F238E27FC236}">
                <a16:creationId xmlns:a16="http://schemas.microsoft.com/office/drawing/2014/main" id="{C87AC7AF-5415-17F4-FA47-D87AA516D5C9}"/>
              </a:ext>
            </a:extLst>
          </p:cNvPr>
          <p:cNvPicPr preferRelativeResize="0"/>
          <p:nvPr/>
        </p:nvPicPr>
        <p:blipFill rotWithShape="1">
          <a:blip r:embed="rId3">
            <a:alphaModFix/>
          </a:blip>
          <a:srcRect/>
          <a:stretch/>
        </p:blipFill>
        <p:spPr>
          <a:xfrm>
            <a:off x="688574" y="1050617"/>
            <a:ext cx="3771900" cy="285750"/>
          </a:xfrm>
          <a:prstGeom prst="rect">
            <a:avLst/>
          </a:prstGeom>
          <a:noFill/>
          <a:ln>
            <a:noFill/>
          </a:ln>
        </p:spPr>
      </p:pic>
      <p:sp>
        <p:nvSpPr>
          <p:cNvPr id="2803" name="Google Shape;2803;p160">
            <a:extLst>
              <a:ext uri="{FF2B5EF4-FFF2-40B4-BE49-F238E27FC236}">
                <a16:creationId xmlns:a16="http://schemas.microsoft.com/office/drawing/2014/main" id="{D2D4E3D4-C3CA-19A7-C136-DCD9C4032003}"/>
              </a:ext>
            </a:extLst>
          </p:cNvPr>
          <p:cNvSpPr txBox="1">
            <a:spLocks noGrp="1"/>
          </p:cNvSpPr>
          <p:nvPr>
            <p:ph type="body" idx="1"/>
          </p:nvPr>
        </p:nvSpPr>
        <p:spPr>
          <a:xfrm>
            <a:off x="938699" y="4194596"/>
            <a:ext cx="7576652" cy="709588"/>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chemeClr val="accent2"/>
              </a:buClr>
              <a:buSzPts val="1400"/>
              <a:buNone/>
            </a:pPr>
            <a:r>
              <a:rPr lang="en" sz="1400">
                <a:solidFill>
                  <a:schemeClr val="accent2"/>
                </a:solidFill>
                <a:latin typeface="Lucida Sans"/>
                <a:ea typeface="Lucida Sans"/>
                <a:cs typeface="Lucida Sans"/>
                <a:sym typeface="Lucida Sans"/>
              </a:rPr>
              <a:t>Table 2: Turning Point (TP) Types: </a:t>
            </a:r>
            <a:r>
              <a:rPr lang="en" sz="1400">
                <a:latin typeface="Lucida Sans"/>
                <a:ea typeface="Lucida Sans"/>
                <a:cs typeface="Lucida Sans"/>
                <a:sym typeface="Lucida Sans"/>
              </a:rPr>
              <a:t>a turning point is an event (or plot moment) that significantly influences a plot progression (Papalampidi et al., 2019). </a:t>
            </a:r>
            <a:endParaRPr/>
          </a:p>
        </p:txBody>
      </p:sp>
      <p:graphicFrame>
        <p:nvGraphicFramePr>
          <p:cNvPr id="2805" name="Google Shape;2805;p160">
            <a:extLst>
              <a:ext uri="{FF2B5EF4-FFF2-40B4-BE49-F238E27FC236}">
                <a16:creationId xmlns:a16="http://schemas.microsoft.com/office/drawing/2014/main" id="{CFB8C250-A665-9FD8-1273-E6A897CF8B96}"/>
              </a:ext>
            </a:extLst>
          </p:cNvPr>
          <p:cNvGraphicFramePr/>
          <p:nvPr/>
        </p:nvGraphicFramePr>
        <p:xfrm>
          <a:off x="1134986" y="1401538"/>
          <a:ext cx="6845200" cy="2758560"/>
        </p:xfrm>
        <a:graphic>
          <a:graphicData uri="http://schemas.openxmlformats.org/drawingml/2006/table">
            <a:tbl>
              <a:tblPr firstRow="1" bandRow="1">
                <a:noFill/>
                <a:tableStyleId>{C5B9DE73-8698-476A-B3E0-2BF82DE0D875}</a:tableStyleId>
              </a:tblPr>
              <a:tblGrid>
                <a:gridCol w="2267275">
                  <a:extLst>
                    <a:ext uri="{9D8B030D-6E8A-4147-A177-3AD203B41FA5}">
                      <a16:colId xmlns:a16="http://schemas.microsoft.com/office/drawing/2014/main" val="20000"/>
                    </a:ext>
                  </a:extLst>
                </a:gridCol>
                <a:gridCol w="4577925">
                  <a:extLst>
                    <a:ext uri="{9D8B030D-6E8A-4147-A177-3AD203B41FA5}">
                      <a16:colId xmlns:a16="http://schemas.microsoft.com/office/drawing/2014/main" val="20001"/>
                    </a:ext>
                  </a:extLst>
                </a:gridCol>
              </a:tblGrid>
              <a:tr h="278125">
                <a:tc>
                  <a:txBody>
                    <a:bodyPr/>
                    <a:lstStyle/>
                    <a:p>
                      <a:pPr marL="0" marR="0" lvl="0" indent="0" algn="l" rtl="0">
                        <a:spcBef>
                          <a:spcPts val="0"/>
                        </a:spcBef>
                        <a:spcAft>
                          <a:spcPts val="0"/>
                        </a:spcAft>
                        <a:buNone/>
                      </a:pPr>
                      <a:r>
                        <a:rPr lang="en" sz="1400">
                          <a:latin typeface="Lucida Sans"/>
                          <a:ea typeface="Lucida Sans"/>
                          <a:cs typeface="Lucida Sans"/>
                          <a:sym typeface="Lucida Sans"/>
                        </a:rPr>
                        <a:t>Turning Point (TP)</a:t>
                      </a:r>
                      <a:endParaRPr sz="1100"/>
                    </a:p>
                  </a:txBody>
                  <a:tcPr marL="68600" marR="68600" marT="34300" marB="34300"/>
                </a:tc>
                <a:tc>
                  <a:txBody>
                    <a:bodyPr/>
                    <a:lstStyle/>
                    <a:p>
                      <a:pPr marL="0" marR="0" lvl="0" indent="0" algn="l" rtl="0">
                        <a:spcBef>
                          <a:spcPts val="0"/>
                        </a:spcBef>
                        <a:spcAft>
                          <a:spcPts val="0"/>
                        </a:spcAft>
                        <a:buNone/>
                      </a:pPr>
                      <a:r>
                        <a:rPr lang="en" sz="1400">
                          <a:latin typeface="Lucida Sans"/>
                          <a:ea typeface="Lucida Sans"/>
                          <a:cs typeface="Lucida Sans"/>
                          <a:sym typeface="Lucida Sans"/>
                        </a:rPr>
                        <a:t>Description</a:t>
                      </a:r>
                      <a:endParaRPr sz="1100"/>
                    </a:p>
                  </a:txBody>
                  <a:tcPr marL="68600" marR="68600" marT="34300" marB="34300"/>
                </a:tc>
                <a:extLst>
                  <a:ext uri="{0D108BD9-81ED-4DB2-BD59-A6C34878D82A}">
                    <a16:rowId xmlns:a16="http://schemas.microsoft.com/office/drawing/2014/main" val="10000"/>
                  </a:ext>
                </a:extLst>
              </a:tr>
              <a:tr h="278125">
                <a:tc>
                  <a:txBody>
                    <a:bodyPr/>
                    <a:lstStyle/>
                    <a:p>
                      <a:pPr marL="0" marR="0" lvl="0" indent="0" algn="l" rtl="0">
                        <a:spcBef>
                          <a:spcPts val="0"/>
                        </a:spcBef>
                        <a:spcAft>
                          <a:spcPts val="0"/>
                        </a:spcAft>
                        <a:buNone/>
                      </a:pPr>
                      <a:r>
                        <a:rPr lang="en" sz="1400">
                          <a:latin typeface="Lucida Sans"/>
                          <a:ea typeface="Lucida Sans"/>
                          <a:cs typeface="Lucida Sans"/>
                          <a:sym typeface="Lucida Sans"/>
                        </a:rPr>
                        <a:t>TP1 - Opportunity</a:t>
                      </a:r>
                      <a:endParaRPr sz="1100"/>
                    </a:p>
                  </a:txBody>
                  <a:tcPr marL="68600" marR="68600" marT="34300" marB="34300"/>
                </a:tc>
                <a:tc>
                  <a:txBody>
                    <a:bodyPr/>
                    <a:lstStyle/>
                    <a:p>
                      <a:pPr marL="0" marR="0" lvl="0" indent="0" algn="l" rtl="0">
                        <a:spcBef>
                          <a:spcPts val="0"/>
                        </a:spcBef>
                        <a:spcAft>
                          <a:spcPts val="0"/>
                        </a:spcAft>
                        <a:buNone/>
                      </a:pPr>
                      <a:r>
                        <a:rPr lang="en" sz="1400">
                          <a:latin typeface="Lucida Sans"/>
                          <a:ea typeface="Lucida Sans"/>
                          <a:cs typeface="Lucida Sans"/>
                          <a:sym typeface="Lucida Sans"/>
                        </a:rPr>
                        <a:t>The introductory event that sets the stage for the narrative.</a:t>
                      </a:r>
                      <a:endParaRPr sz="1100"/>
                    </a:p>
                  </a:txBody>
                  <a:tcPr marL="68600" marR="68600" marT="34300" marB="34300"/>
                </a:tc>
                <a:extLst>
                  <a:ext uri="{0D108BD9-81ED-4DB2-BD59-A6C34878D82A}">
                    <a16:rowId xmlns:a16="http://schemas.microsoft.com/office/drawing/2014/main" val="10001"/>
                  </a:ext>
                </a:extLst>
              </a:tr>
              <a:tr h="278125">
                <a:tc>
                  <a:txBody>
                    <a:bodyPr/>
                    <a:lstStyle/>
                    <a:p>
                      <a:pPr marL="0" marR="0" lvl="0" indent="0" algn="l" rtl="0">
                        <a:spcBef>
                          <a:spcPts val="0"/>
                        </a:spcBef>
                        <a:spcAft>
                          <a:spcPts val="0"/>
                        </a:spcAft>
                        <a:buNone/>
                      </a:pPr>
                      <a:r>
                        <a:rPr lang="en" sz="1400">
                          <a:latin typeface="Lucida Sans"/>
                          <a:ea typeface="Lucida Sans"/>
                          <a:cs typeface="Lucida Sans"/>
                          <a:sym typeface="Lucida Sans"/>
                        </a:rPr>
                        <a:t>TP2 - Change of Plans</a:t>
                      </a:r>
                      <a:endParaRPr sz="1100"/>
                    </a:p>
                  </a:txBody>
                  <a:tcPr marL="68600" marR="68600" marT="34300" marB="34300"/>
                </a:tc>
                <a:tc>
                  <a:txBody>
                    <a:bodyPr/>
                    <a:lstStyle/>
                    <a:p>
                      <a:pPr marL="0" marR="0" lvl="0" indent="0" algn="l" rtl="0">
                        <a:spcBef>
                          <a:spcPts val="0"/>
                        </a:spcBef>
                        <a:spcAft>
                          <a:spcPts val="0"/>
                        </a:spcAft>
                        <a:buNone/>
                      </a:pPr>
                      <a:r>
                        <a:rPr lang="en" sz="1400">
                          <a:latin typeface="Lucida Sans"/>
                          <a:ea typeface="Lucida Sans"/>
                          <a:cs typeface="Lucida Sans"/>
                          <a:sym typeface="Lucida Sans"/>
                        </a:rPr>
                        <a:t>A pivotal moment where the main goal of the narrative is defined or altered.</a:t>
                      </a:r>
                      <a:endParaRPr sz="1100"/>
                    </a:p>
                  </a:txBody>
                  <a:tcPr marL="68600" marR="68600" marT="34300" marB="34300"/>
                </a:tc>
                <a:extLst>
                  <a:ext uri="{0D108BD9-81ED-4DB2-BD59-A6C34878D82A}">
                    <a16:rowId xmlns:a16="http://schemas.microsoft.com/office/drawing/2014/main" val="10002"/>
                  </a:ext>
                </a:extLst>
              </a:tr>
              <a:tr h="278125">
                <a:tc>
                  <a:txBody>
                    <a:bodyPr/>
                    <a:lstStyle/>
                    <a:p>
                      <a:pPr marL="0" marR="0" lvl="0" indent="0" algn="l" rtl="0">
                        <a:spcBef>
                          <a:spcPts val="0"/>
                        </a:spcBef>
                        <a:spcAft>
                          <a:spcPts val="0"/>
                        </a:spcAft>
                        <a:buNone/>
                      </a:pPr>
                      <a:r>
                        <a:rPr lang="en" sz="1400">
                          <a:latin typeface="Lucida Sans"/>
                          <a:ea typeface="Lucida Sans"/>
                          <a:cs typeface="Lucida Sans"/>
                          <a:sym typeface="Lucida Sans"/>
                        </a:rPr>
                        <a:t>TP3 - Point of No Return</a:t>
                      </a:r>
                      <a:endParaRPr sz="1100"/>
                    </a:p>
                  </a:txBody>
                  <a:tcPr marL="68600" marR="68600" marT="34300" marB="34300"/>
                </a:tc>
                <a:tc>
                  <a:txBody>
                    <a:bodyPr/>
                    <a:lstStyle/>
                    <a:p>
                      <a:pPr marL="0" marR="0" lvl="0" indent="0" algn="l" rtl="0">
                        <a:spcBef>
                          <a:spcPts val="0"/>
                        </a:spcBef>
                        <a:spcAft>
                          <a:spcPts val="0"/>
                        </a:spcAft>
                        <a:buNone/>
                      </a:pPr>
                      <a:r>
                        <a:rPr lang="en" sz="1400">
                          <a:latin typeface="Lucida Sans"/>
                          <a:ea typeface="Lucida Sans"/>
                          <a:cs typeface="Lucida Sans"/>
                          <a:sym typeface="Lucida Sans"/>
                        </a:rPr>
                        <a:t>The commitment point beyond which the protagonists are invested in goals</a:t>
                      </a:r>
                      <a:endParaRPr sz="1100"/>
                    </a:p>
                  </a:txBody>
                  <a:tcPr marL="68600" marR="68600" marT="34300" marB="34300"/>
                </a:tc>
                <a:extLst>
                  <a:ext uri="{0D108BD9-81ED-4DB2-BD59-A6C34878D82A}">
                    <a16:rowId xmlns:a16="http://schemas.microsoft.com/office/drawing/2014/main" val="10003"/>
                  </a:ext>
                </a:extLst>
              </a:tr>
              <a:tr h="278125">
                <a:tc>
                  <a:txBody>
                    <a:bodyPr/>
                    <a:lstStyle/>
                    <a:p>
                      <a:pPr marL="0" marR="0" lvl="0" indent="0" algn="l" rtl="0">
                        <a:spcBef>
                          <a:spcPts val="0"/>
                        </a:spcBef>
                        <a:spcAft>
                          <a:spcPts val="0"/>
                        </a:spcAft>
                        <a:buNone/>
                      </a:pPr>
                      <a:r>
                        <a:rPr lang="en" sz="1400">
                          <a:latin typeface="Lucida Sans"/>
                          <a:ea typeface="Lucida Sans"/>
                          <a:cs typeface="Lucida Sans"/>
                          <a:sym typeface="Lucida Sans"/>
                        </a:rPr>
                        <a:t>TP4 - Major Setback</a:t>
                      </a:r>
                      <a:endParaRPr sz="1100"/>
                    </a:p>
                  </a:txBody>
                  <a:tcPr marL="68600" marR="68600" marT="34300" marB="34300"/>
                </a:tc>
                <a:tc>
                  <a:txBody>
                    <a:bodyPr/>
                    <a:lstStyle/>
                    <a:p>
                      <a:pPr marL="0" marR="0" lvl="0" indent="0" algn="l" rtl="0">
                        <a:spcBef>
                          <a:spcPts val="0"/>
                        </a:spcBef>
                        <a:spcAft>
                          <a:spcPts val="0"/>
                        </a:spcAft>
                        <a:buNone/>
                      </a:pPr>
                      <a:r>
                        <a:rPr lang="en" sz="1400">
                          <a:latin typeface="Lucida Sans"/>
                          <a:ea typeface="Lucida Sans"/>
                          <a:cs typeface="Lucida Sans"/>
                          <a:sym typeface="Lucida Sans"/>
                        </a:rPr>
                        <a:t>A critical juncture where the protagonists face significant challenges or failures.</a:t>
                      </a:r>
                      <a:endParaRPr sz="1100"/>
                    </a:p>
                  </a:txBody>
                  <a:tcPr marL="68600" marR="68600" marT="34300" marB="34300"/>
                </a:tc>
                <a:extLst>
                  <a:ext uri="{0D108BD9-81ED-4DB2-BD59-A6C34878D82A}">
                    <a16:rowId xmlns:a16="http://schemas.microsoft.com/office/drawing/2014/main" val="10004"/>
                  </a:ext>
                </a:extLst>
              </a:tr>
              <a:tr h="278125">
                <a:tc>
                  <a:txBody>
                    <a:bodyPr/>
                    <a:lstStyle/>
                    <a:p>
                      <a:pPr marL="0" marR="0" lvl="0" indent="0" algn="l" rtl="0">
                        <a:spcBef>
                          <a:spcPts val="0"/>
                        </a:spcBef>
                        <a:spcAft>
                          <a:spcPts val="0"/>
                        </a:spcAft>
                        <a:buNone/>
                      </a:pPr>
                      <a:r>
                        <a:rPr lang="en" sz="1400">
                          <a:latin typeface="Lucida Sans"/>
                          <a:ea typeface="Lucida Sans"/>
                          <a:cs typeface="Lucida Sans"/>
                          <a:sym typeface="Lucida Sans"/>
                        </a:rPr>
                        <a:t>TP5 - Climax</a:t>
                      </a:r>
                      <a:endParaRPr sz="1100"/>
                    </a:p>
                  </a:txBody>
                  <a:tcPr marL="68600" marR="68600" marT="34300" marB="34300"/>
                </a:tc>
                <a:tc>
                  <a:txBody>
                    <a:bodyPr/>
                    <a:lstStyle/>
                    <a:p>
                      <a:pPr marL="0" marR="0" lvl="0" indent="0" algn="l" rtl="0">
                        <a:spcBef>
                          <a:spcPts val="0"/>
                        </a:spcBef>
                        <a:spcAft>
                          <a:spcPts val="0"/>
                        </a:spcAft>
                        <a:buNone/>
                      </a:pPr>
                      <a:r>
                        <a:rPr lang="en" sz="1400">
                          <a:latin typeface="Lucida Sans"/>
                          <a:ea typeface="Lucida Sans"/>
                          <a:cs typeface="Lucida Sans"/>
                          <a:sym typeface="Lucida Sans"/>
                        </a:rPr>
                        <a:t>The peak of the narrative arc, encompassing the resolution of the central conflict.</a:t>
                      </a:r>
                      <a:endParaRPr sz="1100"/>
                    </a:p>
                  </a:txBody>
                  <a:tcPr marL="68600" marR="68600" marT="34300" marB="34300"/>
                </a:tc>
                <a:extLst>
                  <a:ext uri="{0D108BD9-81ED-4DB2-BD59-A6C34878D82A}">
                    <a16:rowId xmlns:a16="http://schemas.microsoft.com/office/drawing/2014/main" val="10005"/>
                  </a:ext>
                </a:extLst>
              </a:tr>
            </a:tbl>
          </a:graphicData>
        </a:graphic>
      </p:graphicFrame>
      <p:sp>
        <p:nvSpPr>
          <p:cNvPr id="8" name="Google Shape;1836;p85">
            <a:extLst>
              <a:ext uri="{FF2B5EF4-FFF2-40B4-BE49-F238E27FC236}">
                <a16:creationId xmlns:a16="http://schemas.microsoft.com/office/drawing/2014/main" id="{7671A448-2BF2-2FBF-944C-C5488FA6ED05}"/>
              </a:ext>
            </a:extLst>
          </p:cNvPr>
          <p:cNvSpPr txBox="1">
            <a:spLocks/>
          </p:cNvSpPr>
          <p:nvPr/>
        </p:nvSpPr>
        <p:spPr>
          <a:xfrm>
            <a:off x="309050" y="620731"/>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Case Study of Creative Writing</a:t>
            </a:r>
            <a:endParaRPr lang="en-US" sz="2400" dirty="0"/>
          </a:p>
        </p:txBody>
      </p:sp>
      <p:sp>
        <p:nvSpPr>
          <p:cNvPr id="2" name="Google Shape;1771;p83">
            <a:extLst>
              <a:ext uri="{FF2B5EF4-FFF2-40B4-BE49-F238E27FC236}">
                <a16:creationId xmlns:a16="http://schemas.microsoft.com/office/drawing/2014/main" id="{EEA197A8-C704-D6DC-AE2B-D1FC99E485FA}"/>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FD02CECC-7670-3A50-E8D4-5E977479B60C}"/>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0E3762CF-8F88-A145-95D1-A1D79E4E6A6D}"/>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0245FCC6-88B9-28A6-A6DB-37D67A47D1AA}"/>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3202155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03">
          <a:extLst>
            <a:ext uri="{FF2B5EF4-FFF2-40B4-BE49-F238E27FC236}">
              <a16:creationId xmlns:a16="http://schemas.microsoft.com/office/drawing/2014/main" id="{A6B342D0-504F-CB4A-749C-2567B43CE075}"/>
            </a:ext>
          </a:extLst>
        </p:cNvPr>
        <p:cNvGrpSpPr/>
        <p:nvPr/>
      </p:nvGrpSpPr>
      <p:grpSpPr>
        <a:xfrm>
          <a:off x="0" y="0"/>
          <a:ext cx="0" cy="0"/>
          <a:chOff x="0" y="0"/>
          <a:chExt cx="0" cy="0"/>
        </a:xfrm>
      </p:grpSpPr>
      <p:pic>
        <p:nvPicPr>
          <p:cNvPr id="2904" name="Google Shape;2904;p169">
            <a:extLst>
              <a:ext uri="{FF2B5EF4-FFF2-40B4-BE49-F238E27FC236}">
                <a16:creationId xmlns:a16="http://schemas.microsoft.com/office/drawing/2014/main" id="{90305845-795E-A246-C191-5F700E228E36}"/>
              </a:ext>
            </a:extLst>
          </p:cNvPr>
          <p:cNvPicPr preferRelativeResize="0"/>
          <p:nvPr/>
        </p:nvPicPr>
        <p:blipFill rotWithShape="1">
          <a:blip r:embed="rId3">
            <a:alphaModFix/>
          </a:blip>
          <a:srcRect/>
          <a:stretch/>
        </p:blipFill>
        <p:spPr>
          <a:xfrm>
            <a:off x="688574" y="1050617"/>
            <a:ext cx="3771900" cy="285750"/>
          </a:xfrm>
          <a:prstGeom prst="rect">
            <a:avLst/>
          </a:prstGeom>
          <a:noFill/>
          <a:ln>
            <a:noFill/>
          </a:ln>
        </p:spPr>
      </p:pic>
      <p:sp>
        <p:nvSpPr>
          <p:cNvPr id="2907" name="Google Shape;2907;p169">
            <a:extLst>
              <a:ext uri="{FF2B5EF4-FFF2-40B4-BE49-F238E27FC236}">
                <a16:creationId xmlns:a16="http://schemas.microsoft.com/office/drawing/2014/main" id="{C0A530CE-4740-A35E-F359-0D15441E63C6}"/>
              </a:ext>
            </a:extLst>
          </p:cNvPr>
          <p:cNvSpPr txBox="1"/>
          <p:nvPr/>
        </p:nvSpPr>
        <p:spPr>
          <a:xfrm>
            <a:off x="1884466" y="1371476"/>
            <a:ext cx="6354041" cy="961771"/>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600" b="1">
                <a:solidFill>
                  <a:schemeClr val="dk1"/>
                </a:solidFill>
                <a:latin typeface="Lucida Sans"/>
                <a:ea typeface="Lucida Sans"/>
                <a:cs typeface="Lucida Sans"/>
                <a:sym typeface="Lucida Sans"/>
              </a:rPr>
              <a:t>Planning and reasoning about TP in the story outline </a:t>
            </a:r>
            <a:endParaRPr sz="1050"/>
          </a:p>
          <a:p>
            <a:pPr marL="254000" marR="0" lvl="0" indent="-247650" algn="l" rtl="0">
              <a:spcBef>
                <a:spcPts val="0"/>
              </a:spcBef>
              <a:spcAft>
                <a:spcPts val="0"/>
              </a:spcAft>
              <a:buClr>
                <a:schemeClr val="dk1"/>
              </a:buClr>
              <a:buSzPts val="1500"/>
              <a:buFont typeface="Arial"/>
              <a:buChar char="•"/>
            </a:pPr>
            <a:r>
              <a:rPr lang="en">
                <a:solidFill>
                  <a:schemeClr val="dk1"/>
                </a:solidFill>
                <a:latin typeface="Lucida Sans"/>
                <a:ea typeface="Lucida Sans"/>
                <a:cs typeface="Lucida Sans"/>
                <a:sym typeface="Lucida Sans"/>
              </a:rPr>
              <a:t>improves </a:t>
            </a:r>
            <a:r>
              <a:rPr lang="en">
                <a:solidFill>
                  <a:schemeClr val="dk1"/>
                </a:solidFill>
                <a:highlight>
                  <a:srgbClr val="F8BCA2"/>
                </a:highlight>
                <a:latin typeface="Lucida Sans"/>
                <a:ea typeface="Lucida Sans"/>
                <a:cs typeface="Lucida Sans"/>
                <a:sym typeface="Lucida Sans"/>
              </a:rPr>
              <a:t>overall narrative construction</a:t>
            </a:r>
            <a:endParaRPr sz="1050"/>
          </a:p>
          <a:p>
            <a:pPr marL="254000" marR="0" lvl="0" indent="-247650" algn="l" rtl="0">
              <a:spcBef>
                <a:spcPts val="0"/>
              </a:spcBef>
              <a:spcAft>
                <a:spcPts val="0"/>
              </a:spcAft>
              <a:buClr>
                <a:schemeClr val="dk1"/>
              </a:buClr>
              <a:buSzPts val="1500"/>
              <a:buFont typeface="Arial"/>
              <a:buChar char="•"/>
            </a:pPr>
            <a:r>
              <a:rPr lang="en">
                <a:solidFill>
                  <a:schemeClr val="dk1"/>
                </a:solidFill>
                <a:latin typeface="Lucida Sans"/>
                <a:ea typeface="Lucida Sans"/>
                <a:cs typeface="Lucida Sans"/>
                <a:sym typeface="Lucida Sans"/>
              </a:rPr>
              <a:t>reduce </a:t>
            </a:r>
            <a:r>
              <a:rPr lang="en">
                <a:solidFill>
                  <a:schemeClr val="dk1"/>
                </a:solidFill>
                <a:highlight>
                  <a:srgbClr val="F8BCA2"/>
                </a:highlight>
                <a:latin typeface="Lucida Sans"/>
                <a:ea typeface="Lucida Sans"/>
                <a:cs typeface="Lucida Sans"/>
                <a:sym typeface="Lucida Sans"/>
              </a:rPr>
              <a:t>plot holes </a:t>
            </a:r>
            <a:endParaRPr sz="1050"/>
          </a:p>
          <a:p>
            <a:pPr marL="254000" marR="0" lvl="0" indent="-247650" algn="l" rtl="0">
              <a:spcBef>
                <a:spcPts val="0"/>
              </a:spcBef>
              <a:spcAft>
                <a:spcPts val="0"/>
              </a:spcAft>
              <a:buClr>
                <a:schemeClr val="dk1"/>
              </a:buClr>
              <a:buSzPts val="1500"/>
              <a:buFont typeface="Arial"/>
              <a:buChar char="•"/>
            </a:pPr>
            <a:r>
              <a:rPr lang="en">
                <a:solidFill>
                  <a:schemeClr val="dk1"/>
                </a:solidFill>
                <a:latin typeface="Lucida Sans"/>
                <a:ea typeface="Lucida Sans"/>
                <a:cs typeface="Lucida Sans"/>
                <a:sym typeface="Lucida Sans"/>
              </a:rPr>
              <a:t>enhance </a:t>
            </a:r>
            <a:r>
              <a:rPr lang="en">
                <a:solidFill>
                  <a:schemeClr val="dk1"/>
                </a:solidFill>
                <a:highlight>
                  <a:srgbClr val="F8BCA2"/>
                </a:highlight>
                <a:latin typeface="Lucida Sans"/>
                <a:ea typeface="Lucida Sans"/>
                <a:cs typeface="Lucida Sans"/>
                <a:sym typeface="Lucida Sans"/>
              </a:rPr>
              <a:t>suspense and emotion </a:t>
            </a:r>
            <a:r>
              <a:rPr lang="en">
                <a:solidFill>
                  <a:schemeClr val="dk1"/>
                </a:solidFill>
                <a:latin typeface="Lucida Sans"/>
                <a:ea typeface="Lucida Sans"/>
                <a:cs typeface="Lucida Sans"/>
                <a:sym typeface="Lucida Sans"/>
              </a:rPr>
              <a:t>provocation</a:t>
            </a:r>
            <a:endParaRPr sz="1050"/>
          </a:p>
        </p:txBody>
      </p:sp>
      <p:pic>
        <p:nvPicPr>
          <p:cNvPr id="2908" name="Google Shape;2908;p169">
            <a:extLst>
              <a:ext uri="{FF2B5EF4-FFF2-40B4-BE49-F238E27FC236}">
                <a16:creationId xmlns:a16="http://schemas.microsoft.com/office/drawing/2014/main" id="{866468D3-0123-3681-3169-9BA455ABA6DA}"/>
              </a:ext>
            </a:extLst>
          </p:cNvPr>
          <p:cNvPicPr preferRelativeResize="0"/>
          <p:nvPr/>
        </p:nvPicPr>
        <p:blipFill rotWithShape="1">
          <a:blip r:embed="rId4">
            <a:alphaModFix/>
          </a:blip>
          <a:srcRect/>
          <a:stretch/>
        </p:blipFill>
        <p:spPr>
          <a:xfrm>
            <a:off x="473202" y="2540927"/>
            <a:ext cx="8303769" cy="1872590"/>
          </a:xfrm>
          <a:prstGeom prst="rect">
            <a:avLst/>
          </a:prstGeom>
          <a:noFill/>
          <a:ln>
            <a:noFill/>
          </a:ln>
        </p:spPr>
      </p:pic>
      <p:pic>
        <p:nvPicPr>
          <p:cNvPr id="2909" name="Google Shape;2909;p169" descr="Comment Heart outline">
            <a:extLst>
              <a:ext uri="{FF2B5EF4-FFF2-40B4-BE49-F238E27FC236}">
                <a16:creationId xmlns:a16="http://schemas.microsoft.com/office/drawing/2014/main" id="{CEE0EF57-0D4F-BE92-EBE1-3AE7BA3CBDE6}"/>
              </a:ext>
            </a:extLst>
          </p:cNvPr>
          <p:cNvPicPr preferRelativeResize="0"/>
          <p:nvPr/>
        </p:nvPicPr>
        <p:blipFill rotWithShape="1">
          <a:blip r:embed="rId5">
            <a:alphaModFix/>
          </a:blip>
          <a:srcRect/>
          <a:stretch/>
        </p:blipFill>
        <p:spPr>
          <a:xfrm>
            <a:off x="1030185" y="1336367"/>
            <a:ext cx="685800" cy="685800"/>
          </a:xfrm>
          <a:prstGeom prst="rect">
            <a:avLst/>
          </a:prstGeom>
          <a:noFill/>
          <a:ln>
            <a:noFill/>
          </a:ln>
        </p:spPr>
      </p:pic>
      <p:sp>
        <p:nvSpPr>
          <p:cNvPr id="2910" name="Google Shape;2910;p169">
            <a:extLst>
              <a:ext uri="{FF2B5EF4-FFF2-40B4-BE49-F238E27FC236}">
                <a16:creationId xmlns:a16="http://schemas.microsoft.com/office/drawing/2014/main" id="{AA9EBB8E-40EE-4DF2-9D66-C41D3DF2ACF8}"/>
              </a:ext>
            </a:extLst>
          </p:cNvPr>
          <p:cNvSpPr/>
          <p:nvPr/>
        </p:nvSpPr>
        <p:spPr>
          <a:xfrm>
            <a:off x="600252" y="3357747"/>
            <a:ext cx="8070545" cy="400793"/>
          </a:xfrm>
          <a:prstGeom prst="roundRect">
            <a:avLst>
              <a:gd name="adj" fmla="val 16667"/>
            </a:avLst>
          </a:prstGeom>
          <a:noFill/>
          <a:ln w="381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dk1"/>
              </a:solidFill>
              <a:latin typeface="Calibri"/>
              <a:ea typeface="Calibri"/>
              <a:cs typeface="Calibri"/>
              <a:sym typeface="Calibri"/>
            </a:endParaRPr>
          </a:p>
        </p:txBody>
      </p:sp>
      <p:pic>
        <p:nvPicPr>
          <p:cNvPr id="2911" name="Google Shape;2911;p169" descr="Comment Like outline">
            <a:extLst>
              <a:ext uri="{FF2B5EF4-FFF2-40B4-BE49-F238E27FC236}">
                <a16:creationId xmlns:a16="http://schemas.microsoft.com/office/drawing/2014/main" id="{B8BF921B-E6D5-9BD5-6470-9795B2E2EE2B}"/>
              </a:ext>
            </a:extLst>
          </p:cNvPr>
          <p:cNvPicPr preferRelativeResize="0"/>
          <p:nvPr/>
        </p:nvPicPr>
        <p:blipFill rotWithShape="1">
          <a:blip r:embed="rId6">
            <a:alphaModFix/>
          </a:blip>
          <a:srcRect/>
          <a:stretch/>
        </p:blipFill>
        <p:spPr>
          <a:xfrm>
            <a:off x="1496291" y="2744684"/>
            <a:ext cx="613063" cy="613063"/>
          </a:xfrm>
          <a:prstGeom prst="rect">
            <a:avLst/>
          </a:prstGeom>
          <a:noFill/>
          <a:ln>
            <a:noFill/>
          </a:ln>
        </p:spPr>
      </p:pic>
      <p:sp>
        <p:nvSpPr>
          <p:cNvPr id="8" name="Google Shape;1836;p85">
            <a:extLst>
              <a:ext uri="{FF2B5EF4-FFF2-40B4-BE49-F238E27FC236}">
                <a16:creationId xmlns:a16="http://schemas.microsoft.com/office/drawing/2014/main" id="{6335E691-A4FF-44E5-95C1-E1DF8992336D}"/>
              </a:ext>
            </a:extLst>
          </p:cNvPr>
          <p:cNvSpPr txBox="1">
            <a:spLocks/>
          </p:cNvSpPr>
          <p:nvPr/>
        </p:nvSpPr>
        <p:spPr>
          <a:xfrm>
            <a:off x="309050" y="620731"/>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Case Study of Creative Writing</a:t>
            </a:r>
            <a:endParaRPr lang="en-US" sz="2400" dirty="0"/>
          </a:p>
        </p:txBody>
      </p:sp>
      <p:sp>
        <p:nvSpPr>
          <p:cNvPr id="2" name="Google Shape;1771;p83">
            <a:extLst>
              <a:ext uri="{FF2B5EF4-FFF2-40B4-BE49-F238E27FC236}">
                <a16:creationId xmlns:a16="http://schemas.microsoft.com/office/drawing/2014/main" id="{90A93971-7721-57DF-93A7-29C53696F559}"/>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D92E04FB-D7CC-5B20-A424-A5C4BE86A67E}"/>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457672D4-5D18-1F17-B4F7-FC37E8593368}"/>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C135FEC3-408F-FC15-8B76-1E880F1AF866}"/>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43516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11"/>
                                        </p:tgtEl>
                                        <p:attrNameLst>
                                          <p:attrName>style.visibility</p:attrName>
                                        </p:attrNameLst>
                                      </p:cBhvr>
                                      <p:to>
                                        <p:strVal val="visible"/>
                                      </p:to>
                                    </p:set>
                                    <p:animEffect transition="in" filter="fade">
                                      <p:cBhvr>
                                        <p:cTn id="7" dur="500"/>
                                        <p:tgtEl>
                                          <p:spTgt spid="2911"/>
                                        </p:tgtEl>
                                      </p:cBhvr>
                                    </p:animEffect>
                                  </p:childTnLst>
                                </p:cTn>
                              </p:par>
                              <p:par>
                                <p:cTn id="8" presetID="10" presetClass="entr" presetSubtype="0" fill="hold" nodeType="withEffect">
                                  <p:stCondLst>
                                    <p:cond delay="0"/>
                                  </p:stCondLst>
                                  <p:childTnLst>
                                    <p:set>
                                      <p:cBhvr>
                                        <p:cTn id="9" dur="1" fill="hold">
                                          <p:stCondLst>
                                            <p:cond delay="0"/>
                                          </p:stCondLst>
                                        </p:cTn>
                                        <p:tgtEl>
                                          <p:spTgt spid="2910"/>
                                        </p:tgtEl>
                                        <p:attrNameLst>
                                          <p:attrName>style.visibility</p:attrName>
                                        </p:attrNameLst>
                                      </p:cBhvr>
                                      <p:to>
                                        <p:strVal val="visible"/>
                                      </p:to>
                                    </p:set>
                                    <p:animEffect transition="in" filter="fade">
                                      <p:cBhvr>
                                        <p:cTn id="10" dur="500"/>
                                        <p:tgtEl>
                                          <p:spTgt spid="2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16">
          <a:extLst>
            <a:ext uri="{FF2B5EF4-FFF2-40B4-BE49-F238E27FC236}">
              <a16:creationId xmlns:a16="http://schemas.microsoft.com/office/drawing/2014/main" id="{5CFFC520-7817-781D-DDA3-FC885F50A57C}"/>
            </a:ext>
          </a:extLst>
        </p:cNvPr>
        <p:cNvGrpSpPr/>
        <p:nvPr/>
      </p:nvGrpSpPr>
      <p:grpSpPr>
        <a:xfrm>
          <a:off x="0" y="0"/>
          <a:ext cx="0" cy="0"/>
          <a:chOff x="0" y="0"/>
          <a:chExt cx="0" cy="0"/>
        </a:xfrm>
      </p:grpSpPr>
      <p:pic>
        <p:nvPicPr>
          <p:cNvPr id="2917" name="Google Shape;2917;p170">
            <a:extLst>
              <a:ext uri="{FF2B5EF4-FFF2-40B4-BE49-F238E27FC236}">
                <a16:creationId xmlns:a16="http://schemas.microsoft.com/office/drawing/2014/main" id="{02DDD646-AF6F-4605-CFD0-9DBF062C56E9}"/>
              </a:ext>
            </a:extLst>
          </p:cNvPr>
          <p:cNvPicPr preferRelativeResize="0"/>
          <p:nvPr/>
        </p:nvPicPr>
        <p:blipFill rotWithShape="1">
          <a:blip r:embed="rId3">
            <a:alphaModFix/>
          </a:blip>
          <a:srcRect/>
          <a:stretch/>
        </p:blipFill>
        <p:spPr>
          <a:xfrm>
            <a:off x="688574" y="1050617"/>
            <a:ext cx="3771900" cy="285750"/>
          </a:xfrm>
          <a:prstGeom prst="rect">
            <a:avLst/>
          </a:prstGeom>
          <a:noFill/>
          <a:ln>
            <a:noFill/>
          </a:ln>
        </p:spPr>
      </p:pic>
      <p:pic>
        <p:nvPicPr>
          <p:cNvPr id="2920" name="Google Shape;2920;p170">
            <a:extLst>
              <a:ext uri="{FF2B5EF4-FFF2-40B4-BE49-F238E27FC236}">
                <a16:creationId xmlns:a16="http://schemas.microsoft.com/office/drawing/2014/main" id="{FDA44282-8CFD-6595-C1F6-780CE402E3D9}"/>
              </a:ext>
            </a:extLst>
          </p:cNvPr>
          <p:cNvPicPr preferRelativeResize="0"/>
          <p:nvPr/>
        </p:nvPicPr>
        <p:blipFill rotWithShape="1">
          <a:blip r:embed="rId4">
            <a:alphaModFix/>
          </a:blip>
          <a:srcRect/>
          <a:stretch/>
        </p:blipFill>
        <p:spPr>
          <a:xfrm>
            <a:off x="1787979" y="2322687"/>
            <a:ext cx="4573484" cy="2031222"/>
          </a:xfrm>
          <a:prstGeom prst="rect">
            <a:avLst/>
          </a:prstGeom>
          <a:noFill/>
          <a:ln>
            <a:noFill/>
          </a:ln>
        </p:spPr>
      </p:pic>
      <p:sp>
        <p:nvSpPr>
          <p:cNvPr id="2921" name="Google Shape;2921;p170">
            <a:extLst>
              <a:ext uri="{FF2B5EF4-FFF2-40B4-BE49-F238E27FC236}">
                <a16:creationId xmlns:a16="http://schemas.microsoft.com/office/drawing/2014/main" id="{C0E1CAC1-2A10-BD56-B7D4-A250D97BAFE6}"/>
              </a:ext>
            </a:extLst>
          </p:cNvPr>
          <p:cNvSpPr txBox="1"/>
          <p:nvPr/>
        </p:nvSpPr>
        <p:spPr>
          <a:xfrm>
            <a:off x="1838255" y="1506470"/>
            <a:ext cx="4573484" cy="53091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a:solidFill>
                  <a:schemeClr val="dk1"/>
                </a:solidFill>
                <a:latin typeface="Lucida Sans"/>
                <a:ea typeface="Lucida Sans"/>
                <a:cs typeface="Lucida Sans"/>
                <a:sym typeface="Lucida Sans"/>
              </a:rPr>
              <a:t>Incorporating explicit directives about story arcs helps improve narrative diversity</a:t>
            </a:r>
            <a:endParaRPr sz="1100"/>
          </a:p>
        </p:txBody>
      </p:sp>
      <p:pic>
        <p:nvPicPr>
          <p:cNvPr id="2922" name="Google Shape;2922;p170" descr="Comment Heart outline">
            <a:extLst>
              <a:ext uri="{FF2B5EF4-FFF2-40B4-BE49-F238E27FC236}">
                <a16:creationId xmlns:a16="http://schemas.microsoft.com/office/drawing/2014/main" id="{2A36863F-36FD-0D61-F371-2EA4E7A402AE}"/>
              </a:ext>
            </a:extLst>
          </p:cNvPr>
          <p:cNvPicPr preferRelativeResize="0"/>
          <p:nvPr/>
        </p:nvPicPr>
        <p:blipFill rotWithShape="1">
          <a:blip r:embed="rId5">
            <a:alphaModFix/>
          </a:blip>
          <a:srcRect/>
          <a:stretch/>
        </p:blipFill>
        <p:spPr>
          <a:xfrm>
            <a:off x="1152455" y="1466783"/>
            <a:ext cx="685800" cy="685800"/>
          </a:xfrm>
          <a:prstGeom prst="rect">
            <a:avLst/>
          </a:prstGeom>
          <a:noFill/>
          <a:ln>
            <a:noFill/>
          </a:ln>
        </p:spPr>
      </p:pic>
      <p:pic>
        <p:nvPicPr>
          <p:cNvPr id="2923" name="Google Shape;2923;p170" descr="Comment Like outline">
            <a:extLst>
              <a:ext uri="{FF2B5EF4-FFF2-40B4-BE49-F238E27FC236}">
                <a16:creationId xmlns:a16="http://schemas.microsoft.com/office/drawing/2014/main" id="{82ADFA8C-6203-D2D8-5F03-FF9FD2E2E5DE}"/>
              </a:ext>
            </a:extLst>
          </p:cNvPr>
          <p:cNvPicPr preferRelativeResize="0"/>
          <p:nvPr/>
        </p:nvPicPr>
        <p:blipFill rotWithShape="1">
          <a:blip r:embed="rId6">
            <a:alphaModFix/>
          </a:blip>
          <a:srcRect/>
          <a:stretch/>
        </p:blipFill>
        <p:spPr>
          <a:xfrm>
            <a:off x="1346365" y="2818142"/>
            <a:ext cx="613063" cy="613063"/>
          </a:xfrm>
          <a:prstGeom prst="rect">
            <a:avLst/>
          </a:prstGeom>
          <a:noFill/>
          <a:ln>
            <a:noFill/>
          </a:ln>
        </p:spPr>
      </p:pic>
      <p:sp>
        <p:nvSpPr>
          <p:cNvPr id="2924" name="Google Shape;2924;p170">
            <a:extLst>
              <a:ext uri="{FF2B5EF4-FFF2-40B4-BE49-F238E27FC236}">
                <a16:creationId xmlns:a16="http://schemas.microsoft.com/office/drawing/2014/main" id="{94062A58-D40C-7FFB-3BF3-F277A76C4EAC}"/>
              </a:ext>
            </a:extLst>
          </p:cNvPr>
          <p:cNvSpPr/>
          <p:nvPr/>
        </p:nvSpPr>
        <p:spPr>
          <a:xfrm>
            <a:off x="1838255" y="3124673"/>
            <a:ext cx="4351758" cy="306532"/>
          </a:xfrm>
          <a:prstGeom prst="roundRect">
            <a:avLst>
              <a:gd name="adj" fmla="val 16667"/>
            </a:avLst>
          </a:prstGeom>
          <a:noFill/>
          <a:ln w="381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1836;p85">
            <a:extLst>
              <a:ext uri="{FF2B5EF4-FFF2-40B4-BE49-F238E27FC236}">
                <a16:creationId xmlns:a16="http://schemas.microsoft.com/office/drawing/2014/main" id="{73300291-85F4-7278-6E61-1A10A877E462}"/>
              </a:ext>
            </a:extLst>
          </p:cNvPr>
          <p:cNvSpPr txBox="1">
            <a:spLocks/>
          </p:cNvSpPr>
          <p:nvPr/>
        </p:nvSpPr>
        <p:spPr>
          <a:xfrm>
            <a:off x="318800" y="532777"/>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Case Study of Creative Writing</a:t>
            </a:r>
            <a:endParaRPr lang="en-US" sz="2400" dirty="0"/>
          </a:p>
        </p:txBody>
      </p:sp>
      <p:sp>
        <p:nvSpPr>
          <p:cNvPr id="2" name="Google Shape;1771;p83">
            <a:extLst>
              <a:ext uri="{FF2B5EF4-FFF2-40B4-BE49-F238E27FC236}">
                <a16:creationId xmlns:a16="http://schemas.microsoft.com/office/drawing/2014/main" id="{902DDD0B-51D2-151C-F4BC-619592BB4480}"/>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C098A6A8-61A6-0402-B6C4-14E9422D040A}"/>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448C0DAF-5BA0-6F1D-4DC2-2EB6295BC0A4}"/>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A8BBDE0D-14C9-934F-32BB-8E19E7510BBA}"/>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05365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3"/>
                                        </p:tgtEl>
                                        <p:attrNameLst>
                                          <p:attrName>style.visibility</p:attrName>
                                        </p:attrNameLst>
                                      </p:cBhvr>
                                      <p:to>
                                        <p:strVal val="visible"/>
                                      </p:to>
                                    </p:set>
                                    <p:animEffect transition="in" filter="fade">
                                      <p:cBhvr>
                                        <p:cTn id="7" dur="500"/>
                                        <p:tgtEl>
                                          <p:spTgt spid="2923"/>
                                        </p:tgtEl>
                                      </p:cBhvr>
                                    </p:animEffect>
                                  </p:childTnLst>
                                </p:cTn>
                              </p:par>
                              <p:par>
                                <p:cTn id="8" presetID="10" presetClass="entr" presetSubtype="0" fill="hold" nodeType="withEffect">
                                  <p:stCondLst>
                                    <p:cond delay="0"/>
                                  </p:stCondLst>
                                  <p:childTnLst>
                                    <p:set>
                                      <p:cBhvr>
                                        <p:cTn id="9" dur="1" fill="hold">
                                          <p:stCondLst>
                                            <p:cond delay="0"/>
                                          </p:stCondLst>
                                        </p:cTn>
                                        <p:tgtEl>
                                          <p:spTgt spid="2924"/>
                                        </p:tgtEl>
                                        <p:attrNameLst>
                                          <p:attrName>style.visibility</p:attrName>
                                        </p:attrNameLst>
                                      </p:cBhvr>
                                      <p:to>
                                        <p:strVal val="visible"/>
                                      </p:to>
                                    </p:set>
                                    <p:animEffect transition="in" filter="fade">
                                      <p:cBhvr>
                                        <p:cTn id="10" dur="500"/>
                                        <p:tgtEl>
                                          <p:spTgt spid="2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D3793-D899-79BF-D274-9F2C1C9A68BF}"/>
            </a:ext>
          </a:extLst>
        </p:cNvPr>
        <p:cNvGrpSpPr/>
        <p:nvPr/>
      </p:nvGrpSpPr>
      <p:grpSpPr>
        <a:xfrm>
          <a:off x="0" y="0"/>
          <a:ext cx="0" cy="0"/>
          <a:chOff x="0" y="0"/>
          <a:chExt cx="0" cy="0"/>
        </a:xfrm>
      </p:grpSpPr>
      <p:sp>
        <p:nvSpPr>
          <p:cNvPr id="11" name="Google Shape;1836;p85">
            <a:extLst>
              <a:ext uri="{FF2B5EF4-FFF2-40B4-BE49-F238E27FC236}">
                <a16:creationId xmlns:a16="http://schemas.microsoft.com/office/drawing/2014/main" id="{4A734242-BB87-D19F-243A-966502E016BF}"/>
              </a:ext>
            </a:extLst>
          </p:cNvPr>
          <p:cNvSpPr txBox="1">
            <a:spLocks/>
          </p:cNvSpPr>
          <p:nvPr/>
        </p:nvSpPr>
        <p:spPr>
          <a:xfrm>
            <a:off x="318800" y="532777"/>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Case Study of Web Agent Task</a:t>
            </a:r>
            <a:endParaRPr lang="en-US" sz="2400" dirty="0"/>
          </a:p>
        </p:txBody>
      </p:sp>
      <p:sp>
        <p:nvSpPr>
          <p:cNvPr id="3" name="TextBox 2">
            <a:extLst>
              <a:ext uri="{FF2B5EF4-FFF2-40B4-BE49-F238E27FC236}">
                <a16:creationId xmlns:a16="http://schemas.microsoft.com/office/drawing/2014/main" id="{6B5CBDF7-18F6-66D6-794C-B8B69B1FE226}"/>
              </a:ext>
            </a:extLst>
          </p:cNvPr>
          <p:cNvSpPr txBox="1"/>
          <p:nvPr/>
        </p:nvSpPr>
        <p:spPr>
          <a:xfrm>
            <a:off x="7100" y="4835723"/>
            <a:ext cx="9144000" cy="307777"/>
          </a:xfrm>
          <a:prstGeom prst="rect">
            <a:avLst/>
          </a:prstGeom>
          <a:solidFill>
            <a:schemeClr val="bg1">
              <a:lumMod val="85000"/>
            </a:schemeClr>
          </a:solidFill>
        </p:spPr>
        <p:txBody>
          <a:bodyPr wrap="square">
            <a:spAutoFit/>
          </a:bodyPr>
          <a:lstStyle/>
          <a:p>
            <a:pPr algn="ctr"/>
            <a:r>
              <a:rPr lang="en-US" b="0" i="0" dirty="0">
                <a:solidFill>
                  <a:srgbClr val="222222"/>
                </a:solidFill>
                <a:effectLst/>
                <a:latin typeface="Arial" panose="020B0604020202020204" pitchFamily="34" charset="0"/>
              </a:rPr>
              <a:t>Sodhi, Paloma, et al. "</a:t>
            </a:r>
            <a:r>
              <a:rPr lang="en-US" b="0" i="0" dirty="0" err="1">
                <a:solidFill>
                  <a:srgbClr val="222222"/>
                </a:solidFill>
                <a:effectLst/>
                <a:latin typeface="Arial" panose="020B0604020202020204" pitchFamily="34" charset="0"/>
              </a:rPr>
              <a:t>SteP</a:t>
            </a:r>
            <a:r>
              <a:rPr lang="en-US" b="0" i="0" dirty="0">
                <a:solidFill>
                  <a:srgbClr val="222222"/>
                </a:solidFill>
                <a:effectLst/>
                <a:latin typeface="Arial" panose="020B0604020202020204" pitchFamily="34" charset="0"/>
              </a:rPr>
              <a:t>: Stacked LLM Policies for Web Actions." </a:t>
            </a:r>
            <a:r>
              <a:rPr lang="en-US" b="0" i="1" dirty="0">
                <a:solidFill>
                  <a:srgbClr val="222222"/>
                </a:solidFill>
                <a:effectLst/>
                <a:latin typeface="Arial" panose="020B0604020202020204" pitchFamily="34" charset="0"/>
              </a:rPr>
              <a:t>First Conference on Language Modeling</a:t>
            </a:r>
            <a:r>
              <a:rPr lang="en-US" b="0" i="0" dirty="0">
                <a:solidFill>
                  <a:srgbClr val="222222"/>
                </a:solidFill>
                <a:effectLst/>
                <a:latin typeface="Arial" panose="020B0604020202020204" pitchFamily="34" charset="0"/>
              </a:rPr>
              <a:t>.</a:t>
            </a:r>
            <a:endParaRPr lang="en-US" dirty="0"/>
          </a:p>
        </p:txBody>
      </p:sp>
      <p:pic>
        <p:nvPicPr>
          <p:cNvPr id="5" name="Picture 4">
            <a:extLst>
              <a:ext uri="{FF2B5EF4-FFF2-40B4-BE49-F238E27FC236}">
                <a16:creationId xmlns:a16="http://schemas.microsoft.com/office/drawing/2014/main" id="{79A01B0C-D8B3-7E96-F5D3-39DD2BB4104C}"/>
              </a:ext>
            </a:extLst>
          </p:cNvPr>
          <p:cNvPicPr>
            <a:picLocks noChangeAspect="1"/>
          </p:cNvPicPr>
          <p:nvPr/>
        </p:nvPicPr>
        <p:blipFill>
          <a:blip r:embed="rId2"/>
          <a:srcRect r="47430"/>
          <a:stretch/>
        </p:blipFill>
        <p:spPr>
          <a:xfrm>
            <a:off x="151532" y="1396704"/>
            <a:ext cx="4085932" cy="2520567"/>
          </a:xfrm>
          <a:prstGeom prst="rect">
            <a:avLst/>
          </a:prstGeom>
        </p:spPr>
      </p:pic>
      <p:pic>
        <p:nvPicPr>
          <p:cNvPr id="12" name="Picture 11">
            <a:extLst>
              <a:ext uri="{FF2B5EF4-FFF2-40B4-BE49-F238E27FC236}">
                <a16:creationId xmlns:a16="http://schemas.microsoft.com/office/drawing/2014/main" id="{30540138-7825-2517-9325-879317A39B48}"/>
              </a:ext>
            </a:extLst>
          </p:cNvPr>
          <p:cNvPicPr>
            <a:picLocks noChangeAspect="1"/>
          </p:cNvPicPr>
          <p:nvPr/>
        </p:nvPicPr>
        <p:blipFill>
          <a:blip r:embed="rId3"/>
          <a:stretch>
            <a:fillRect/>
          </a:stretch>
        </p:blipFill>
        <p:spPr>
          <a:xfrm>
            <a:off x="4326082" y="1510773"/>
            <a:ext cx="4513318" cy="2406498"/>
          </a:xfrm>
          <a:prstGeom prst="rect">
            <a:avLst/>
          </a:prstGeom>
        </p:spPr>
      </p:pic>
      <p:sp>
        <p:nvSpPr>
          <p:cNvPr id="14" name="Google Shape;1771;p83">
            <a:extLst>
              <a:ext uri="{FF2B5EF4-FFF2-40B4-BE49-F238E27FC236}">
                <a16:creationId xmlns:a16="http://schemas.microsoft.com/office/drawing/2014/main" id="{7213AFAD-9D7D-8093-98A9-12AFB5615461}"/>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5" name="Google Shape;1772;p83">
            <a:extLst>
              <a:ext uri="{FF2B5EF4-FFF2-40B4-BE49-F238E27FC236}">
                <a16:creationId xmlns:a16="http://schemas.microsoft.com/office/drawing/2014/main" id="{5CB209A4-BF39-18BB-736C-95E9DA139AF9}"/>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6" name="Google Shape;1773;p83">
            <a:extLst>
              <a:ext uri="{FF2B5EF4-FFF2-40B4-BE49-F238E27FC236}">
                <a16:creationId xmlns:a16="http://schemas.microsoft.com/office/drawing/2014/main" id="{9E0EB9E9-50F7-3958-3F6E-0DCC49132D8F}"/>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7" name="Google Shape;1774;p83">
            <a:extLst>
              <a:ext uri="{FF2B5EF4-FFF2-40B4-BE49-F238E27FC236}">
                <a16:creationId xmlns:a16="http://schemas.microsoft.com/office/drawing/2014/main" id="{4F00AD93-F9AE-8577-2A74-B7D1A146B470}"/>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882569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39860-EFE6-CA6B-979B-EC2F8084BEC6}"/>
            </a:ext>
          </a:extLst>
        </p:cNvPr>
        <p:cNvGrpSpPr/>
        <p:nvPr/>
      </p:nvGrpSpPr>
      <p:grpSpPr>
        <a:xfrm>
          <a:off x="0" y="0"/>
          <a:ext cx="0" cy="0"/>
          <a:chOff x="0" y="0"/>
          <a:chExt cx="0" cy="0"/>
        </a:xfrm>
      </p:grpSpPr>
      <p:sp>
        <p:nvSpPr>
          <p:cNvPr id="11" name="Google Shape;1836;p85">
            <a:extLst>
              <a:ext uri="{FF2B5EF4-FFF2-40B4-BE49-F238E27FC236}">
                <a16:creationId xmlns:a16="http://schemas.microsoft.com/office/drawing/2014/main" id="{704372BB-F348-C4C0-5CA1-A77F20FC8B26}"/>
              </a:ext>
            </a:extLst>
          </p:cNvPr>
          <p:cNvSpPr txBox="1">
            <a:spLocks/>
          </p:cNvSpPr>
          <p:nvPr/>
        </p:nvSpPr>
        <p:spPr>
          <a:xfrm>
            <a:off x="318800" y="532777"/>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Why Workflows Help?</a:t>
            </a:r>
            <a:endParaRPr lang="en-US" sz="2400" dirty="0"/>
          </a:p>
        </p:txBody>
      </p:sp>
      <p:sp>
        <p:nvSpPr>
          <p:cNvPr id="13" name="TextBox 12">
            <a:extLst>
              <a:ext uri="{FF2B5EF4-FFF2-40B4-BE49-F238E27FC236}">
                <a16:creationId xmlns:a16="http://schemas.microsoft.com/office/drawing/2014/main" id="{F0763805-6151-A3C7-208A-1243AACFCE79}"/>
              </a:ext>
            </a:extLst>
          </p:cNvPr>
          <p:cNvSpPr txBox="1"/>
          <p:nvPr/>
        </p:nvSpPr>
        <p:spPr>
          <a:xfrm>
            <a:off x="531629" y="1417674"/>
            <a:ext cx="7740502" cy="954107"/>
          </a:xfrm>
          <a:prstGeom prst="rect">
            <a:avLst/>
          </a:prstGeom>
          <a:noFill/>
        </p:spPr>
        <p:txBody>
          <a:bodyPr wrap="square" rtlCol="0">
            <a:spAutoFit/>
          </a:bodyPr>
          <a:lstStyle/>
          <a:p>
            <a:pPr marL="285750" indent="-285750">
              <a:buFont typeface="Arial" panose="020B0604020202020204" pitchFamily="34" charset="0"/>
              <a:buChar char="•"/>
            </a:pPr>
            <a:r>
              <a:rPr lang="en-US" b="1" dirty="0"/>
              <a:t>Search-space pruning</a:t>
            </a:r>
            <a:r>
              <a:rPr lang="en-US" dirty="0"/>
              <a:t> – the agent never explores illegal step permutations.</a:t>
            </a:r>
          </a:p>
          <a:p>
            <a:pPr marL="285750" indent="-285750">
              <a:buFont typeface="Arial" panose="020B0604020202020204" pitchFamily="34" charset="0"/>
              <a:buChar char="•"/>
            </a:pPr>
            <a:r>
              <a:rPr lang="en-US" b="1" dirty="0"/>
              <a:t>Constrained </a:t>
            </a:r>
            <a:r>
              <a:rPr lang="en-US" dirty="0"/>
              <a:t>– human ordering enforces policy constraints (e.g., </a:t>
            </a:r>
            <a:r>
              <a:rPr lang="en-US" i="1" dirty="0"/>
              <a:t>authenticate → write → commit</a:t>
            </a:r>
            <a:r>
              <a:rPr lang="en-US" dirty="0"/>
              <a:t>).</a:t>
            </a:r>
          </a:p>
          <a:p>
            <a:endParaRPr lang="en-US" dirty="0"/>
          </a:p>
        </p:txBody>
      </p:sp>
      <p:sp>
        <p:nvSpPr>
          <p:cNvPr id="2" name="Google Shape;1771;p83">
            <a:extLst>
              <a:ext uri="{FF2B5EF4-FFF2-40B4-BE49-F238E27FC236}">
                <a16:creationId xmlns:a16="http://schemas.microsoft.com/office/drawing/2014/main" id="{E1598561-8399-EB06-B302-3517ADE4732A}"/>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54983E87-FBF4-B7FC-652B-A03007797BA3}"/>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B2E8F679-6853-514E-5C69-9AD6BD315699}"/>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27A19133-31D5-4D61-7B35-8A778E8A6EB9}"/>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063805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Google Shape;1771;p83">
            <a:extLst>
              <a:ext uri="{FF2B5EF4-FFF2-40B4-BE49-F238E27FC236}">
                <a16:creationId xmlns:a16="http://schemas.microsoft.com/office/drawing/2014/main" id="{141E0756-F742-89DB-A36E-FA0E0089F017}"/>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024" name="Google Shape;1772;p83">
            <a:extLst>
              <a:ext uri="{FF2B5EF4-FFF2-40B4-BE49-F238E27FC236}">
                <a16:creationId xmlns:a16="http://schemas.microsoft.com/office/drawing/2014/main" id="{0301EFD8-D673-C8EC-1DA7-7281FC124A1A}"/>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025" name="Google Shape;1773;p83">
            <a:extLst>
              <a:ext uri="{FF2B5EF4-FFF2-40B4-BE49-F238E27FC236}">
                <a16:creationId xmlns:a16="http://schemas.microsoft.com/office/drawing/2014/main" id="{A57E1330-7076-8ACE-D266-BA713C1AEF09}"/>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027" name="Google Shape;1774;p83">
            <a:extLst>
              <a:ext uri="{FF2B5EF4-FFF2-40B4-BE49-F238E27FC236}">
                <a16:creationId xmlns:a16="http://schemas.microsoft.com/office/drawing/2014/main" id="{555BB666-6DC9-5CB5-C951-E3B6BFF02933}"/>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
        <p:nvSpPr>
          <p:cNvPr id="1029" name="Google Shape;1836;p85">
            <a:extLst>
              <a:ext uri="{FF2B5EF4-FFF2-40B4-BE49-F238E27FC236}">
                <a16:creationId xmlns:a16="http://schemas.microsoft.com/office/drawing/2014/main" id="{39D99106-0D6A-4B9A-B86E-CD06F30D3A06}"/>
              </a:ext>
            </a:extLst>
          </p:cNvPr>
          <p:cNvSpPr txBox="1">
            <a:spLocks/>
          </p:cNvSpPr>
          <p:nvPr/>
        </p:nvSpPr>
        <p:spPr>
          <a:xfrm>
            <a:off x="318800" y="532777"/>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Workflows</a:t>
            </a:r>
            <a:endParaRPr lang="en-US" sz="2400" dirty="0"/>
          </a:p>
        </p:txBody>
      </p:sp>
      <p:sp>
        <p:nvSpPr>
          <p:cNvPr id="1030" name="Oval 1029">
            <a:extLst>
              <a:ext uri="{FF2B5EF4-FFF2-40B4-BE49-F238E27FC236}">
                <a16:creationId xmlns:a16="http://schemas.microsoft.com/office/drawing/2014/main" id="{BD86E94C-71EE-3949-9B4F-060297523269}"/>
              </a:ext>
            </a:extLst>
          </p:cNvPr>
          <p:cNvSpPr/>
          <p:nvPr/>
        </p:nvSpPr>
        <p:spPr>
          <a:xfrm>
            <a:off x="546410" y="1275725"/>
            <a:ext cx="4164285" cy="3756691"/>
          </a:xfrm>
          <a:custGeom>
            <a:avLst/>
            <a:gdLst>
              <a:gd name="connsiteX0" fmla="*/ 0 w 4164285"/>
              <a:gd name="connsiteY0" fmla="*/ 1878346 h 3756691"/>
              <a:gd name="connsiteX1" fmla="*/ 2082143 w 4164285"/>
              <a:gd name="connsiteY1" fmla="*/ 0 h 3756691"/>
              <a:gd name="connsiteX2" fmla="*/ 4164286 w 4164285"/>
              <a:gd name="connsiteY2" fmla="*/ 1878346 h 3756691"/>
              <a:gd name="connsiteX3" fmla="*/ 2082143 w 4164285"/>
              <a:gd name="connsiteY3" fmla="*/ 3756692 h 3756691"/>
              <a:gd name="connsiteX4" fmla="*/ 0 w 4164285"/>
              <a:gd name="connsiteY4" fmla="*/ 1878346 h 3756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4285" h="3756691" fill="none" extrusionOk="0">
                <a:moveTo>
                  <a:pt x="0" y="1878346"/>
                </a:moveTo>
                <a:cubicBezTo>
                  <a:pt x="119056" y="855088"/>
                  <a:pt x="1008396" y="-156797"/>
                  <a:pt x="2082143" y="0"/>
                </a:cubicBezTo>
                <a:cubicBezTo>
                  <a:pt x="2988294" y="-37332"/>
                  <a:pt x="4106490" y="895378"/>
                  <a:pt x="4164286" y="1878346"/>
                </a:cubicBezTo>
                <a:cubicBezTo>
                  <a:pt x="4153432" y="2812219"/>
                  <a:pt x="3192426" y="3811798"/>
                  <a:pt x="2082143" y="3756692"/>
                </a:cubicBezTo>
                <a:cubicBezTo>
                  <a:pt x="1067468" y="3832417"/>
                  <a:pt x="76996" y="2934241"/>
                  <a:pt x="0" y="1878346"/>
                </a:cubicBezTo>
                <a:close/>
              </a:path>
              <a:path w="4164285" h="3756691" stroke="0" extrusionOk="0">
                <a:moveTo>
                  <a:pt x="0" y="1878346"/>
                </a:moveTo>
                <a:cubicBezTo>
                  <a:pt x="-24853" y="825634"/>
                  <a:pt x="681568" y="94069"/>
                  <a:pt x="2082143" y="0"/>
                </a:cubicBezTo>
                <a:cubicBezTo>
                  <a:pt x="3268079" y="7579"/>
                  <a:pt x="3981576" y="846774"/>
                  <a:pt x="4164286" y="1878346"/>
                </a:cubicBezTo>
                <a:cubicBezTo>
                  <a:pt x="4004884" y="3071392"/>
                  <a:pt x="3222144" y="3811606"/>
                  <a:pt x="2082143" y="3756692"/>
                </a:cubicBezTo>
                <a:cubicBezTo>
                  <a:pt x="856751" y="3715408"/>
                  <a:pt x="94937" y="2961090"/>
                  <a:pt x="0" y="1878346"/>
                </a:cubicBezTo>
                <a:close/>
              </a:path>
            </a:pathLst>
          </a:custGeom>
          <a:solidFill>
            <a:srgbClr val="CADFB9"/>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Oval 1030">
            <a:extLst>
              <a:ext uri="{FF2B5EF4-FFF2-40B4-BE49-F238E27FC236}">
                <a16:creationId xmlns:a16="http://schemas.microsoft.com/office/drawing/2014/main" id="{47D3A839-4397-62C4-1E0A-E5C0B9548738}"/>
              </a:ext>
            </a:extLst>
          </p:cNvPr>
          <p:cNvSpPr/>
          <p:nvPr/>
        </p:nvSpPr>
        <p:spPr>
          <a:xfrm>
            <a:off x="1693441" y="1990710"/>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Oval 1031">
            <a:extLst>
              <a:ext uri="{FF2B5EF4-FFF2-40B4-BE49-F238E27FC236}">
                <a16:creationId xmlns:a16="http://schemas.microsoft.com/office/drawing/2014/main" id="{2340A0E3-CFE5-E23F-9F98-24D31AEBC97E}"/>
              </a:ext>
            </a:extLst>
          </p:cNvPr>
          <p:cNvSpPr/>
          <p:nvPr/>
        </p:nvSpPr>
        <p:spPr>
          <a:xfrm>
            <a:off x="2715636" y="1724350"/>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Oval 1032">
            <a:extLst>
              <a:ext uri="{FF2B5EF4-FFF2-40B4-BE49-F238E27FC236}">
                <a16:creationId xmlns:a16="http://schemas.microsoft.com/office/drawing/2014/main" id="{71B8C0E2-A25B-AB56-AD2E-85E6E9B070E6}"/>
              </a:ext>
            </a:extLst>
          </p:cNvPr>
          <p:cNvSpPr/>
          <p:nvPr/>
        </p:nvSpPr>
        <p:spPr>
          <a:xfrm>
            <a:off x="3589149" y="2410275"/>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Oval 1033">
            <a:extLst>
              <a:ext uri="{FF2B5EF4-FFF2-40B4-BE49-F238E27FC236}">
                <a16:creationId xmlns:a16="http://schemas.microsoft.com/office/drawing/2014/main" id="{15E1A2B8-7530-F124-E5D0-9621B8889A4A}"/>
              </a:ext>
            </a:extLst>
          </p:cNvPr>
          <p:cNvSpPr/>
          <p:nvPr/>
        </p:nvSpPr>
        <p:spPr>
          <a:xfrm>
            <a:off x="2594783" y="2153672"/>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Oval 1034">
            <a:extLst>
              <a:ext uri="{FF2B5EF4-FFF2-40B4-BE49-F238E27FC236}">
                <a16:creationId xmlns:a16="http://schemas.microsoft.com/office/drawing/2014/main" id="{74482AB9-6473-2906-DDD2-05A7B80FA1AA}"/>
              </a:ext>
            </a:extLst>
          </p:cNvPr>
          <p:cNvSpPr/>
          <p:nvPr/>
        </p:nvSpPr>
        <p:spPr>
          <a:xfrm>
            <a:off x="1200881" y="2844095"/>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Oval 1035">
            <a:extLst>
              <a:ext uri="{FF2B5EF4-FFF2-40B4-BE49-F238E27FC236}">
                <a16:creationId xmlns:a16="http://schemas.microsoft.com/office/drawing/2014/main" id="{00788EBE-397E-8360-2FFA-47B28066A331}"/>
              </a:ext>
            </a:extLst>
          </p:cNvPr>
          <p:cNvSpPr/>
          <p:nvPr/>
        </p:nvSpPr>
        <p:spPr>
          <a:xfrm>
            <a:off x="3505515" y="3365311"/>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Oval 1036">
            <a:extLst>
              <a:ext uri="{FF2B5EF4-FFF2-40B4-BE49-F238E27FC236}">
                <a16:creationId xmlns:a16="http://schemas.microsoft.com/office/drawing/2014/main" id="{CB980903-50D7-75CD-3A0E-5BE9138906EC}"/>
              </a:ext>
            </a:extLst>
          </p:cNvPr>
          <p:cNvSpPr/>
          <p:nvPr/>
        </p:nvSpPr>
        <p:spPr>
          <a:xfrm>
            <a:off x="496449" y="1298653"/>
            <a:ext cx="167268" cy="167268"/>
          </a:xfrm>
          <a:prstGeom prst="ellipse">
            <a:avLst/>
          </a:prstGeom>
          <a:solidFill>
            <a:srgbClr val="F2CC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TextBox 1037">
            <a:extLst>
              <a:ext uri="{FF2B5EF4-FFF2-40B4-BE49-F238E27FC236}">
                <a16:creationId xmlns:a16="http://schemas.microsoft.com/office/drawing/2014/main" id="{E6C31731-0618-A484-2A50-D9664B9A246B}"/>
              </a:ext>
            </a:extLst>
          </p:cNvPr>
          <p:cNvSpPr txBox="1"/>
          <p:nvPr/>
        </p:nvSpPr>
        <p:spPr>
          <a:xfrm>
            <a:off x="752974" y="1241104"/>
            <a:ext cx="801823" cy="307777"/>
          </a:xfrm>
          <a:prstGeom prst="rect">
            <a:avLst/>
          </a:prstGeom>
          <a:noFill/>
        </p:spPr>
        <p:txBody>
          <a:bodyPr wrap="none" rtlCol="0">
            <a:spAutoFit/>
          </a:bodyPr>
          <a:lstStyle/>
          <a:p>
            <a:r>
              <a:rPr lang="en-US" dirty="0"/>
              <a:t>Reward</a:t>
            </a:r>
          </a:p>
        </p:txBody>
      </p:sp>
      <p:sp>
        <p:nvSpPr>
          <p:cNvPr id="1039" name="TextBox 1038">
            <a:extLst>
              <a:ext uri="{FF2B5EF4-FFF2-40B4-BE49-F238E27FC236}">
                <a16:creationId xmlns:a16="http://schemas.microsoft.com/office/drawing/2014/main" id="{3298D9BB-FB10-D00E-91A7-853EBA7077FA}"/>
              </a:ext>
            </a:extLst>
          </p:cNvPr>
          <p:cNvSpPr txBox="1"/>
          <p:nvPr/>
        </p:nvSpPr>
        <p:spPr>
          <a:xfrm>
            <a:off x="3086725" y="3801903"/>
            <a:ext cx="1172117" cy="369332"/>
          </a:xfrm>
          <a:prstGeom prst="rect">
            <a:avLst/>
          </a:prstGeom>
          <a:noFill/>
        </p:spPr>
        <p:txBody>
          <a:bodyPr wrap="none" rtlCol="0">
            <a:spAutoFit/>
          </a:bodyPr>
          <a:lstStyle/>
          <a:p>
            <a:pPr algn="ctr"/>
            <a:r>
              <a:rPr lang="en-US" sz="1800" dirty="0"/>
              <a:t>High-PPL</a:t>
            </a:r>
            <a:endParaRPr lang="en-US" dirty="0"/>
          </a:p>
        </p:txBody>
      </p:sp>
      <p:sp>
        <p:nvSpPr>
          <p:cNvPr id="1040" name="Oval 1039">
            <a:extLst>
              <a:ext uri="{FF2B5EF4-FFF2-40B4-BE49-F238E27FC236}">
                <a16:creationId xmlns:a16="http://schemas.microsoft.com/office/drawing/2014/main" id="{33ED05B1-0A30-28B9-313E-545F7A679D3A}"/>
              </a:ext>
            </a:extLst>
          </p:cNvPr>
          <p:cNvSpPr/>
          <p:nvPr/>
        </p:nvSpPr>
        <p:spPr>
          <a:xfrm rot="20208488">
            <a:off x="2531959" y="2034859"/>
            <a:ext cx="1746939" cy="1041264"/>
          </a:xfrm>
          <a:prstGeom prst="ellipse">
            <a:avLst/>
          </a:prstGeom>
          <a:solidFill>
            <a:schemeClr val="accent1">
              <a:alpha val="0"/>
            </a:schemeClr>
          </a:solidFill>
          <a:ln>
            <a:solidFill>
              <a:schemeClr val="accent1">
                <a:shade val="1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1" name="Oval 1040">
            <a:extLst>
              <a:ext uri="{FF2B5EF4-FFF2-40B4-BE49-F238E27FC236}">
                <a16:creationId xmlns:a16="http://schemas.microsoft.com/office/drawing/2014/main" id="{46084D94-784D-5292-1EEA-8BA3691F58DE}"/>
              </a:ext>
            </a:extLst>
          </p:cNvPr>
          <p:cNvSpPr/>
          <p:nvPr/>
        </p:nvSpPr>
        <p:spPr>
          <a:xfrm>
            <a:off x="1693441" y="2503666"/>
            <a:ext cx="1672683" cy="121548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Low-PPL</a:t>
            </a:r>
          </a:p>
        </p:txBody>
      </p:sp>
      <p:sp>
        <p:nvSpPr>
          <p:cNvPr id="1042" name="Oval 1041">
            <a:extLst>
              <a:ext uri="{FF2B5EF4-FFF2-40B4-BE49-F238E27FC236}">
                <a16:creationId xmlns:a16="http://schemas.microsoft.com/office/drawing/2014/main" id="{53803FB3-7FA8-FAF5-846A-A7EA5BC4F040}"/>
              </a:ext>
            </a:extLst>
          </p:cNvPr>
          <p:cNvSpPr/>
          <p:nvPr/>
        </p:nvSpPr>
        <p:spPr>
          <a:xfrm>
            <a:off x="2461284" y="2774733"/>
            <a:ext cx="167268" cy="167268"/>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Oval 1042">
            <a:extLst>
              <a:ext uri="{FF2B5EF4-FFF2-40B4-BE49-F238E27FC236}">
                <a16:creationId xmlns:a16="http://schemas.microsoft.com/office/drawing/2014/main" id="{FC7062E8-E2F8-59F7-909C-C92F1E504977}"/>
              </a:ext>
            </a:extLst>
          </p:cNvPr>
          <p:cNvSpPr/>
          <p:nvPr/>
        </p:nvSpPr>
        <p:spPr>
          <a:xfrm>
            <a:off x="3298854" y="2231490"/>
            <a:ext cx="167268" cy="167268"/>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4" name="Straight Arrow Connector 1043">
            <a:extLst>
              <a:ext uri="{FF2B5EF4-FFF2-40B4-BE49-F238E27FC236}">
                <a16:creationId xmlns:a16="http://schemas.microsoft.com/office/drawing/2014/main" id="{5FCDB0F3-2758-DC2C-C054-9EAAEC6B687F}"/>
              </a:ext>
            </a:extLst>
          </p:cNvPr>
          <p:cNvCxnSpPr>
            <a:cxnSpLocks/>
          </p:cNvCxnSpPr>
          <p:nvPr/>
        </p:nvCxnSpPr>
        <p:spPr>
          <a:xfrm flipV="1">
            <a:off x="2678417" y="2790047"/>
            <a:ext cx="336491" cy="3251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045" name="Oval 1044">
            <a:extLst>
              <a:ext uri="{FF2B5EF4-FFF2-40B4-BE49-F238E27FC236}">
                <a16:creationId xmlns:a16="http://schemas.microsoft.com/office/drawing/2014/main" id="{C0FBEB9C-BBD8-5D87-BD5D-B0257D917120}"/>
              </a:ext>
            </a:extLst>
          </p:cNvPr>
          <p:cNvSpPr/>
          <p:nvPr/>
        </p:nvSpPr>
        <p:spPr>
          <a:xfrm>
            <a:off x="3069069" y="2732566"/>
            <a:ext cx="167268" cy="167268"/>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6" name="Straight Arrow Connector 1045">
            <a:extLst>
              <a:ext uri="{FF2B5EF4-FFF2-40B4-BE49-F238E27FC236}">
                <a16:creationId xmlns:a16="http://schemas.microsoft.com/office/drawing/2014/main" id="{74FC28F1-01D2-4059-0EAD-E5A38D75C0CC}"/>
              </a:ext>
            </a:extLst>
          </p:cNvPr>
          <p:cNvCxnSpPr>
            <a:cxnSpLocks/>
          </p:cNvCxnSpPr>
          <p:nvPr/>
        </p:nvCxnSpPr>
        <p:spPr>
          <a:xfrm flipV="1">
            <a:off x="3214308" y="2430926"/>
            <a:ext cx="169091" cy="29323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047" name="TextBox 1046">
            <a:extLst>
              <a:ext uri="{FF2B5EF4-FFF2-40B4-BE49-F238E27FC236}">
                <a16:creationId xmlns:a16="http://schemas.microsoft.com/office/drawing/2014/main" id="{B910AFD3-9523-8175-4C68-0A4BE83891C7}"/>
              </a:ext>
            </a:extLst>
          </p:cNvPr>
          <p:cNvSpPr txBox="1"/>
          <p:nvPr/>
        </p:nvSpPr>
        <p:spPr>
          <a:xfrm>
            <a:off x="4917259" y="1449659"/>
            <a:ext cx="3915041" cy="1200329"/>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chemeClr val="tx1"/>
                </a:solidFill>
              </a:rPr>
              <a:t>Introducing workflows prune the search space.</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1330007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836;p85">
            <a:extLst>
              <a:ext uri="{FF2B5EF4-FFF2-40B4-BE49-F238E27FC236}">
                <a16:creationId xmlns:a16="http://schemas.microsoft.com/office/drawing/2014/main" id="{8CECCD40-49E5-9716-40C8-2A30F4FC1377}"/>
              </a:ext>
            </a:extLst>
          </p:cNvPr>
          <p:cNvSpPr txBox="1">
            <a:spLocks/>
          </p:cNvSpPr>
          <p:nvPr/>
        </p:nvSpPr>
        <p:spPr>
          <a:xfrm>
            <a:off x="318800" y="532777"/>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are workflows in Creative Tasks</a:t>
            </a:r>
            <a:endParaRPr lang="en-US" sz="2400" dirty="0"/>
          </a:p>
        </p:txBody>
      </p:sp>
      <p:sp>
        <p:nvSpPr>
          <p:cNvPr id="11" name="TextBox 10">
            <a:extLst>
              <a:ext uri="{FF2B5EF4-FFF2-40B4-BE49-F238E27FC236}">
                <a16:creationId xmlns:a16="http://schemas.microsoft.com/office/drawing/2014/main" id="{0257FD7E-24DC-F95C-ED54-715F708FE91A}"/>
              </a:ext>
            </a:extLst>
          </p:cNvPr>
          <p:cNvSpPr txBox="1"/>
          <p:nvPr/>
        </p:nvSpPr>
        <p:spPr>
          <a:xfrm>
            <a:off x="443345" y="1330036"/>
            <a:ext cx="7287491"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They are effective.</a:t>
            </a:r>
          </a:p>
          <a:p>
            <a:pPr marL="285750" indent="-285750">
              <a:buFont typeface="Arial" panose="020B0604020202020204" pitchFamily="34" charset="0"/>
              <a:buChar char="•"/>
            </a:pPr>
            <a:r>
              <a:rPr lang="en-US" sz="1600" dirty="0"/>
              <a:t>However, the number of workflows are limited</a:t>
            </a:r>
          </a:p>
          <a:p>
            <a:endParaRPr lang="en-US" sz="1600" dirty="0"/>
          </a:p>
        </p:txBody>
      </p:sp>
      <p:graphicFrame>
        <p:nvGraphicFramePr>
          <p:cNvPr id="14" name="Table 13">
            <a:extLst>
              <a:ext uri="{FF2B5EF4-FFF2-40B4-BE49-F238E27FC236}">
                <a16:creationId xmlns:a16="http://schemas.microsoft.com/office/drawing/2014/main" id="{97BF29F3-A42D-AF06-ACBE-40E407CB680B}"/>
              </a:ext>
            </a:extLst>
          </p:cNvPr>
          <p:cNvGraphicFramePr>
            <a:graphicFrameLocks noGrp="1"/>
          </p:cNvGraphicFramePr>
          <p:nvPr/>
        </p:nvGraphicFramePr>
        <p:xfrm>
          <a:off x="311149" y="2119423"/>
          <a:ext cx="7784889" cy="1859280"/>
        </p:xfrm>
        <a:graphic>
          <a:graphicData uri="http://schemas.openxmlformats.org/drawingml/2006/table">
            <a:tbl>
              <a:tblPr>
                <a:tableStyleId>{9DBD82F4-FF5A-4DA7-A40D-C38478E7092A}</a:tableStyleId>
              </a:tblPr>
              <a:tblGrid>
                <a:gridCol w="2103755">
                  <a:extLst>
                    <a:ext uri="{9D8B030D-6E8A-4147-A177-3AD203B41FA5}">
                      <a16:colId xmlns:a16="http://schemas.microsoft.com/office/drawing/2014/main" val="666554385"/>
                    </a:ext>
                  </a:extLst>
                </a:gridCol>
                <a:gridCol w="2840567">
                  <a:extLst>
                    <a:ext uri="{9D8B030D-6E8A-4147-A177-3AD203B41FA5}">
                      <a16:colId xmlns:a16="http://schemas.microsoft.com/office/drawing/2014/main" val="1869483792"/>
                    </a:ext>
                  </a:extLst>
                </a:gridCol>
                <a:gridCol w="2840567">
                  <a:extLst>
                    <a:ext uri="{9D8B030D-6E8A-4147-A177-3AD203B41FA5}">
                      <a16:colId xmlns:a16="http://schemas.microsoft.com/office/drawing/2014/main" val="2487620183"/>
                    </a:ext>
                  </a:extLst>
                </a:gridCol>
              </a:tblGrid>
              <a:tr h="254281">
                <a:tc>
                  <a:txBody>
                    <a:bodyPr/>
                    <a:lstStyle/>
                    <a:p>
                      <a:pPr algn="ctr"/>
                      <a:r>
                        <a:rPr lang="en-US" sz="1400" b="1" dirty="0"/>
                        <a:t>Capture mode</a:t>
                      </a:r>
                    </a:p>
                  </a:txBody>
                  <a:tcPr anchor="ctr"/>
                </a:tc>
                <a:tc>
                  <a:txBody>
                    <a:bodyPr/>
                    <a:lstStyle/>
                    <a:p>
                      <a:pPr algn="ctr"/>
                      <a:r>
                        <a:rPr lang="en-US" sz="1400" b="1" dirty="0"/>
                        <a:t>Example artifacts</a:t>
                      </a:r>
                    </a:p>
                  </a:txBody>
                  <a:tcPr anchor="ctr"/>
                </a:tc>
                <a:tc>
                  <a:txBody>
                    <a:bodyPr/>
                    <a:lstStyle/>
                    <a:p>
                      <a:pPr algn="ctr"/>
                      <a:r>
                        <a:rPr lang="en-US" sz="1400" b="1" dirty="0"/>
                        <a:t>Typical size</a:t>
                      </a:r>
                    </a:p>
                  </a:txBody>
                  <a:tcPr anchor="ctr"/>
                </a:tc>
                <a:extLst>
                  <a:ext uri="{0D108BD9-81ED-4DB2-BD59-A6C34878D82A}">
                    <a16:rowId xmlns:a16="http://schemas.microsoft.com/office/drawing/2014/main" val="589057282"/>
                  </a:ext>
                </a:extLst>
              </a:tr>
              <a:tr h="518160">
                <a:tc>
                  <a:txBody>
                    <a:bodyPr/>
                    <a:lstStyle/>
                    <a:p>
                      <a:pPr algn="ctr"/>
                      <a:r>
                        <a:rPr lang="en-US" sz="1400" b="0" dirty="0"/>
                        <a:t>Demonstrations / traces</a:t>
                      </a:r>
                    </a:p>
                  </a:txBody>
                  <a:tcPr anchor="ctr"/>
                </a:tc>
                <a:tc>
                  <a:txBody>
                    <a:bodyPr/>
                    <a:lstStyle/>
                    <a:p>
                      <a:pPr algn="ctr"/>
                      <a:r>
                        <a:rPr lang="en-US" sz="1400" b="0" dirty="0"/>
                        <a:t>Click-streams, command‐line history, code notebooks</a:t>
                      </a:r>
                    </a:p>
                  </a:txBody>
                  <a:tcPr anchor="ctr"/>
                </a:tc>
                <a:tc>
                  <a:txBody>
                    <a:bodyPr/>
                    <a:lstStyle/>
                    <a:p>
                      <a:pPr algn="ctr"/>
                      <a:r>
                        <a:rPr lang="en-US" sz="1400" b="0"/>
                        <a:t>10¹ – 10³ per user</a:t>
                      </a:r>
                    </a:p>
                  </a:txBody>
                  <a:tcPr anchor="ctr"/>
                </a:tc>
                <a:extLst>
                  <a:ext uri="{0D108BD9-81ED-4DB2-BD59-A6C34878D82A}">
                    <a16:rowId xmlns:a16="http://schemas.microsoft.com/office/drawing/2014/main" val="482334620"/>
                  </a:ext>
                </a:extLst>
              </a:tr>
              <a:tr h="518160">
                <a:tc>
                  <a:txBody>
                    <a:bodyPr/>
                    <a:lstStyle/>
                    <a:p>
                      <a:pPr algn="ctr"/>
                      <a:r>
                        <a:rPr lang="en-US" sz="1400" b="0" dirty="0"/>
                        <a:t>SOP / run-books</a:t>
                      </a:r>
                    </a:p>
                  </a:txBody>
                  <a:tcPr anchor="ctr"/>
                </a:tc>
                <a:tc>
                  <a:txBody>
                    <a:bodyPr/>
                    <a:lstStyle/>
                    <a:p>
                      <a:pPr algn="ctr"/>
                      <a:r>
                        <a:rPr lang="en-US" sz="1400" b="0"/>
                        <a:t>Markdown docs, Confluence pages, RFCs</a:t>
                      </a:r>
                    </a:p>
                  </a:txBody>
                  <a:tcPr anchor="ctr"/>
                </a:tc>
                <a:tc>
                  <a:txBody>
                    <a:bodyPr/>
                    <a:lstStyle/>
                    <a:p>
                      <a:pPr algn="ctr"/>
                      <a:r>
                        <a:rPr lang="en-US" sz="1400" b="0" dirty="0"/>
                        <a:t>sparse</a:t>
                      </a:r>
                    </a:p>
                  </a:txBody>
                  <a:tcPr anchor="ctr"/>
                </a:tc>
                <a:extLst>
                  <a:ext uri="{0D108BD9-81ED-4DB2-BD59-A6C34878D82A}">
                    <a16:rowId xmlns:a16="http://schemas.microsoft.com/office/drawing/2014/main" val="86775182"/>
                  </a:ext>
                </a:extLst>
              </a:tr>
              <a:tr h="518160">
                <a:tc>
                  <a:txBody>
                    <a:bodyPr/>
                    <a:lstStyle/>
                    <a:p>
                      <a:pPr algn="ctr"/>
                      <a:r>
                        <a:rPr lang="en-US" sz="1400" b="0"/>
                        <a:t>Live feedback</a:t>
                      </a:r>
                    </a:p>
                  </a:txBody>
                  <a:tcPr anchor="ctr"/>
                </a:tc>
                <a:tc>
                  <a:txBody>
                    <a:bodyPr/>
                    <a:lstStyle/>
                    <a:p>
                      <a:pPr algn="ctr"/>
                      <a:r>
                        <a:rPr lang="en-US" sz="1400" b="0" dirty="0"/>
                        <a:t>Thumbs-up, critique edits, inline comments</a:t>
                      </a:r>
                    </a:p>
                  </a:txBody>
                  <a:tcPr anchor="ctr"/>
                </a:tc>
                <a:tc>
                  <a:txBody>
                    <a:bodyPr/>
                    <a:lstStyle/>
                    <a:p>
                      <a:pPr algn="ctr"/>
                      <a:r>
                        <a:rPr lang="en-US" sz="1400" b="0" dirty="0"/>
                        <a:t>sparse</a:t>
                      </a:r>
                    </a:p>
                  </a:txBody>
                  <a:tcPr anchor="ctr"/>
                </a:tc>
                <a:extLst>
                  <a:ext uri="{0D108BD9-81ED-4DB2-BD59-A6C34878D82A}">
                    <a16:rowId xmlns:a16="http://schemas.microsoft.com/office/drawing/2014/main" val="3483599035"/>
                  </a:ext>
                </a:extLst>
              </a:tr>
            </a:tbl>
          </a:graphicData>
        </a:graphic>
      </p:graphicFrame>
      <p:sp>
        <p:nvSpPr>
          <p:cNvPr id="2" name="Google Shape;1771;p83">
            <a:extLst>
              <a:ext uri="{FF2B5EF4-FFF2-40B4-BE49-F238E27FC236}">
                <a16:creationId xmlns:a16="http://schemas.microsoft.com/office/drawing/2014/main" id="{B5A7A8FE-BD08-A58E-18F8-1020FF03EDCA}"/>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482CECD3-D49C-6D95-93D2-A648746651DC}"/>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4" name="Google Shape;1773;p83">
            <a:extLst>
              <a:ext uri="{FF2B5EF4-FFF2-40B4-BE49-F238E27FC236}">
                <a16:creationId xmlns:a16="http://schemas.microsoft.com/office/drawing/2014/main" id="{FEF16835-F9D5-BFAA-C086-F1EA4C5435F5}"/>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5" name="Google Shape;1774;p83">
            <a:extLst>
              <a:ext uri="{FF2B5EF4-FFF2-40B4-BE49-F238E27FC236}">
                <a16:creationId xmlns:a16="http://schemas.microsoft.com/office/drawing/2014/main" id="{876DB6E9-BD48-EB67-8BFD-585680CE10E8}"/>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3361552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E5900-2183-12AF-3369-2999943C2D98}"/>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B0C710C3-50A5-61FB-BE94-B8CE2DDCFD64}"/>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Search</a:t>
            </a:r>
            <a:endParaRPr lang="en-US" sz="2400" dirty="0"/>
          </a:p>
        </p:txBody>
      </p:sp>
      <p:sp>
        <p:nvSpPr>
          <p:cNvPr id="5" name="TextBox 4">
            <a:extLst>
              <a:ext uri="{FF2B5EF4-FFF2-40B4-BE49-F238E27FC236}">
                <a16:creationId xmlns:a16="http://schemas.microsoft.com/office/drawing/2014/main" id="{0F75ECE2-AA62-44A0-63C1-43F01DA662C8}"/>
              </a:ext>
            </a:extLst>
          </p:cNvPr>
          <p:cNvSpPr txBox="1"/>
          <p:nvPr/>
        </p:nvSpPr>
        <p:spPr>
          <a:xfrm>
            <a:off x="2286000" y="1069608"/>
            <a:ext cx="4572000" cy="738664"/>
          </a:xfrm>
          <a:prstGeom prst="rect">
            <a:avLst/>
          </a:prstGeom>
          <a:noFill/>
        </p:spPr>
        <p:txBody>
          <a:bodyPr wrap="square">
            <a:spAutoFit/>
          </a:bodyPr>
          <a:lstStyle/>
          <a:p>
            <a:r>
              <a:rPr lang="en-US" i="1" dirty="0"/>
              <a:t>“Art consists of limitation. The most beautiful part of every picture is the frame.”</a:t>
            </a:r>
            <a:br>
              <a:rPr lang="en-US" dirty="0"/>
            </a:br>
            <a:r>
              <a:rPr lang="en-US" dirty="0"/>
              <a:t>— G. K. Chesterton, </a:t>
            </a:r>
            <a:r>
              <a:rPr lang="en-US" i="1" dirty="0"/>
              <a:t>Tremendous Trifles</a:t>
            </a:r>
            <a:r>
              <a:rPr lang="en-US" dirty="0"/>
              <a:t> (1909)</a:t>
            </a:r>
          </a:p>
        </p:txBody>
      </p:sp>
      <p:sp>
        <p:nvSpPr>
          <p:cNvPr id="10" name="TextBox 9">
            <a:extLst>
              <a:ext uri="{FF2B5EF4-FFF2-40B4-BE49-F238E27FC236}">
                <a16:creationId xmlns:a16="http://schemas.microsoft.com/office/drawing/2014/main" id="{6F7036D8-A572-0B4F-69F8-0C454172A977}"/>
              </a:ext>
            </a:extLst>
          </p:cNvPr>
          <p:cNvSpPr txBox="1"/>
          <p:nvPr/>
        </p:nvSpPr>
        <p:spPr>
          <a:xfrm>
            <a:off x="404037" y="1880582"/>
            <a:ext cx="7755989" cy="1200329"/>
          </a:xfrm>
          <a:prstGeom prst="rect">
            <a:avLst/>
          </a:prstGeom>
          <a:noFill/>
        </p:spPr>
        <p:txBody>
          <a:bodyPr wrap="square">
            <a:spAutoFit/>
          </a:bodyPr>
          <a:lstStyle/>
          <a:p>
            <a:pPr marL="285750" indent="-285750">
              <a:buFont typeface="Arial" panose="020B0604020202020204" pitchFamily="34" charset="0"/>
              <a:buChar char="•"/>
            </a:pPr>
            <a:r>
              <a:rPr lang="en-US" sz="1800" b="1" dirty="0"/>
              <a:t>Heuristics-driven search </a:t>
            </a:r>
            <a:r>
              <a:rPr lang="en-US" sz="1800" dirty="0"/>
              <a:t>steers generations by heuristic function.</a:t>
            </a:r>
          </a:p>
          <a:p>
            <a:pPr marL="285750" indent="-285750">
              <a:buFont typeface="Arial" panose="020B0604020202020204" pitchFamily="34" charset="0"/>
              <a:buChar char="•"/>
            </a:pPr>
            <a:r>
              <a:rPr lang="en-US" sz="1800" b="1" dirty="0"/>
              <a:t>Incorporating human workflows e</a:t>
            </a:r>
            <a:r>
              <a:rPr lang="en-US" sz="1800" dirty="0"/>
              <a:t>ncodes proven human workflow patterns to ground models’ high‑level planning.</a:t>
            </a:r>
          </a:p>
          <a:p>
            <a:pPr marL="285750" indent="-285750">
              <a:buFont typeface="Arial" panose="020B0604020202020204" pitchFamily="34" charset="0"/>
              <a:buChar char="•"/>
            </a:pPr>
            <a:r>
              <a:rPr lang="en-US" sz="1800" b="1" dirty="0"/>
              <a:t>Self-exploration </a:t>
            </a:r>
            <a:r>
              <a:rPr lang="en-US" sz="1800" dirty="0"/>
              <a:t>enables autonomous learning.</a:t>
            </a:r>
          </a:p>
        </p:txBody>
      </p:sp>
      <p:sp>
        <p:nvSpPr>
          <p:cNvPr id="2" name="Google Shape;1771;p83">
            <a:extLst>
              <a:ext uri="{FF2B5EF4-FFF2-40B4-BE49-F238E27FC236}">
                <a16:creationId xmlns:a16="http://schemas.microsoft.com/office/drawing/2014/main" id="{769B886C-5E48-13A1-5B71-BE4D22138D8B}"/>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4" name="Google Shape;1772;p83">
            <a:extLst>
              <a:ext uri="{FF2B5EF4-FFF2-40B4-BE49-F238E27FC236}">
                <a16:creationId xmlns:a16="http://schemas.microsoft.com/office/drawing/2014/main" id="{C73A49BC-1634-10ED-76EB-D3E598D7E60F}"/>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964ED017-1536-C276-59FA-3B12E3CDE204}"/>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D5E2481D-EDF1-027E-F0FC-A30CAE04CFE6}"/>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3213257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F363-8370-2520-A0F4-08B4D2A219EC}"/>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40A37DB3-00E0-B827-9E85-6F19F1E0AC58}"/>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What are the learning objectives?</a:t>
            </a:r>
            <a:endParaRPr lang="en-US" sz="24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6EFF927-6ADC-D85B-1628-6E5C0F33E417}"/>
                  </a:ext>
                </a:extLst>
              </p:cNvPr>
              <p:cNvSpPr txBox="1"/>
              <p:nvPr/>
            </p:nvSpPr>
            <p:spPr>
              <a:xfrm>
                <a:off x="311700" y="1078284"/>
                <a:ext cx="7755989" cy="680636"/>
              </a:xfrm>
              <a:prstGeom prst="rect">
                <a:avLst/>
              </a:prstGeom>
              <a:noFill/>
            </p:spPr>
            <p:txBody>
              <a:bodyPr wrap="square">
                <a:spAutoFit/>
              </a:bodyPr>
              <a:lstStyle/>
              <a:p>
                <a:pPr marL="285750" indent="-285750">
                  <a:buFont typeface="Arial" panose="020B0604020202020204" pitchFamily="34" charset="0"/>
                  <a:buChar char="•"/>
                </a:pPr>
                <a:r>
                  <a:rPr lang="en-US" sz="1800" b="1" dirty="0"/>
                  <a:t>Self-exploration </a:t>
                </a:r>
                <a:r>
                  <a:rPr lang="en-US" sz="1800" dirty="0"/>
                  <a:t>enables autonomous learning.</a:t>
                </a:r>
              </a:p>
              <a:p>
                <a:pPr marL="285750" indent="-285750">
                  <a:buFont typeface="Arial" panose="020B0604020202020204" pitchFamily="34" charset="0"/>
                  <a:buChar char="•"/>
                </a:pPr>
                <a:r>
                  <a:rPr lang="en-US" sz="1800" dirty="0"/>
                  <a:t>From Trajectory set </a:t>
                </a:r>
                <a14:m>
                  <m:oMath xmlns:m="http://schemas.openxmlformats.org/officeDocument/2006/math">
                    <m:r>
                      <a:rPr lang="en-US" sz="1800" b="0" i="1" smtClean="0">
                        <a:latin typeface="Cambria Math" panose="02040503050406030204" pitchFamily="18" charset="0"/>
                      </a:rPr>
                      <m:t>𝑇</m:t>
                    </m:r>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ea typeface="Cambria Math" panose="02040503050406030204" pitchFamily="18" charset="0"/>
                          </a:rPr>
                        </m:ctrlPr>
                      </m:dPr>
                      <m:e>
                        <m:sSup>
                          <m:sSupPr>
                            <m:ctrlPr>
                              <a:rPr lang="en-US" sz="1800" b="0" i="1" smtClean="0">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𝜏</m:t>
                            </m:r>
                          </m:e>
                          <m:sup>
                            <m:r>
                              <a:rPr lang="en-US" sz="1800" b="0" i="1" smtClean="0">
                                <a:latin typeface="Cambria Math" panose="02040503050406030204" pitchFamily="18" charset="0"/>
                                <a:ea typeface="Cambria Math" panose="02040503050406030204" pitchFamily="18" charset="0"/>
                              </a:rPr>
                              <m:t>𝑖</m:t>
                            </m:r>
                          </m:sup>
                        </m:sSup>
                      </m:e>
                    </m:d>
                  </m:oMath>
                </a14:m>
                <a:r>
                  <a:rPr lang="en-US" sz="1800" dirty="0"/>
                  <a:t>, where  </a:t>
                </a:r>
                <a14:m>
                  <m:oMath xmlns:m="http://schemas.openxmlformats.org/officeDocument/2006/math">
                    <m:sSup>
                      <m:sSupPr>
                        <m:ctrlPr>
                          <a:rPr lang="en-US" sz="1800" b="0" i="1" smtClean="0">
                            <a:latin typeface="Cambria Math" panose="02040503050406030204" pitchFamily="18" charset="0"/>
                            <a:ea typeface="Cambria Math" panose="02040503050406030204" pitchFamily="18" charset="0"/>
                          </a:rPr>
                        </m:ctrlPr>
                      </m:sSupPr>
                      <m:e>
                        <m:r>
                          <a:rPr lang="en-US" sz="1800" i="1" smtClean="0">
                            <a:latin typeface="Cambria Math" panose="02040503050406030204" pitchFamily="18" charset="0"/>
                            <a:ea typeface="Cambria Math" panose="02040503050406030204" pitchFamily="18" charset="0"/>
                          </a:rPr>
                          <m:t>𝜏</m:t>
                        </m:r>
                      </m:e>
                      <m:sup>
                        <m:r>
                          <a:rPr lang="en-US" sz="1800" b="0" i="1" smtClean="0">
                            <a:latin typeface="Cambria Math" panose="02040503050406030204" pitchFamily="18" charset="0"/>
                            <a:ea typeface="Cambria Math" panose="02040503050406030204" pitchFamily="18" charset="0"/>
                          </a:rPr>
                          <m:t>𝑖</m:t>
                        </m:r>
                      </m:sup>
                    </m:sSup>
                    <m:r>
                      <a:rPr lang="en-US" sz="1800" b="0" i="1" smtClean="0">
                        <a:latin typeface="Cambria Math" panose="02040503050406030204" pitchFamily="18" charset="0"/>
                        <a:ea typeface="Cambria Math" panose="02040503050406030204" pitchFamily="18" charset="0"/>
                      </a:rPr>
                      <m:t>=(</m:t>
                    </m:r>
                    <m:sSubSup>
                      <m:sSubSupPr>
                        <m:ctrlPr>
                          <a:rPr lang="en-US" sz="1800" b="0" i="1" smtClean="0">
                            <a:latin typeface="Cambria Math" panose="02040503050406030204" pitchFamily="18" charset="0"/>
                            <a:ea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𝑠</m:t>
                        </m:r>
                      </m:e>
                      <m:sub>
                        <m: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𝑖</m:t>
                        </m:r>
                      </m:sup>
                    </m:sSubSup>
                    <m:r>
                      <a:rPr lang="en-US" sz="1800" b="0" i="1" smtClean="0">
                        <a:latin typeface="Cambria Math" panose="02040503050406030204" pitchFamily="18" charset="0"/>
                        <a:ea typeface="Cambria Math" panose="02040503050406030204" pitchFamily="18" charset="0"/>
                      </a:rPr>
                      <m:t>,</m:t>
                    </m:r>
                    <m:sSubSup>
                      <m:sSubSupPr>
                        <m:ctrlPr>
                          <a:rPr lang="en-US" sz="1800" b="0" i="1" smtClean="0">
                            <a:latin typeface="Cambria Math" panose="02040503050406030204" pitchFamily="18" charset="0"/>
                            <a:ea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𝑎</m:t>
                        </m:r>
                      </m:e>
                      <m:sub>
                        <m: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𝑖</m:t>
                        </m:r>
                      </m:sup>
                    </m:sSubSup>
                    <m:r>
                      <a:rPr lang="en-US" sz="1800" b="0" i="1" smtClean="0">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𝑠</m:t>
                        </m:r>
                      </m:e>
                      <m:sub>
                        <m:r>
                          <a:rPr lang="en-US" sz="1800" b="0" i="1" smtClean="0">
                            <a:latin typeface="Cambria Math" panose="02040503050406030204" pitchFamily="18" charset="0"/>
                            <a:ea typeface="Cambria Math" panose="02040503050406030204" pitchFamily="18" charset="0"/>
                          </a:rPr>
                          <m:t>1</m:t>
                        </m:r>
                      </m:sub>
                      <m:sup>
                        <m:r>
                          <a:rPr lang="en-US" sz="1800" i="1">
                            <a:latin typeface="Cambria Math" panose="02040503050406030204" pitchFamily="18" charset="0"/>
                            <a:ea typeface="Cambria Math" panose="02040503050406030204" pitchFamily="18" charset="0"/>
                          </a:rPr>
                          <m:t>𝑖</m:t>
                        </m:r>
                      </m:sup>
                    </m:sSubSup>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𝑎</m:t>
                        </m:r>
                      </m:e>
                      <m:sub>
                        <m:r>
                          <a:rPr lang="en-US" sz="1800" b="0" i="1" smtClean="0">
                            <a:latin typeface="Cambria Math" panose="02040503050406030204" pitchFamily="18" charset="0"/>
                            <a:ea typeface="Cambria Math" panose="02040503050406030204" pitchFamily="18" charset="0"/>
                          </a:rPr>
                          <m:t>1</m:t>
                        </m:r>
                      </m:sub>
                      <m:sup>
                        <m:r>
                          <a:rPr lang="en-US" sz="1800" i="1">
                            <a:latin typeface="Cambria Math" panose="02040503050406030204" pitchFamily="18" charset="0"/>
                            <a:ea typeface="Cambria Math" panose="02040503050406030204" pitchFamily="18" charset="0"/>
                          </a:rPr>
                          <m:t>𝑖</m:t>
                        </m:r>
                      </m:sup>
                    </m:sSubSup>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𝑠</m:t>
                        </m:r>
                      </m:e>
                      <m:sub>
                        <m:r>
                          <a:rPr lang="en-US" sz="1800" b="0" i="1" smtClean="0">
                            <a:latin typeface="Cambria Math" panose="02040503050406030204" pitchFamily="18" charset="0"/>
                            <a:ea typeface="Cambria Math" panose="02040503050406030204" pitchFamily="18" charset="0"/>
                          </a:rPr>
                          <m:t>2</m:t>
                        </m:r>
                      </m:sub>
                      <m:sup>
                        <m:r>
                          <a:rPr lang="en-US" sz="1800" i="1">
                            <a:latin typeface="Cambria Math" panose="02040503050406030204" pitchFamily="18" charset="0"/>
                            <a:ea typeface="Cambria Math" panose="02040503050406030204" pitchFamily="18" charset="0"/>
                          </a:rPr>
                          <m:t>𝑖</m:t>
                        </m:r>
                      </m:sup>
                    </m:sSubSup>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𝑎</m:t>
                        </m:r>
                      </m:e>
                      <m:sub>
                        <m:r>
                          <a:rPr lang="en-US" sz="1800" b="0" i="1" smtClean="0">
                            <a:latin typeface="Cambria Math" panose="02040503050406030204" pitchFamily="18" charset="0"/>
                            <a:ea typeface="Cambria Math" panose="02040503050406030204" pitchFamily="18" charset="0"/>
                          </a:rPr>
                          <m:t>2</m:t>
                        </m:r>
                      </m:sub>
                      <m:sup>
                        <m:r>
                          <a:rPr lang="en-US" sz="1800" i="1">
                            <a:latin typeface="Cambria Math" panose="02040503050406030204" pitchFamily="18" charset="0"/>
                            <a:ea typeface="Cambria Math" panose="02040503050406030204" pitchFamily="18" charset="0"/>
                          </a:rPr>
                          <m:t>𝑖</m:t>
                        </m:r>
                      </m:sup>
                    </m:sSubSup>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m:t>
                    </m:r>
                  </m:oMath>
                </a14:m>
                <a:endParaRPr lang="en-US" sz="1800" dirty="0"/>
              </a:p>
            </p:txBody>
          </p:sp>
        </mc:Choice>
        <mc:Fallback xmlns="">
          <p:sp>
            <p:nvSpPr>
              <p:cNvPr id="10" name="TextBox 9">
                <a:extLst>
                  <a:ext uri="{FF2B5EF4-FFF2-40B4-BE49-F238E27FC236}">
                    <a16:creationId xmlns:a16="http://schemas.microsoft.com/office/drawing/2014/main" id="{96EFF927-6ADC-D85B-1628-6E5C0F33E417}"/>
                  </a:ext>
                </a:extLst>
              </p:cNvPr>
              <p:cNvSpPr txBox="1">
                <a:spLocks noRot="1" noChangeAspect="1" noMove="1" noResize="1" noEditPoints="1" noAdjustHandles="1" noChangeArrowheads="1" noChangeShapeType="1" noTextEdit="1"/>
              </p:cNvSpPr>
              <p:nvPr/>
            </p:nvSpPr>
            <p:spPr>
              <a:xfrm>
                <a:off x="311700" y="1078284"/>
                <a:ext cx="7755989" cy="680636"/>
              </a:xfrm>
              <a:prstGeom prst="rect">
                <a:avLst/>
              </a:prstGeom>
              <a:blipFill>
                <a:blip r:embed="rId2"/>
                <a:stretch>
                  <a:fillRect l="-490" t="-3636" b="-9091"/>
                </a:stretch>
              </a:blipFill>
            </p:spPr>
            <p:txBody>
              <a:bodyPr/>
              <a:lstStyle/>
              <a:p>
                <a:r>
                  <a:rPr lang="en-US">
                    <a:noFill/>
                  </a:rPr>
                  <a:t> </a:t>
                </a:r>
              </a:p>
            </p:txBody>
          </p:sp>
        </mc:Fallback>
      </mc:AlternateContent>
      <p:sp>
        <p:nvSpPr>
          <p:cNvPr id="2" name="Google Shape;1771;p83">
            <a:extLst>
              <a:ext uri="{FF2B5EF4-FFF2-40B4-BE49-F238E27FC236}">
                <a16:creationId xmlns:a16="http://schemas.microsoft.com/office/drawing/2014/main" id="{75259747-87E2-1D8D-D034-D655227F5DD3}"/>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4" name="Google Shape;1772;p83">
            <a:extLst>
              <a:ext uri="{FF2B5EF4-FFF2-40B4-BE49-F238E27FC236}">
                <a16:creationId xmlns:a16="http://schemas.microsoft.com/office/drawing/2014/main" id="{458216D6-F5B0-4FE0-370E-67B5614202A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937A0184-9B59-C9A4-367F-6D8530D7E307}"/>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7DD62F8F-F3DA-7FD5-6474-06D1537AF7C3}"/>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58181FC-B89D-E790-33C2-7C4209ED5E4E}"/>
                  </a:ext>
                </a:extLst>
              </p:cNvPr>
              <p:cNvSpPr txBox="1"/>
              <p:nvPr/>
            </p:nvSpPr>
            <p:spPr>
              <a:xfrm>
                <a:off x="311700" y="1891114"/>
                <a:ext cx="7755989" cy="1477328"/>
              </a:xfrm>
              <a:prstGeom prst="rect">
                <a:avLst/>
              </a:prstGeom>
              <a:noFill/>
            </p:spPr>
            <p:txBody>
              <a:bodyPr wrap="square">
                <a:spAutoFit/>
              </a:bodyPr>
              <a:lstStyle/>
              <a:p>
                <a:pPr marL="285750" indent="-285750">
                  <a:buFont typeface="Arial" panose="020B0604020202020204" pitchFamily="34" charset="0"/>
                  <a:buChar char="•"/>
                </a:pPr>
                <a:r>
                  <a:rPr lang="en-US" sz="1800" dirty="0"/>
                  <a:t>We can learn</a:t>
                </a:r>
              </a:p>
              <a:p>
                <a:pPr marL="285750" lvl="1" indent="-285750">
                  <a:buFont typeface="Arial" panose="020B0604020202020204" pitchFamily="34" charset="0"/>
                  <a:buChar char="•"/>
                </a:pPr>
                <a:r>
                  <a:rPr lang="en-US" sz="1800" dirty="0"/>
                  <a:t>Policy: </a:t>
                </a:r>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𝜋</m:t>
                        </m:r>
                      </m:e>
                      <m:sub>
                        <m:r>
                          <a:rPr lang="en-US" sz="1800" b="0" i="1" smtClean="0">
                            <a:latin typeface="Cambria Math" panose="02040503050406030204" pitchFamily="18" charset="0"/>
                            <a:ea typeface="Cambria Math" panose="02040503050406030204" pitchFamily="18" charset="0"/>
                          </a:rPr>
                          <m:t>𝜃</m:t>
                        </m:r>
                      </m:sub>
                    </m:sSub>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e>
                          <m:sub>
                            <m:r>
                              <a:rPr lang="en-US" sz="1800" b="0" i="1" smtClean="0">
                                <a:latin typeface="Cambria Math" panose="02040503050406030204" pitchFamily="18" charset="0"/>
                                <a:ea typeface="Cambria Math" panose="02040503050406030204" pitchFamily="18" charset="0"/>
                              </a:rPr>
                              <m:t>𝑡</m:t>
                            </m:r>
                          </m:sub>
                        </m:sSub>
                      </m:e>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𝑠</m:t>
                            </m:r>
                          </m:e>
                          <m:sub>
                            <m:r>
                              <a:rPr lang="en-US" sz="1800" b="0" i="1" smtClean="0">
                                <a:latin typeface="Cambria Math" panose="02040503050406030204" pitchFamily="18" charset="0"/>
                                <a:ea typeface="Cambria Math" panose="02040503050406030204" pitchFamily="18" charset="0"/>
                              </a:rPr>
                              <m:t>𝑡</m:t>
                            </m:r>
                          </m:sub>
                        </m:sSub>
                      </m:e>
                    </m:d>
                  </m:oMath>
                </a14:m>
                <a:endParaRPr lang="en-US" sz="1800" dirty="0"/>
              </a:p>
              <a:p>
                <a:pPr marL="285750" lvl="3" indent="-285750">
                  <a:buFont typeface="Arial" panose="020B0604020202020204" pitchFamily="34" charset="0"/>
                  <a:buChar char="•"/>
                </a:pPr>
                <a:r>
                  <a:rPr lang="en-US" sz="1800" dirty="0"/>
                  <a:t>Transition function: </a:t>
                </a:r>
                <a14:m>
                  <m:oMath xmlns:m="http://schemas.openxmlformats.org/officeDocument/2006/math">
                    <m:r>
                      <a:rPr lang="en-US" sz="1800" i="1" smtClean="0">
                        <a:latin typeface="Cambria Math" panose="02040503050406030204" pitchFamily="18" charset="0"/>
                      </a:rPr>
                      <m:t>𝑓</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𝑡</m:t>
                            </m:r>
                          </m:sub>
                        </m:sSub>
                      </m:e>
                    </m:d>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m:t>
                        </m:r>
                        <m:r>
                          <a:rPr lang="en-US" sz="1800" i="1">
                            <a:latin typeface="Cambria Math" panose="02040503050406030204" pitchFamily="18" charset="0"/>
                          </a:rPr>
                          <m:t>𝑆</m:t>
                        </m:r>
                      </m:e>
                      <m:sub>
                        <m:r>
                          <a:rPr lang="en-US" sz="1800" i="1">
                            <a:latin typeface="Cambria Math" panose="02040503050406030204" pitchFamily="18" charset="0"/>
                          </a:rPr>
                          <m:t>𝑡</m:t>
                        </m:r>
                        <m:r>
                          <a:rPr lang="en-US" sz="1800" i="1">
                            <a:latin typeface="Cambria Math" panose="02040503050406030204" pitchFamily="18" charset="0"/>
                          </a:rPr>
                          <m:t>+1</m:t>
                        </m:r>
                      </m:sub>
                    </m:sSub>
                  </m:oMath>
                </a14:m>
                <a:endParaRPr lang="en-US" sz="1800" dirty="0"/>
              </a:p>
              <a:p>
                <a:pPr marL="285750" lvl="2" indent="-285750">
                  <a:buFont typeface="Arial" panose="020B0604020202020204" pitchFamily="34" charset="0"/>
                  <a:buChar char="•"/>
                </a:pPr>
                <a:r>
                  <a:rPr lang="en-US" sz="1800" dirty="0"/>
                  <a:t>Workflows/skills </a:t>
                </a:r>
                <a14:m>
                  <m:oMath xmlns:m="http://schemas.openxmlformats.org/officeDocument/2006/math">
                    <m:r>
                      <a:rPr lang="en-US" sz="1800" i="1" smtClean="0">
                        <a:latin typeface="Cambria Math" panose="02040503050406030204" pitchFamily="18" charset="0"/>
                      </a:rPr>
                      <m:t>𝝎</m:t>
                    </m:r>
                  </m:oMath>
                </a14:m>
                <a:r>
                  <a:rPr lang="en-US" sz="1800" dirty="0"/>
                  <a:t>: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𝜋</m:t>
                        </m:r>
                      </m:e>
                      <m:sub>
                        <m:r>
                          <a:rPr lang="en-US" sz="1800" i="1">
                            <a:latin typeface="Cambria Math" panose="02040503050406030204" pitchFamily="18" charset="0"/>
                            <a:ea typeface="Cambria Math" panose="02040503050406030204" pitchFamily="18" charset="0"/>
                          </a:rPr>
                          <m:t>𝜃</m:t>
                        </m:r>
                      </m:sub>
                    </m:sSub>
                    <m:d>
                      <m:dPr>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𝑎</m:t>
                            </m:r>
                          </m:e>
                          <m:sub>
                            <m:r>
                              <a:rPr lang="en-US" sz="1800" i="1">
                                <a:latin typeface="Cambria Math" panose="02040503050406030204" pitchFamily="18" charset="0"/>
                                <a:ea typeface="Cambria Math" panose="02040503050406030204" pitchFamily="18" charset="0"/>
                              </a:rPr>
                              <m:t>𝑡</m:t>
                            </m:r>
                          </m:sub>
                        </m:sSub>
                      </m:e>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𝑠</m:t>
                            </m:r>
                          </m:e>
                          <m:sub>
                            <m:r>
                              <a:rPr lang="en-US" sz="1800" i="1">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𝝎</m:t>
                        </m:r>
                      </m:e>
                    </m:d>
                  </m:oMath>
                </a14:m>
                <a:r>
                  <a:rPr lang="en-US" sz="1800" dirty="0"/>
                  <a:t> </a:t>
                </a:r>
              </a:p>
              <a:p>
                <a:pPr marL="285750" lvl="2" indent="-285750">
                  <a:buFont typeface="Arial" panose="020B0604020202020204" pitchFamily="34" charset="0"/>
                  <a:buChar char="•"/>
                </a:pPr>
                <a:endParaRPr lang="en-US" sz="1800" dirty="0"/>
              </a:p>
            </p:txBody>
          </p:sp>
        </mc:Choice>
        <mc:Fallback xmlns="">
          <p:sp>
            <p:nvSpPr>
              <p:cNvPr id="8" name="TextBox 7">
                <a:extLst>
                  <a:ext uri="{FF2B5EF4-FFF2-40B4-BE49-F238E27FC236}">
                    <a16:creationId xmlns:a16="http://schemas.microsoft.com/office/drawing/2014/main" id="{758181FC-B89D-E790-33C2-7C4209ED5E4E}"/>
                  </a:ext>
                </a:extLst>
              </p:cNvPr>
              <p:cNvSpPr txBox="1">
                <a:spLocks noRot="1" noChangeAspect="1" noMove="1" noResize="1" noEditPoints="1" noAdjustHandles="1" noChangeArrowheads="1" noChangeShapeType="1" noTextEdit="1"/>
              </p:cNvSpPr>
              <p:nvPr/>
            </p:nvSpPr>
            <p:spPr>
              <a:xfrm>
                <a:off x="311700" y="1891114"/>
                <a:ext cx="7755989" cy="1477328"/>
              </a:xfrm>
              <a:prstGeom prst="rect">
                <a:avLst/>
              </a:prstGeom>
              <a:blipFill>
                <a:blip r:embed="rId3"/>
                <a:stretch>
                  <a:fillRect l="-490" t="-1695"/>
                </a:stretch>
              </a:blipFill>
            </p:spPr>
            <p:txBody>
              <a:bodyPr/>
              <a:lstStyle/>
              <a:p>
                <a:r>
                  <a:rPr lang="en-US">
                    <a:noFill/>
                  </a:rPr>
                  <a:t> </a:t>
                </a:r>
              </a:p>
            </p:txBody>
          </p:sp>
        </mc:Fallback>
      </mc:AlternateContent>
    </p:spTree>
    <p:extLst>
      <p:ext uri="{BB962C8B-B14F-4D97-AF65-F5344CB8AC3E}">
        <p14:creationId xmlns:p14="http://schemas.microsoft.com/office/powerpoint/2010/main" val="235566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44186-23DB-E1BC-3DBF-D9BDF05D1761}"/>
            </a:ext>
          </a:extLst>
        </p:cNvPr>
        <p:cNvGrpSpPr/>
        <p:nvPr/>
      </p:nvGrpSpPr>
      <p:grpSpPr>
        <a:xfrm>
          <a:off x="0" y="0"/>
          <a:ext cx="0" cy="0"/>
          <a:chOff x="0" y="0"/>
          <a:chExt cx="0" cy="0"/>
        </a:xfrm>
      </p:grpSpPr>
      <p:pic>
        <p:nvPicPr>
          <p:cNvPr id="96" name="Picture 95">
            <a:extLst>
              <a:ext uri="{FF2B5EF4-FFF2-40B4-BE49-F238E27FC236}">
                <a16:creationId xmlns:a16="http://schemas.microsoft.com/office/drawing/2014/main" id="{F48E76F3-548C-1A7C-4C2F-4C8E95B1E28C}"/>
              </a:ext>
            </a:extLst>
          </p:cNvPr>
          <p:cNvPicPr>
            <a:picLocks noChangeAspect="1"/>
          </p:cNvPicPr>
          <p:nvPr/>
        </p:nvPicPr>
        <p:blipFill>
          <a:blip r:embed="rId2"/>
          <a:stretch>
            <a:fillRect/>
          </a:stretch>
        </p:blipFill>
        <p:spPr>
          <a:xfrm>
            <a:off x="4161403" y="2027583"/>
            <a:ext cx="5023433" cy="2822081"/>
          </a:xfrm>
          <a:prstGeom prst="rect">
            <a:avLst/>
          </a:prstGeom>
        </p:spPr>
      </p:pic>
      <p:sp>
        <p:nvSpPr>
          <p:cNvPr id="10" name="TextBox 9">
            <a:extLst>
              <a:ext uri="{FF2B5EF4-FFF2-40B4-BE49-F238E27FC236}">
                <a16:creationId xmlns:a16="http://schemas.microsoft.com/office/drawing/2014/main" id="{3C81BFB0-6BA8-2C98-1A20-0F66464ED4F2}"/>
              </a:ext>
            </a:extLst>
          </p:cNvPr>
          <p:cNvSpPr txBox="1"/>
          <p:nvPr/>
        </p:nvSpPr>
        <p:spPr>
          <a:xfrm>
            <a:off x="311700" y="1017725"/>
            <a:ext cx="7584557" cy="1200329"/>
          </a:xfrm>
          <a:prstGeom prst="rect">
            <a:avLst/>
          </a:prstGeom>
          <a:noFill/>
        </p:spPr>
        <p:txBody>
          <a:bodyPr wrap="square">
            <a:spAutoFit/>
          </a:bodyPr>
          <a:lstStyle/>
          <a:p>
            <a:pPr marL="285750" indent="-285750">
              <a:buFont typeface="Arial" panose="020B0604020202020204" pitchFamily="34" charset="0"/>
              <a:buChar char="•"/>
            </a:pPr>
            <a:r>
              <a:rPr lang="en-US" sz="1800" dirty="0"/>
              <a:t>Why exploration is important for creative planning tasks?</a:t>
            </a:r>
          </a:p>
          <a:p>
            <a:pPr marL="285750" indent="-285750">
              <a:buFont typeface="Arial" panose="020B0604020202020204" pitchFamily="34" charset="0"/>
              <a:buChar char="•"/>
            </a:pPr>
            <a:r>
              <a:rPr lang="en-US" sz="1800" dirty="0"/>
              <a:t>Recall that in creative planning tasks, exploration in an environment with very sparse or even deceptive reward.</a:t>
            </a:r>
          </a:p>
          <a:p>
            <a:pPr marL="285750" indent="-285750">
              <a:buFont typeface="Arial" panose="020B0604020202020204" pitchFamily="34" charset="0"/>
              <a:buChar char="•"/>
            </a:pPr>
            <a:r>
              <a:rPr lang="en-US" sz="1800" dirty="0"/>
              <a:t>MDP nature of the task.</a:t>
            </a:r>
          </a:p>
        </p:txBody>
      </p:sp>
      <p:sp>
        <p:nvSpPr>
          <p:cNvPr id="2" name="Google Shape;1836;p85">
            <a:extLst>
              <a:ext uri="{FF2B5EF4-FFF2-40B4-BE49-F238E27FC236}">
                <a16:creationId xmlns:a16="http://schemas.microsoft.com/office/drawing/2014/main" id="{6CAFB0FD-84FE-23BE-8778-9DA247582EAA}"/>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Self-exploration – learning dynamics</a:t>
            </a:r>
            <a:endParaRPr lang="en-US" sz="2400" dirty="0"/>
          </a:p>
        </p:txBody>
      </p:sp>
      <p:sp>
        <p:nvSpPr>
          <p:cNvPr id="44" name="Rectangle 43">
            <a:extLst>
              <a:ext uri="{FF2B5EF4-FFF2-40B4-BE49-F238E27FC236}">
                <a16:creationId xmlns:a16="http://schemas.microsoft.com/office/drawing/2014/main" id="{D9F2F58F-0792-C1EC-3F72-D2C2BB528EA9}"/>
              </a:ext>
            </a:extLst>
          </p:cNvPr>
          <p:cNvSpPr/>
          <p:nvPr/>
        </p:nvSpPr>
        <p:spPr>
          <a:xfrm>
            <a:off x="9125563" y="2732433"/>
            <a:ext cx="844070" cy="27396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BE1AB38-892D-9721-88E8-FC7814B14B30}"/>
              </a:ext>
            </a:extLst>
          </p:cNvPr>
          <p:cNvSpPr/>
          <p:nvPr/>
        </p:nvSpPr>
        <p:spPr>
          <a:xfrm>
            <a:off x="1138260" y="3719713"/>
            <a:ext cx="989970" cy="82084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953E578-B856-807E-D42E-0B4E5B522E75}"/>
              </a:ext>
            </a:extLst>
          </p:cNvPr>
          <p:cNvSpPr/>
          <p:nvPr/>
        </p:nvSpPr>
        <p:spPr>
          <a:xfrm>
            <a:off x="2101397" y="3717230"/>
            <a:ext cx="1036788" cy="82084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8E58CE43-1CEA-92F2-E8AF-A58A1DAF3F63}"/>
              </a:ext>
            </a:extLst>
          </p:cNvPr>
          <p:cNvSpPr/>
          <p:nvPr/>
        </p:nvSpPr>
        <p:spPr>
          <a:xfrm>
            <a:off x="3157251" y="3715353"/>
            <a:ext cx="1132765" cy="82084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oogle Shape;1856;p85">
            <a:extLst>
              <a:ext uri="{FF2B5EF4-FFF2-40B4-BE49-F238E27FC236}">
                <a16:creationId xmlns:a16="http://schemas.microsoft.com/office/drawing/2014/main" id="{941A7233-4072-1313-5DED-D3DDD0B4128F}"/>
              </a:ext>
            </a:extLst>
          </p:cNvPr>
          <p:cNvGrpSpPr/>
          <p:nvPr/>
        </p:nvGrpSpPr>
        <p:grpSpPr>
          <a:xfrm>
            <a:off x="116682" y="3901605"/>
            <a:ext cx="639394" cy="639394"/>
            <a:chOff x="1526926" y="2217850"/>
            <a:chExt cx="846000" cy="846000"/>
          </a:xfrm>
        </p:grpSpPr>
        <p:sp>
          <p:nvSpPr>
            <p:cNvPr id="80" name="Google Shape;1852;p85">
              <a:extLst>
                <a:ext uri="{FF2B5EF4-FFF2-40B4-BE49-F238E27FC236}">
                  <a16:creationId xmlns:a16="http://schemas.microsoft.com/office/drawing/2014/main" id="{D2748893-09A5-D2C9-9BA9-537228C389F3}"/>
                </a:ext>
              </a:extLst>
            </p:cNvPr>
            <p:cNvSpPr/>
            <p:nvPr/>
          </p:nvSpPr>
          <p:spPr>
            <a:xfrm>
              <a:off x="1526926" y="2217850"/>
              <a:ext cx="846000" cy="846000"/>
            </a:xfrm>
            <a:prstGeom prst="ellipse">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p:pic>
          <p:nvPicPr>
            <p:cNvPr id="81" name="Google Shape;1857;p85">
              <a:extLst>
                <a:ext uri="{FF2B5EF4-FFF2-40B4-BE49-F238E27FC236}">
                  <a16:creationId xmlns:a16="http://schemas.microsoft.com/office/drawing/2014/main" id="{1ADCA25E-9743-96F2-EA0B-8EAB9848223D}"/>
                </a:ext>
              </a:extLst>
            </p:cNvPr>
            <p:cNvPicPr preferRelativeResize="0"/>
            <p:nvPr/>
          </p:nvPicPr>
          <p:blipFill>
            <a:blip r:embed="rId3">
              <a:alphaModFix/>
            </a:blip>
            <a:stretch>
              <a:fillRect/>
            </a:stretch>
          </p:blipFill>
          <p:spPr>
            <a:xfrm>
              <a:off x="1793060" y="2520298"/>
              <a:ext cx="303052" cy="259750"/>
            </a:xfrm>
            <a:prstGeom prst="rect">
              <a:avLst/>
            </a:prstGeom>
            <a:noFill/>
            <a:ln>
              <a:noFill/>
            </a:ln>
          </p:spPr>
        </p:pic>
      </p:grpSp>
      <p:sp>
        <p:nvSpPr>
          <p:cNvPr id="82" name="Google Shape;1870;p85">
            <a:extLst>
              <a:ext uri="{FF2B5EF4-FFF2-40B4-BE49-F238E27FC236}">
                <a16:creationId xmlns:a16="http://schemas.microsoft.com/office/drawing/2014/main" id="{EA509FE0-1E8D-8C80-B3BC-9A9FC181106A}"/>
              </a:ext>
            </a:extLst>
          </p:cNvPr>
          <p:cNvSpPr/>
          <p:nvPr/>
        </p:nvSpPr>
        <p:spPr>
          <a:xfrm>
            <a:off x="3514940" y="3909667"/>
            <a:ext cx="639394" cy="639394"/>
          </a:xfrm>
          <a:prstGeom prst="ellipse">
            <a:avLst/>
          </a:prstGeom>
          <a:solidFill>
            <a:schemeClr val="bg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89564006-ECE6-BE4E-BEC5-B0371C35DB04}"/>
                  </a:ext>
                </a:extLst>
              </p:cNvPr>
              <p:cNvSpPr txBox="1"/>
              <p:nvPr/>
            </p:nvSpPr>
            <p:spPr>
              <a:xfrm>
                <a:off x="3619938" y="4037078"/>
                <a:ext cx="3221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𝑛</m:t>
                          </m:r>
                        </m:sub>
                      </m:sSub>
                    </m:oMath>
                  </m:oMathPara>
                </a14:m>
                <a:endParaRPr lang="en-US" sz="1800" dirty="0"/>
              </a:p>
            </p:txBody>
          </p:sp>
        </mc:Choice>
        <mc:Fallback xmlns="">
          <p:sp>
            <p:nvSpPr>
              <p:cNvPr id="83" name="TextBox 82">
                <a:extLst>
                  <a:ext uri="{FF2B5EF4-FFF2-40B4-BE49-F238E27FC236}">
                    <a16:creationId xmlns:a16="http://schemas.microsoft.com/office/drawing/2014/main" id="{89564006-ECE6-BE4E-BEC5-B0371C35DB04}"/>
                  </a:ext>
                </a:extLst>
              </p:cNvPr>
              <p:cNvSpPr txBox="1">
                <a:spLocks noRot="1" noChangeAspect="1" noMove="1" noResize="1" noEditPoints="1" noAdjustHandles="1" noChangeArrowheads="1" noChangeShapeType="1" noTextEdit="1"/>
              </p:cNvSpPr>
              <p:nvPr/>
            </p:nvSpPr>
            <p:spPr>
              <a:xfrm>
                <a:off x="3619938" y="4037078"/>
                <a:ext cx="322132" cy="369332"/>
              </a:xfrm>
              <a:prstGeom prst="rect">
                <a:avLst/>
              </a:prstGeom>
              <a:blipFill>
                <a:blip r:embed="rId4"/>
                <a:stretch>
                  <a:fillRect r="-7692"/>
                </a:stretch>
              </a:blipFill>
            </p:spPr>
            <p:txBody>
              <a:bodyPr/>
              <a:lstStyle/>
              <a:p>
                <a:r>
                  <a:rPr lang="en-US">
                    <a:noFill/>
                  </a:rPr>
                  <a:t> </a:t>
                </a:r>
              </a:p>
            </p:txBody>
          </p:sp>
        </mc:Fallback>
      </mc:AlternateContent>
      <p:grpSp>
        <p:nvGrpSpPr>
          <p:cNvPr id="84" name="Group 83">
            <a:extLst>
              <a:ext uri="{FF2B5EF4-FFF2-40B4-BE49-F238E27FC236}">
                <a16:creationId xmlns:a16="http://schemas.microsoft.com/office/drawing/2014/main" id="{A0C04CBA-338F-11BE-C280-410111B6395B}"/>
              </a:ext>
            </a:extLst>
          </p:cNvPr>
          <p:cNvGrpSpPr/>
          <p:nvPr/>
        </p:nvGrpSpPr>
        <p:grpSpPr>
          <a:xfrm>
            <a:off x="1345988" y="3909667"/>
            <a:ext cx="639394" cy="639394"/>
            <a:chOff x="3147371" y="3109854"/>
            <a:chExt cx="731621" cy="731621"/>
          </a:xfrm>
          <a:solidFill>
            <a:schemeClr val="bg1"/>
          </a:solidFill>
        </p:grpSpPr>
        <p:sp>
          <p:nvSpPr>
            <p:cNvPr id="85" name="Google Shape;1852;p85">
              <a:extLst>
                <a:ext uri="{FF2B5EF4-FFF2-40B4-BE49-F238E27FC236}">
                  <a16:creationId xmlns:a16="http://schemas.microsoft.com/office/drawing/2014/main" id="{59BB4568-4706-24B2-F8FA-0393B0021B33}"/>
                </a:ext>
              </a:extLst>
            </p:cNvPr>
            <p:cNvSpPr/>
            <p:nvPr/>
          </p:nvSpPr>
          <p:spPr>
            <a:xfrm>
              <a:off x="3147371" y="3109854"/>
              <a:ext cx="731621" cy="731621"/>
            </a:xfrm>
            <a:prstGeom prst="ellipse">
              <a:avLst/>
            </a:prstGeom>
            <a:grpFill/>
            <a:ln w="9525" cap="flat" cmpd="sng">
              <a:solidFill>
                <a:schemeClr val="dk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98F36C9-3DE0-0D2A-A800-838DD68320FD}"/>
                    </a:ext>
                  </a:extLst>
                </p:cNvPr>
                <p:cNvSpPr txBox="1"/>
                <p:nvPr/>
              </p:nvSpPr>
              <p:spPr>
                <a:xfrm>
                  <a:off x="3328883" y="3290998"/>
                  <a:ext cx="368596" cy="369332"/>
                </a:xfrm>
                <a:prstGeom prst="rect">
                  <a:avLst/>
                </a:prstGeom>
                <a:grp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2</m:t>
                            </m:r>
                          </m:sub>
                        </m:sSub>
                        <m:r>
                          <a:rPr lang="en-US" sz="1800" i="1" dirty="0" smtClean="0">
                            <a:latin typeface="Cambria Math" panose="02040503050406030204" pitchFamily="18" charset="0"/>
                          </a:rPr>
                          <m:t> </m:t>
                        </m:r>
                      </m:oMath>
                    </m:oMathPara>
                  </a14:m>
                  <a:endParaRPr lang="en-US" sz="1800" dirty="0"/>
                </a:p>
              </p:txBody>
            </p:sp>
          </mc:Choice>
          <mc:Fallback xmlns="">
            <p:sp>
              <p:nvSpPr>
                <p:cNvPr id="86" name="TextBox 85">
                  <a:extLst>
                    <a:ext uri="{FF2B5EF4-FFF2-40B4-BE49-F238E27FC236}">
                      <a16:creationId xmlns:a16="http://schemas.microsoft.com/office/drawing/2014/main" id="{198F36C9-3DE0-0D2A-A800-838DD68320FD}"/>
                    </a:ext>
                  </a:extLst>
                </p:cNvPr>
                <p:cNvSpPr txBox="1">
                  <a:spLocks noRot="1" noChangeAspect="1" noMove="1" noResize="1" noEditPoints="1" noAdjustHandles="1" noChangeArrowheads="1" noChangeShapeType="1" noTextEdit="1"/>
                </p:cNvSpPr>
                <p:nvPr/>
              </p:nvSpPr>
              <p:spPr>
                <a:xfrm>
                  <a:off x="3328883" y="3290998"/>
                  <a:ext cx="368596" cy="369332"/>
                </a:xfrm>
                <a:prstGeom prst="rect">
                  <a:avLst/>
                </a:prstGeom>
                <a:blipFill>
                  <a:blip r:embed="rId5"/>
                  <a:stretch>
                    <a:fillRect r="-46154" b="-38462"/>
                  </a:stretch>
                </a:blipFill>
              </p:spPr>
              <p:txBody>
                <a:bodyPr/>
                <a:lstStyle/>
                <a:p>
                  <a:r>
                    <a:rPr lang="en-US">
                      <a:noFill/>
                    </a:rPr>
                    <a:t> </a:t>
                  </a:r>
                </a:p>
              </p:txBody>
            </p:sp>
          </mc:Fallback>
        </mc:AlternateContent>
      </p:grpSp>
      <p:grpSp>
        <p:nvGrpSpPr>
          <p:cNvPr id="87" name="Group 86">
            <a:extLst>
              <a:ext uri="{FF2B5EF4-FFF2-40B4-BE49-F238E27FC236}">
                <a16:creationId xmlns:a16="http://schemas.microsoft.com/office/drawing/2014/main" id="{DE351C13-E2CA-E945-2C4F-6798A10AB160}"/>
              </a:ext>
            </a:extLst>
          </p:cNvPr>
          <p:cNvGrpSpPr/>
          <p:nvPr/>
        </p:nvGrpSpPr>
        <p:grpSpPr>
          <a:xfrm>
            <a:off x="2285226" y="3909667"/>
            <a:ext cx="639394" cy="639394"/>
            <a:chOff x="3147371" y="3109854"/>
            <a:chExt cx="731621" cy="731621"/>
          </a:xfrm>
          <a:solidFill>
            <a:schemeClr val="bg1"/>
          </a:solidFill>
        </p:grpSpPr>
        <p:sp>
          <p:nvSpPr>
            <p:cNvPr id="88" name="Google Shape;1852;p85">
              <a:extLst>
                <a:ext uri="{FF2B5EF4-FFF2-40B4-BE49-F238E27FC236}">
                  <a16:creationId xmlns:a16="http://schemas.microsoft.com/office/drawing/2014/main" id="{FF6989FC-E38C-78BC-42F2-5680DC494565}"/>
                </a:ext>
              </a:extLst>
            </p:cNvPr>
            <p:cNvSpPr/>
            <p:nvPr/>
          </p:nvSpPr>
          <p:spPr>
            <a:xfrm>
              <a:off x="3147371" y="3109854"/>
              <a:ext cx="731621" cy="731621"/>
            </a:xfrm>
            <a:prstGeom prst="ellipse">
              <a:avLst/>
            </a:prstGeom>
            <a:grpFill/>
            <a:ln w="9525" cap="flat" cmpd="sng">
              <a:solidFill>
                <a:schemeClr val="dk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700" baseline="-25000" dirty="0"/>
            </a:p>
          </p:txBody>
        </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CCC0AC33-01E9-585F-4B5B-E675E86546D4}"/>
                    </a:ext>
                  </a:extLst>
                </p:cNvPr>
                <p:cNvSpPr txBox="1"/>
                <p:nvPr/>
              </p:nvSpPr>
              <p:spPr>
                <a:xfrm>
                  <a:off x="3328883" y="3290998"/>
                  <a:ext cx="368596" cy="369332"/>
                </a:xfrm>
                <a:prstGeom prst="rect">
                  <a:avLst/>
                </a:prstGeom>
                <a:grp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m:t>
                            </m:r>
                          </m:sub>
                        </m:sSub>
                        <m:r>
                          <a:rPr lang="en-US" sz="1800" i="1" dirty="0" smtClean="0">
                            <a:latin typeface="Cambria Math" panose="02040503050406030204" pitchFamily="18" charset="0"/>
                          </a:rPr>
                          <m:t> </m:t>
                        </m:r>
                      </m:oMath>
                    </m:oMathPara>
                  </a14:m>
                  <a:endParaRPr lang="en-US" sz="1800" dirty="0"/>
                </a:p>
              </p:txBody>
            </p:sp>
          </mc:Choice>
          <mc:Fallback xmlns="">
            <p:sp>
              <p:nvSpPr>
                <p:cNvPr id="89" name="TextBox 88">
                  <a:extLst>
                    <a:ext uri="{FF2B5EF4-FFF2-40B4-BE49-F238E27FC236}">
                      <a16:creationId xmlns:a16="http://schemas.microsoft.com/office/drawing/2014/main" id="{CCC0AC33-01E9-585F-4B5B-E675E86546D4}"/>
                    </a:ext>
                  </a:extLst>
                </p:cNvPr>
                <p:cNvSpPr txBox="1">
                  <a:spLocks noRot="1" noChangeAspect="1" noMove="1" noResize="1" noEditPoints="1" noAdjustHandles="1" noChangeArrowheads="1" noChangeShapeType="1" noTextEdit="1"/>
                </p:cNvSpPr>
                <p:nvPr/>
              </p:nvSpPr>
              <p:spPr>
                <a:xfrm>
                  <a:off x="3328883" y="3290998"/>
                  <a:ext cx="368596" cy="369332"/>
                </a:xfrm>
                <a:prstGeom prst="rect">
                  <a:avLst/>
                </a:prstGeom>
                <a:blipFill>
                  <a:blip r:embed="rId6"/>
                  <a:stretch>
                    <a:fillRect r="-57692" b="-38462"/>
                  </a:stretch>
                </a:blipFill>
              </p:spPr>
              <p:txBody>
                <a:bodyPr/>
                <a:lstStyle/>
                <a:p>
                  <a:r>
                    <a:rPr lang="en-US">
                      <a:noFill/>
                    </a:rPr>
                    <a:t> </a:t>
                  </a:r>
                </a:p>
              </p:txBody>
            </p:sp>
          </mc:Fallback>
        </mc:AlternateContent>
      </p:grpSp>
      <p:cxnSp>
        <p:nvCxnSpPr>
          <p:cNvPr id="90" name="Straight Arrow Connector 89">
            <a:extLst>
              <a:ext uri="{FF2B5EF4-FFF2-40B4-BE49-F238E27FC236}">
                <a16:creationId xmlns:a16="http://schemas.microsoft.com/office/drawing/2014/main" id="{378C9CB2-7340-CE62-9676-370BC12FB604}"/>
              </a:ext>
            </a:extLst>
          </p:cNvPr>
          <p:cNvCxnSpPr>
            <a:cxnSpLocks/>
            <a:stCxn id="80" idx="6"/>
            <a:endCxn id="85" idx="2"/>
          </p:cNvCxnSpPr>
          <p:nvPr/>
        </p:nvCxnSpPr>
        <p:spPr>
          <a:xfrm>
            <a:off x="756076" y="4221302"/>
            <a:ext cx="589912" cy="80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9C72EE2D-3B9D-D95A-D70B-5933A516D13E}"/>
              </a:ext>
            </a:extLst>
          </p:cNvPr>
          <p:cNvCxnSpPr>
            <a:cxnSpLocks/>
            <a:stCxn id="85" idx="6"/>
            <a:endCxn id="88" idx="2"/>
          </p:cNvCxnSpPr>
          <p:nvPr/>
        </p:nvCxnSpPr>
        <p:spPr>
          <a:xfrm>
            <a:off x="1985382" y="4229364"/>
            <a:ext cx="299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BBEE2BF3-6669-178D-FB26-3B5DA869FDFE}"/>
              </a:ext>
            </a:extLst>
          </p:cNvPr>
          <p:cNvCxnSpPr>
            <a:cxnSpLocks/>
            <a:stCxn id="88" idx="6"/>
            <a:endCxn id="82" idx="2"/>
          </p:cNvCxnSpPr>
          <p:nvPr/>
        </p:nvCxnSpPr>
        <p:spPr>
          <a:xfrm>
            <a:off x="2924620" y="4229364"/>
            <a:ext cx="590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E32B4B7A-82D6-C598-834D-C83C18B05284}"/>
                  </a:ext>
                </a:extLst>
              </p:cNvPr>
              <p:cNvSpPr txBox="1"/>
              <p:nvPr/>
            </p:nvSpPr>
            <p:spPr>
              <a:xfrm>
                <a:off x="518836" y="2907733"/>
                <a:ext cx="3531736" cy="646331"/>
              </a:xfrm>
              <a:prstGeom prst="rect">
                <a:avLst/>
              </a:prstGeom>
              <a:noFill/>
            </p:spPr>
            <p:txBody>
              <a:bodyPr wrap="none" rtlCol="0">
                <a:spAutoFit/>
              </a:bodyPr>
              <a:lstStyle/>
              <a:p>
                <a:pPr algn="ctr"/>
                <a:r>
                  <a:rPr lang="en-US" sz="1800" dirty="0"/>
                  <a:t>The transition function is missing</a:t>
                </a:r>
              </a:p>
              <a:p>
                <a:pPr algn="ctr"/>
                <a14:m>
                  <m:oMath xmlns:m="http://schemas.openxmlformats.org/officeDocument/2006/math">
                    <m:r>
                      <a:rPr lang="en-US" sz="1800" i="1" smtClean="0">
                        <a:latin typeface="Cambria Math" panose="02040503050406030204" pitchFamily="18" charset="0"/>
                      </a:rPr>
                      <m:t>𝑓</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𝑡</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𝑡</m:t>
                            </m:r>
                          </m:sub>
                        </m:sSub>
                      </m:e>
                    </m:d>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m:t>
                        </m:r>
                        <m:r>
                          <a:rPr lang="en-US" sz="1800" i="1">
                            <a:latin typeface="Cambria Math" panose="02040503050406030204" pitchFamily="18" charset="0"/>
                          </a:rPr>
                          <m:t>𝑆</m:t>
                        </m:r>
                      </m:e>
                      <m:sub>
                        <m:r>
                          <a:rPr lang="en-US" sz="1800" i="1">
                            <a:latin typeface="Cambria Math" panose="02040503050406030204" pitchFamily="18" charset="0"/>
                          </a:rPr>
                          <m:t>𝑡</m:t>
                        </m:r>
                        <m:r>
                          <a:rPr lang="en-US" sz="1800" i="1">
                            <a:latin typeface="Cambria Math" panose="02040503050406030204" pitchFamily="18" charset="0"/>
                          </a:rPr>
                          <m:t>+1</m:t>
                        </m:r>
                      </m:sub>
                    </m:sSub>
                  </m:oMath>
                </a14:m>
                <a:endParaRPr lang="en-US" sz="1800" dirty="0"/>
              </a:p>
            </p:txBody>
          </p:sp>
        </mc:Choice>
        <mc:Fallback xmlns="">
          <p:sp>
            <p:nvSpPr>
              <p:cNvPr id="93" name="TextBox 92">
                <a:extLst>
                  <a:ext uri="{FF2B5EF4-FFF2-40B4-BE49-F238E27FC236}">
                    <a16:creationId xmlns:a16="http://schemas.microsoft.com/office/drawing/2014/main" id="{E32B4B7A-82D6-C598-834D-C83C18B05284}"/>
                  </a:ext>
                </a:extLst>
              </p:cNvPr>
              <p:cNvSpPr txBox="1">
                <a:spLocks noRot="1" noChangeAspect="1" noMove="1" noResize="1" noEditPoints="1" noAdjustHandles="1" noChangeArrowheads="1" noChangeShapeType="1" noTextEdit="1"/>
              </p:cNvSpPr>
              <p:nvPr/>
            </p:nvSpPr>
            <p:spPr>
              <a:xfrm>
                <a:off x="518836" y="2907733"/>
                <a:ext cx="3531736" cy="646331"/>
              </a:xfrm>
              <a:prstGeom prst="rect">
                <a:avLst/>
              </a:prstGeom>
              <a:blipFill>
                <a:blip r:embed="rId7"/>
                <a:stretch>
                  <a:fillRect l="-1075" t="-1923" r="-1075" b="-9615"/>
                </a:stretch>
              </a:blipFill>
            </p:spPr>
            <p:txBody>
              <a:bodyPr/>
              <a:lstStyle/>
              <a:p>
                <a:r>
                  <a:rPr lang="en-US">
                    <a:noFill/>
                  </a:rPr>
                  <a:t> </a:t>
                </a:r>
              </a:p>
            </p:txBody>
          </p:sp>
        </mc:Fallback>
      </mc:AlternateContent>
      <p:sp>
        <p:nvSpPr>
          <p:cNvPr id="3" name="Google Shape;1771;p83">
            <a:extLst>
              <a:ext uri="{FF2B5EF4-FFF2-40B4-BE49-F238E27FC236}">
                <a16:creationId xmlns:a16="http://schemas.microsoft.com/office/drawing/2014/main" id="{9098D7C2-CFF8-FA66-2EA8-1BDA489B9D85}"/>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4" name="Google Shape;1772;p83">
            <a:extLst>
              <a:ext uri="{FF2B5EF4-FFF2-40B4-BE49-F238E27FC236}">
                <a16:creationId xmlns:a16="http://schemas.microsoft.com/office/drawing/2014/main" id="{DAA5BC17-04CC-71C5-2628-E2783E3E739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5" name="Google Shape;1773;p83">
            <a:extLst>
              <a:ext uri="{FF2B5EF4-FFF2-40B4-BE49-F238E27FC236}">
                <a16:creationId xmlns:a16="http://schemas.microsoft.com/office/drawing/2014/main" id="{C6315FEF-A908-A994-2B10-B659445D36EE}"/>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6" name="Google Shape;1774;p83">
            <a:extLst>
              <a:ext uri="{FF2B5EF4-FFF2-40B4-BE49-F238E27FC236}">
                <a16:creationId xmlns:a16="http://schemas.microsoft.com/office/drawing/2014/main" id="{E7488769-3F8C-12D0-A4CE-E5AD942C49D9}"/>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243067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810F8-0322-8E45-D26E-18F0673B7F76}"/>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13E3F23-5A9B-01AD-A1B6-8EC40AD895D5}"/>
              </a:ext>
            </a:extLst>
          </p:cNvPr>
          <p:cNvSpPr txBox="1"/>
          <p:nvPr/>
        </p:nvSpPr>
        <p:spPr>
          <a:xfrm>
            <a:off x="311700" y="1017725"/>
            <a:ext cx="7772400" cy="584775"/>
          </a:xfrm>
          <a:prstGeom prst="rect">
            <a:avLst/>
          </a:prstGeom>
          <a:noFill/>
        </p:spPr>
        <p:txBody>
          <a:bodyPr wrap="square">
            <a:spAutoFit/>
          </a:bodyPr>
          <a:lstStyle/>
          <a:p>
            <a:pPr marL="285750" indent="-285750">
              <a:buFont typeface="Arial" panose="020B0604020202020204" pitchFamily="34" charset="0"/>
              <a:buChar char="•"/>
            </a:pPr>
            <a:r>
              <a:rPr lang="en-US" sz="1600" dirty="0"/>
              <a:t>Both </a:t>
            </a:r>
            <a:r>
              <a:rPr lang="en-US" sz="1600" dirty="0" err="1"/>
              <a:t>ReACT</a:t>
            </a:r>
            <a:r>
              <a:rPr lang="en-US" sz="1600" dirty="0"/>
              <a:t> and </a:t>
            </a:r>
            <a:r>
              <a:rPr lang="en-US" sz="1600" dirty="0" err="1"/>
              <a:t>TreeSearch</a:t>
            </a:r>
            <a:r>
              <a:rPr lang="en-US" sz="1600" dirty="0"/>
              <a:t> approaches are </a:t>
            </a:r>
            <a:r>
              <a:rPr lang="en-US" sz="1600" b="1" dirty="0"/>
              <a:t>Unknown-MDP</a:t>
            </a:r>
            <a:r>
              <a:rPr lang="en-US" sz="1600" dirty="0"/>
              <a:t>-based. At each timestep, agents’ observation space is constrained.</a:t>
            </a:r>
          </a:p>
        </p:txBody>
      </p:sp>
      <p:sp>
        <p:nvSpPr>
          <p:cNvPr id="44" name="Rectangle 43">
            <a:extLst>
              <a:ext uri="{FF2B5EF4-FFF2-40B4-BE49-F238E27FC236}">
                <a16:creationId xmlns:a16="http://schemas.microsoft.com/office/drawing/2014/main" id="{DF65957F-866A-CBAC-F802-6908003AE0F4}"/>
              </a:ext>
            </a:extLst>
          </p:cNvPr>
          <p:cNvSpPr/>
          <p:nvPr/>
        </p:nvSpPr>
        <p:spPr>
          <a:xfrm>
            <a:off x="9125563" y="2732433"/>
            <a:ext cx="844070" cy="27396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 name="Picture 86">
            <a:extLst>
              <a:ext uri="{FF2B5EF4-FFF2-40B4-BE49-F238E27FC236}">
                <a16:creationId xmlns:a16="http://schemas.microsoft.com/office/drawing/2014/main" id="{A0749863-111B-AC58-46E6-6DFCADBE9A63}"/>
              </a:ext>
            </a:extLst>
          </p:cNvPr>
          <p:cNvPicPr>
            <a:picLocks noChangeAspect="1"/>
          </p:cNvPicPr>
          <p:nvPr/>
        </p:nvPicPr>
        <p:blipFill>
          <a:blip r:embed="rId2"/>
          <a:stretch>
            <a:fillRect/>
          </a:stretch>
        </p:blipFill>
        <p:spPr>
          <a:xfrm>
            <a:off x="523830" y="2150907"/>
            <a:ext cx="7772400" cy="2547568"/>
          </a:xfrm>
          <a:prstGeom prst="rect">
            <a:avLst/>
          </a:prstGeom>
        </p:spPr>
      </p:pic>
      <p:sp>
        <p:nvSpPr>
          <p:cNvPr id="3" name="Google Shape;1836;p85">
            <a:extLst>
              <a:ext uri="{FF2B5EF4-FFF2-40B4-BE49-F238E27FC236}">
                <a16:creationId xmlns:a16="http://schemas.microsoft.com/office/drawing/2014/main" id="{21BF0976-E10E-FB96-E5A6-8A8C6322FE62}"/>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Self-exploration </a:t>
            </a:r>
            <a:r>
              <a:rPr lang="en-US" sz="2400" dirty="0">
                <a:solidFill>
                  <a:schemeClr val="dk2"/>
                </a:solidFill>
              </a:rPr>
              <a:t>– learning dynamics</a:t>
            </a:r>
            <a:endParaRPr lang="en-US" sz="2400" dirty="0"/>
          </a:p>
        </p:txBody>
      </p:sp>
      <p:sp>
        <p:nvSpPr>
          <p:cNvPr id="4" name="Google Shape;1771;p83">
            <a:extLst>
              <a:ext uri="{FF2B5EF4-FFF2-40B4-BE49-F238E27FC236}">
                <a16:creationId xmlns:a16="http://schemas.microsoft.com/office/drawing/2014/main" id="{0BEAFAAC-24F6-E0BB-9D31-E1BBECED1AFF}"/>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5" name="Google Shape;1772;p83">
            <a:extLst>
              <a:ext uri="{FF2B5EF4-FFF2-40B4-BE49-F238E27FC236}">
                <a16:creationId xmlns:a16="http://schemas.microsoft.com/office/drawing/2014/main" id="{AD1D6417-5A86-DC52-255D-EC036EAAF0F0}"/>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D39811AA-BAD1-292E-3AA2-10A08918104E}"/>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10D0F3C1-92F2-5BBC-BE55-2A0E56C1734A}"/>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
        <p:nvSpPr>
          <p:cNvPr id="2" name="Rectangle 1">
            <a:extLst>
              <a:ext uri="{FF2B5EF4-FFF2-40B4-BE49-F238E27FC236}">
                <a16:creationId xmlns:a16="http://schemas.microsoft.com/office/drawing/2014/main" id="{387A483B-55A0-E2C9-FD24-83C8F76D6D12}"/>
              </a:ext>
            </a:extLst>
          </p:cNvPr>
          <p:cNvSpPr/>
          <p:nvPr/>
        </p:nvSpPr>
        <p:spPr>
          <a:xfrm>
            <a:off x="5120640" y="2571750"/>
            <a:ext cx="3209544" cy="17350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5171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6ABEF-B0A8-A2A5-6F3D-1CEA88604ED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638649C5-8CAE-54D1-76C4-2F7B2494C986}"/>
              </a:ext>
            </a:extLst>
          </p:cNvPr>
          <p:cNvSpPr txBox="1"/>
          <p:nvPr/>
        </p:nvSpPr>
        <p:spPr>
          <a:xfrm>
            <a:off x="311700" y="1017725"/>
            <a:ext cx="7772400" cy="1077218"/>
          </a:xfrm>
          <a:prstGeom prst="rect">
            <a:avLst/>
          </a:prstGeom>
          <a:noFill/>
        </p:spPr>
        <p:txBody>
          <a:bodyPr wrap="square">
            <a:spAutoFit/>
          </a:bodyPr>
          <a:lstStyle/>
          <a:p>
            <a:pPr marL="285750" indent="-285750">
              <a:buFont typeface="Arial" panose="020B0604020202020204" pitchFamily="34" charset="0"/>
              <a:buChar char="•"/>
            </a:pPr>
            <a:r>
              <a:rPr lang="en-US" sz="1600" dirty="0"/>
              <a:t>Both </a:t>
            </a:r>
            <a:r>
              <a:rPr lang="en-US" sz="1600" dirty="0" err="1"/>
              <a:t>ReACT</a:t>
            </a:r>
            <a:r>
              <a:rPr lang="en-US" sz="1600" dirty="0"/>
              <a:t> and </a:t>
            </a:r>
            <a:r>
              <a:rPr lang="en-US" sz="1600" dirty="0" err="1"/>
              <a:t>TreeSearch</a:t>
            </a:r>
            <a:r>
              <a:rPr lang="en-US" sz="1600" dirty="0"/>
              <a:t> approaches are </a:t>
            </a:r>
            <a:r>
              <a:rPr lang="en-US" sz="1600" b="1" dirty="0"/>
              <a:t>Unknown-MDP</a:t>
            </a:r>
            <a:r>
              <a:rPr lang="en-US" sz="1600" dirty="0"/>
              <a:t>-based. At each timestep, agents’ observation space is constrained.</a:t>
            </a:r>
          </a:p>
          <a:p>
            <a:pPr marL="285750" indent="-285750">
              <a:buFont typeface="Arial" panose="020B0604020202020204" pitchFamily="34" charset="0"/>
              <a:buChar char="•"/>
            </a:pPr>
            <a:r>
              <a:rPr lang="en-US" sz="1600" dirty="0"/>
              <a:t>R2D2 constructs the search space leveraging stored state information from a replay buffer. By transforming the task into a </a:t>
            </a:r>
            <a:r>
              <a:rPr lang="en-US" sz="1600" b="1" dirty="0"/>
              <a:t>Known MDP.</a:t>
            </a:r>
          </a:p>
        </p:txBody>
      </p:sp>
      <p:sp>
        <p:nvSpPr>
          <p:cNvPr id="44" name="Rectangle 43">
            <a:extLst>
              <a:ext uri="{FF2B5EF4-FFF2-40B4-BE49-F238E27FC236}">
                <a16:creationId xmlns:a16="http://schemas.microsoft.com/office/drawing/2014/main" id="{9A1AF48A-85AB-A3A0-6F71-E6FA9B748DB5}"/>
              </a:ext>
            </a:extLst>
          </p:cNvPr>
          <p:cNvSpPr/>
          <p:nvPr/>
        </p:nvSpPr>
        <p:spPr>
          <a:xfrm>
            <a:off x="9125563" y="2732433"/>
            <a:ext cx="844070" cy="27396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7" name="Picture 86">
            <a:extLst>
              <a:ext uri="{FF2B5EF4-FFF2-40B4-BE49-F238E27FC236}">
                <a16:creationId xmlns:a16="http://schemas.microsoft.com/office/drawing/2014/main" id="{70AFF1A7-62B7-0356-FDAD-C83313478027}"/>
              </a:ext>
            </a:extLst>
          </p:cNvPr>
          <p:cNvPicPr>
            <a:picLocks noChangeAspect="1"/>
          </p:cNvPicPr>
          <p:nvPr/>
        </p:nvPicPr>
        <p:blipFill>
          <a:blip r:embed="rId2"/>
          <a:stretch>
            <a:fillRect/>
          </a:stretch>
        </p:blipFill>
        <p:spPr>
          <a:xfrm>
            <a:off x="523830" y="2150907"/>
            <a:ext cx="7772400" cy="2547568"/>
          </a:xfrm>
          <a:prstGeom prst="rect">
            <a:avLst/>
          </a:prstGeom>
        </p:spPr>
      </p:pic>
      <p:sp>
        <p:nvSpPr>
          <p:cNvPr id="91" name="TextBox 90">
            <a:extLst>
              <a:ext uri="{FF2B5EF4-FFF2-40B4-BE49-F238E27FC236}">
                <a16:creationId xmlns:a16="http://schemas.microsoft.com/office/drawing/2014/main" id="{A82FF87E-28DC-B7C4-128F-F42D9EA903CF}"/>
              </a:ext>
            </a:extLst>
          </p:cNvPr>
          <p:cNvSpPr txBox="1"/>
          <p:nvPr/>
        </p:nvSpPr>
        <p:spPr>
          <a:xfrm>
            <a:off x="7100" y="4614755"/>
            <a:ext cx="9133200" cy="523220"/>
          </a:xfrm>
          <a:prstGeom prst="rect">
            <a:avLst/>
          </a:prstGeom>
          <a:solidFill>
            <a:schemeClr val="bg1">
              <a:lumMod val="85000"/>
            </a:schemeClr>
          </a:solidFill>
        </p:spPr>
        <p:txBody>
          <a:bodyPr wrap="square" rtlCol="0">
            <a:spAutoFit/>
          </a:bodyPr>
          <a:lstStyle/>
          <a:p>
            <a:pPr algn="ctr"/>
            <a:r>
              <a:rPr lang="en-US" dirty="0"/>
              <a:t>Huang T, Basu K, Abdelaziz I, et al. R2D2: Remembering, Reflecting and Dynamic Decision Making for Web Agents[J]. </a:t>
            </a:r>
            <a:r>
              <a:rPr lang="en-US" dirty="0" err="1"/>
              <a:t>arXiv</a:t>
            </a:r>
            <a:r>
              <a:rPr lang="en-US" dirty="0"/>
              <a:t> preprint arXiv:2501.12485, 2025.</a:t>
            </a:r>
          </a:p>
        </p:txBody>
      </p:sp>
      <p:sp>
        <p:nvSpPr>
          <p:cNvPr id="3" name="Google Shape;1836;p85">
            <a:extLst>
              <a:ext uri="{FF2B5EF4-FFF2-40B4-BE49-F238E27FC236}">
                <a16:creationId xmlns:a16="http://schemas.microsoft.com/office/drawing/2014/main" id="{D8737970-7FE4-3A15-BC3E-F7CF63693DC4}"/>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Self-exploration </a:t>
            </a:r>
            <a:r>
              <a:rPr lang="en-US" sz="2400" dirty="0">
                <a:solidFill>
                  <a:schemeClr val="dk2"/>
                </a:solidFill>
              </a:rPr>
              <a:t>– learning dynamics</a:t>
            </a:r>
            <a:endParaRPr lang="en-US" sz="2400" dirty="0"/>
          </a:p>
        </p:txBody>
      </p:sp>
      <p:sp>
        <p:nvSpPr>
          <p:cNvPr id="4" name="Google Shape;1771;p83">
            <a:extLst>
              <a:ext uri="{FF2B5EF4-FFF2-40B4-BE49-F238E27FC236}">
                <a16:creationId xmlns:a16="http://schemas.microsoft.com/office/drawing/2014/main" id="{EE7E589D-2505-9BE9-B518-3C4F69F2BA71}"/>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5" name="Google Shape;1772;p83">
            <a:extLst>
              <a:ext uri="{FF2B5EF4-FFF2-40B4-BE49-F238E27FC236}">
                <a16:creationId xmlns:a16="http://schemas.microsoft.com/office/drawing/2014/main" id="{9020C3BD-14F1-C61F-91F5-3EB15F491AF7}"/>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6" name="Google Shape;1773;p83">
            <a:extLst>
              <a:ext uri="{FF2B5EF4-FFF2-40B4-BE49-F238E27FC236}">
                <a16:creationId xmlns:a16="http://schemas.microsoft.com/office/drawing/2014/main" id="{496DD30C-8D11-1B65-5E9E-859ECF5EC531}"/>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7" name="Google Shape;1774;p83">
            <a:extLst>
              <a:ext uri="{FF2B5EF4-FFF2-40B4-BE49-F238E27FC236}">
                <a16:creationId xmlns:a16="http://schemas.microsoft.com/office/drawing/2014/main" id="{55B75704-D7BA-31AF-8BC9-2F6F80324A2B}"/>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563685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F1D930-7767-2CF6-C68A-104F02821964}"/>
              </a:ext>
            </a:extLst>
          </p:cNvPr>
          <p:cNvPicPr>
            <a:picLocks noChangeAspect="1"/>
          </p:cNvPicPr>
          <p:nvPr/>
        </p:nvPicPr>
        <p:blipFill>
          <a:blip r:embed="rId2"/>
          <a:srcRect b="72780"/>
          <a:stretch/>
        </p:blipFill>
        <p:spPr>
          <a:xfrm>
            <a:off x="683150" y="1520287"/>
            <a:ext cx="7772400" cy="865104"/>
          </a:xfrm>
          <a:prstGeom prst="rect">
            <a:avLst/>
          </a:prstGeom>
        </p:spPr>
      </p:pic>
      <p:sp>
        <p:nvSpPr>
          <p:cNvPr id="8" name="Google Shape;1836;p85">
            <a:extLst>
              <a:ext uri="{FF2B5EF4-FFF2-40B4-BE49-F238E27FC236}">
                <a16:creationId xmlns:a16="http://schemas.microsoft.com/office/drawing/2014/main" id="{E4540FFB-89A0-C046-38A7-747F83966488}"/>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Better knowledge of environments leads to better agents</a:t>
            </a:r>
            <a:endParaRPr lang="en-US" sz="2400" dirty="0"/>
          </a:p>
        </p:txBody>
      </p:sp>
      <p:pic>
        <p:nvPicPr>
          <p:cNvPr id="9" name="Picture 8">
            <a:extLst>
              <a:ext uri="{FF2B5EF4-FFF2-40B4-BE49-F238E27FC236}">
                <a16:creationId xmlns:a16="http://schemas.microsoft.com/office/drawing/2014/main" id="{2A4B93DB-9887-352D-247C-E4896B557978}"/>
              </a:ext>
            </a:extLst>
          </p:cNvPr>
          <p:cNvPicPr>
            <a:picLocks noChangeAspect="1"/>
          </p:cNvPicPr>
          <p:nvPr/>
        </p:nvPicPr>
        <p:blipFill>
          <a:blip r:embed="rId2"/>
          <a:srcRect t="59339"/>
          <a:stretch/>
        </p:blipFill>
        <p:spPr>
          <a:xfrm>
            <a:off x="692900" y="2571750"/>
            <a:ext cx="7772400" cy="1292273"/>
          </a:xfrm>
          <a:prstGeom prst="rect">
            <a:avLst/>
          </a:prstGeom>
        </p:spPr>
      </p:pic>
      <p:sp>
        <p:nvSpPr>
          <p:cNvPr id="2" name="Google Shape;1771;p83">
            <a:extLst>
              <a:ext uri="{FF2B5EF4-FFF2-40B4-BE49-F238E27FC236}">
                <a16:creationId xmlns:a16="http://schemas.microsoft.com/office/drawing/2014/main" id="{00AA035D-21CA-D297-2A84-23C3B3676030}"/>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0" name="Google Shape;1772;p83">
            <a:extLst>
              <a:ext uri="{FF2B5EF4-FFF2-40B4-BE49-F238E27FC236}">
                <a16:creationId xmlns:a16="http://schemas.microsoft.com/office/drawing/2014/main" id="{BA5CF95D-9A0E-2E1B-F630-586C50EE5848}"/>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1" name="Google Shape;1773;p83">
            <a:extLst>
              <a:ext uri="{FF2B5EF4-FFF2-40B4-BE49-F238E27FC236}">
                <a16:creationId xmlns:a16="http://schemas.microsoft.com/office/drawing/2014/main" id="{B5C46226-C53D-5627-9D22-2BBF567F5548}"/>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2" name="Google Shape;1774;p83">
            <a:extLst>
              <a:ext uri="{FF2B5EF4-FFF2-40B4-BE49-F238E27FC236}">
                <a16:creationId xmlns:a16="http://schemas.microsoft.com/office/drawing/2014/main" id="{8D58D6AB-15DB-55F8-8C92-7722CFDE5F6E}"/>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218859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B70F81-7F76-FD87-8B0D-B774FE2022B9}"/>
            </a:ext>
          </a:extLst>
        </p:cNvPr>
        <p:cNvGrpSpPr/>
        <p:nvPr/>
      </p:nvGrpSpPr>
      <p:grpSpPr>
        <a:xfrm>
          <a:off x="0" y="0"/>
          <a:ext cx="0" cy="0"/>
          <a:chOff x="0" y="0"/>
          <a:chExt cx="0" cy="0"/>
        </a:xfrm>
      </p:grpSpPr>
      <p:sp>
        <p:nvSpPr>
          <p:cNvPr id="8" name="Google Shape;1836;p85">
            <a:extLst>
              <a:ext uri="{FF2B5EF4-FFF2-40B4-BE49-F238E27FC236}">
                <a16:creationId xmlns:a16="http://schemas.microsoft.com/office/drawing/2014/main" id="{A4DCC926-9CA6-45C2-2705-A19CE549790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Learning Policy in Creative Planning Tasks</a:t>
            </a:r>
            <a:endParaRPr lang="en-US" sz="2400" dirty="0"/>
          </a:p>
        </p:txBody>
      </p:sp>
      <p:sp>
        <p:nvSpPr>
          <p:cNvPr id="2" name="TextBox 1">
            <a:extLst>
              <a:ext uri="{FF2B5EF4-FFF2-40B4-BE49-F238E27FC236}">
                <a16:creationId xmlns:a16="http://schemas.microsoft.com/office/drawing/2014/main" id="{4C84E129-CC02-73F4-855D-A84F51DBA786}"/>
              </a:ext>
            </a:extLst>
          </p:cNvPr>
          <p:cNvSpPr txBox="1"/>
          <p:nvPr/>
        </p:nvSpPr>
        <p:spPr>
          <a:xfrm>
            <a:off x="7100" y="4614755"/>
            <a:ext cx="9133200" cy="523220"/>
          </a:xfrm>
          <a:prstGeom prst="rect">
            <a:avLst/>
          </a:prstGeom>
          <a:solidFill>
            <a:schemeClr val="bg1">
              <a:lumMod val="85000"/>
            </a:schemeClr>
          </a:solidFill>
        </p:spPr>
        <p:txBody>
          <a:bodyPr wrap="square" rtlCol="0">
            <a:spAutoFit/>
          </a:bodyPr>
          <a:lstStyle/>
          <a:p>
            <a:pPr algn="ctr"/>
            <a:r>
              <a:rPr lang="en-US" dirty="0"/>
              <a:t>Song, Yifan, et al. "Trial and Error: Exploration-Based Trajectory Optimization of LLM Agents." Proceedings of </a:t>
            </a:r>
          </a:p>
          <a:p>
            <a:pPr algn="ctr"/>
            <a:r>
              <a:rPr lang="en-US" dirty="0"/>
              <a:t>the 62nd Annual Meeting of the Association for Computational Linguistics (Volume 1: Long Papers). 2024.</a:t>
            </a:r>
          </a:p>
        </p:txBody>
      </p:sp>
      <p:pic>
        <p:nvPicPr>
          <p:cNvPr id="9" name="Picture 8" descr="A diagram of a business process&#10;&#10;AI-generated content may be incorrect.">
            <a:extLst>
              <a:ext uri="{FF2B5EF4-FFF2-40B4-BE49-F238E27FC236}">
                <a16:creationId xmlns:a16="http://schemas.microsoft.com/office/drawing/2014/main" id="{E44A6771-346B-8BB3-FFD6-9D943B0D46C9}"/>
              </a:ext>
            </a:extLst>
          </p:cNvPr>
          <p:cNvPicPr>
            <a:picLocks noChangeAspect="1"/>
          </p:cNvPicPr>
          <p:nvPr/>
        </p:nvPicPr>
        <p:blipFill>
          <a:blip r:embed="rId2"/>
          <a:stretch>
            <a:fillRect/>
          </a:stretch>
        </p:blipFill>
        <p:spPr>
          <a:xfrm>
            <a:off x="202370" y="1653148"/>
            <a:ext cx="3373230" cy="2327681"/>
          </a:xfrm>
          <a:prstGeom prst="rect">
            <a:avLst/>
          </a:prstGeom>
        </p:spPr>
      </p:pic>
      <p:pic>
        <p:nvPicPr>
          <p:cNvPr id="13" name="Picture 12" descr="A screenshot of a computer program&#10;&#10;AI-generated content may be incorrect.">
            <a:extLst>
              <a:ext uri="{FF2B5EF4-FFF2-40B4-BE49-F238E27FC236}">
                <a16:creationId xmlns:a16="http://schemas.microsoft.com/office/drawing/2014/main" id="{0BB2528A-8135-75C9-52FC-BDCC6D667516}"/>
              </a:ext>
            </a:extLst>
          </p:cNvPr>
          <p:cNvPicPr>
            <a:picLocks noChangeAspect="1"/>
          </p:cNvPicPr>
          <p:nvPr/>
        </p:nvPicPr>
        <p:blipFill>
          <a:blip r:embed="rId3"/>
          <a:stretch>
            <a:fillRect/>
          </a:stretch>
        </p:blipFill>
        <p:spPr>
          <a:xfrm>
            <a:off x="3478696" y="1017725"/>
            <a:ext cx="5353604" cy="3407358"/>
          </a:xfrm>
          <a:prstGeom prst="rect">
            <a:avLst/>
          </a:prstGeom>
        </p:spPr>
      </p:pic>
      <p:sp>
        <p:nvSpPr>
          <p:cNvPr id="3" name="Google Shape;1771;p83">
            <a:extLst>
              <a:ext uri="{FF2B5EF4-FFF2-40B4-BE49-F238E27FC236}">
                <a16:creationId xmlns:a16="http://schemas.microsoft.com/office/drawing/2014/main" id="{9841FF10-AEA6-2FC5-E141-F17750F976C8}"/>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0" name="Google Shape;1772;p83">
            <a:extLst>
              <a:ext uri="{FF2B5EF4-FFF2-40B4-BE49-F238E27FC236}">
                <a16:creationId xmlns:a16="http://schemas.microsoft.com/office/drawing/2014/main" id="{D549854C-6E85-511C-B412-81FE3D859989}"/>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1" name="Google Shape;1773;p83">
            <a:extLst>
              <a:ext uri="{FF2B5EF4-FFF2-40B4-BE49-F238E27FC236}">
                <a16:creationId xmlns:a16="http://schemas.microsoft.com/office/drawing/2014/main" id="{36A0C819-AFE6-221F-FF6A-0B570EE8FD5A}"/>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2" name="Google Shape;1774;p83">
            <a:extLst>
              <a:ext uri="{FF2B5EF4-FFF2-40B4-BE49-F238E27FC236}">
                <a16:creationId xmlns:a16="http://schemas.microsoft.com/office/drawing/2014/main" id="{7D5297FF-E2E0-041F-859D-1CD436941D9D}"/>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869690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98A5-A939-DCCD-914E-CB5544EB69D3}"/>
            </a:ext>
          </a:extLst>
        </p:cNvPr>
        <p:cNvGrpSpPr/>
        <p:nvPr/>
      </p:nvGrpSpPr>
      <p:grpSpPr>
        <a:xfrm>
          <a:off x="0" y="0"/>
          <a:ext cx="0" cy="0"/>
          <a:chOff x="0" y="0"/>
          <a:chExt cx="0" cy="0"/>
        </a:xfrm>
      </p:grpSpPr>
      <p:sp>
        <p:nvSpPr>
          <p:cNvPr id="8" name="Google Shape;1836;p85">
            <a:extLst>
              <a:ext uri="{FF2B5EF4-FFF2-40B4-BE49-F238E27FC236}">
                <a16:creationId xmlns:a16="http://schemas.microsoft.com/office/drawing/2014/main" id="{8D97B4E3-1B40-54E7-D5CC-023819EFDAB2}"/>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Learning Workflows </a:t>
            </a:r>
            <a:r>
              <a:rPr lang="en-US" sz="2400" dirty="0">
                <a:solidFill>
                  <a:schemeClr val="dk2"/>
                </a:solidFill>
              </a:rPr>
              <a:t>in Creative Planning Tasks</a:t>
            </a:r>
            <a:endParaRPr lang="en-US" sz="2400" dirty="0"/>
          </a:p>
        </p:txBody>
      </p:sp>
      <p:sp>
        <p:nvSpPr>
          <p:cNvPr id="2" name="TextBox 1">
            <a:extLst>
              <a:ext uri="{FF2B5EF4-FFF2-40B4-BE49-F238E27FC236}">
                <a16:creationId xmlns:a16="http://schemas.microsoft.com/office/drawing/2014/main" id="{38553ADA-970D-1B4F-CA1C-0A4B887F3692}"/>
              </a:ext>
            </a:extLst>
          </p:cNvPr>
          <p:cNvSpPr txBox="1"/>
          <p:nvPr/>
        </p:nvSpPr>
        <p:spPr>
          <a:xfrm>
            <a:off x="7100" y="4835723"/>
            <a:ext cx="9133200" cy="307777"/>
          </a:xfrm>
          <a:prstGeom prst="rect">
            <a:avLst/>
          </a:prstGeom>
          <a:solidFill>
            <a:schemeClr val="bg1">
              <a:lumMod val="85000"/>
            </a:schemeClr>
          </a:solidFill>
        </p:spPr>
        <p:txBody>
          <a:bodyPr wrap="square" rtlCol="0">
            <a:spAutoFit/>
          </a:bodyPr>
          <a:lstStyle/>
          <a:p>
            <a:pPr algn="ctr"/>
            <a:r>
              <a:rPr lang="en-US" b="0" i="0" dirty="0">
                <a:solidFill>
                  <a:srgbClr val="222222"/>
                </a:solidFill>
                <a:effectLst/>
                <a:latin typeface="Arial" panose="020B0604020202020204" pitchFamily="34" charset="0"/>
              </a:rPr>
              <a:t>Wang, Zora </a:t>
            </a:r>
            <a:r>
              <a:rPr lang="en-US" b="0" i="0" dirty="0" err="1">
                <a:solidFill>
                  <a:srgbClr val="222222"/>
                </a:solidFill>
                <a:effectLst/>
                <a:latin typeface="Arial" panose="020B0604020202020204" pitchFamily="34" charset="0"/>
              </a:rPr>
              <a:t>Zhiruo</a:t>
            </a:r>
            <a:r>
              <a:rPr lang="en-US" b="0" i="0" dirty="0">
                <a:solidFill>
                  <a:srgbClr val="222222"/>
                </a:solidFill>
                <a:effectLst/>
                <a:latin typeface="Arial" panose="020B0604020202020204" pitchFamily="34" charset="0"/>
              </a:rPr>
              <a:t>, et al. "Agent workflow memory." </a:t>
            </a:r>
            <a:r>
              <a:rPr lang="en-US" b="0" i="1" dirty="0" err="1">
                <a:solidFill>
                  <a:srgbClr val="222222"/>
                </a:solidFill>
                <a:effectLst/>
                <a:latin typeface="Arial" panose="020B0604020202020204" pitchFamily="34" charset="0"/>
              </a:rPr>
              <a:t>arXiv</a:t>
            </a:r>
            <a:r>
              <a:rPr lang="en-US" b="0" i="1" dirty="0">
                <a:solidFill>
                  <a:srgbClr val="222222"/>
                </a:solidFill>
                <a:effectLst/>
                <a:latin typeface="Arial" panose="020B0604020202020204" pitchFamily="34" charset="0"/>
              </a:rPr>
              <a:t> preprint arXiv:2409.07429</a:t>
            </a:r>
            <a:r>
              <a:rPr lang="en-US" b="0" i="0" dirty="0">
                <a:solidFill>
                  <a:srgbClr val="222222"/>
                </a:solidFill>
                <a:effectLst/>
                <a:latin typeface="Arial" panose="020B0604020202020204" pitchFamily="34" charset="0"/>
              </a:rPr>
              <a:t> (2024).</a:t>
            </a:r>
            <a:endParaRPr lang="en-US" dirty="0"/>
          </a:p>
        </p:txBody>
      </p:sp>
      <p:pic>
        <p:nvPicPr>
          <p:cNvPr id="10" name="Picture 9" descr="A diagram of a graph&#10;&#10;AI-generated content may be incorrect.">
            <a:extLst>
              <a:ext uri="{FF2B5EF4-FFF2-40B4-BE49-F238E27FC236}">
                <a16:creationId xmlns:a16="http://schemas.microsoft.com/office/drawing/2014/main" id="{9E2684C3-3033-58C3-C60C-78DF477DECA7}"/>
              </a:ext>
            </a:extLst>
          </p:cNvPr>
          <p:cNvPicPr>
            <a:picLocks noChangeAspect="1"/>
          </p:cNvPicPr>
          <p:nvPr/>
        </p:nvPicPr>
        <p:blipFill>
          <a:blip r:embed="rId2"/>
          <a:stretch>
            <a:fillRect/>
          </a:stretch>
        </p:blipFill>
        <p:spPr>
          <a:xfrm>
            <a:off x="126491" y="1686439"/>
            <a:ext cx="4509519" cy="2394229"/>
          </a:xfrm>
          <a:prstGeom prst="rect">
            <a:avLst/>
          </a:prstGeom>
        </p:spPr>
      </p:pic>
      <p:pic>
        <p:nvPicPr>
          <p:cNvPr id="12" name="Picture 11" descr="A diagram of a memory&#10;&#10;AI-generated content may be incorrect.">
            <a:extLst>
              <a:ext uri="{FF2B5EF4-FFF2-40B4-BE49-F238E27FC236}">
                <a16:creationId xmlns:a16="http://schemas.microsoft.com/office/drawing/2014/main" id="{6E691D59-65E3-204B-CA38-37BA3B769E95}"/>
              </a:ext>
            </a:extLst>
          </p:cNvPr>
          <p:cNvPicPr>
            <a:picLocks noChangeAspect="1"/>
          </p:cNvPicPr>
          <p:nvPr/>
        </p:nvPicPr>
        <p:blipFill>
          <a:blip r:embed="rId3"/>
          <a:stretch>
            <a:fillRect/>
          </a:stretch>
        </p:blipFill>
        <p:spPr>
          <a:xfrm>
            <a:off x="4636010" y="1360514"/>
            <a:ext cx="3621022" cy="2747419"/>
          </a:xfrm>
          <a:prstGeom prst="rect">
            <a:avLst/>
          </a:prstGeom>
        </p:spPr>
      </p:pic>
      <p:cxnSp>
        <p:nvCxnSpPr>
          <p:cNvPr id="15" name="Straight Connector 14">
            <a:extLst>
              <a:ext uri="{FF2B5EF4-FFF2-40B4-BE49-F238E27FC236}">
                <a16:creationId xmlns:a16="http://schemas.microsoft.com/office/drawing/2014/main" id="{C215DA96-F0B0-8F6A-E2E0-8C9AB03EE73D}"/>
              </a:ext>
            </a:extLst>
          </p:cNvPr>
          <p:cNvCxnSpPr>
            <a:cxnSpLocks/>
          </p:cNvCxnSpPr>
          <p:nvPr/>
        </p:nvCxnSpPr>
        <p:spPr>
          <a:xfrm>
            <a:off x="4590288" y="1360514"/>
            <a:ext cx="0" cy="26628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Google Shape;1771;p83">
            <a:extLst>
              <a:ext uri="{FF2B5EF4-FFF2-40B4-BE49-F238E27FC236}">
                <a16:creationId xmlns:a16="http://schemas.microsoft.com/office/drawing/2014/main" id="{DF69E97D-C824-C101-6124-7DAF0D9B7AA9}"/>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9" name="Google Shape;1772;p83">
            <a:extLst>
              <a:ext uri="{FF2B5EF4-FFF2-40B4-BE49-F238E27FC236}">
                <a16:creationId xmlns:a16="http://schemas.microsoft.com/office/drawing/2014/main" id="{2EAF9145-6892-50BF-27A0-8494D1A82631}"/>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1" name="Google Shape;1773;p83">
            <a:extLst>
              <a:ext uri="{FF2B5EF4-FFF2-40B4-BE49-F238E27FC236}">
                <a16:creationId xmlns:a16="http://schemas.microsoft.com/office/drawing/2014/main" id="{69F36772-02BF-561A-BD14-8B585CCF5EB5}"/>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3" name="Google Shape;1774;p83">
            <a:extLst>
              <a:ext uri="{FF2B5EF4-FFF2-40B4-BE49-F238E27FC236}">
                <a16:creationId xmlns:a16="http://schemas.microsoft.com/office/drawing/2014/main" id="{98A594FA-4D3A-3641-11CA-43D9BB5CAC4C}"/>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1348117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C83EA-7D20-C009-B732-BE8E22A78798}"/>
            </a:ext>
          </a:extLst>
        </p:cNvPr>
        <p:cNvGrpSpPr/>
        <p:nvPr/>
      </p:nvGrpSpPr>
      <p:grpSpPr>
        <a:xfrm>
          <a:off x="0" y="0"/>
          <a:ext cx="0" cy="0"/>
          <a:chOff x="0" y="0"/>
          <a:chExt cx="0" cy="0"/>
        </a:xfrm>
      </p:grpSpPr>
      <p:sp>
        <p:nvSpPr>
          <p:cNvPr id="8" name="Google Shape;1836;p85">
            <a:extLst>
              <a:ext uri="{FF2B5EF4-FFF2-40B4-BE49-F238E27FC236}">
                <a16:creationId xmlns:a16="http://schemas.microsoft.com/office/drawing/2014/main" id="{8630F02B-9189-9213-9FD2-865BA082F75B}"/>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fontScale="92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Learning Skills from Explorations in Creative Planning Tasks</a:t>
            </a:r>
            <a:endParaRPr lang="en-US" sz="2400" dirty="0"/>
          </a:p>
        </p:txBody>
      </p:sp>
      <p:pic>
        <p:nvPicPr>
          <p:cNvPr id="84994" name="Picture 2">
            <a:extLst>
              <a:ext uri="{FF2B5EF4-FFF2-40B4-BE49-F238E27FC236}">
                <a16:creationId xmlns:a16="http://schemas.microsoft.com/office/drawing/2014/main" id="{70D61BC1-781E-CC4D-FAB6-D03FF01F7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5786" y="1078284"/>
            <a:ext cx="6341164" cy="35669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911B147-53EC-EC48-7836-3FC0581C0C5A}"/>
              </a:ext>
            </a:extLst>
          </p:cNvPr>
          <p:cNvSpPr txBox="1"/>
          <p:nvPr/>
        </p:nvSpPr>
        <p:spPr>
          <a:xfrm>
            <a:off x="0" y="4645189"/>
            <a:ext cx="9363461" cy="523220"/>
          </a:xfrm>
          <a:prstGeom prst="rect">
            <a:avLst/>
          </a:prstGeom>
          <a:solidFill>
            <a:schemeClr val="bg1">
              <a:lumMod val="85000"/>
            </a:schemeClr>
          </a:solidFill>
        </p:spPr>
        <p:txBody>
          <a:bodyPr wrap="none" rtlCol="0">
            <a:spAutoFit/>
          </a:bodyPr>
          <a:lstStyle/>
          <a:p>
            <a:pPr algn="ctr"/>
            <a:r>
              <a:rPr lang="en-US" b="0" i="0" dirty="0">
                <a:solidFill>
                  <a:srgbClr val="222222"/>
                </a:solidFill>
                <a:effectLst/>
                <a:latin typeface="Arial" panose="020B0604020202020204" pitchFamily="34" charset="0"/>
              </a:rPr>
              <a:t>Wang, Zihao, et al. "Jarvis-1: Open-world multi-task agents with memory-augmented multimodal language models." </a:t>
            </a:r>
          </a:p>
          <a:p>
            <a:pPr algn="ctr"/>
            <a:r>
              <a:rPr lang="en-US" b="0" i="1" dirty="0">
                <a:solidFill>
                  <a:srgbClr val="222222"/>
                </a:solidFill>
                <a:effectLst/>
                <a:latin typeface="Arial" panose="020B0604020202020204" pitchFamily="34" charset="0"/>
              </a:rPr>
              <a:t>IEEE Transactions on Pattern Analysis and Machine Intelligence</a:t>
            </a:r>
            <a:r>
              <a:rPr lang="en-US" b="0" i="0" dirty="0">
                <a:solidFill>
                  <a:srgbClr val="222222"/>
                </a:solidFill>
                <a:effectLst/>
                <a:latin typeface="Arial" panose="020B0604020202020204" pitchFamily="34" charset="0"/>
              </a:rPr>
              <a:t> (2024).</a:t>
            </a:r>
            <a:endParaRPr lang="en-US" dirty="0"/>
          </a:p>
        </p:txBody>
      </p:sp>
      <p:sp>
        <p:nvSpPr>
          <p:cNvPr id="12" name="Google Shape;1771;p83">
            <a:extLst>
              <a:ext uri="{FF2B5EF4-FFF2-40B4-BE49-F238E27FC236}">
                <a16:creationId xmlns:a16="http://schemas.microsoft.com/office/drawing/2014/main" id="{CA470D3D-FB30-689B-9CDA-1BEE397DB45C}"/>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3" name="Google Shape;1772;p83">
            <a:extLst>
              <a:ext uri="{FF2B5EF4-FFF2-40B4-BE49-F238E27FC236}">
                <a16:creationId xmlns:a16="http://schemas.microsoft.com/office/drawing/2014/main" id="{75C7A078-4595-0F8D-54D6-60C68015692B}"/>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4" name="Google Shape;1773;p83">
            <a:extLst>
              <a:ext uri="{FF2B5EF4-FFF2-40B4-BE49-F238E27FC236}">
                <a16:creationId xmlns:a16="http://schemas.microsoft.com/office/drawing/2014/main" id="{F1C1CE31-E9D2-F146-1FD9-5BC106187894}"/>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5" name="Google Shape;1774;p83">
            <a:extLst>
              <a:ext uri="{FF2B5EF4-FFF2-40B4-BE49-F238E27FC236}">
                <a16:creationId xmlns:a16="http://schemas.microsoft.com/office/drawing/2014/main" id="{815CE592-182A-4FE4-8300-1D66EB2AE1D4}"/>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735659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BAAAF-3606-0939-1AF7-5B13BD3A2D80}"/>
            </a:ext>
          </a:extLst>
        </p:cNvPr>
        <p:cNvGrpSpPr/>
        <p:nvPr/>
      </p:nvGrpSpPr>
      <p:grpSpPr>
        <a:xfrm>
          <a:off x="0" y="0"/>
          <a:ext cx="0" cy="0"/>
          <a:chOff x="0" y="0"/>
          <a:chExt cx="0" cy="0"/>
        </a:xfrm>
      </p:grpSpPr>
      <p:sp>
        <p:nvSpPr>
          <p:cNvPr id="8" name="Google Shape;1836;p85">
            <a:extLst>
              <a:ext uri="{FF2B5EF4-FFF2-40B4-BE49-F238E27FC236}">
                <a16:creationId xmlns:a16="http://schemas.microsoft.com/office/drawing/2014/main" id="{6B4EA827-2D11-E535-E96F-F1698E51F23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Research Questions of self-exploration</a:t>
            </a:r>
            <a:endParaRPr lang="en-US" sz="2400" dirty="0"/>
          </a:p>
        </p:txBody>
      </p:sp>
      <p:sp>
        <p:nvSpPr>
          <p:cNvPr id="12" name="Google Shape;1771;p83">
            <a:extLst>
              <a:ext uri="{FF2B5EF4-FFF2-40B4-BE49-F238E27FC236}">
                <a16:creationId xmlns:a16="http://schemas.microsoft.com/office/drawing/2014/main" id="{BEF78BFD-D2D6-04B3-E4EB-745BC770BF20}"/>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3" name="Google Shape;1772;p83">
            <a:extLst>
              <a:ext uri="{FF2B5EF4-FFF2-40B4-BE49-F238E27FC236}">
                <a16:creationId xmlns:a16="http://schemas.microsoft.com/office/drawing/2014/main" id="{E5127613-8420-7C62-6DD5-1FDC1595005E}"/>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4" name="Google Shape;1773;p83">
            <a:extLst>
              <a:ext uri="{FF2B5EF4-FFF2-40B4-BE49-F238E27FC236}">
                <a16:creationId xmlns:a16="http://schemas.microsoft.com/office/drawing/2014/main" id="{F58DF2D0-85CC-94E8-9174-6E0B86911029}"/>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5" name="Google Shape;1774;p83">
            <a:extLst>
              <a:ext uri="{FF2B5EF4-FFF2-40B4-BE49-F238E27FC236}">
                <a16:creationId xmlns:a16="http://schemas.microsoft.com/office/drawing/2014/main" id="{7BD70BA6-DA01-8607-F7D1-7E14F2A1C8BD}"/>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
        <p:nvSpPr>
          <p:cNvPr id="3" name="TextBox 2">
            <a:extLst>
              <a:ext uri="{FF2B5EF4-FFF2-40B4-BE49-F238E27FC236}">
                <a16:creationId xmlns:a16="http://schemas.microsoft.com/office/drawing/2014/main" id="{F820954E-289C-D851-CAF7-A2DF8CAE3E19}"/>
              </a:ext>
            </a:extLst>
          </p:cNvPr>
          <p:cNvSpPr txBox="1"/>
          <p:nvPr/>
        </p:nvSpPr>
        <p:spPr>
          <a:xfrm>
            <a:off x="443345" y="1330036"/>
            <a:ext cx="7287491"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t>Strategic vs. Random exploration</a:t>
            </a:r>
          </a:p>
          <a:p>
            <a:pPr marL="285750" indent="-285750">
              <a:buFont typeface="Arial" panose="020B0604020202020204" pitchFamily="34" charset="0"/>
              <a:buChar char="•"/>
            </a:pPr>
            <a:r>
              <a:rPr lang="en-US" sz="2000" dirty="0"/>
              <a:t>Transfer from high-data to low-data regime</a:t>
            </a:r>
          </a:p>
        </p:txBody>
      </p:sp>
    </p:spTree>
    <p:extLst>
      <p:ext uri="{BB962C8B-B14F-4D97-AF65-F5344CB8AC3E}">
        <p14:creationId xmlns:p14="http://schemas.microsoft.com/office/powerpoint/2010/main" val="2038000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48CC-1652-F2AE-8E85-88404EE956B2}"/>
            </a:ext>
          </a:extLst>
        </p:cNvPr>
        <p:cNvGrpSpPr/>
        <p:nvPr/>
      </p:nvGrpSpPr>
      <p:grpSpPr>
        <a:xfrm>
          <a:off x="0" y="0"/>
          <a:ext cx="0" cy="0"/>
          <a:chOff x="0" y="0"/>
          <a:chExt cx="0" cy="0"/>
        </a:xfrm>
      </p:grpSpPr>
      <p:sp>
        <p:nvSpPr>
          <p:cNvPr id="8" name="Google Shape;1836;p85">
            <a:extLst>
              <a:ext uri="{FF2B5EF4-FFF2-40B4-BE49-F238E27FC236}">
                <a16:creationId xmlns:a16="http://schemas.microsoft.com/office/drawing/2014/main" id="{F5739529-20A5-5B11-A3B8-FA48FF5EC97D}"/>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Transfer from high-data to low-data regime</a:t>
            </a:r>
          </a:p>
        </p:txBody>
      </p:sp>
      <p:sp>
        <p:nvSpPr>
          <p:cNvPr id="12" name="Google Shape;1771;p83">
            <a:extLst>
              <a:ext uri="{FF2B5EF4-FFF2-40B4-BE49-F238E27FC236}">
                <a16:creationId xmlns:a16="http://schemas.microsoft.com/office/drawing/2014/main" id="{5BCD5E50-0D97-DDEF-EE47-9AF436D2B088}"/>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13" name="Google Shape;1772;p83">
            <a:extLst>
              <a:ext uri="{FF2B5EF4-FFF2-40B4-BE49-F238E27FC236}">
                <a16:creationId xmlns:a16="http://schemas.microsoft.com/office/drawing/2014/main" id="{9DED4BEF-D29B-D18A-C3C6-A77FA2B13F57}"/>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4" name="Google Shape;1773;p83">
            <a:extLst>
              <a:ext uri="{FF2B5EF4-FFF2-40B4-BE49-F238E27FC236}">
                <a16:creationId xmlns:a16="http://schemas.microsoft.com/office/drawing/2014/main" id="{CAB20BC6-2DD5-B777-4F7F-C839E15A96F7}"/>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5" name="Google Shape;1774;p83">
            <a:extLst>
              <a:ext uri="{FF2B5EF4-FFF2-40B4-BE49-F238E27FC236}">
                <a16:creationId xmlns:a16="http://schemas.microsoft.com/office/drawing/2014/main" id="{11410233-058F-A0C7-09C1-9E63210E4B55}"/>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pic>
        <p:nvPicPr>
          <p:cNvPr id="5" name="Picture 4" descr="A screenshot of a computer screen&#10;&#10;AI-generated content may be incorrect.">
            <a:extLst>
              <a:ext uri="{FF2B5EF4-FFF2-40B4-BE49-F238E27FC236}">
                <a16:creationId xmlns:a16="http://schemas.microsoft.com/office/drawing/2014/main" id="{9B967660-C0E4-6B3E-4C79-1822E51FE55C}"/>
              </a:ext>
            </a:extLst>
          </p:cNvPr>
          <p:cNvPicPr>
            <a:picLocks noChangeAspect="1"/>
          </p:cNvPicPr>
          <p:nvPr/>
        </p:nvPicPr>
        <p:blipFill>
          <a:blip r:embed="rId2"/>
          <a:stretch>
            <a:fillRect/>
          </a:stretch>
        </p:blipFill>
        <p:spPr>
          <a:xfrm>
            <a:off x="1325879" y="932302"/>
            <a:ext cx="6587965" cy="3765506"/>
          </a:xfrm>
          <a:prstGeom prst="rect">
            <a:avLst/>
          </a:prstGeom>
        </p:spPr>
      </p:pic>
      <p:sp>
        <p:nvSpPr>
          <p:cNvPr id="2" name="TextBox 1">
            <a:extLst>
              <a:ext uri="{FF2B5EF4-FFF2-40B4-BE49-F238E27FC236}">
                <a16:creationId xmlns:a16="http://schemas.microsoft.com/office/drawing/2014/main" id="{F8B75EB9-5A60-55BA-EE9C-787AE82A6847}"/>
              </a:ext>
            </a:extLst>
          </p:cNvPr>
          <p:cNvSpPr txBox="1"/>
          <p:nvPr/>
        </p:nvSpPr>
        <p:spPr>
          <a:xfrm>
            <a:off x="0" y="4698475"/>
            <a:ext cx="9435225" cy="461665"/>
          </a:xfrm>
          <a:prstGeom prst="rect">
            <a:avLst/>
          </a:prstGeom>
          <a:solidFill>
            <a:schemeClr val="bg1">
              <a:lumMod val="75000"/>
            </a:schemeClr>
          </a:solidFill>
        </p:spPr>
        <p:txBody>
          <a:bodyPr wrap="square" rtlCol="0">
            <a:spAutoFit/>
          </a:bodyPr>
          <a:lstStyle/>
          <a:p>
            <a:pPr algn="ctr"/>
            <a:r>
              <a:rPr lang="en-US" sz="1200" b="0" i="0" dirty="0">
                <a:solidFill>
                  <a:srgbClr val="222222"/>
                </a:solidFill>
                <a:effectLst/>
                <a:latin typeface="Arial" panose="020B0604020202020204" pitchFamily="34" charset="0"/>
              </a:rPr>
              <a:t>Xu X, Mei J, Li C, et al. MM-</a:t>
            </a:r>
            <a:r>
              <a:rPr lang="en-US" sz="1200" b="0" i="0" dirty="0" err="1">
                <a:solidFill>
                  <a:srgbClr val="222222"/>
                </a:solidFill>
                <a:effectLst/>
                <a:latin typeface="Arial" panose="020B0604020202020204" pitchFamily="34" charset="0"/>
              </a:rPr>
              <a:t>StoryAgent</a:t>
            </a:r>
            <a:r>
              <a:rPr lang="en-US" sz="1200" b="0" i="0" dirty="0">
                <a:solidFill>
                  <a:srgbClr val="222222"/>
                </a:solidFill>
                <a:effectLst/>
                <a:latin typeface="Arial" panose="020B0604020202020204" pitchFamily="34" charset="0"/>
              </a:rPr>
              <a:t>: Immersive Narrated Storybook Video Generation with a Multi-Agent </a:t>
            </a:r>
          </a:p>
          <a:p>
            <a:pPr algn="ctr"/>
            <a:r>
              <a:rPr lang="en-US" sz="1200" b="0" i="0" dirty="0">
                <a:solidFill>
                  <a:srgbClr val="222222"/>
                </a:solidFill>
                <a:effectLst/>
                <a:latin typeface="Arial" panose="020B0604020202020204" pitchFamily="34" charset="0"/>
              </a:rPr>
              <a:t>Paradigm across Text, Image and Audio[J]. </a:t>
            </a:r>
            <a:r>
              <a:rPr lang="en-US" sz="1200" b="0" i="0" dirty="0" err="1">
                <a:solidFill>
                  <a:srgbClr val="222222"/>
                </a:solidFill>
                <a:effectLst/>
                <a:latin typeface="Arial" panose="020B0604020202020204" pitchFamily="34" charset="0"/>
              </a:rPr>
              <a:t>arXiv</a:t>
            </a:r>
            <a:r>
              <a:rPr lang="en-US" sz="1200" b="0" i="0" dirty="0">
                <a:solidFill>
                  <a:srgbClr val="222222"/>
                </a:solidFill>
                <a:effectLst/>
                <a:latin typeface="Arial" panose="020B0604020202020204" pitchFamily="34" charset="0"/>
              </a:rPr>
              <a:t> preprint arXiv:2503.05242, 2025.</a:t>
            </a:r>
            <a:endParaRPr lang="en-US" sz="1200" dirty="0"/>
          </a:p>
        </p:txBody>
      </p:sp>
      <p:sp>
        <p:nvSpPr>
          <p:cNvPr id="4" name="Rectangle 3">
            <a:extLst>
              <a:ext uri="{FF2B5EF4-FFF2-40B4-BE49-F238E27FC236}">
                <a16:creationId xmlns:a16="http://schemas.microsoft.com/office/drawing/2014/main" id="{895ED50D-3784-3157-CBF4-1133DE372BAC}"/>
              </a:ext>
            </a:extLst>
          </p:cNvPr>
          <p:cNvSpPr/>
          <p:nvPr/>
        </p:nvSpPr>
        <p:spPr>
          <a:xfrm>
            <a:off x="1490472" y="1017725"/>
            <a:ext cx="1371600" cy="91165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0122A00-F947-5FB5-5F74-7482566F2689}"/>
              </a:ext>
            </a:extLst>
          </p:cNvPr>
          <p:cNvSpPr/>
          <p:nvPr/>
        </p:nvSpPr>
        <p:spPr>
          <a:xfrm>
            <a:off x="2936962" y="1049172"/>
            <a:ext cx="3427262" cy="91165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36035F2-1C6D-8F19-25AD-00862F64AB39}"/>
              </a:ext>
            </a:extLst>
          </p:cNvPr>
          <p:cNvSpPr/>
          <p:nvPr/>
        </p:nvSpPr>
        <p:spPr>
          <a:xfrm>
            <a:off x="6446521" y="1275725"/>
            <a:ext cx="1371600" cy="342208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01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97B3-18C5-7253-D3BE-F44D73C07A60}"/>
            </a:ext>
          </a:extLst>
        </p:cNvPr>
        <p:cNvGrpSpPr/>
        <p:nvPr/>
      </p:nvGrpSpPr>
      <p:grpSpPr>
        <a:xfrm>
          <a:off x="0" y="0"/>
          <a:ext cx="0" cy="0"/>
          <a:chOff x="0" y="0"/>
          <a:chExt cx="0" cy="0"/>
        </a:xfrm>
      </p:grpSpPr>
      <p:sp>
        <p:nvSpPr>
          <p:cNvPr id="3" name="Google Shape;1836;p85">
            <a:extLst>
              <a:ext uri="{FF2B5EF4-FFF2-40B4-BE49-F238E27FC236}">
                <a16:creationId xmlns:a16="http://schemas.microsoft.com/office/drawing/2014/main" id="{24839CD1-F712-610F-4B47-384236B75D7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Path-Finding – Overview and Background</a:t>
            </a:r>
            <a:endParaRPr lang="en-US" sz="2400" dirty="0"/>
          </a:p>
        </p:txBody>
      </p:sp>
      <p:sp>
        <p:nvSpPr>
          <p:cNvPr id="4" name="TextBox 3">
            <a:extLst>
              <a:ext uri="{FF2B5EF4-FFF2-40B4-BE49-F238E27FC236}">
                <a16:creationId xmlns:a16="http://schemas.microsoft.com/office/drawing/2014/main" id="{3AFE698D-81AD-27A8-A846-21FD00982612}"/>
              </a:ext>
            </a:extLst>
          </p:cNvPr>
          <p:cNvSpPr txBox="1"/>
          <p:nvPr/>
        </p:nvSpPr>
        <p:spPr>
          <a:xfrm>
            <a:off x="443345" y="1330036"/>
            <a:ext cx="7287491" cy="1631216"/>
          </a:xfrm>
          <a:prstGeom prst="rect">
            <a:avLst/>
          </a:prstGeom>
          <a:noFill/>
        </p:spPr>
        <p:txBody>
          <a:bodyPr wrap="square" rtlCol="0">
            <a:spAutoFit/>
          </a:bodyPr>
          <a:lstStyle/>
          <a:p>
            <a:pPr marL="285750" lvl="8" indent="-285750">
              <a:buFont typeface="Arial" panose="020B0604020202020204" pitchFamily="34" charset="0"/>
              <a:buChar char="•"/>
            </a:pPr>
            <a:r>
              <a:rPr lang="en-US" sz="2000" dirty="0"/>
              <a:t>Search </a:t>
            </a:r>
          </a:p>
          <a:p>
            <a:pPr marL="285750" lvl="8" indent="-285750">
              <a:buFont typeface="Arial" panose="020B0604020202020204" pitchFamily="34" charset="0"/>
              <a:buChar char="•"/>
            </a:pPr>
            <a:r>
              <a:rPr lang="en-US" sz="2000" b="1" dirty="0"/>
              <a:t>Hierarchical Planning</a:t>
            </a:r>
          </a:p>
          <a:p>
            <a:pPr marL="285750" lvl="8" indent="-285750">
              <a:buFont typeface="Arial" panose="020B0604020202020204" pitchFamily="34" charset="0"/>
              <a:buChar char="•"/>
            </a:pPr>
            <a:r>
              <a:rPr lang="en-US" sz="2000" dirty="0"/>
              <a:t>Constraint-following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
        <p:nvSpPr>
          <p:cNvPr id="5" name="Google Shape;1771;p83">
            <a:extLst>
              <a:ext uri="{FF2B5EF4-FFF2-40B4-BE49-F238E27FC236}">
                <a16:creationId xmlns:a16="http://schemas.microsoft.com/office/drawing/2014/main" id="{096DBF2C-8BBD-3F2D-4227-EE65072ECC28}"/>
              </a:ext>
            </a:extLst>
          </p:cNvPr>
          <p:cNvSpPr/>
          <p:nvPr/>
        </p:nvSpPr>
        <p:spPr>
          <a:xfrm>
            <a:off x="7100" y="203566"/>
            <a:ext cx="2966700" cy="18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Search</a:t>
            </a:r>
            <a:endParaRPr sz="700" b="1" dirty="0"/>
          </a:p>
        </p:txBody>
      </p:sp>
      <p:sp>
        <p:nvSpPr>
          <p:cNvPr id="6" name="Google Shape;1772;p83">
            <a:extLst>
              <a:ext uri="{FF2B5EF4-FFF2-40B4-BE49-F238E27FC236}">
                <a16:creationId xmlns:a16="http://schemas.microsoft.com/office/drawing/2014/main" id="{A9FCD258-1042-F2B3-CD94-33E17281B0EF}"/>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7" name="Google Shape;1773;p83">
            <a:extLst>
              <a:ext uri="{FF2B5EF4-FFF2-40B4-BE49-F238E27FC236}">
                <a16:creationId xmlns:a16="http://schemas.microsoft.com/office/drawing/2014/main" id="{86DB0899-FC53-3608-6E87-68AF76C9D1C2}"/>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8" name="Google Shape;1774;p83">
            <a:extLst>
              <a:ext uri="{FF2B5EF4-FFF2-40B4-BE49-F238E27FC236}">
                <a16:creationId xmlns:a16="http://schemas.microsoft.com/office/drawing/2014/main" id="{C1D21C7C-7BE6-B45E-6A06-C5A71043CBF4}"/>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Hierarchical Planning</a:t>
            </a:r>
            <a:endParaRPr sz="700" dirty="0"/>
          </a:p>
        </p:txBody>
      </p:sp>
    </p:spTree>
    <p:extLst>
      <p:ext uri="{BB962C8B-B14F-4D97-AF65-F5344CB8AC3E}">
        <p14:creationId xmlns:p14="http://schemas.microsoft.com/office/powerpoint/2010/main" val="64024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836;p85">
            <a:extLst>
              <a:ext uri="{FF2B5EF4-FFF2-40B4-BE49-F238E27FC236}">
                <a16:creationId xmlns:a16="http://schemas.microsoft.com/office/drawing/2014/main" id="{E3FA8BDC-49D0-3D3A-291B-9D425E3AF8D4}"/>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Hierarchical Planning</a:t>
            </a:r>
            <a:endParaRPr lang="en-US" sz="2400" dirty="0"/>
          </a:p>
        </p:txBody>
      </p:sp>
      <p:sp>
        <p:nvSpPr>
          <p:cNvPr id="10" name="TextBox 9">
            <a:extLst>
              <a:ext uri="{FF2B5EF4-FFF2-40B4-BE49-F238E27FC236}">
                <a16:creationId xmlns:a16="http://schemas.microsoft.com/office/drawing/2014/main" id="{FB0E5546-44EF-DA6E-219A-AB3396684A63}"/>
              </a:ext>
            </a:extLst>
          </p:cNvPr>
          <p:cNvSpPr txBox="1"/>
          <p:nvPr/>
        </p:nvSpPr>
        <p:spPr>
          <a:xfrm>
            <a:off x="443345" y="1330036"/>
            <a:ext cx="7287491"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t>Motivation</a:t>
            </a:r>
          </a:p>
          <a:p>
            <a:pPr marL="285750" lvl="8" indent="-285750">
              <a:buFont typeface="Arial" panose="020B0604020202020204" pitchFamily="34" charset="0"/>
              <a:buChar char="•"/>
            </a:pPr>
            <a:r>
              <a:rPr lang="en-US" sz="1600" b="1" dirty="0"/>
              <a:t>Long-horizon generation pain-points. </a:t>
            </a:r>
            <a:r>
              <a:rPr lang="en-US" sz="1600" dirty="0"/>
              <a:t>Vanilla left-to-right models drift, repeat and lose global coherence after ~3–4 sentences.</a:t>
            </a:r>
          </a:p>
          <a:p>
            <a:pPr marL="285750" lvl="8" indent="-285750">
              <a:buFont typeface="Arial" panose="020B0604020202020204" pitchFamily="34" charset="0"/>
              <a:buChar char="•"/>
            </a:pPr>
            <a:r>
              <a:rPr lang="en-US" sz="1600" b="1" dirty="0"/>
              <a:t>Solution pattern. </a:t>
            </a:r>
          </a:p>
          <a:p>
            <a:pPr marL="285750" lvl="8" indent="-285750">
              <a:buFont typeface="Arial" panose="020B0604020202020204" pitchFamily="34" charset="0"/>
              <a:buChar char="•"/>
            </a:pPr>
            <a:r>
              <a:rPr lang="en-US" sz="1600" dirty="0"/>
              <a:t>Decompose what to say (high-level plan) from how to say it (surface realization).</a:t>
            </a:r>
          </a:p>
          <a:p>
            <a:pPr marL="285750" lvl="8" indent="-285750">
              <a:buFont typeface="Arial" panose="020B0604020202020204" pitchFamily="34" charset="0"/>
              <a:buChar char="•"/>
            </a:pPr>
            <a:r>
              <a:rPr lang="en-US" sz="1600" dirty="0"/>
              <a:t>Planning ≈ selecting latent or explicit structure (keywords, sections, latent codes).</a:t>
            </a:r>
          </a:p>
          <a:p>
            <a:pPr marL="285750" lvl="8" indent="-285750">
              <a:buFont typeface="Arial" panose="020B0604020202020204" pitchFamily="34" charset="0"/>
              <a:buChar char="•"/>
            </a:pPr>
            <a:r>
              <a:rPr lang="en-US" sz="1600" dirty="0"/>
              <a:t>Realization = conditioned language model generation</a:t>
            </a:r>
          </a:p>
          <a:p>
            <a:pPr marL="285750" lvl="8" indent="-285750">
              <a:buFont typeface="Arial" panose="020B0604020202020204" pitchFamily="34" charset="0"/>
              <a:buChar char="•"/>
            </a:pPr>
            <a:r>
              <a:rPr lang="en-US" sz="1600" b="1" dirty="0"/>
              <a:t>Benefits.</a:t>
            </a:r>
            <a:r>
              <a:rPr lang="en-US" sz="1600" dirty="0"/>
              <a:t> Better topicality, diversity, and </a:t>
            </a:r>
            <a:r>
              <a:rPr lang="en-US" sz="1600" b="1" dirty="0"/>
              <a:t>controllability</a:t>
            </a:r>
            <a:endParaRPr lang="en-US" sz="1600" dirty="0"/>
          </a:p>
        </p:txBody>
      </p:sp>
      <p:sp>
        <p:nvSpPr>
          <p:cNvPr id="12" name="Google Shape;1771;p83">
            <a:extLst>
              <a:ext uri="{FF2B5EF4-FFF2-40B4-BE49-F238E27FC236}">
                <a16:creationId xmlns:a16="http://schemas.microsoft.com/office/drawing/2014/main" id="{58C18390-B084-588B-2444-BA173AD18926}"/>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3" name="Google Shape;1772;p83">
            <a:extLst>
              <a:ext uri="{FF2B5EF4-FFF2-40B4-BE49-F238E27FC236}">
                <a16:creationId xmlns:a16="http://schemas.microsoft.com/office/drawing/2014/main" id="{54FAAA7D-3B08-553A-332C-43ABD691B6FE}"/>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4" name="Google Shape;1773;p83">
            <a:extLst>
              <a:ext uri="{FF2B5EF4-FFF2-40B4-BE49-F238E27FC236}">
                <a16:creationId xmlns:a16="http://schemas.microsoft.com/office/drawing/2014/main" id="{19F8A9AB-7740-22E5-1F36-4709504C1538}"/>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5" name="Google Shape;1774;p83">
            <a:extLst>
              <a:ext uri="{FF2B5EF4-FFF2-40B4-BE49-F238E27FC236}">
                <a16:creationId xmlns:a16="http://schemas.microsoft.com/office/drawing/2014/main" id="{683F750C-BA9F-D22D-C45B-003AB5401186}"/>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6335593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836;p85">
            <a:extLst>
              <a:ext uri="{FF2B5EF4-FFF2-40B4-BE49-F238E27FC236}">
                <a16:creationId xmlns:a16="http://schemas.microsoft.com/office/drawing/2014/main" id="{2AC0651C-087F-05C6-4EBF-A7ED5BA37025}"/>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Hierarchical Planning</a:t>
            </a:r>
            <a:endParaRPr lang="en-US" sz="2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8E67CA2-033E-E67F-449D-3FDEC0CEC710}"/>
                  </a:ext>
                </a:extLst>
              </p:cNvPr>
              <p:cNvSpPr txBox="1"/>
              <p:nvPr/>
            </p:nvSpPr>
            <p:spPr>
              <a:xfrm>
                <a:off x="443345" y="1330036"/>
                <a:ext cx="7287491" cy="1569660"/>
              </a:xfrm>
              <a:prstGeom prst="rect">
                <a:avLst/>
              </a:prstGeom>
              <a:noFill/>
            </p:spPr>
            <p:txBody>
              <a:bodyPr wrap="square" rtlCol="0">
                <a:spAutoFit/>
              </a:bodyPr>
              <a:lstStyle/>
              <a:p>
                <a:pPr marL="285750" indent="-285750">
                  <a:buFont typeface="Arial" panose="020B0604020202020204" pitchFamily="34" charset="0"/>
                  <a:buChar char="•"/>
                </a:pPr>
                <a:r>
                  <a:rPr lang="en-US" sz="1600" b="1" u="sng" dirty="0"/>
                  <a:t>Decompose-then-solve</a:t>
                </a:r>
              </a:p>
              <a:p>
                <a:pPr marL="285750" lvl="8" indent="-285750">
                  <a:buFont typeface="Arial" panose="020B0604020202020204" pitchFamily="34" charset="0"/>
                  <a:buChar char="•"/>
                </a:pPr>
                <a:r>
                  <a:rPr lang="en-US" sz="1600" dirty="0"/>
                  <a:t>Planner maps a hard goal </a:t>
                </a:r>
                <a14:m>
                  <m:oMath xmlns:m="http://schemas.openxmlformats.org/officeDocument/2006/math">
                    <m:r>
                      <a:rPr lang="en-US" sz="1600" i="1" dirty="0" smtClean="0">
                        <a:latin typeface="Cambria Math" panose="02040503050406030204" pitchFamily="18" charset="0"/>
                      </a:rPr>
                      <m:t>𝐺</m:t>
                    </m:r>
                  </m:oMath>
                </a14:m>
                <a:r>
                  <a:rPr lang="en-US" sz="1600" dirty="0"/>
                  <a:t> into simpler sub-goals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₁…</m:t>
                    </m:r>
                    <m:r>
                      <a:rPr lang="en-US" sz="1600" i="1" dirty="0" smtClean="0">
                        <a:latin typeface="Cambria Math" panose="02040503050406030204" pitchFamily="18" charset="0"/>
                      </a:rPr>
                      <m:t>𝑔</m:t>
                    </m:r>
                    <m:r>
                      <a:rPr lang="en-US" sz="1600" i="1" dirty="0" smtClean="0">
                        <a:latin typeface="Cambria Math" panose="02040503050406030204" pitchFamily="18" charset="0"/>
                      </a:rPr>
                      <m:t>ₖ </m:t>
                    </m:r>
                  </m:oMath>
                </a14:m>
                <a:r>
                  <a:rPr lang="en-US" sz="1600" dirty="0"/>
                  <a:t>(outline, sub-queries, sub-tasks…).</a:t>
                </a:r>
              </a:p>
              <a:p>
                <a:pPr marL="285750" indent="-285750">
                  <a:buFont typeface="Arial" panose="020B0604020202020204" pitchFamily="34" charset="0"/>
                  <a:buChar char="•"/>
                </a:pPr>
                <a:r>
                  <a:rPr lang="en-US" sz="1600" dirty="0"/>
                  <a:t>Executor(s) solve each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ᵢ</m:t>
                    </m:r>
                  </m:oMath>
                </a14:m>
                <a:r>
                  <a:rPr lang="en-US" sz="1600" dirty="0"/>
                  <a:t> and compose their outputs to finish </a:t>
                </a:r>
                <a14:m>
                  <m:oMath xmlns:m="http://schemas.openxmlformats.org/officeDocument/2006/math">
                    <m:r>
                      <a:rPr lang="en-US" sz="1600" i="1" dirty="0" smtClean="0">
                        <a:latin typeface="Cambria Math" panose="02040503050406030204" pitchFamily="18" charset="0"/>
                      </a:rPr>
                      <m:t>𝐺</m:t>
                    </m:r>
                  </m:oMath>
                </a14:m>
                <a:r>
                  <a:rPr lang="en-US" sz="1600" dirty="0"/>
                  <a:t>.</a:t>
                </a:r>
              </a:p>
              <a:p>
                <a:pPr marL="285750" indent="-285750">
                  <a:buFont typeface="Arial" panose="020B0604020202020204" pitchFamily="34" charset="0"/>
                  <a:buChar char="•"/>
                </a:pPr>
                <a:r>
                  <a:rPr lang="en-US" sz="1600" b="1" dirty="0"/>
                  <a:t>how the same abstract pattern instantiates in very different tasks</a:t>
                </a:r>
                <a:r>
                  <a:rPr lang="en-US" sz="1600" dirty="0"/>
                  <a:t>.</a:t>
                </a:r>
              </a:p>
              <a:p>
                <a:pPr marL="285750" indent="-285750">
                  <a:buFont typeface="Arial" panose="020B0604020202020204" pitchFamily="34" charset="0"/>
                  <a:buChar char="•"/>
                </a:pPr>
                <a:endParaRPr lang="en-US" sz="1600" dirty="0"/>
              </a:p>
            </p:txBody>
          </p:sp>
        </mc:Choice>
        <mc:Fallback xmlns="">
          <p:sp>
            <p:nvSpPr>
              <p:cNvPr id="4" name="TextBox 3">
                <a:extLst>
                  <a:ext uri="{FF2B5EF4-FFF2-40B4-BE49-F238E27FC236}">
                    <a16:creationId xmlns:a16="http://schemas.microsoft.com/office/drawing/2014/main" id="{88E67CA2-033E-E67F-449D-3FDEC0CEC710}"/>
                  </a:ext>
                </a:extLst>
              </p:cNvPr>
              <p:cNvSpPr txBox="1">
                <a:spLocks noRot="1" noChangeAspect="1" noMove="1" noResize="1" noEditPoints="1" noAdjustHandles="1" noChangeArrowheads="1" noChangeShapeType="1" noTextEdit="1"/>
              </p:cNvSpPr>
              <p:nvPr/>
            </p:nvSpPr>
            <p:spPr>
              <a:xfrm>
                <a:off x="443345" y="1330036"/>
                <a:ext cx="7287491" cy="1569660"/>
              </a:xfrm>
              <a:prstGeom prst="rect">
                <a:avLst/>
              </a:prstGeom>
              <a:blipFill>
                <a:blip r:embed="rId2"/>
                <a:stretch>
                  <a:fillRect l="-523" t="-800"/>
                </a:stretch>
              </a:blipFill>
            </p:spPr>
            <p:txBody>
              <a:bodyPr/>
              <a:lstStyle/>
              <a:p>
                <a:r>
                  <a:rPr lang="en-US">
                    <a:noFill/>
                  </a:rPr>
                  <a:t> </a:t>
                </a:r>
              </a:p>
            </p:txBody>
          </p:sp>
        </mc:Fallback>
      </mc:AlternateContent>
      <p:sp>
        <p:nvSpPr>
          <p:cNvPr id="8" name="Google Shape;1771;p83">
            <a:extLst>
              <a:ext uri="{FF2B5EF4-FFF2-40B4-BE49-F238E27FC236}">
                <a16:creationId xmlns:a16="http://schemas.microsoft.com/office/drawing/2014/main" id="{D63F650A-DBA3-2B26-DE97-63BC7163C20C}"/>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3" name="Google Shape;1772;p83">
            <a:extLst>
              <a:ext uri="{FF2B5EF4-FFF2-40B4-BE49-F238E27FC236}">
                <a16:creationId xmlns:a16="http://schemas.microsoft.com/office/drawing/2014/main" id="{A1FF2F7A-68AA-08E3-AC81-9839E40E77DD}"/>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4" name="Google Shape;1773;p83">
            <a:extLst>
              <a:ext uri="{FF2B5EF4-FFF2-40B4-BE49-F238E27FC236}">
                <a16:creationId xmlns:a16="http://schemas.microsoft.com/office/drawing/2014/main" id="{DA52CB75-54CA-B288-FA10-040AF93F70A9}"/>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5" name="Google Shape;1774;p83">
            <a:extLst>
              <a:ext uri="{FF2B5EF4-FFF2-40B4-BE49-F238E27FC236}">
                <a16:creationId xmlns:a16="http://schemas.microsoft.com/office/drawing/2014/main" id="{458EAB50-73FD-D0BC-7F1D-25CCBD5AA530}"/>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773310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836;p85">
            <a:extLst>
              <a:ext uri="{FF2B5EF4-FFF2-40B4-BE49-F238E27FC236}">
                <a16:creationId xmlns:a16="http://schemas.microsoft.com/office/drawing/2014/main" id="{80C4757C-3C60-0AEA-DDF5-E6B66846B211}"/>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Examples of Decompose-and-solve in Reasoning Tasks</a:t>
            </a:r>
            <a:endParaRPr lang="en-US" sz="2400" dirty="0"/>
          </a:p>
        </p:txBody>
      </p:sp>
      <p:pic>
        <p:nvPicPr>
          <p:cNvPr id="9" name="Picture 8" descr="A screenshot of a computer&#10;&#10;AI-generated content may be incorrect.">
            <a:extLst>
              <a:ext uri="{FF2B5EF4-FFF2-40B4-BE49-F238E27FC236}">
                <a16:creationId xmlns:a16="http://schemas.microsoft.com/office/drawing/2014/main" id="{9F5527DB-E06E-E433-6CA5-F03D5FA2CEC1}"/>
              </a:ext>
            </a:extLst>
          </p:cNvPr>
          <p:cNvPicPr>
            <a:picLocks noChangeAspect="1"/>
          </p:cNvPicPr>
          <p:nvPr/>
        </p:nvPicPr>
        <p:blipFill>
          <a:blip r:embed="rId2"/>
          <a:stretch>
            <a:fillRect/>
          </a:stretch>
        </p:blipFill>
        <p:spPr>
          <a:xfrm>
            <a:off x="311700" y="1360968"/>
            <a:ext cx="2829564" cy="2768713"/>
          </a:xfrm>
          <a:prstGeom prst="rect">
            <a:avLst/>
          </a:prstGeom>
        </p:spPr>
      </p:pic>
      <p:sp>
        <p:nvSpPr>
          <p:cNvPr id="10" name="TextBox 9">
            <a:extLst>
              <a:ext uri="{FF2B5EF4-FFF2-40B4-BE49-F238E27FC236}">
                <a16:creationId xmlns:a16="http://schemas.microsoft.com/office/drawing/2014/main" id="{A218BBC9-4473-951C-567B-C43AD67D6F07}"/>
              </a:ext>
            </a:extLst>
          </p:cNvPr>
          <p:cNvSpPr txBox="1"/>
          <p:nvPr/>
        </p:nvSpPr>
        <p:spPr>
          <a:xfrm>
            <a:off x="903884" y="4165147"/>
            <a:ext cx="1627369" cy="307777"/>
          </a:xfrm>
          <a:prstGeom prst="rect">
            <a:avLst/>
          </a:prstGeom>
          <a:noFill/>
        </p:spPr>
        <p:txBody>
          <a:bodyPr wrap="none" rtlCol="0">
            <a:spAutoFit/>
          </a:bodyPr>
          <a:lstStyle/>
          <a:p>
            <a:r>
              <a:rPr lang="en-US" dirty="0"/>
              <a:t>Press, et. al. 2023</a:t>
            </a:r>
          </a:p>
        </p:txBody>
      </p:sp>
      <p:cxnSp>
        <p:nvCxnSpPr>
          <p:cNvPr id="12" name="Straight Connector 11">
            <a:extLst>
              <a:ext uri="{FF2B5EF4-FFF2-40B4-BE49-F238E27FC236}">
                <a16:creationId xmlns:a16="http://schemas.microsoft.com/office/drawing/2014/main" id="{8CA118E6-906F-714A-F445-73B1E30C50ED}"/>
              </a:ext>
            </a:extLst>
          </p:cNvPr>
          <p:cNvCxnSpPr/>
          <p:nvPr/>
        </p:nvCxnSpPr>
        <p:spPr>
          <a:xfrm>
            <a:off x="3515832" y="1119963"/>
            <a:ext cx="0" cy="370721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4" name="Picture 13" descr="A diagram of a question&#10;&#10;AI-generated content may be incorrect.">
            <a:extLst>
              <a:ext uri="{FF2B5EF4-FFF2-40B4-BE49-F238E27FC236}">
                <a16:creationId xmlns:a16="http://schemas.microsoft.com/office/drawing/2014/main" id="{4A3027CB-CAD7-F545-1D85-D6A130CCF8CA}"/>
              </a:ext>
            </a:extLst>
          </p:cNvPr>
          <p:cNvPicPr>
            <a:picLocks noChangeAspect="1"/>
          </p:cNvPicPr>
          <p:nvPr/>
        </p:nvPicPr>
        <p:blipFill>
          <a:blip r:embed="rId3"/>
          <a:stretch>
            <a:fillRect/>
          </a:stretch>
        </p:blipFill>
        <p:spPr>
          <a:xfrm>
            <a:off x="4060932" y="1225180"/>
            <a:ext cx="3999252" cy="2768713"/>
          </a:xfrm>
          <a:prstGeom prst="rect">
            <a:avLst/>
          </a:prstGeom>
        </p:spPr>
      </p:pic>
      <p:sp>
        <p:nvSpPr>
          <p:cNvPr id="15" name="TextBox 14">
            <a:extLst>
              <a:ext uri="{FF2B5EF4-FFF2-40B4-BE49-F238E27FC236}">
                <a16:creationId xmlns:a16="http://schemas.microsoft.com/office/drawing/2014/main" id="{62F63919-46D4-D032-DBD1-6EC3AAA086FA}"/>
              </a:ext>
            </a:extLst>
          </p:cNvPr>
          <p:cNvSpPr txBox="1"/>
          <p:nvPr/>
        </p:nvSpPr>
        <p:spPr>
          <a:xfrm>
            <a:off x="5472223" y="4201348"/>
            <a:ext cx="1576072" cy="307777"/>
          </a:xfrm>
          <a:prstGeom prst="rect">
            <a:avLst/>
          </a:prstGeom>
          <a:noFill/>
        </p:spPr>
        <p:txBody>
          <a:bodyPr wrap="none" rtlCol="0">
            <a:spAutoFit/>
          </a:bodyPr>
          <a:lstStyle/>
          <a:p>
            <a:r>
              <a:rPr lang="en-US" dirty="0"/>
              <a:t>Zhou, et. al. 2023</a:t>
            </a:r>
          </a:p>
        </p:txBody>
      </p:sp>
      <p:sp>
        <p:nvSpPr>
          <p:cNvPr id="6" name="Google Shape;1771;p83">
            <a:extLst>
              <a:ext uri="{FF2B5EF4-FFF2-40B4-BE49-F238E27FC236}">
                <a16:creationId xmlns:a16="http://schemas.microsoft.com/office/drawing/2014/main" id="{62829385-DFB4-A334-6BB4-1826DAE48156}"/>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8" name="Google Shape;1772;p83">
            <a:extLst>
              <a:ext uri="{FF2B5EF4-FFF2-40B4-BE49-F238E27FC236}">
                <a16:creationId xmlns:a16="http://schemas.microsoft.com/office/drawing/2014/main" id="{72204275-BBA5-EACA-AC45-CFE9AFDA8546}"/>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1" name="Google Shape;1773;p83">
            <a:extLst>
              <a:ext uri="{FF2B5EF4-FFF2-40B4-BE49-F238E27FC236}">
                <a16:creationId xmlns:a16="http://schemas.microsoft.com/office/drawing/2014/main" id="{30E2947C-743A-D1D2-63B9-AB662A35739F}"/>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3" name="Google Shape;1774;p83">
            <a:extLst>
              <a:ext uri="{FF2B5EF4-FFF2-40B4-BE49-F238E27FC236}">
                <a16:creationId xmlns:a16="http://schemas.microsoft.com/office/drawing/2014/main" id="{545A9F01-FAC5-3BA2-ED35-7BF115C454FD}"/>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4624831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836;p85">
            <a:extLst>
              <a:ext uri="{FF2B5EF4-FFF2-40B4-BE49-F238E27FC236}">
                <a16:creationId xmlns:a16="http://schemas.microsoft.com/office/drawing/2014/main" id="{C1A315FB-C2D0-4590-4CAD-16B4DD0AB43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Examples of Decompose-and-solve in Agentic Tasks</a:t>
            </a:r>
            <a:endParaRPr lang="en-US" sz="2400" dirty="0"/>
          </a:p>
        </p:txBody>
      </p:sp>
      <p:pic>
        <p:nvPicPr>
          <p:cNvPr id="13" name="Picture 12" descr="A diagram of steps&#10;&#10;AI-generated content may be incorrect.">
            <a:extLst>
              <a:ext uri="{FF2B5EF4-FFF2-40B4-BE49-F238E27FC236}">
                <a16:creationId xmlns:a16="http://schemas.microsoft.com/office/drawing/2014/main" id="{262CFFBC-8510-0B87-A1E3-6EA68F258923}"/>
              </a:ext>
            </a:extLst>
          </p:cNvPr>
          <p:cNvPicPr>
            <a:picLocks noChangeAspect="1"/>
          </p:cNvPicPr>
          <p:nvPr/>
        </p:nvPicPr>
        <p:blipFill>
          <a:blip r:embed="rId2"/>
          <a:stretch>
            <a:fillRect/>
          </a:stretch>
        </p:blipFill>
        <p:spPr>
          <a:xfrm>
            <a:off x="597643" y="1162492"/>
            <a:ext cx="3527417" cy="3157213"/>
          </a:xfrm>
          <a:prstGeom prst="rect">
            <a:avLst/>
          </a:prstGeom>
        </p:spPr>
      </p:pic>
      <p:pic>
        <p:nvPicPr>
          <p:cNvPr id="15" name="Picture 14" descr="A screenshot of a chat&#10;&#10;AI-generated content may be incorrect.">
            <a:extLst>
              <a:ext uri="{FF2B5EF4-FFF2-40B4-BE49-F238E27FC236}">
                <a16:creationId xmlns:a16="http://schemas.microsoft.com/office/drawing/2014/main" id="{B198B764-D54F-5AFB-8281-7994A395C4B5}"/>
              </a:ext>
            </a:extLst>
          </p:cNvPr>
          <p:cNvPicPr>
            <a:picLocks noChangeAspect="1"/>
          </p:cNvPicPr>
          <p:nvPr/>
        </p:nvPicPr>
        <p:blipFill>
          <a:blip r:embed="rId3"/>
          <a:stretch>
            <a:fillRect/>
          </a:stretch>
        </p:blipFill>
        <p:spPr>
          <a:xfrm>
            <a:off x="5212951" y="1017725"/>
            <a:ext cx="2642983" cy="3669971"/>
          </a:xfrm>
          <a:prstGeom prst="rect">
            <a:avLst/>
          </a:prstGeom>
        </p:spPr>
      </p:pic>
      <p:cxnSp>
        <p:nvCxnSpPr>
          <p:cNvPr id="16" name="Straight Connector 15">
            <a:extLst>
              <a:ext uri="{FF2B5EF4-FFF2-40B4-BE49-F238E27FC236}">
                <a16:creationId xmlns:a16="http://schemas.microsoft.com/office/drawing/2014/main" id="{4B15CC74-0B13-1744-8D95-C8F382BFBC0C}"/>
              </a:ext>
            </a:extLst>
          </p:cNvPr>
          <p:cNvCxnSpPr/>
          <p:nvPr/>
        </p:nvCxnSpPr>
        <p:spPr>
          <a:xfrm>
            <a:off x="4635795" y="1077433"/>
            <a:ext cx="0" cy="370721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26D5678-9D63-FBE0-F352-FEEED7DE82A7}"/>
              </a:ext>
            </a:extLst>
          </p:cNvPr>
          <p:cNvSpPr txBox="1"/>
          <p:nvPr/>
        </p:nvSpPr>
        <p:spPr>
          <a:xfrm>
            <a:off x="1439219" y="4784650"/>
            <a:ext cx="1736373" cy="307777"/>
          </a:xfrm>
          <a:prstGeom prst="rect">
            <a:avLst/>
          </a:prstGeom>
          <a:noFill/>
        </p:spPr>
        <p:txBody>
          <a:bodyPr wrap="none" rtlCol="0">
            <a:spAutoFit/>
          </a:bodyPr>
          <a:lstStyle/>
          <a:p>
            <a:r>
              <a:rPr lang="en-US" dirty="0"/>
              <a:t>Prasad, et. al. 2024</a:t>
            </a:r>
          </a:p>
        </p:txBody>
      </p:sp>
      <p:sp>
        <p:nvSpPr>
          <p:cNvPr id="18" name="TextBox 17">
            <a:extLst>
              <a:ext uri="{FF2B5EF4-FFF2-40B4-BE49-F238E27FC236}">
                <a16:creationId xmlns:a16="http://schemas.microsoft.com/office/drawing/2014/main" id="{84C20B63-F89B-EA1C-1248-D3750755F5D4}"/>
              </a:ext>
            </a:extLst>
          </p:cNvPr>
          <p:cNvSpPr txBox="1"/>
          <p:nvPr/>
        </p:nvSpPr>
        <p:spPr>
          <a:xfrm>
            <a:off x="6095999" y="4784651"/>
            <a:ext cx="1696298" cy="307777"/>
          </a:xfrm>
          <a:prstGeom prst="rect">
            <a:avLst/>
          </a:prstGeom>
          <a:noFill/>
        </p:spPr>
        <p:txBody>
          <a:bodyPr wrap="none" rtlCol="0">
            <a:spAutoFit/>
          </a:bodyPr>
          <a:lstStyle/>
          <a:p>
            <a:r>
              <a:rPr lang="en-US" dirty="0"/>
              <a:t>Huang, et. al. 2024</a:t>
            </a:r>
          </a:p>
        </p:txBody>
      </p:sp>
      <p:sp>
        <p:nvSpPr>
          <p:cNvPr id="6" name="Google Shape;1771;p83">
            <a:extLst>
              <a:ext uri="{FF2B5EF4-FFF2-40B4-BE49-F238E27FC236}">
                <a16:creationId xmlns:a16="http://schemas.microsoft.com/office/drawing/2014/main" id="{18FB22C4-D5B6-2A16-1249-9468AED4D1B1}"/>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8" name="Google Shape;1772;p83">
            <a:extLst>
              <a:ext uri="{FF2B5EF4-FFF2-40B4-BE49-F238E27FC236}">
                <a16:creationId xmlns:a16="http://schemas.microsoft.com/office/drawing/2014/main" id="{6124D684-1361-3EEE-0716-1A702DB2FD39}"/>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9" name="Google Shape;1773;p83">
            <a:extLst>
              <a:ext uri="{FF2B5EF4-FFF2-40B4-BE49-F238E27FC236}">
                <a16:creationId xmlns:a16="http://schemas.microsoft.com/office/drawing/2014/main" id="{6EA5A428-E004-28DD-6339-81D85330C759}"/>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0" name="Google Shape;1774;p83">
            <a:extLst>
              <a:ext uri="{FF2B5EF4-FFF2-40B4-BE49-F238E27FC236}">
                <a16:creationId xmlns:a16="http://schemas.microsoft.com/office/drawing/2014/main" id="{ECC68FD3-F9E0-EEA8-6F81-205AFCF7F4C1}"/>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8725205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81+ Thousand No Stamp Royalty-Free Images, Stock Photos ...">
            <a:extLst>
              <a:ext uri="{FF2B5EF4-FFF2-40B4-BE49-F238E27FC236}">
                <a16:creationId xmlns:a16="http://schemas.microsoft.com/office/drawing/2014/main" id="{A676DA7F-DEC6-76C4-44DB-783643C8AA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982"/>
          <a:stretch/>
        </p:blipFill>
        <p:spPr bwMode="auto">
          <a:xfrm>
            <a:off x="6968034" y="379573"/>
            <a:ext cx="1802703" cy="1585083"/>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836;p85">
            <a:extLst>
              <a:ext uri="{FF2B5EF4-FFF2-40B4-BE49-F238E27FC236}">
                <a16:creationId xmlns:a16="http://schemas.microsoft.com/office/drawing/2014/main" id="{A039B20A-DBB9-AFBA-7297-E2FD62A6B52D}"/>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is LLM planning in Creative Tasks?</a:t>
            </a:r>
            <a:endParaRPr lang="en-US" sz="2400" dirty="0"/>
          </a:p>
        </p:txBody>
      </p:sp>
      <p:pic>
        <p:nvPicPr>
          <p:cNvPr id="8" name="Google Shape;2833;p163">
            <a:extLst>
              <a:ext uri="{FF2B5EF4-FFF2-40B4-BE49-F238E27FC236}">
                <a16:creationId xmlns:a16="http://schemas.microsoft.com/office/drawing/2014/main" id="{E5351EF6-C169-4F5F-40E1-EF55E0D967ED}"/>
              </a:ext>
            </a:extLst>
          </p:cNvPr>
          <p:cNvPicPr preferRelativeResize="0"/>
          <p:nvPr/>
        </p:nvPicPr>
        <p:blipFill rotWithShape="1">
          <a:blip r:embed="rId3">
            <a:alphaModFix/>
          </a:blip>
          <a:srcRect/>
          <a:stretch/>
        </p:blipFill>
        <p:spPr>
          <a:xfrm>
            <a:off x="218624" y="1208083"/>
            <a:ext cx="6323696" cy="3644908"/>
          </a:xfrm>
          <a:prstGeom prst="rect">
            <a:avLst/>
          </a:prstGeom>
          <a:noFill/>
          <a:ln>
            <a:noFill/>
          </a:ln>
        </p:spPr>
      </p:pic>
      <p:sp>
        <p:nvSpPr>
          <p:cNvPr id="9" name="Google Shape;2836;p163">
            <a:extLst>
              <a:ext uri="{FF2B5EF4-FFF2-40B4-BE49-F238E27FC236}">
                <a16:creationId xmlns:a16="http://schemas.microsoft.com/office/drawing/2014/main" id="{124384C7-258A-BB42-3B21-A952BA7C8371}"/>
              </a:ext>
            </a:extLst>
          </p:cNvPr>
          <p:cNvSpPr txBox="1">
            <a:spLocks/>
          </p:cNvSpPr>
          <p:nvPr/>
        </p:nvSpPr>
        <p:spPr>
          <a:xfrm>
            <a:off x="6542320" y="1806041"/>
            <a:ext cx="2252359" cy="1036901"/>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buClr>
                <a:schemeClr val="accent2"/>
              </a:buClr>
              <a:buSzPts val="1500"/>
            </a:pPr>
            <a:r>
              <a:rPr lang="en-US" sz="1500">
                <a:solidFill>
                  <a:schemeClr val="accent2"/>
                </a:solidFill>
                <a:latin typeface="Lucida Sans"/>
                <a:ea typeface="Lucida Sans"/>
                <a:cs typeface="Lucida Sans"/>
                <a:sym typeface="Lucida Sans"/>
              </a:rPr>
              <a:t>LLMs incorrectly pace their storytelling relative to human writers. </a:t>
            </a:r>
            <a:endParaRPr lang="en-US"/>
          </a:p>
        </p:txBody>
      </p:sp>
      <p:sp>
        <p:nvSpPr>
          <p:cNvPr id="10" name="Google Shape;2838;p163">
            <a:extLst>
              <a:ext uri="{FF2B5EF4-FFF2-40B4-BE49-F238E27FC236}">
                <a16:creationId xmlns:a16="http://schemas.microsoft.com/office/drawing/2014/main" id="{3AB8D2EE-337F-3D8E-786C-5AEEB252B488}"/>
              </a:ext>
            </a:extLst>
          </p:cNvPr>
          <p:cNvSpPr/>
          <p:nvPr/>
        </p:nvSpPr>
        <p:spPr>
          <a:xfrm>
            <a:off x="925158" y="2481914"/>
            <a:ext cx="1914896" cy="1316709"/>
          </a:xfrm>
          <a:custGeom>
            <a:avLst/>
            <a:gdLst/>
            <a:ahLst/>
            <a:cxnLst/>
            <a:rect l="l" t="t" r="r" b="b"/>
            <a:pathLst>
              <a:path w="3598224" h="2173185" extrusionOk="0">
                <a:moveTo>
                  <a:pt x="3206338" y="0"/>
                </a:moveTo>
                <a:cubicBezTo>
                  <a:pt x="3166754" y="3959"/>
                  <a:pt x="3127353" y="10816"/>
                  <a:pt x="3087585" y="11876"/>
                </a:cubicBezTo>
                <a:cubicBezTo>
                  <a:pt x="2830347" y="18736"/>
                  <a:pt x="2572795" y="13038"/>
                  <a:pt x="2315689" y="23751"/>
                </a:cubicBezTo>
                <a:cubicBezTo>
                  <a:pt x="2286896" y="24951"/>
                  <a:pt x="2260693" y="41251"/>
                  <a:pt x="2232561" y="47502"/>
                </a:cubicBezTo>
                <a:cubicBezTo>
                  <a:pt x="2189358" y="57103"/>
                  <a:pt x="2144986" y="61001"/>
                  <a:pt x="2101933" y="71252"/>
                </a:cubicBezTo>
                <a:cubicBezTo>
                  <a:pt x="1945517" y="108494"/>
                  <a:pt x="2030446" y="93856"/>
                  <a:pt x="1923803" y="130629"/>
                </a:cubicBezTo>
                <a:cubicBezTo>
                  <a:pt x="1829132" y="163274"/>
                  <a:pt x="1730305" y="184959"/>
                  <a:pt x="1638795" y="225631"/>
                </a:cubicBezTo>
                <a:cubicBezTo>
                  <a:pt x="1603169" y="241465"/>
                  <a:pt x="1568252" y="259002"/>
                  <a:pt x="1531917" y="273133"/>
                </a:cubicBezTo>
                <a:cubicBezTo>
                  <a:pt x="1496917" y="286744"/>
                  <a:pt x="1459906" y="294812"/>
                  <a:pt x="1425039" y="308759"/>
                </a:cubicBezTo>
                <a:cubicBezTo>
                  <a:pt x="1269475" y="370985"/>
                  <a:pt x="1315435" y="363560"/>
                  <a:pt x="1163782" y="439387"/>
                </a:cubicBezTo>
                <a:cubicBezTo>
                  <a:pt x="1113089" y="464733"/>
                  <a:pt x="1056987" y="479850"/>
                  <a:pt x="1009403" y="510639"/>
                </a:cubicBezTo>
                <a:cubicBezTo>
                  <a:pt x="921663" y="567412"/>
                  <a:pt x="839368" y="632632"/>
                  <a:pt x="760021" y="700644"/>
                </a:cubicBezTo>
                <a:cubicBezTo>
                  <a:pt x="645965" y="798407"/>
                  <a:pt x="654192" y="787669"/>
                  <a:pt x="522515" y="926276"/>
                </a:cubicBezTo>
                <a:cubicBezTo>
                  <a:pt x="497379" y="952735"/>
                  <a:pt x="475924" y="982501"/>
                  <a:pt x="451263" y="1009403"/>
                </a:cubicBezTo>
                <a:cubicBezTo>
                  <a:pt x="249116" y="1229924"/>
                  <a:pt x="647812" y="761896"/>
                  <a:pt x="249382" y="1235034"/>
                </a:cubicBezTo>
                <a:cubicBezTo>
                  <a:pt x="233056" y="1254422"/>
                  <a:pt x="219804" y="1276489"/>
                  <a:pt x="201881" y="1294411"/>
                </a:cubicBezTo>
                <a:cubicBezTo>
                  <a:pt x="25081" y="1471208"/>
                  <a:pt x="240276" y="1246415"/>
                  <a:pt x="106878" y="1413164"/>
                </a:cubicBezTo>
                <a:cubicBezTo>
                  <a:pt x="89393" y="1435021"/>
                  <a:pt x="64686" y="1450446"/>
                  <a:pt x="47502" y="1472540"/>
                </a:cubicBezTo>
                <a:cubicBezTo>
                  <a:pt x="36633" y="1486514"/>
                  <a:pt x="30724" y="1503770"/>
                  <a:pt x="23751" y="1520042"/>
                </a:cubicBezTo>
                <a:cubicBezTo>
                  <a:pt x="10059" y="1551991"/>
                  <a:pt x="6970" y="1580199"/>
                  <a:pt x="0" y="1615044"/>
                </a:cubicBezTo>
                <a:cubicBezTo>
                  <a:pt x="19792" y="1694213"/>
                  <a:pt x="30723" y="1776141"/>
                  <a:pt x="59377" y="1852551"/>
                </a:cubicBezTo>
                <a:cubicBezTo>
                  <a:pt x="67239" y="1873517"/>
                  <a:pt x="90142" y="1885175"/>
                  <a:pt x="106878" y="1900052"/>
                </a:cubicBezTo>
                <a:cubicBezTo>
                  <a:pt x="157068" y="1944665"/>
                  <a:pt x="210040" y="1980822"/>
                  <a:pt x="273133" y="2006930"/>
                </a:cubicBezTo>
                <a:cubicBezTo>
                  <a:pt x="467997" y="2087564"/>
                  <a:pt x="605155" y="2120593"/>
                  <a:pt x="819398" y="2149434"/>
                </a:cubicBezTo>
                <a:cubicBezTo>
                  <a:pt x="921699" y="2163205"/>
                  <a:pt x="1025237" y="2165268"/>
                  <a:pt x="1128156" y="2173185"/>
                </a:cubicBezTo>
                <a:lnTo>
                  <a:pt x="2006930" y="2161309"/>
                </a:lnTo>
                <a:cubicBezTo>
                  <a:pt x="2150697" y="2149652"/>
                  <a:pt x="2410901" y="2088719"/>
                  <a:pt x="2576946" y="2018805"/>
                </a:cubicBezTo>
                <a:cubicBezTo>
                  <a:pt x="2756095" y="1943374"/>
                  <a:pt x="3085825" y="1804259"/>
                  <a:pt x="3230089" y="1674421"/>
                </a:cubicBezTo>
                <a:cubicBezTo>
                  <a:pt x="3316397" y="1596743"/>
                  <a:pt x="3366463" y="1555450"/>
                  <a:pt x="3443845" y="1472540"/>
                </a:cubicBezTo>
                <a:cubicBezTo>
                  <a:pt x="3468746" y="1445860"/>
                  <a:pt x="3491346" y="1417122"/>
                  <a:pt x="3515096" y="1389413"/>
                </a:cubicBezTo>
                <a:cubicBezTo>
                  <a:pt x="3523013" y="1369621"/>
                  <a:pt x="3529314" y="1349103"/>
                  <a:pt x="3538847" y="1330037"/>
                </a:cubicBezTo>
                <a:cubicBezTo>
                  <a:pt x="3549169" y="1309392"/>
                  <a:pt x="3566187" y="1292203"/>
                  <a:pt x="3574473" y="1270660"/>
                </a:cubicBezTo>
                <a:cubicBezTo>
                  <a:pt x="3586191" y="1240193"/>
                  <a:pt x="3598224" y="1175657"/>
                  <a:pt x="3598224" y="1175657"/>
                </a:cubicBezTo>
                <a:cubicBezTo>
                  <a:pt x="3590307" y="1096488"/>
                  <a:pt x="3593041" y="1015518"/>
                  <a:pt x="3574473" y="938151"/>
                </a:cubicBezTo>
                <a:cubicBezTo>
                  <a:pt x="3568558" y="913504"/>
                  <a:pt x="3542180" y="899051"/>
                  <a:pt x="3526972" y="878774"/>
                </a:cubicBezTo>
                <a:cubicBezTo>
                  <a:pt x="3506541" y="851533"/>
                  <a:pt x="3488695" y="822374"/>
                  <a:pt x="3467595" y="795647"/>
                </a:cubicBezTo>
                <a:cubicBezTo>
                  <a:pt x="3412000" y="725227"/>
                  <a:pt x="3302937" y="592668"/>
                  <a:pt x="3230089" y="534390"/>
                </a:cubicBezTo>
                <a:cubicBezTo>
                  <a:pt x="3210297" y="518556"/>
                  <a:pt x="3189467" y="503939"/>
                  <a:pt x="3170712" y="486889"/>
                </a:cubicBezTo>
                <a:cubicBezTo>
                  <a:pt x="3145858" y="464295"/>
                  <a:pt x="3124313" y="438231"/>
                  <a:pt x="3099460" y="415637"/>
                </a:cubicBezTo>
                <a:cubicBezTo>
                  <a:pt x="3067305" y="386405"/>
                  <a:pt x="3005415" y="341538"/>
                  <a:pt x="2968832" y="320634"/>
                </a:cubicBezTo>
                <a:cubicBezTo>
                  <a:pt x="2938091" y="303068"/>
                  <a:pt x="2908177" y="281720"/>
                  <a:pt x="2873829" y="273133"/>
                </a:cubicBezTo>
                <a:lnTo>
                  <a:pt x="2778826" y="249382"/>
                </a:lnTo>
                <a:cubicBezTo>
                  <a:pt x="2766951" y="241465"/>
                  <a:pt x="2756318" y="231253"/>
                  <a:pt x="2743200" y="225631"/>
                </a:cubicBezTo>
                <a:cubicBezTo>
                  <a:pt x="2708771" y="210876"/>
                  <a:pt x="2694126" y="213756"/>
                  <a:pt x="2660073" y="213756"/>
                </a:cubicBezTo>
              </a:path>
            </a:pathLst>
          </a:custGeom>
          <a:noFill/>
          <a:ln w="1905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11" name="Google Shape;2839;p163">
            <a:extLst>
              <a:ext uri="{FF2B5EF4-FFF2-40B4-BE49-F238E27FC236}">
                <a16:creationId xmlns:a16="http://schemas.microsoft.com/office/drawing/2014/main" id="{E9AF82A9-A7A6-150C-CEA4-5920F863B8EA}"/>
              </a:ext>
            </a:extLst>
          </p:cNvPr>
          <p:cNvSpPr txBox="1"/>
          <p:nvPr/>
        </p:nvSpPr>
        <p:spPr>
          <a:xfrm>
            <a:off x="1094314" y="2004172"/>
            <a:ext cx="2104159" cy="62324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b="1" dirty="0">
                <a:solidFill>
                  <a:schemeClr val="accent2"/>
                </a:solidFill>
                <a:latin typeface="Lucida Sans"/>
                <a:ea typeface="Lucida Sans"/>
                <a:cs typeface="Lucida Sans"/>
                <a:sym typeface="Lucida Sans"/>
              </a:rPr>
              <a:t>Learned correct pacing</a:t>
            </a:r>
            <a:endParaRPr sz="1800" b="1" dirty="0">
              <a:solidFill>
                <a:schemeClr val="dk1"/>
              </a:solidFill>
              <a:latin typeface="Calibri"/>
              <a:ea typeface="Calibri"/>
              <a:cs typeface="Calibri"/>
              <a:sym typeface="Calibri"/>
            </a:endParaRPr>
          </a:p>
        </p:txBody>
      </p:sp>
      <p:sp>
        <p:nvSpPr>
          <p:cNvPr id="12" name="Google Shape;2840;p163">
            <a:extLst>
              <a:ext uri="{FF2B5EF4-FFF2-40B4-BE49-F238E27FC236}">
                <a16:creationId xmlns:a16="http://schemas.microsoft.com/office/drawing/2014/main" id="{42F09FEA-EEA0-31DB-A251-B168F5700797}"/>
              </a:ext>
            </a:extLst>
          </p:cNvPr>
          <p:cNvSpPr/>
          <p:nvPr/>
        </p:nvSpPr>
        <p:spPr>
          <a:xfrm>
            <a:off x="4544540" y="1786867"/>
            <a:ext cx="1531917" cy="1950522"/>
          </a:xfrm>
          <a:custGeom>
            <a:avLst/>
            <a:gdLst/>
            <a:ahLst/>
            <a:cxnLst/>
            <a:rect l="l" t="t" r="r" b="b"/>
            <a:pathLst>
              <a:path w="2042556" h="2496457" extrusionOk="0">
                <a:moveTo>
                  <a:pt x="1888177" y="2639"/>
                </a:moveTo>
                <a:cubicBezTo>
                  <a:pt x="1767445" y="-3299"/>
                  <a:pt x="1919725" y="2639"/>
                  <a:pt x="1151906" y="2639"/>
                </a:cubicBezTo>
                <a:cubicBezTo>
                  <a:pt x="1040999" y="2639"/>
                  <a:pt x="930233" y="10556"/>
                  <a:pt x="819397" y="14515"/>
                </a:cubicBezTo>
                <a:cubicBezTo>
                  <a:pt x="727119" y="32970"/>
                  <a:pt x="733886" y="27580"/>
                  <a:pt x="617517" y="85766"/>
                </a:cubicBezTo>
                <a:cubicBezTo>
                  <a:pt x="601683" y="93683"/>
                  <a:pt x="586653" y="103467"/>
                  <a:pt x="570016" y="109517"/>
                </a:cubicBezTo>
                <a:cubicBezTo>
                  <a:pt x="542933" y="119366"/>
                  <a:pt x="514597" y="125351"/>
                  <a:pt x="486888" y="133268"/>
                </a:cubicBezTo>
                <a:cubicBezTo>
                  <a:pt x="475013" y="145143"/>
                  <a:pt x="465504" y="159993"/>
                  <a:pt x="451262" y="168894"/>
                </a:cubicBezTo>
                <a:cubicBezTo>
                  <a:pt x="433186" y="180192"/>
                  <a:pt x="407818" y="178482"/>
                  <a:pt x="391886" y="192644"/>
                </a:cubicBezTo>
                <a:cubicBezTo>
                  <a:pt x="370551" y="211608"/>
                  <a:pt x="361511" y="241060"/>
                  <a:pt x="344384" y="263896"/>
                </a:cubicBezTo>
                <a:lnTo>
                  <a:pt x="308758" y="311398"/>
                </a:lnTo>
                <a:cubicBezTo>
                  <a:pt x="283628" y="386790"/>
                  <a:pt x="312786" y="304912"/>
                  <a:pt x="261257" y="418276"/>
                </a:cubicBezTo>
                <a:cubicBezTo>
                  <a:pt x="232650" y="481211"/>
                  <a:pt x="201138" y="543091"/>
                  <a:pt x="178130" y="608281"/>
                </a:cubicBezTo>
                <a:lnTo>
                  <a:pt x="106878" y="810161"/>
                </a:lnTo>
                <a:cubicBezTo>
                  <a:pt x="102920" y="837870"/>
                  <a:pt x="100492" y="865842"/>
                  <a:pt x="95003" y="893289"/>
                </a:cubicBezTo>
                <a:cubicBezTo>
                  <a:pt x="92548" y="905564"/>
                  <a:pt x="86566" y="916879"/>
                  <a:pt x="83127" y="928915"/>
                </a:cubicBezTo>
                <a:cubicBezTo>
                  <a:pt x="78643" y="944608"/>
                  <a:pt x="74792" y="960484"/>
                  <a:pt x="71252" y="976416"/>
                </a:cubicBezTo>
                <a:cubicBezTo>
                  <a:pt x="52146" y="1062393"/>
                  <a:pt x="68722" y="1007759"/>
                  <a:pt x="47501" y="1071418"/>
                </a:cubicBezTo>
                <a:cubicBezTo>
                  <a:pt x="39584" y="1122878"/>
                  <a:pt x="32310" y="1174441"/>
                  <a:pt x="23751" y="1225798"/>
                </a:cubicBezTo>
                <a:cubicBezTo>
                  <a:pt x="20433" y="1245707"/>
                  <a:pt x="15486" y="1265316"/>
                  <a:pt x="11875" y="1285174"/>
                </a:cubicBezTo>
                <a:cubicBezTo>
                  <a:pt x="7568" y="1308864"/>
                  <a:pt x="3958" y="1332675"/>
                  <a:pt x="0" y="1356426"/>
                </a:cubicBezTo>
                <a:cubicBezTo>
                  <a:pt x="3958" y="1479138"/>
                  <a:pt x="5065" y="1601975"/>
                  <a:pt x="11875" y="1724561"/>
                </a:cubicBezTo>
                <a:cubicBezTo>
                  <a:pt x="12995" y="1744714"/>
                  <a:pt x="17951" y="1764605"/>
                  <a:pt x="23751" y="1783938"/>
                </a:cubicBezTo>
                <a:cubicBezTo>
                  <a:pt x="29876" y="1804356"/>
                  <a:pt x="40760" y="1823092"/>
                  <a:pt x="47501" y="1843315"/>
                </a:cubicBezTo>
                <a:cubicBezTo>
                  <a:pt x="70525" y="1912387"/>
                  <a:pt x="46430" y="1879499"/>
                  <a:pt x="83127" y="1962068"/>
                </a:cubicBezTo>
                <a:cubicBezTo>
                  <a:pt x="88924" y="1975110"/>
                  <a:pt x="99314" y="1985591"/>
                  <a:pt x="106878" y="1997694"/>
                </a:cubicBezTo>
                <a:cubicBezTo>
                  <a:pt x="119111" y="2017267"/>
                  <a:pt x="127595" y="2039450"/>
                  <a:pt x="142504" y="2057070"/>
                </a:cubicBezTo>
                <a:cubicBezTo>
                  <a:pt x="236053" y="2167628"/>
                  <a:pt x="203922" y="2125490"/>
                  <a:pt x="273132" y="2175824"/>
                </a:cubicBezTo>
                <a:cubicBezTo>
                  <a:pt x="305145" y="2199107"/>
                  <a:pt x="335429" y="2224777"/>
                  <a:pt x="368135" y="2247076"/>
                </a:cubicBezTo>
                <a:cubicBezTo>
                  <a:pt x="577033" y="2389506"/>
                  <a:pt x="468552" y="2315674"/>
                  <a:pt x="629392" y="2401455"/>
                </a:cubicBezTo>
                <a:cubicBezTo>
                  <a:pt x="657551" y="2416473"/>
                  <a:pt x="682888" y="2437104"/>
                  <a:pt x="712519" y="2448956"/>
                </a:cubicBezTo>
                <a:cubicBezTo>
                  <a:pt x="762509" y="2468952"/>
                  <a:pt x="815439" y="2480623"/>
                  <a:pt x="866899" y="2496457"/>
                </a:cubicBezTo>
                <a:cubicBezTo>
                  <a:pt x="985652" y="2484582"/>
                  <a:pt x="1107553" y="2490473"/>
                  <a:pt x="1223158" y="2460831"/>
                </a:cubicBezTo>
                <a:cubicBezTo>
                  <a:pt x="1266877" y="2449621"/>
                  <a:pt x="1298122" y="2409618"/>
                  <a:pt x="1330036" y="2377704"/>
                </a:cubicBezTo>
                <a:cubicBezTo>
                  <a:pt x="1353787" y="2353953"/>
                  <a:pt x="1381135" y="2333323"/>
                  <a:pt x="1401288" y="2306452"/>
                </a:cubicBezTo>
                <a:cubicBezTo>
                  <a:pt x="1413368" y="2290345"/>
                  <a:pt x="1449090" y="2244547"/>
                  <a:pt x="1460665" y="2223325"/>
                </a:cubicBezTo>
                <a:cubicBezTo>
                  <a:pt x="1477619" y="2192243"/>
                  <a:pt x="1494548" y="2161004"/>
                  <a:pt x="1508166" y="2128322"/>
                </a:cubicBezTo>
                <a:cubicBezTo>
                  <a:pt x="1527958" y="2080821"/>
                  <a:pt x="1555062" y="2035741"/>
                  <a:pt x="1567543" y="1985818"/>
                </a:cubicBezTo>
                <a:cubicBezTo>
                  <a:pt x="1571501" y="1969984"/>
                  <a:pt x="1573929" y="1953687"/>
                  <a:pt x="1579418" y="1938317"/>
                </a:cubicBezTo>
                <a:cubicBezTo>
                  <a:pt x="1593757" y="1898167"/>
                  <a:pt x="1616578" y="1860925"/>
                  <a:pt x="1626919" y="1819564"/>
                </a:cubicBezTo>
                <a:cubicBezTo>
                  <a:pt x="1630878" y="1803730"/>
                  <a:pt x="1634311" y="1787756"/>
                  <a:pt x="1638795" y="1772063"/>
                </a:cubicBezTo>
                <a:cubicBezTo>
                  <a:pt x="1642234" y="1760027"/>
                  <a:pt x="1647376" y="1748514"/>
                  <a:pt x="1650670" y="1736437"/>
                </a:cubicBezTo>
                <a:cubicBezTo>
                  <a:pt x="1659259" y="1704945"/>
                  <a:pt x="1666504" y="1673102"/>
                  <a:pt x="1674421" y="1641434"/>
                </a:cubicBezTo>
                <a:cubicBezTo>
                  <a:pt x="1678379" y="1625600"/>
                  <a:pt x="1680349" y="1609132"/>
                  <a:pt x="1686296" y="1593933"/>
                </a:cubicBezTo>
                <a:cubicBezTo>
                  <a:pt x="1721922" y="1502889"/>
                  <a:pt x="1749452" y="1408245"/>
                  <a:pt x="1793174" y="1320800"/>
                </a:cubicBezTo>
                <a:cubicBezTo>
                  <a:pt x="1805049" y="1297049"/>
                  <a:pt x="1818938" y="1274203"/>
                  <a:pt x="1828800" y="1249548"/>
                </a:cubicBezTo>
                <a:cubicBezTo>
                  <a:pt x="1949379" y="948100"/>
                  <a:pt x="1790447" y="1321309"/>
                  <a:pt x="1888177" y="1047668"/>
                </a:cubicBezTo>
                <a:cubicBezTo>
                  <a:pt x="1897108" y="1022661"/>
                  <a:pt x="1914623" y="1001333"/>
                  <a:pt x="1923803" y="976416"/>
                </a:cubicBezTo>
                <a:cubicBezTo>
                  <a:pt x="2019437" y="716839"/>
                  <a:pt x="1945110" y="901431"/>
                  <a:pt x="1983179" y="774535"/>
                </a:cubicBezTo>
                <a:cubicBezTo>
                  <a:pt x="1990373" y="750555"/>
                  <a:pt x="1999013" y="727034"/>
                  <a:pt x="2006930" y="703283"/>
                </a:cubicBezTo>
                <a:cubicBezTo>
                  <a:pt x="2010888" y="691408"/>
                  <a:pt x="2015769" y="679801"/>
                  <a:pt x="2018805" y="667657"/>
                </a:cubicBezTo>
                <a:cubicBezTo>
                  <a:pt x="2035577" y="600574"/>
                  <a:pt x="2027480" y="636160"/>
                  <a:pt x="2042556" y="560779"/>
                </a:cubicBezTo>
                <a:cubicBezTo>
                  <a:pt x="2038598" y="497444"/>
                  <a:pt x="2037324" y="433884"/>
                  <a:pt x="2030681" y="370774"/>
                </a:cubicBezTo>
                <a:cubicBezTo>
                  <a:pt x="2026201" y="328215"/>
                  <a:pt x="2012170" y="338030"/>
                  <a:pt x="1995055" y="299522"/>
                </a:cubicBezTo>
                <a:cubicBezTo>
                  <a:pt x="1938530" y="172339"/>
                  <a:pt x="2001302" y="273267"/>
                  <a:pt x="1947553" y="192644"/>
                </a:cubicBezTo>
                <a:cubicBezTo>
                  <a:pt x="1943595" y="176810"/>
                  <a:pt x="1942977" y="159741"/>
                  <a:pt x="1935678" y="145143"/>
                </a:cubicBezTo>
                <a:cubicBezTo>
                  <a:pt x="1891454" y="56695"/>
                  <a:pt x="1892722" y="103944"/>
                  <a:pt x="1876301" y="38265"/>
                </a:cubicBezTo>
                <a:cubicBezTo>
                  <a:pt x="1875341" y="34425"/>
                  <a:pt x="2008909" y="8577"/>
                  <a:pt x="1888177" y="2639"/>
                </a:cubicBezTo>
                <a:close/>
              </a:path>
            </a:pathLst>
          </a:custGeom>
          <a:noFill/>
          <a:ln w="1905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 name="Google Shape;2841;p163">
            <a:extLst>
              <a:ext uri="{FF2B5EF4-FFF2-40B4-BE49-F238E27FC236}">
                <a16:creationId xmlns:a16="http://schemas.microsoft.com/office/drawing/2014/main" id="{5A36D6C7-8876-6583-A0CF-D19FD862E82F}"/>
              </a:ext>
            </a:extLst>
          </p:cNvPr>
          <p:cNvSpPr txBox="1"/>
          <p:nvPr/>
        </p:nvSpPr>
        <p:spPr>
          <a:xfrm>
            <a:off x="4858639" y="3134958"/>
            <a:ext cx="1725242" cy="90024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b="1" dirty="0">
                <a:solidFill>
                  <a:schemeClr val="accent1"/>
                </a:solidFill>
                <a:latin typeface="Lucida Sans"/>
                <a:ea typeface="Lucida Sans"/>
                <a:cs typeface="Lucida Sans"/>
                <a:sym typeface="Lucida Sans"/>
              </a:rPr>
              <a:t>Struggle to unfold adequately  </a:t>
            </a:r>
            <a:endParaRPr sz="1800" b="1" dirty="0">
              <a:solidFill>
                <a:schemeClr val="accent1"/>
              </a:solidFill>
              <a:latin typeface="Calibri"/>
              <a:ea typeface="Calibri"/>
              <a:cs typeface="Calibri"/>
              <a:sym typeface="Calibri"/>
            </a:endParaRPr>
          </a:p>
        </p:txBody>
      </p:sp>
      <p:sp>
        <p:nvSpPr>
          <p:cNvPr id="14" name="Google Shape;2842;p163">
            <a:extLst>
              <a:ext uri="{FF2B5EF4-FFF2-40B4-BE49-F238E27FC236}">
                <a16:creationId xmlns:a16="http://schemas.microsoft.com/office/drawing/2014/main" id="{0BD875CB-92F5-488C-7B39-BEEF7AAC8D00}"/>
              </a:ext>
            </a:extLst>
          </p:cNvPr>
          <p:cNvSpPr/>
          <p:nvPr/>
        </p:nvSpPr>
        <p:spPr>
          <a:xfrm>
            <a:off x="4045775" y="4352563"/>
            <a:ext cx="2276658" cy="383210"/>
          </a:xfrm>
          <a:prstGeom prst="flowChartAlternateProcess">
            <a:avLst/>
          </a:prstGeom>
          <a:noFill/>
          <a:ln w="1270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15" name="Google Shape;2844;p163">
            <a:extLst>
              <a:ext uri="{FF2B5EF4-FFF2-40B4-BE49-F238E27FC236}">
                <a16:creationId xmlns:a16="http://schemas.microsoft.com/office/drawing/2014/main" id="{94F5F92B-6977-AE41-6F14-4614BFF220E0}"/>
              </a:ext>
            </a:extLst>
          </p:cNvPr>
          <p:cNvSpPr txBox="1"/>
          <p:nvPr/>
        </p:nvSpPr>
        <p:spPr>
          <a:xfrm>
            <a:off x="4045775" y="4735774"/>
            <a:ext cx="2932534" cy="300082"/>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a:solidFill>
                  <a:srgbClr val="FF0000"/>
                </a:solidFill>
                <a:latin typeface="Lucida Sans"/>
                <a:ea typeface="Lucida Sans"/>
                <a:cs typeface="Lucida Sans"/>
                <a:sym typeface="Lucida Sans"/>
              </a:rPr>
              <a:t>Early occurrence in AI outputs</a:t>
            </a:r>
            <a:endParaRPr sz="1500">
              <a:solidFill>
                <a:srgbClr val="FF0000"/>
              </a:solidFill>
              <a:latin typeface="Calibri"/>
              <a:ea typeface="Calibri"/>
              <a:cs typeface="Calibri"/>
              <a:sym typeface="Calibri"/>
            </a:endParaRPr>
          </a:p>
        </p:txBody>
      </p:sp>
      <p:sp>
        <p:nvSpPr>
          <p:cNvPr id="6" name="Google Shape;1771;p83">
            <a:extLst>
              <a:ext uri="{FF2B5EF4-FFF2-40B4-BE49-F238E27FC236}">
                <a16:creationId xmlns:a16="http://schemas.microsoft.com/office/drawing/2014/main" id="{7BBA560F-8FA0-9C73-0D7E-9BD53C97F75A}"/>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6" name="Google Shape;1772;p83">
            <a:extLst>
              <a:ext uri="{FF2B5EF4-FFF2-40B4-BE49-F238E27FC236}">
                <a16:creationId xmlns:a16="http://schemas.microsoft.com/office/drawing/2014/main" id="{CCBCA6FE-39EF-A916-5999-5DA4B3A00A45}"/>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21" name="Google Shape;1773;p83">
            <a:extLst>
              <a:ext uri="{FF2B5EF4-FFF2-40B4-BE49-F238E27FC236}">
                <a16:creationId xmlns:a16="http://schemas.microsoft.com/office/drawing/2014/main" id="{B445ABCC-1D53-A7C8-1285-09400AB7C7F7}"/>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22" name="Google Shape;1774;p83">
            <a:extLst>
              <a:ext uri="{FF2B5EF4-FFF2-40B4-BE49-F238E27FC236}">
                <a16:creationId xmlns:a16="http://schemas.microsoft.com/office/drawing/2014/main" id="{CAE4C862-7DBD-FF77-3E87-DA321795B95B}"/>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19368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D737F-46C5-5E27-8514-768DD96A380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AF7977C-A5B6-477D-2132-C62A6213268C}"/>
              </a:ext>
            </a:extLst>
          </p:cNvPr>
          <p:cNvSpPr txBox="1"/>
          <p:nvPr/>
        </p:nvSpPr>
        <p:spPr>
          <a:xfrm>
            <a:off x="78864" y="4698475"/>
            <a:ext cx="9000472" cy="430887"/>
          </a:xfrm>
          <a:prstGeom prst="rect">
            <a:avLst/>
          </a:prstGeom>
          <a:noFill/>
        </p:spPr>
        <p:txBody>
          <a:bodyPr wrap="square">
            <a:spAutoFit/>
          </a:bodyPr>
          <a:lstStyle/>
          <a:p>
            <a:r>
              <a:rPr lang="en-US" sz="1100" b="0" i="0" dirty="0">
                <a:solidFill>
                  <a:srgbClr val="222222"/>
                </a:solidFill>
                <a:effectLst/>
                <a:latin typeface="Arial" panose="020B0604020202020204" pitchFamily="34" charset="0"/>
              </a:rPr>
              <a:t>Deng, </a:t>
            </a:r>
            <a:r>
              <a:rPr lang="en-US" sz="1100" b="0" i="0" dirty="0" err="1">
                <a:solidFill>
                  <a:srgbClr val="222222"/>
                </a:solidFill>
                <a:effectLst/>
                <a:latin typeface="Arial" panose="020B0604020202020204" pitchFamily="34" charset="0"/>
              </a:rPr>
              <a:t>Yuntian</a:t>
            </a:r>
            <a:r>
              <a:rPr lang="en-US" sz="1100" b="0" i="0" dirty="0">
                <a:solidFill>
                  <a:srgbClr val="222222"/>
                </a:solidFill>
                <a:effectLst/>
                <a:latin typeface="Arial" panose="020B0604020202020204" pitchFamily="34" charset="0"/>
              </a:rPr>
              <a:t>, Volodymyr Kuleshov, and Alexander M. Rush. "Model Criticism for Long-Form Text Generation." </a:t>
            </a:r>
            <a:r>
              <a:rPr lang="en-US" sz="1100" b="0" i="1" dirty="0">
                <a:solidFill>
                  <a:srgbClr val="222222"/>
                </a:solidFill>
                <a:effectLst/>
                <a:latin typeface="Arial" panose="020B0604020202020204" pitchFamily="34" charset="0"/>
              </a:rPr>
              <a:t>Proceedings of the 2022 Conference on Empirical Methods in Natural Language Processing</a:t>
            </a:r>
            <a:r>
              <a:rPr lang="en-US" sz="1100" b="0" i="0" dirty="0">
                <a:solidFill>
                  <a:srgbClr val="222222"/>
                </a:solidFill>
                <a:effectLst/>
                <a:latin typeface="Arial" panose="020B0604020202020204" pitchFamily="34" charset="0"/>
              </a:rPr>
              <a:t>. 2022.</a:t>
            </a:r>
            <a:endParaRPr lang="en-US" sz="1100" dirty="0"/>
          </a:p>
        </p:txBody>
      </p:sp>
      <p:pic>
        <p:nvPicPr>
          <p:cNvPr id="13" name="Picture 12">
            <a:extLst>
              <a:ext uri="{FF2B5EF4-FFF2-40B4-BE49-F238E27FC236}">
                <a16:creationId xmlns:a16="http://schemas.microsoft.com/office/drawing/2014/main" id="{6E78D8D8-2E3C-7E70-02F0-66B6D2574182}"/>
              </a:ext>
            </a:extLst>
          </p:cNvPr>
          <p:cNvPicPr>
            <a:picLocks noChangeAspect="1"/>
          </p:cNvPicPr>
          <p:nvPr/>
        </p:nvPicPr>
        <p:blipFill>
          <a:blip r:embed="rId2"/>
          <a:stretch>
            <a:fillRect/>
          </a:stretch>
        </p:blipFill>
        <p:spPr>
          <a:xfrm>
            <a:off x="318800" y="1352687"/>
            <a:ext cx="7772400" cy="1982684"/>
          </a:xfrm>
          <a:prstGeom prst="rect">
            <a:avLst/>
          </a:prstGeom>
        </p:spPr>
      </p:pic>
      <p:sp>
        <p:nvSpPr>
          <p:cNvPr id="2" name="Google Shape;1836;p85">
            <a:extLst>
              <a:ext uri="{FF2B5EF4-FFF2-40B4-BE49-F238E27FC236}">
                <a16:creationId xmlns:a16="http://schemas.microsoft.com/office/drawing/2014/main" id="{BEAB7CA8-2BA2-0D09-9897-45CB5403136F}"/>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is LLM planning in Creative Tasks?</a:t>
            </a:r>
            <a:endParaRPr lang="en-US" sz="2400" dirty="0"/>
          </a:p>
        </p:txBody>
      </p:sp>
      <p:sp>
        <p:nvSpPr>
          <p:cNvPr id="7" name="Google Shape;1771;p83">
            <a:extLst>
              <a:ext uri="{FF2B5EF4-FFF2-40B4-BE49-F238E27FC236}">
                <a16:creationId xmlns:a16="http://schemas.microsoft.com/office/drawing/2014/main" id="{70075CA0-EBDD-D4CA-2B81-FB5A63B327A3}"/>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4" name="Google Shape;1772;p83">
            <a:extLst>
              <a:ext uri="{FF2B5EF4-FFF2-40B4-BE49-F238E27FC236}">
                <a16:creationId xmlns:a16="http://schemas.microsoft.com/office/drawing/2014/main" id="{AC96316C-41E4-29DD-D944-19F287FFF3D3}"/>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5" name="Google Shape;1773;p83">
            <a:extLst>
              <a:ext uri="{FF2B5EF4-FFF2-40B4-BE49-F238E27FC236}">
                <a16:creationId xmlns:a16="http://schemas.microsoft.com/office/drawing/2014/main" id="{7917D5DE-CEE3-ADBD-6DA5-8BD3545D90B0}"/>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6" name="Google Shape;1774;p83">
            <a:extLst>
              <a:ext uri="{FF2B5EF4-FFF2-40B4-BE49-F238E27FC236}">
                <a16:creationId xmlns:a16="http://schemas.microsoft.com/office/drawing/2014/main" id="{257F9959-CE68-C9F5-47E5-4B27AB5F1988}"/>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7462361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DCFA0-6FA2-CC57-EDCD-11165347025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FB841FA-113B-E133-83E3-D32C0A0388C3}"/>
              </a:ext>
            </a:extLst>
          </p:cNvPr>
          <p:cNvPicPr>
            <a:picLocks noChangeAspect="1"/>
          </p:cNvPicPr>
          <p:nvPr/>
        </p:nvPicPr>
        <p:blipFill>
          <a:blip r:embed="rId2"/>
          <a:stretch>
            <a:fillRect/>
          </a:stretch>
        </p:blipFill>
        <p:spPr>
          <a:xfrm>
            <a:off x="760183" y="1078284"/>
            <a:ext cx="3934479" cy="3877250"/>
          </a:xfrm>
          <a:prstGeom prst="rect">
            <a:avLst/>
          </a:prstGeom>
        </p:spPr>
      </p:pic>
      <p:sp>
        <p:nvSpPr>
          <p:cNvPr id="9" name="Google Shape;1836;p85">
            <a:extLst>
              <a:ext uri="{FF2B5EF4-FFF2-40B4-BE49-F238E27FC236}">
                <a16:creationId xmlns:a16="http://schemas.microsoft.com/office/drawing/2014/main" id="{C52AA32F-F53E-EB02-A271-E71B481C18DE}"/>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is LLM planning in Creative Tasks?</a:t>
            </a:r>
            <a:endParaRPr lang="en-US" sz="2400" dirty="0"/>
          </a:p>
        </p:txBody>
      </p:sp>
      <p:sp>
        <p:nvSpPr>
          <p:cNvPr id="2" name="Right Arrow 1">
            <a:extLst>
              <a:ext uri="{FF2B5EF4-FFF2-40B4-BE49-F238E27FC236}">
                <a16:creationId xmlns:a16="http://schemas.microsoft.com/office/drawing/2014/main" id="{FE142818-3AE4-99C2-44F2-54037FA6F6FA}"/>
              </a:ext>
            </a:extLst>
          </p:cNvPr>
          <p:cNvSpPr/>
          <p:nvPr/>
        </p:nvSpPr>
        <p:spPr>
          <a:xfrm rot="12675234">
            <a:off x="4133052" y="1717288"/>
            <a:ext cx="673124" cy="245327"/>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12A4D8D-81D7-5FA1-F7F6-E97CA391C7C6}"/>
              </a:ext>
            </a:extLst>
          </p:cNvPr>
          <p:cNvSpPr txBox="1"/>
          <p:nvPr/>
        </p:nvSpPr>
        <p:spPr>
          <a:xfrm>
            <a:off x="4995746" y="2013273"/>
            <a:ext cx="2108269" cy="369332"/>
          </a:xfrm>
          <a:prstGeom prst="rect">
            <a:avLst/>
          </a:prstGeom>
          <a:noFill/>
          <a:ln>
            <a:solidFill>
              <a:schemeClr val="accent1">
                <a:shade val="15000"/>
              </a:schemeClr>
            </a:solidFill>
          </a:ln>
        </p:spPr>
        <p:txBody>
          <a:bodyPr wrap="none" rtlCol="0">
            <a:spAutoFit/>
          </a:bodyPr>
          <a:lstStyle/>
          <a:p>
            <a:r>
              <a:rPr lang="en-US" sz="1800" dirty="0"/>
              <a:t>PPL on token level</a:t>
            </a:r>
          </a:p>
        </p:txBody>
      </p:sp>
      <p:sp>
        <p:nvSpPr>
          <p:cNvPr id="6" name="Right Arrow 5">
            <a:extLst>
              <a:ext uri="{FF2B5EF4-FFF2-40B4-BE49-F238E27FC236}">
                <a16:creationId xmlns:a16="http://schemas.microsoft.com/office/drawing/2014/main" id="{034B1B47-1561-9A29-AAD4-D67162B6683D}"/>
              </a:ext>
            </a:extLst>
          </p:cNvPr>
          <p:cNvSpPr/>
          <p:nvPr/>
        </p:nvSpPr>
        <p:spPr>
          <a:xfrm rot="9848368">
            <a:off x="4484413" y="2994870"/>
            <a:ext cx="673124" cy="245327"/>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F52EF3D-29C5-6C0E-9164-8FFF3FFE5DE2}"/>
              </a:ext>
            </a:extLst>
          </p:cNvPr>
          <p:cNvSpPr txBox="1"/>
          <p:nvPr/>
        </p:nvSpPr>
        <p:spPr>
          <a:xfrm>
            <a:off x="5270809" y="2760896"/>
            <a:ext cx="2787943" cy="369332"/>
          </a:xfrm>
          <a:prstGeom prst="rect">
            <a:avLst/>
          </a:prstGeom>
          <a:noFill/>
          <a:ln>
            <a:solidFill>
              <a:schemeClr val="accent1">
                <a:shade val="15000"/>
              </a:schemeClr>
            </a:solidFill>
          </a:ln>
        </p:spPr>
        <p:txBody>
          <a:bodyPr wrap="none" rtlCol="0">
            <a:spAutoFit/>
          </a:bodyPr>
          <a:lstStyle/>
          <a:p>
            <a:r>
              <a:rPr lang="en-US" sz="1800" dirty="0"/>
              <a:t>PPL on latent space level</a:t>
            </a:r>
          </a:p>
        </p:txBody>
      </p:sp>
      <p:sp>
        <p:nvSpPr>
          <p:cNvPr id="8" name="Google Shape;1771;p83">
            <a:extLst>
              <a:ext uri="{FF2B5EF4-FFF2-40B4-BE49-F238E27FC236}">
                <a16:creationId xmlns:a16="http://schemas.microsoft.com/office/drawing/2014/main" id="{3384E268-CB8F-60A0-F374-FEC950A5AE9D}"/>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5" name="Google Shape;1772;p83">
            <a:extLst>
              <a:ext uri="{FF2B5EF4-FFF2-40B4-BE49-F238E27FC236}">
                <a16:creationId xmlns:a16="http://schemas.microsoft.com/office/drawing/2014/main" id="{903B5BFA-0C0B-078D-90E2-0D7E3F9DCD4A}"/>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6" name="Google Shape;1773;p83">
            <a:extLst>
              <a:ext uri="{FF2B5EF4-FFF2-40B4-BE49-F238E27FC236}">
                <a16:creationId xmlns:a16="http://schemas.microsoft.com/office/drawing/2014/main" id="{61304AEC-9DD8-B1FD-013E-1B03ED0231CD}"/>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7" name="Google Shape;1774;p83">
            <a:extLst>
              <a:ext uri="{FF2B5EF4-FFF2-40B4-BE49-F238E27FC236}">
                <a16:creationId xmlns:a16="http://schemas.microsoft.com/office/drawing/2014/main" id="{D13175B2-4D24-B4B7-12C6-FCEE928FE619}"/>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418698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9A53F-8114-BD38-57E6-03F245A7463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86BE1A6-9330-8662-3014-1ED69D23DADF}"/>
              </a:ext>
            </a:extLst>
          </p:cNvPr>
          <p:cNvPicPr>
            <a:picLocks noChangeAspect="1"/>
          </p:cNvPicPr>
          <p:nvPr/>
        </p:nvPicPr>
        <p:blipFill>
          <a:blip r:embed="rId2"/>
          <a:stretch>
            <a:fillRect/>
          </a:stretch>
        </p:blipFill>
        <p:spPr>
          <a:xfrm>
            <a:off x="3778102" y="1169278"/>
            <a:ext cx="4898890" cy="3404181"/>
          </a:xfrm>
          <a:prstGeom prst="rect">
            <a:avLst/>
          </a:prstGeom>
        </p:spPr>
      </p:pic>
      <p:sp>
        <p:nvSpPr>
          <p:cNvPr id="6" name="TextBox 5">
            <a:extLst>
              <a:ext uri="{FF2B5EF4-FFF2-40B4-BE49-F238E27FC236}">
                <a16:creationId xmlns:a16="http://schemas.microsoft.com/office/drawing/2014/main" id="{5E7B176D-7504-1FB0-8DCE-B151A897837B}"/>
              </a:ext>
            </a:extLst>
          </p:cNvPr>
          <p:cNvSpPr txBox="1"/>
          <p:nvPr/>
        </p:nvSpPr>
        <p:spPr>
          <a:xfrm>
            <a:off x="5469166" y="4632824"/>
            <a:ext cx="1516762" cy="307777"/>
          </a:xfrm>
          <a:prstGeom prst="rect">
            <a:avLst/>
          </a:prstGeom>
          <a:noFill/>
        </p:spPr>
        <p:txBody>
          <a:bodyPr wrap="none" rtlCol="0">
            <a:spAutoFit/>
          </a:bodyPr>
          <a:lstStyle/>
          <a:p>
            <a:r>
              <a:rPr lang="en-US" dirty="0"/>
              <a:t>Tian, et. al. 2024</a:t>
            </a:r>
          </a:p>
        </p:txBody>
      </p:sp>
      <p:sp>
        <p:nvSpPr>
          <p:cNvPr id="12" name="TextBox 11">
            <a:extLst>
              <a:ext uri="{FF2B5EF4-FFF2-40B4-BE49-F238E27FC236}">
                <a16:creationId xmlns:a16="http://schemas.microsoft.com/office/drawing/2014/main" id="{2421E9C5-34A4-E491-0435-AF8679E35A1F}"/>
              </a:ext>
            </a:extLst>
          </p:cNvPr>
          <p:cNvSpPr txBox="1"/>
          <p:nvPr/>
        </p:nvSpPr>
        <p:spPr>
          <a:xfrm>
            <a:off x="382595" y="1275725"/>
            <a:ext cx="3395507" cy="1323439"/>
          </a:xfrm>
          <a:prstGeom prst="rect">
            <a:avLst/>
          </a:prstGeom>
          <a:noFill/>
        </p:spPr>
        <p:txBody>
          <a:bodyPr wrap="square">
            <a:spAutoFit/>
          </a:bodyPr>
          <a:lstStyle/>
          <a:p>
            <a:pPr marL="285750" indent="-285750">
              <a:buFont typeface="Arial" panose="020B0604020202020204" pitchFamily="34" charset="0"/>
              <a:buChar char="•"/>
            </a:pPr>
            <a:r>
              <a:rPr lang="en-US" sz="1600" dirty="0"/>
              <a:t>Latent variables: event triggers</a:t>
            </a:r>
          </a:p>
          <a:p>
            <a:pPr marL="285750" indent="-285750">
              <a:buFont typeface="Arial" panose="020B0604020202020204" pitchFamily="34" charset="0"/>
              <a:buChar char="•"/>
            </a:pPr>
            <a:r>
              <a:rPr lang="en-US" sz="1600" dirty="0"/>
              <a:t>Takeaway:</a:t>
            </a:r>
          </a:p>
          <a:p>
            <a:pPr marL="285750" indent="-285750">
              <a:buFont typeface="Arial" panose="020B0604020202020204" pitchFamily="34" charset="0"/>
              <a:buChar char="•"/>
            </a:pPr>
            <a:r>
              <a:rPr lang="en-US" sz="1600" dirty="0"/>
              <a:t>Human and machine generations are different from a latent space perspective.</a:t>
            </a:r>
          </a:p>
        </p:txBody>
      </p:sp>
      <p:sp>
        <p:nvSpPr>
          <p:cNvPr id="13" name="Google Shape;1877;p85">
            <a:extLst>
              <a:ext uri="{FF2B5EF4-FFF2-40B4-BE49-F238E27FC236}">
                <a16:creationId xmlns:a16="http://schemas.microsoft.com/office/drawing/2014/main" id="{BECC7E28-A0B2-AAC2-C3F2-83DC4C46A0F6}"/>
              </a:ext>
            </a:extLst>
          </p:cNvPr>
          <p:cNvSpPr/>
          <p:nvPr/>
        </p:nvSpPr>
        <p:spPr>
          <a:xfrm>
            <a:off x="923381" y="3082675"/>
            <a:ext cx="1729752" cy="785100"/>
          </a:xfrm>
          <a:prstGeom prst="wedgeRectCallout">
            <a:avLst>
              <a:gd name="adj1" fmla="val 31868"/>
              <a:gd name="adj2" fmla="val -76972"/>
            </a:avLst>
          </a:prstGeom>
          <a:solidFill>
            <a:schemeClr val="accent5">
              <a:lumMod val="20000"/>
              <a:lumOff val="8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Is it possible to fix with SIT?</a:t>
            </a:r>
            <a:endParaRPr dirty="0"/>
          </a:p>
        </p:txBody>
      </p:sp>
      <p:sp>
        <p:nvSpPr>
          <p:cNvPr id="2" name="Google Shape;1836;p85">
            <a:extLst>
              <a:ext uri="{FF2B5EF4-FFF2-40B4-BE49-F238E27FC236}">
                <a16:creationId xmlns:a16="http://schemas.microsoft.com/office/drawing/2014/main" id="{E98AE578-B1ED-1B83-6E89-E2E06AA648AB}"/>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is LLM planning in Creative Tasks?</a:t>
            </a:r>
            <a:endParaRPr lang="en-US" sz="2400" dirty="0"/>
          </a:p>
        </p:txBody>
      </p:sp>
      <p:sp>
        <p:nvSpPr>
          <p:cNvPr id="7" name="Google Shape;1771;p83">
            <a:extLst>
              <a:ext uri="{FF2B5EF4-FFF2-40B4-BE49-F238E27FC236}">
                <a16:creationId xmlns:a16="http://schemas.microsoft.com/office/drawing/2014/main" id="{70378E9E-E0CA-F332-EB6A-D6F01F8BACC8}"/>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8" name="Google Shape;1772;p83">
            <a:extLst>
              <a:ext uri="{FF2B5EF4-FFF2-40B4-BE49-F238E27FC236}">
                <a16:creationId xmlns:a16="http://schemas.microsoft.com/office/drawing/2014/main" id="{FF068BAF-42A7-6720-0FB4-E73080DD3A89}"/>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9" name="Google Shape;1773;p83">
            <a:extLst>
              <a:ext uri="{FF2B5EF4-FFF2-40B4-BE49-F238E27FC236}">
                <a16:creationId xmlns:a16="http://schemas.microsoft.com/office/drawing/2014/main" id="{7F6F5A2C-F407-B352-BC16-23275D2E507D}"/>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0" name="Google Shape;1774;p83">
            <a:extLst>
              <a:ext uri="{FF2B5EF4-FFF2-40B4-BE49-F238E27FC236}">
                <a16:creationId xmlns:a16="http://schemas.microsoft.com/office/drawing/2014/main" id="{0804A3EB-3910-A5C6-50D6-547E5E89D692}"/>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3391127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13962-0F84-78A3-4061-BCA47EDBE0CD}"/>
            </a:ext>
          </a:extLst>
        </p:cNvPr>
        <p:cNvGrpSpPr/>
        <p:nvPr/>
      </p:nvGrpSpPr>
      <p:grpSpPr>
        <a:xfrm>
          <a:off x="0" y="0"/>
          <a:ext cx="0" cy="0"/>
          <a:chOff x="0" y="0"/>
          <a:chExt cx="0" cy="0"/>
        </a:xfrm>
      </p:grpSpPr>
      <p:sp>
        <p:nvSpPr>
          <p:cNvPr id="5" name="Google Shape;1836;p85">
            <a:extLst>
              <a:ext uri="{FF2B5EF4-FFF2-40B4-BE49-F238E27FC236}">
                <a16:creationId xmlns:a16="http://schemas.microsoft.com/office/drawing/2014/main" id="{4AB5A66D-C575-7C5C-D3D3-6C3AAF14F3F3}"/>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Is it possible to fix with SIT?</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401CF781-A3F0-BE1F-8EA4-5C018D3F01AE}"/>
                  </a:ext>
                </a:extLst>
              </p:cNvPr>
              <p:cNvGraphicFramePr>
                <a:graphicFrameLocks noGrp="1"/>
              </p:cNvGraphicFramePr>
              <p:nvPr/>
            </p:nvGraphicFramePr>
            <p:xfrm>
              <a:off x="503274" y="1159140"/>
              <a:ext cx="8031314" cy="2372495"/>
            </p:xfrm>
            <a:graphic>
              <a:graphicData uri="http://schemas.openxmlformats.org/drawingml/2006/table">
                <a:tbl>
                  <a:tblPr>
                    <a:tableStyleId>{9DBD82F4-FF5A-4DA7-A40D-C38478E7092A}</a:tableStyleId>
                  </a:tblPr>
                  <a:tblGrid>
                    <a:gridCol w="2677105">
                      <a:extLst>
                        <a:ext uri="{9D8B030D-6E8A-4147-A177-3AD203B41FA5}">
                          <a16:colId xmlns:a16="http://schemas.microsoft.com/office/drawing/2014/main" val="129172248"/>
                        </a:ext>
                      </a:extLst>
                    </a:gridCol>
                    <a:gridCol w="2171342">
                      <a:extLst>
                        <a:ext uri="{9D8B030D-6E8A-4147-A177-3AD203B41FA5}">
                          <a16:colId xmlns:a16="http://schemas.microsoft.com/office/drawing/2014/main" val="2981136724"/>
                        </a:ext>
                      </a:extLst>
                    </a:gridCol>
                    <a:gridCol w="3182867">
                      <a:extLst>
                        <a:ext uri="{9D8B030D-6E8A-4147-A177-3AD203B41FA5}">
                          <a16:colId xmlns:a16="http://schemas.microsoft.com/office/drawing/2014/main" val="4031316887"/>
                        </a:ext>
                      </a:extLst>
                    </a:gridCol>
                  </a:tblGrid>
                  <a:tr h="0">
                    <a:tc>
                      <a:txBody>
                        <a:bodyPr/>
                        <a:lstStyle/>
                        <a:p>
                          <a:pPr algn="ctr"/>
                          <a:r>
                            <a:rPr lang="en-US" sz="1200" b="1" u="sng" dirty="0"/>
                            <a:t>Stage</a:t>
                          </a:r>
                        </a:p>
                      </a:txBody>
                      <a:tcPr marL="58232" marR="58232" marT="29116" marB="29116" anchor="ctr"/>
                    </a:tc>
                    <a:tc>
                      <a:txBody>
                        <a:bodyPr/>
                        <a:lstStyle/>
                        <a:p>
                          <a:pPr algn="ctr"/>
                          <a:r>
                            <a:rPr lang="en-US" sz="1200" b="1" u="sng" dirty="0"/>
                            <a:t>What the model sees during training</a:t>
                          </a:r>
                        </a:p>
                      </a:txBody>
                      <a:tcPr marL="58232" marR="58232" marT="29116" marB="29116" anchor="ctr"/>
                    </a:tc>
                    <a:tc>
                      <a:txBody>
                        <a:bodyPr/>
                        <a:lstStyle/>
                        <a:p>
                          <a:pPr algn="ctr"/>
                          <a:r>
                            <a:rPr lang="en-US" sz="1200" b="1" u="sng" dirty="0"/>
                            <a:t>What it learns</a:t>
                          </a:r>
                        </a:p>
                      </a:txBody>
                      <a:tcPr marL="58232" marR="58232" marT="29116" marB="29116" anchor="ctr"/>
                    </a:tc>
                    <a:extLst>
                      <a:ext uri="{0D108BD9-81ED-4DB2-BD59-A6C34878D82A}">
                        <a16:rowId xmlns:a16="http://schemas.microsoft.com/office/drawing/2014/main" val="1935703117"/>
                      </a:ext>
                    </a:extLst>
                  </a:tr>
                  <a:tr h="737610">
                    <a:tc>
                      <a:txBody>
                        <a:bodyPr/>
                        <a:lstStyle/>
                        <a:p>
                          <a:pPr algn="ctr"/>
                          <a:r>
                            <a:rPr lang="en-US" sz="1200" b="1" dirty="0"/>
                            <a:t>1. Pre-training</a:t>
                          </a:r>
                          <a:br>
                            <a:rPr lang="en-US" sz="1200" dirty="0"/>
                          </a:br>
                          <a:r>
                            <a:rPr lang="en-US" sz="1200" dirty="0"/>
                            <a:t>(next-token prediction on trillions of tokens)</a:t>
                          </a:r>
                        </a:p>
                      </a:txBody>
                      <a:tcPr marL="58232" marR="58232" marT="29116" marB="29116" anchor="ctr"/>
                    </a:tc>
                    <a:tc>
                      <a:txBody>
                        <a:bodyPr/>
                        <a:lstStyle/>
                        <a:p>
                          <a:pPr algn="ctr"/>
                          <a:r>
                            <a:rPr lang="en-US" sz="1200" dirty="0"/>
                            <a:t>Raw web text, code, forum Q&amp;A, documentation, chat logs, etc. </a:t>
                          </a:r>
                        </a:p>
                      </a:txBody>
                      <a:tcPr marL="58232" marR="58232" marT="29116" marB="29116" anchor="ctr"/>
                    </a:tc>
                    <a:tc>
                      <a:txBody>
                        <a:bodyPr/>
                        <a:lstStyle/>
                        <a:p>
                          <a:pPr algn="ctr"/>
                          <a:r>
                            <a:rPr lang="en-US" sz="1200" dirty="0"/>
                            <a:t>• The completion habit: given a context, continue it coherently.</a:t>
                          </a:r>
                          <a:br>
                            <a:rPr lang="en-US" sz="1200" dirty="0"/>
                          </a:br>
                          <a:r>
                            <a:rPr lang="en-US" sz="1200" dirty="0"/>
                            <a:t>• Statistical associations between “instruction-like” language and “answer-like” language.</a:t>
                          </a:r>
                        </a:p>
                      </a:txBody>
                      <a:tcPr marL="58232" marR="58232" marT="29116" marB="29116" anchor="ctr"/>
                    </a:tc>
                    <a:extLst>
                      <a:ext uri="{0D108BD9-81ED-4DB2-BD59-A6C34878D82A}">
                        <a16:rowId xmlns:a16="http://schemas.microsoft.com/office/drawing/2014/main" val="270159804"/>
                      </a:ext>
                    </a:extLst>
                  </a:tr>
                  <a:tr h="1009361">
                    <a:tc>
                      <a:txBody>
                        <a:bodyPr/>
                        <a:lstStyle/>
                        <a:p>
                          <a:pPr algn="ctr"/>
                          <a:r>
                            <a:rPr lang="en-US" sz="1200" b="1" dirty="0"/>
                            <a:t>2. Supervised Instruction Tuning</a:t>
                          </a:r>
                          <a:br>
                            <a:rPr lang="en-US" sz="1200" dirty="0"/>
                          </a:br>
                          <a:r>
                            <a:rPr lang="en-US" sz="1200" dirty="0"/>
                            <a:t>(a.k.a. “SFT” or “instruction fine-tune”)</a:t>
                          </a:r>
                        </a:p>
                      </a:txBody>
                      <a:tcPr marL="58232" marR="58232" marT="29116" marB="29116" anchor="ctr"/>
                    </a:tc>
                    <a:tc>
                      <a:txBody>
                        <a:bodyPr/>
                        <a:lstStyle/>
                        <a:p>
                          <a:pPr algn="ctr"/>
                          <a:r>
                            <a:rPr lang="en-US" sz="1200" dirty="0"/>
                            <a:t>Curated tuples </a:t>
                          </a:r>
                        </a:p>
                        <a:p>
                          <a:pPr algn="ctr"/>
                          <a:r>
                            <a:rPr lang="en-US" sz="1200" dirty="0"/>
                            <a:t>⟨instruction, ideal answer⟩</a:t>
                          </a:r>
                        </a:p>
                      </a:txBody>
                      <a:tcPr marL="58232" marR="58232" marT="29116" marB="29116"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 </a:t>
                          </a:r>
                          <a14:m>
                            <m:oMath xmlns:m="http://schemas.openxmlformats.org/officeDocument/2006/math">
                              <m:sSub>
                                <m:sSubPr>
                                  <m:ctrlPr>
                                    <a:rPr lang="en-US" sz="1200" b="0" i="1" smtClean="0">
                                      <a:latin typeface="Cambria Math" panose="02040503050406030204" pitchFamily="18" charset="0"/>
                                    </a:rPr>
                                  </m:ctrlPr>
                                </m:sSubPr>
                                <m:e>
                                  <m:r>
                                    <a:rPr lang="en-US" sz="1200" i="1" smtClean="0">
                                      <a:latin typeface="Cambria Math" panose="02040503050406030204" pitchFamily="18" charset="0"/>
                                    </a:rPr>
                                    <m:t>𝐿</m:t>
                                  </m:r>
                                </m:e>
                                <m:sub>
                                  <m:r>
                                    <a:rPr lang="en-US" sz="1200" b="0" i="1" smtClean="0">
                                      <a:latin typeface="Cambria Math" panose="02040503050406030204" pitchFamily="18" charset="0"/>
                                    </a:rPr>
                                    <m:t>𝑆𝐹𝑇</m:t>
                                  </m:r>
                                </m:sub>
                              </m:sSub>
                              <m:d>
                                <m:dPr>
                                  <m:ctrlPr>
                                    <a:rPr lang="en-US" sz="1200" i="1" smtClean="0">
                                      <a:latin typeface="Cambria Math" panose="02040503050406030204" pitchFamily="18" charset="0"/>
                                    </a:rPr>
                                  </m:ctrlPr>
                                </m:dPr>
                                <m:e>
                                  <m:r>
                                    <a:rPr lang="el-GR" sz="1200" i="1">
                                      <a:latin typeface="Cambria Math" panose="02040503050406030204" pitchFamily="18" charset="0"/>
                                    </a:rPr>
                                    <m:t>𝜃</m:t>
                                  </m:r>
                                </m:e>
                              </m:d>
                              <m:r>
                                <a:rPr lang="el-GR" sz="1200" i="1">
                                  <a:latin typeface="Cambria Math" panose="02040503050406030204" pitchFamily="18" charset="0"/>
                                </a:rPr>
                                <m:t> = −</m:t>
                              </m:r>
                              <m:nary>
                                <m:naryPr>
                                  <m:chr m:val="∑"/>
                                  <m:ctrlPr>
                                    <a:rPr lang="el-GR" sz="1200" i="1">
                                      <a:latin typeface="Cambria Math" panose="02040503050406030204" pitchFamily="18" charset="0"/>
                                    </a:rPr>
                                  </m:ctrlPr>
                                </m:naryPr>
                                <m:sub>
                                  <m:r>
                                    <m:rPr>
                                      <m:brk m:alnAt="23"/>
                                    </m:rPr>
                                    <a:rPr lang="en-US" sz="1200" b="0" i="1" smtClean="0">
                                      <a:latin typeface="Cambria Math" panose="02040503050406030204" pitchFamily="18" charset="0"/>
                                    </a:rPr>
                                    <m:t>𝑡</m:t>
                                  </m:r>
                                  <m:r>
                                    <a:rPr lang="en-US" sz="1200" b="0" i="1" smtClean="0">
                                      <a:latin typeface="Cambria Math" panose="02040503050406030204" pitchFamily="18" charset="0"/>
                                    </a:rPr>
                                    <m:t>=1</m:t>
                                  </m:r>
                                </m:sub>
                                <m:sup>
                                  <m:r>
                                    <a:rPr lang="en-US" sz="1200" b="0" i="1" smtClean="0">
                                      <a:latin typeface="Cambria Math" panose="02040503050406030204" pitchFamily="18" charset="0"/>
                                    </a:rPr>
                                    <m:t>𝑇</m:t>
                                  </m:r>
                                </m:sup>
                                <m:e>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log</m:t>
                                      </m:r>
                                    </m:fName>
                                    <m:e>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𝜃</m:t>
                                          </m:r>
                                        </m:e>
                                      </m:d>
                                    </m:e>
                                  </m:func>
                                </m:e>
                              </m:nary>
                              <m:d>
                                <m:dPr>
                                  <m:endChr m:val="|"/>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𝑦</m:t>
                                      </m:r>
                                    </m:e>
                                    <m:sub>
                                      <m:r>
                                        <a:rPr lang="en-US" sz="1200" b="0" i="1" smtClean="0">
                                          <a:latin typeface="Cambria Math" panose="02040503050406030204" pitchFamily="18" charset="0"/>
                                        </a:rPr>
                                        <m:t>𝑡</m:t>
                                      </m:r>
                                    </m:sub>
                                  </m:sSub>
                                </m:e>
                              </m:d>
                              <m:r>
                                <a:rPr lang="en-US" sz="1200" b="0" i="1" smtClean="0">
                                  <a:latin typeface="Cambria Math" panose="02040503050406030204" pitchFamily="18" charset="0"/>
                                </a:rPr>
                                <m:t>𝑥</m:t>
                              </m:r>
                              <m:r>
                                <a:rPr lang="en-US" sz="1200" b="0" i="1" smtClean="0">
                                  <a:latin typeface="Cambria Math" panose="02040503050406030204" pitchFamily="18" charset="0"/>
                                </a:rPr>
                                <m:t>, </m:t>
                              </m:r>
                              <m:r>
                                <a:rPr lang="en-US" sz="1200" b="0" i="1" smtClean="0">
                                  <a:latin typeface="Cambria Math" panose="02040503050406030204" pitchFamily="18" charset="0"/>
                                </a:rPr>
                                <m:t>𝑦</m:t>
                              </m:r>
                              <m:r>
                                <a:rPr lang="en-US" sz="1200" b="0" i="1" smtClean="0">
                                  <a:latin typeface="Cambria Math" panose="02040503050406030204" pitchFamily="18" charset="0"/>
                                </a:rPr>
                                <m:t>&lt;</m:t>
                              </m:r>
                              <m:r>
                                <a:rPr lang="en-US" sz="1200" b="0" i="1" smtClean="0">
                                  <a:latin typeface="Cambria Math" panose="02040503050406030204" pitchFamily="18" charset="0"/>
                                </a:rPr>
                                <m:t>𝑡</m:t>
                              </m:r>
                              <m:r>
                                <a:rPr lang="en-US" sz="1200" b="0" i="1" smtClean="0">
                                  <a:latin typeface="Cambria Math" panose="02040503050406030204" pitchFamily="18" charset="0"/>
                                </a:rPr>
                                <m:t>)</m:t>
                              </m:r>
                            </m:oMath>
                          </a14:m>
                          <a:endParaRPr lang="en-US" sz="1200" b="0" dirty="0"/>
                        </a:p>
                        <a:p>
                          <a:pPr algn="ctr"/>
                          <a:endParaRPr lang="en-US" sz="1200" dirty="0"/>
                        </a:p>
                        <a:p>
                          <a:pPr algn="ctr"/>
                          <a:r>
                            <a:rPr lang="en-US" sz="1200" dirty="0"/>
                            <a:t>• A direct supervised loss that says: when you see something that looks like an instruction, output something that looks like the paired answer.</a:t>
                          </a:r>
                        </a:p>
                      </a:txBody>
                      <a:tcPr marL="58232" marR="58232" marT="29116" marB="29116" anchor="ctr"/>
                    </a:tc>
                    <a:extLst>
                      <a:ext uri="{0D108BD9-81ED-4DB2-BD59-A6C34878D82A}">
                        <a16:rowId xmlns:a16="http://schemas.microsoft.com/office/drawing/2014/main" val="2955572893"/>
                      </a:ext>
                    </a:extLst>
                  </a:tr>
                </a:tbl>
              </a:graphicData>
            </a:graphic>
          </p:graphicFrame>
        </mc:Choice>
        <mc:Fallback xmlns="">
          <p:graphicFrame>
            <p:nvGraphicFramePr>
              <p:cNvPr id="10" name="Table 9">
                <a:extLst>
                  <a:ext uri="{FF2B5EF4-FFF2-40B4-BE49-F238E27FC236}">
                    <a16:creationId xmlns:a16="http://schemas.microsoft.com/office/drawing/2014/main" id="{401CF781-A3F0-BE1F-8EA4-5C018D3F01AE}"/>
                  </a:ext>
                </a:extLst>
              </p:cNvPr>
              <p:cNvGraphicFramePr>
                <a:graphicFrameLocks noGrp="1"/>
              </p:cNvGraphicFramePr>
              <p:nvPr/>
            </p:nvGraphicFramePr>
            <p:xfrm>
              <a:off x="503274" y="1159140"/>
              <a:ext cx="8031314" cy="2372495"/>
            </p:xfrm>
            <a:graphic>
              <a:graphicData uri="http://schemas.openxmlformats.org/drawingml/2006/table">
                <a:tbl>
                  <a:tblPr>
                    <a:tableStyleId>{9DBD82F4-FF5A-4DA7-A40D-C38478E7092A}</a:tableStyleId>
                  </a:tblPr>
                  <a:tblGrid>
                    <a:gridCol w="2677105">
                      <a:extLst>
                        <a:ext uri="{9D8B030D-6E8A-4147-A177-3AD203B41FA5}">
                          <a16:colId xmlns:a16="http://schemas.microsoft.com/office/drawing/2014/main" val="129172248"/>
                        </a:ext>
                      </a:extLst>
                    </a:gridCol>
                    <a:gridCol w="2171342">
                      <a:extLst>
                        <a:ext uri="{9D8B030D-6E8A-4147-A177-3AD203B41FA5}">
                          <a16:colId xmlns:a16="http://schemas.microsoft.com/office/drawing/2014/main" val="2981136724"/>
                        </a:ext>
                      </a:extLst>
                    </a:gridCol>
                    <a:gridCol w="3182867">
                      <a:extLst>
                        <a:ext uri="{9D8B030D-6E8A-4147-A177-3AD203B41FA5}">
                          <a16:colId xmlns:a16="http://schemas.microsoft.com/office/drawing/2014/main" val="4031316887"/>
                        </a:ext>
                      </a:extLst>
                    </a:gridCol>
                  </a:tblGrid>
                  <a:tr h="423992">
                    <a:tc>
                      <a:txBody>
                        <a:bodyPr/>
                        <a:lstStyle/>
                        <a:p>
                          <a:pPr algn="ctr"/>
                          <a:r>
                            <a:rPr lang="en-US" sz="1200" b="1" u="sng" dirty="0"/>
                            <a:t>Stage</a:t>
                          </a:r>
                        </a:p>
                      </a:txBody>
                      <a:tcPr marL="58232" marR="58232" marT="29116" marB="29116" anchor="ctr"/>
                    </a:tc>
                    <a:tc>
                      <a:txBody>
                        <a:bodyPr/>
                        <a:lstStyle/>
                        <a:p>
                          <a:pPr algn="ctr"/>
                          <a:r>
                            <a:rPr lang="en-US" sz="1200" b="1" u="sng" dirty="0"/>
                            <a:t>What the model sees during training</a:t>
                          </a:r>
                        </a:p>
                      </a:txBody>
                      <a:tcPr marL="58232" marR="58232" marT="29116" marB="29116" anchor="ctr"/>
                    </a:tc>
                    <a:tc>
                      <a:txBody>
                        <a:bodyPr/>
                        <a:lstStyle/>
                        <a:p>
                          <a:pPr algn="ctr"/>
                          <a:r>
                            <a:rPr lang="en-US" sz="1200" b="1" u="sng" dirty="0"/>
                            <a:t>What it learns</a:t>
                          </a:r>
                        </a:p>
                      </a:txBody>
                      <a:tcPr marL="58232" marR="58232" marT="29116" marB="29116" anchor="ctr"/>
                    </a:tc>
                    <a:extLst>
                      <a:ext uri="{0D108BD9-81ED-4DB2-BD59-A6C34878D82A}">
                        <a16:rowId xmlns:a16="http://schemas.microsoft.com/office/drawing/2014/main" val="1935703117"/>
                      </a:ext>
                    </a:extLst>
                  </a:tr>
                  <a:tr h="789752">
                    <a:tc>
                      <a:txBody>
                        <a:bodyPr/>
                        <a:lstStyle/>
                        <a:p>
                          <a:pPr algn="ctr"/>
                          <a:r>
                            <a:rPr lang="en-US" sz="1200" b="1" dirty="0"/>
                            <a:t>1. Pre-training</a:t>
                          </a:r>
                          <a:br>
                            <a:rPr lang="en-US" sz="1200" dirty="0"/>
                          </a:br>
                          <a:r>
                            <a:rPr lang="en-US" sz="1200" dirty="0"/>
                            <a:t>(next-token prediction on trillions of tokens)</a:t>
                          </a:r>
                        </a:p>
                      </a:txBody>
                      <a:tcPr marL="58232" marR="58232" marT="29116" marB="29116" anchor="ctr"/>
                    </a:tc>
                    <a:tc>
                      <a:txBody>
                        <a:bodyPr/>
                        <a:lstStyle/>
                        <a:p>
                          <a:pPr algn="ctr"/>
                          <a:r>
                            <a:rPr lang="en-US" sz="1200" dirty="0"/>
                            <a:t>Raw web text, code, forum Q&amp;A, documentation, chat logs, etc. </a:t>
                          </a:r>
                        </a:p>
                      </a:txBody>
                      <a:tcPr marL="58232" marR="58232" marT="29116" marB="29116" anchor="ctr"/>
                    </a:tc>
                    <a:tc>
                      <a:txBody>
                        <a:bodyPr/>
                        <a:lstStyle/>
                        <a:p>
                          <a:pPr algn="ctr"/>
                          <a:r>
                            <a:rPr lang="en-US" sz="1200" dirty="0"/>
                            <a:t>• The completion habit: given a context, continue it coherently.</a:t>
                          </a:r>
                          <a:br>
                            <a:rPr lang="en-US" sz="1200" dirty="0"/>
                          </a:br>
                          <a:r>
                            <a:rPr lang="en-US" sz="1200" dirty="0"/>
                            <a:t>• Statistical associations between “instruction-like” language and “answer-like” language.</a:t>
                          </a:r>
                        </a:p>
                      </a:txBody>
                      <a:tcPr marL="58232" marR="58232" marT="29116" marB="29116" anchor="ctr"/>
                    </a:tc>
                    <a:extLst>
                      <a:ext uri="{0D108BD9-81ED-4DB2-BD59-A6C34878D82A}">
                        <a16:rowId xmlns:a16="http://schemas.microsoft.com/office/drawing/2014/main" val="270159804"/>
                      </a:ext>
                    </a:extLst>
                  </a:tr>
                  <a:tr h="1158751">
                    <a:tc>
                      <a:txBody>
                        <a:bodyPr/>
                        <a:lstStyle/>
                        <a:p>
                          <a:pPr algn="ctr"/>
                          <a:r>
                            <a:rPr lang="en-US" sz="1200" b="1" dirty="0"/>
                            <a:t>2. Supervised Instruction Tuning</a:t>
                          </a:r>
                          <a:br>
                            <a:rPr lang="en-US" sz="1200" dirty="0"/>
                          </a:br>
                          <a:r>
                            <a:rPr lang="en-US" sz="1200" dirty="0"/>
                            <a:t>(a.k.a. “SFT” or “instruction fine-tune”)</a:t>
                          </a:r>
                        </a:p>
                      </a:txBody>
                      <a:tcPr marL="58232" marR="58232" marT="29116" marB="29116" anchor="ctr"/>
                    </a:tc>
                    <a:tc>
                      <a:txBody>
                        <a:bodyPr/>
                        <a:lstStyle/>
                        <a:p>
                          <a:pPr algn="ctr"/>
                          <a:r>
                            <a:rPr lang="en-US" sz="1200" dirty="0"/>
                            <a:t>Curated tuples </a:t>
                          </a:r>
                        </a:p>
                        <a:p>
                          <a:pPr algn="ctr"/>
                          <a:r>
                            <a:rPr lang="en-US" sz="1200" dirty="0"/>
                            <a:t>⟨instruction, ideal answer⟩</a:t>
                          </a:r>
                        </a:p>
                      </a:txBody>
                      <a:tcPr marL="58232" marR="58232" marT="29116" marB="29116" anchor="ctr"/>
                    </a:tc>
                    <a:tc>
                      <a:txBody>
                        <a:bodyPr/>
                        <a:lstStyle/>
                        <a:p>
                          <a:endParaRPr lang="en-US"/>
                        </a:p>
                      </a:txBody>
                      <a:tcPr marL="58232" marR="58232" marT="29116" marB="29116" anchor="ctr">
                        <a:blipFill>
                          <a:blip r:embed="rId2"/>
                          <a:stretch>
                            <a:fillRect l="-152988" t="-106522" r="-398" b="-4348"/>
                          </a:stretch>
                        </a:blipFill>
                      </a:tcPr>
                    </a:tc>
                    <a:extLst>
                      <a:ext uri="{0D108BD9-81ED-4DB2-BD59-A6C34878D82A}">
                        <a16:rowId xmlns:a16="http://schemas.microsoft.com/office/drawing/2014/main" val="2955572893"/>
                      </a:ext>
                    </a:extLst>
                  </a:tr>
                </a:tbl>
              </a:graphicData>
            </a:graphic>
          </p:graphicFrame>
        </mc:Fallback>
      </mc:AlternateContent>
      <p:sp>
        <p:nvSpPr>
          <p:cNvPr id="3" name="Google Shape;1877;p85">
            <a:extLst>
              <a:ext uri="{FF2B5EF4-FFF2-40B4-BE49-F238E27FC236}">
                <a16:creationId xmlns:a16="http://schemas.microsoft.com/office/drawing/2014/main" id="{FB40AE38-2719-15B7-E93D-DBD8BF41D798}"/>
              </a:ext>
            </a:extLst>
          </p:cNvPr>
          <p:cNvSpPr/>
          <p:nvPr/>
        </p:nvSpPr>
        <p:spPr>
          <a:xfrm>
            <a:off x="6046382" y="3913375"/>
            <a:ext cx="2183217" cy="785100"/>
          </a:xfrm>
          <a:prstGeom prst="wedgeRectCallout">
            <a:avLst>
              <a:gd name="adj1" fmla="val -26732"/>
              <a:gd name="adj2" fmla="val -86000"/>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Not very likely, because the training objective is at surface level. </a:t>
            </a:r>
            <a:endParaRPr dirty="0"/>
          </a:p>
        </p:txBody>
      </p:sp>
      <p:sp>
        <p:nvSpPr>
          <p:cNvPr id="8" name="Google Shape;1771;p83">
            <a:extLst>
              <a:ext uri="{FF2B5EF4-FFF2-40B4-BE49-F238E27FC236}">
                <a16:creationId xmlns:a16="http://schemas.microsoft.com/office/drawing/2014/main" id="{BF69ED9F-0E36-9F94-2079-CECF7D934753}"/>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9" name="Google Shape;1772;p83">
            <a:extLst>
              <a:ext uri="{FF2B5EF4-FFF2-40B4-BE49-F238E27FC236}">
                <a16:creationId xmlns:a16="http://schemas.microsoft.com/office/drawing/2014/main" id="{688CA7DA-953B-791B-9652-F339E8907076}"/>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1" name="Google Shape;1773;p83">
            <a:extLst>
              <a:ext uri="{FF2B5EF4-FFF2-40B4-BE49-F238E27FC236}">
                <a16:creationId xmlns:a16="http://schemas.microsoft.com/office/drawing/2014/main" id="{AA56F9B8-4EAF-0B0E-12FE-E851412A4567}"/>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2" name="Google Shape;1774;p83">
            <a:extLst>
              <a:ext uri="{FF2B5EF4-FFF2-40B4-BE49-F238E27FC236}">
                <a16:creationId xmlns:a16="http://schemas.microsoft.com/office/drawing/2014/main" id="{FF6F43CE-7434-A533-6142-0462AC818080}"/>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3028173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0C752-AD43-07F4-858B-EECCF2CFBD9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BE4F313-7CA7-BECA-952C-171313555469}"/>
                  </a:ext>
                </a:extLst>
              </p:cNvPr>
              <p:cNvGraphicFramePr>
                <a:graphicFrameLocks noGrp="1"/>
              </p:cNvGraphicFramePr>
              <p:nvPr/>
            </p:nvGraphicFramePr>
            <p:xfrm>
              <a:off x="503274" y="1159140"/>
              <a:ext cx="8031314" cy="3381856"/>
            </p:xfrm>
            <a:graphic>
              <a:graphicData uri="http://schemas.openxmlformats.org/drawingml/2006/table">
                <a:tbl>
                  <a:tblPr>
                    <a:tableStyleId>{9DBD82F4-FF5A-4DA7-A40D-C38478E7092A}</a:tableStyleId>
                  </a:tblPr>
                  <a:tblGrid>
                    <a:gridCol w="2677105">
                      <a:extLst>
                        <a:ext uri="{9D8B030D-6E8A-4147-A177-3AD203B41FA5}">
                          <a16:colId xmlns:a16="http://schemas.microsoft.com/office/drawing/2014/main" val="129172248"/>
                        </a:ext>
                      </a:extLst>
                    </a:gridCol>
                    <a:gridCol w="2171342">
                      <a:extLst>
                        <a:ext uri="{9D8B030D-6E8A-4147-A177-3AD203B41FA5}">
                          <a16:colId xmlns:a16="http://schemas.microsoft.com/office/drawing/2014/main" val="2981136724"/>
                        </a:ext>
                      </a:extLst>
                    </a:gridCol>
                    <a:gridCol w="3182867">
                      <a:extLst>
                        <a:ext uri="{9D8B030D-6E8A-4147-A177-3AD203B41FA5}">
                          <a16:colId xmlns:a16="http://schemas.microsoft.com/office/drawing/2014/main" val="4031316887"/>
                        </a:ext>
                      </a:extLst>
                    </a:gridCol>
                  </a:tblGrid>
                  <a:tr h="0">
                    <a:tc>
                      <a:txBody>
                        <a:bodyPr/>
                        <a:lstStyle/>
                        <a:p>
                          <a:pPr algn="ctr"/>
                          <a:r>
                            <a:rPr lang="en-US" sz="1200" b="1" u="sng" dirty="0"/>
                            <a:t>Stage</a:t>
                          </a:r>
                        </a:p>
                      </a:txBody>
                      <a:tcPr marL="58232" marR="58232" marT="29116" marB="29116" anchor="ctr"/>
                    </a:tc>
                    <a:tc>
                      <a:txBody>
                        <a:bodyPr/>
                        <a:lstStyle/>
                        <a:p>
                          <a:pPr algn="ctr"/>
                          <a:r>
                            <a:rPr lang="en-US" sz="1200" b="1" u="sng" dirty="0"/>
                            <a:t>What the model sees during training</a:t>
                          </a:r>
                        </a:p>
                      </a:txBody>
                      <a:tcPr marL="58232" marR="58232" marT="29116" marB="29116" anchor="ctr"/>
                    </a:tc>
                    <a:tc>
                      <a:txBody>
                        <a:bodyPr/>
                        <a:lstStyle/>
                        <a:p>
                          <a:pPr algn="ctr"/>
                          <a:r>
                            <a:rPr lang="en-US" sz="1200" b="1" u="sng" dirty="0"/>
                            <a:t>What it learns</a:t>
                          </a:r>
                        </a:p>
                      </a:txBody>
                      <a:tcPr marL="58232" marR="58232" marT="29116" marB="29116" anchor="ctr"/>
                    </a:tc>
                    <a:extLst>
                      <a:ext uri="{0D108BD9-81ED-4DB2-BD59-A6C34878D82A}">
                        <a16:rowId xmlns:a16="http://schemas.microsoft.com/office/drawing/2014/main" val="1935703117"/>
                      </a:ext>
                    </a:extLst>
                  </a:tr>
                  <a:tr h="737610">
                    <a:tc>
                      <a:txBody>
                        <a:bodyPr/>
                        <a:lstStyle/>
                        <a:p>
                          <a:pPr algn="ctr"/>
                          <a:r>
                            <a:rPr lang="en-US" sz="1200" b="1" dirty="0"/>
                            <a:t>1. Pre-training</a:t>
                          </a:r>
                          <a:br>
                            <a:rPr lang="en-US" sz="1200" dirty="0"/>
                          </a:br>
                          <a:r>
                            <a:rPr lang="en-US" sz="1200" dirty="0"/>
                            <a:t>(next-token prediction on trillions of tokens)</a:t>
                          </a:r>
                        </a:p>
                      </a:txBody>
                      <a:tcPr marL="58232" marR="58232" marT="29116" marB="29116" anchor="ctr"/>
                    </a:tc>
                    <a:tc>
                      <a:txBody>
                        <a:bodyPr/>
                        <a:lstStyle/>
                        <a:p>
                          <a:pPr algn="ctr"/>
                          <a:r>
                            <a:rPr lang="en-US" sz="1200" dirty="0"/>
                            <a:t>Raw web text, code, forum Q&amp;A, documentation, chat logs, etc. </a:t>
                          </a:r>
                        </a:p>
                      </a:txBody>
                      <a:tcPr marL="58232" marR="58232" marT="29116" marB="29116" anchor="ctr"/>
                    </a:tc>
                    <a:tc>
                      <a:txBody>
                        <a:bodyPr/>
                        <a:lstStyle/>
                        <a:p>
                          <a:pPr algn="ctr"/>
                          <a:r>
                            <a:rPr lang="en-US" sz="1200" dirty="0"/>
                            <a:t>• The completion habit: given a context, continue it coherently.</a:t>
                          </a:r>
                          <a:br>
                            <a:rPr lang="en-US" sz="1200" dirty="0"/>
                          </a:br>
                          <a:r>
                            <a:rPr lang="en-US" sz="1200" dirty="0"/>
                            <a:t>• Statistical associations between “instruction-like” language and “answer-like” language.</a:t>
                          </a:r>
                        </a:p>
                      </a:txBody>
                      <a:tcPr marL="58232" marR="58232" marT="29116" marB="29116" anchor="ctr"/>
                    </a:tc>
                    <a:extLst>
                      <a:ext uri="{0D108BD9-81ED-4DB2-BD59-A6C34878D82A}">
                        <a16:rowId xmlns:a16="http://schemas.microsoft.com/office/drawing/2014/main" val="270159804"/>
                      </a:ext>
                    </a:extLst>
                  </a:tr>
                  <a:tr h="1009361">
                    <a:tc>
                      <a:txBody>
                        <a:bodyPr/>
                        <a:lstStyle/>
                        <a:p>
                          <a:pPr algn="ctr"/>
                          <a:r>
                            <a:rPr lang="en-US" sz="1200" b="1" dirty="0"/>
                            <a:t>2. Supervised Instruction Tuning</a:t>
                          </a:r>
                          <a:br>
                            <a:rPr lang="en-US" sz="1200" dirty="0"/>
                          </a:br>
                          <a:r>
                            <a:rPr lang="en-US" sz="1200" dirty="0"/>
                            <a:t>(a.k.a. “SFT” or “instruction fine-tune”)</a:t>
                          </a:r>
                        </a:p>
                      </a:txBody>
                      <a:tcPr marL="58232" marR="58232" marT="29116" marB="29116" anchor="ctr"/>
                    </a:tc>
                    <a:tc>
                      <a:txBody>
                        <a:bodyPr/>
                        <a:lstStyle/>
                        <a:p>
                          <a:pPr algn="ctr"/>
                          <a:r>
                            <a:rPr lang="en-US" sz="1200" dirty="0"/>
                            <a:t>Curated tuples </a:t>
                          </a:r>
                        </a:p>
                        <a:p>
                          <a:pPr algn="ctr"/>
                          <a:r>
                            <a:rPr lang="en-US" sz="1200" dirty="0"/>
                            <a:t>⟨instruction, ideal answer⟩</a:t>
                          </a:r>
                        </a:p>
                      </a:txBody>
                      <a:tcPr marL="58232" marR="58232" marT="29116" marB="29116"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 </a:t>
                          </a:r>
                          <a14:m>
                            <m:oMath xmlns:m="http://schemas.openxmlformats.org/officeDocument/2006/math">
                              <m:sSub>
                                <m:sSubPr>
                                  <m:ctrlPr>
                                    <a:rPr lang="en-US" sz="1200" b="0" i="1" smtClean="0">
                                      <a:latin typeface="Cambria Math" panose="02040503050406030204" pitchFamily="18" charset="0"/>
                                    </a:rPr>
                                  </m:ctrlPr>
                                </m:sSubPr>
                                <m:e>
                                  <m:r>
                                    <a:rPr lang="en-US" sz="1200" i="1" smtClean="0">
                                      <a:latin typeface="Cambria Math" panose="02040503050406030204" pitchFamily="18" charset="0"/>
                                    </a:rPr>
                                    <m:t>𝐿</m:t>
                                  </m:r>
                                </m:e>
                                <m:sub>
                                  <m:r>
                                    <a:rPr lang="en-US" sz="1200" b="0" i="1" smtClean="0">
                                      <a:latin typeface="Cambria Math" panose="02040503050406030204" pitchFamily="18" charset="0"/>
                                    </a:rPr>
                                    <m:t>𝑆𝐹𝑇</m:t>
                                  </m:r>
                                </m:sub>
                              </m:sSub>
                              <m:d>
                                <m:dPr>
                                  <m:ctrlPr>
                                    <a:rPr lang="en-US" sz="1200" i="1" smtClean="0">
                                      <a:latin typeface="Cambria Math" panose="02040503050406030204" pitchFamily="18" charset="0"/>
                                    </a:rPr>
                                  </m:ctrlPr>
                                </m:dPr>
                                <m:e>
                                  <m:r>
                                    <a:rPr lang="el-GR" sz="1200" i="1">
                                      <a:latin typeface="Cambria Math" panose="02040503050406030204" pitchFamily="18" charset="0"/>
                                    </a:rPr>
                                    <m:t>𝜃</m:t>
                                  </m:r>
                                </m:e>
                              </m:d>
                              <m:r>
                                <a:rPr lang="el-GR" sz="1200" i="1">
                                  <a:latin typeface="Cambria Math" panose="02040503050406030204" pitchFamily="18" charset="0"/>
                                </a:rPr>
                                <m:t> = −</m:t>
                              </m:r>
                              <m:nary>
                                <m:naryPr>
                                  <m:chr m:val="∑"/>
                                  <m:ctrlPr>
                                    <a:rPr lang="el-GR" sz="1200" i="1">
                                      <a:latin typeface="Cambria Math" panose="02040503050406030204" pitchFamily="18" charset="0"/>
                                    </a:rPr>
                                  </m:ctrlPr>
                                </m:naryPr>
                                <m:sub>
                                  <m:r>
                                    <m:rPr>
                                      <m:brk m:alnAt="23"/>
                                    </m:rPr>
                                    <a:rPr lang="en-US" sz="1200" b="0" i="1" smtClean="0">
                                      <a:latin typeface="Cambria Math" panose="02040503050406030204" pitchFamily="18" charset="0"/>
                                    </a:rPr>
                                    <m:t>𝑡</m:t>
                                  </m:r>
                                  <m:r>
                                    <a:rPr lang="en-US" sz="1200" b="0" i="1" smtClean="0">
                                      <a:latin typeface="Cambria Math" panose="02040503050406030204" pitchFamily="18" charset="0"/>
                                    </a:rPr>
                                    <m:t>=1</m:t>
                                  </m:r>
                                </m:sub>
                                <m:sup>
                                  <m:r>
                                    <a:rPr lang="en-US" sz="1200" b="0" i="1" smtClean="0">
                                      <a:latin typeface="Cambria Math" panose="02040503050406030204" pitchFamily="18" charset="0"/>
                                    </a:rPr>
                                    <m:t>𝑇</m:t>
                                  </m:r>
                                </m:sup>
                                <m:e>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log</m:t>
                                      </m:r>
                                    </m:fName>
                                    <m:e>
                                      <m:r>
                                        <a:rPr lang="en-US" sz="1200" b="0" i="1" smtClean="0">
                                          <a:latin typeface="Cambria Math" panose="02040503050406030204" pitchFamily="18" charset="0"/>
                                        </a:rPr>
                                        <m:t>𝑝</m:t>
                                      </m:r>
                                      <m:d>
                                        <m:dPr>
                                          <m:ctrlPr>
                                            <a:rPr lang="en-US" sz="1200" b="0" i="1" smtClean="0">
                                              <a:latin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𝜃</m:t>
                                          </m:r>
                                        </m:e>
                                      </m:d>
                                    </m:e>
                                  </m:func>
                                </m:e>
                              </m:nary>
                              <m:d>
                                <m:dPr>
                                  <m:endChr m:val="|"/>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𝑦</m:t>
                                      </m:r>
                                    </m:e>
                                    <m:sub>
                                      <m:r>
                                        <a:rPr lang="en-US" sz="1200" b="0" i="1" smtClean="0">
                                          <a:latin typeface="Cambria Math" panose="02040503050406030204" pitchFamily="18" charset="0"/>
                                        </a:rPr>
                                        <m:t>𝑡</m:t>
                                      </m:r>
                                    </m:sub>
                                  </m:sSub>
                                </m:e>
                              </m:d>
                              <m:r>
                                <a:rPr lang="en-US" sz="1200" b="0" i="1" smtClean="0">
                                  <a:latin typeface="Cambria Math" panose="02040503050406030204" pitchFamily="18" charset="0"/>
                                </a:rPr>
                                <m:t>𝑥</m:t>
                              </m:r>
                              <m:r>
                                <a:rPr lang="en-US" sz="1200" b="0" i="1" smtClean="0">
                                  <a:latin typeface="Cambria Math" panose="02040503050406030204" pitchFamily="18" charset="0"/>
                                </a:rPr>
                                <m:t>, </m:t>
                              </m:r>
                              <m:r>
                                <a:rPr lang="en-US" sz="1200" b="0" i="1" smtClean="0">
                                  <a:latin typeface="Cambria Math" panose="02040503050406030204" pitchFamily="18" charset="0"/>
                                </a:rPr>
                                <m:t>𝑦</m:t>
                              </m:r>
                              <m:r>
                                <a:rPr lang="en-US" sz="1200" b="0" i="1" smtClean="0">
                                  <a:latin typeface="Cambria Math" panose="02040503050406030204" pitchFamily="18" charset="0"/>
                                </a:rPr>
                                <m:t>&lt;</m:t>
                              </m:r>
                              <m:r>
                                <a:rPr lang="en-US" sz="1200" b="0" i="1" smtClean="0">
                                  <a:latin typeface="Cambria Math" panose="02040503050406030204" pitchFamily="18" charset="0"/>
                                </a:rPr>
                                <m:t>𝑡</m:t>
                              </m:r>
                              <m:r>
                                <a:rPr lang="en-US" sz="1200" b="0" i="1" smtClean="0">
                                  <a:latin typeface="Cambria Math" panose="02040503050406030204" pitchFamily="18" charset="0"/>
                                </a:rPr>
                                <m:t>)</m:t>
                              </m:r>
                            </m:oMath>
                          </a14:m>
                          <a:endParaRPr lang="en-US" sz="1200" b="0" dirty="0"/>
                        </a:p>
                        <a:p>
                          <a:pPr algn="ctr"/>
                          <a:endParaRPr lang="en-US" sz="1200" dirty="0"/>
                        </a:p>
                        <a:p>
                          <a:pPr algn="ctr"/>
                          <a:r>
                            <a:rPr lang="en-US" sz="1200" dirty="0"/>
                            <a:t>• A direct supervised loss that says: when you see something that looks like an instruction, output something that looks like the paired answer.</a:t>
                          </a:r>
                        </a:p>
                      </a:txBody>
                      <a:tcPr marL="58232" marR="58232" marT="29116" marB="29116" anchor="ctr"/>
                    </a:tc>
                    <a:extLst>
                      <a:ext uri="{0D108BD9-81ED-4DB2-BD59-A6C34878D82A}">
                        <a16:rowId xmlns:a16="http://schemas.microsoft.com/office/drawing/2014/main" val="2955572893"/>
                      </a:ext>
                    </a:extLst>
                  </a:tr>
                  <a:tr h="1009361">
                    <a:tc>
                      <a:txBody>
                        <a:bodyPr/>
                        <a:lstStyle/>
                        <a:p>
                          <a:pPr algn="ctr"/>
                          <a:r>
                            <a:rPr lang="en-US" sz="1200" b="1" dirty="0"/>
                            <a:t>3. Reinforcement Learning from Human Feedback</a:t>
                          </a:r>
                          <a:br>
                            <a:rPr lang="en-US" sz="1200" dirty="0"/>
                          </a:br>
                          <a:r>
                            <a:rPr lang="en-US" sz="1200" dirty="0"/>
                            <a:t>(RLHF / RLAIF)</a:t>
                          </a:r>
                        </a:p>
                      </a:txBody>
                      <a:tcPr marL="58232" marR="58232" marT="29116" marB="29116" anchor="ctr"/>
                    </a:tc>
                    <a:tc>
                      <a:txBody>
                        <a:bodyPr/>
                        <a:lstStyle/>
                        <a:p>
                          <a:pPr algn="ctr"/>
                          <a:r>
                            <a:rPr lang="en-US" sz="1200" dirty="0"/>
                            <a:t>Human raters rank multiple candidate completions; the model is optimized to get higher rankings (often with PPO).</a:t>
                          </a:r>
                        </a:p>
                      </a:txBody>
                      <a:tcPr marL="58232" marR="58232" marT="29116" marB="29116" anchor="ctr"/>
                    </a:tc>
                    <a:tc>
                      <a:txBody>
                        <a:bodyPr/>
                        <a:lstStyle/>
                        <a:p>
                          <a:pPr algn="ctr"/>
                          <a:r>
                            <a:rPr lang="en-US" sz="1200" dirty="0"/>
                            <a:t>• Soft “reward” for helpfulness, harmlessness, and honesty.</a:t>
                          </a:r>
                          <a:br>
                            <a:rPr lang="en-US" sz="1200" dirty="0"/>
                          </a:br>
                          <a:r>
                            <a:rPr lang="en-US" sz="1200" dirty="0"/>
                            <a:t>• Preference for complying with the literal request rather than ignoring or defying it.</a:t>
                          </a:r>
                        </a:p>
                      </a:txBody>
                      <a:tcPr marL="58232" marR="58232" marT="29116" marB="29116" anchor="ctr"/>
                    </a:tc>
                    <a:extLst>
                      <a:ext uri="{0D108BD9-81ED-4DB2-BD59-A6C34878D82A}">
                        <a16:rowId xmlns:a16="http://schemas.microsoft.com/office/drawing/2014/main" val="1670419526"/>
                      </a:ext>
                    </a:extLst>
                  </a:tr>
                </a:tbl>
              </a:graphicData>
            </a:graphic>
          </p:graphicFrame>
        </mc:Choice>
        <mc:Fallback xmlns="">
          <p:graphicFrame>
            <p:nvGraphicFramePr>
              <p:cNvPr id="10" name="Table 9">
                <a:extLst>
                  <a:ext uri="{FF2B5EF4-FFF2-40B4-BE49-F238E27FC236}">
                    <a16:creationId xmlns:a16="http://schemas.microsoft.com/office/drawing/2014/main" id="{2BE4F313-7CA7-BECA-952C-171313555469}"/>
                  </a:ext>
                </a:extLst>
              </p:cNvPr>
              <p:cNvGraphicFramePr>
                <a:graphicFrameLocks noGrp="1"/>
              </p:cNvGraphicFramePr>
              <p:nvPr/>
            </p:nvGraphicFramePr>
            <p:xfrm>
              <a:off x="503274" y="1159140"/>
              <a:ext cx="8031314" cy="3381856"/>
            </p:xfrm>
            <a:graphic>
              <a:graphicData uri="http://schemas.openxmlformats.org/drawingml/2006/table">
                <a:tbl>
                  <a:tblPr>
                    <a:tableStyleId>{9DBD82F4-FF5A-4DA7-A40D-C38478E7092A}</a:tableStyleId>
                  </a:tblPr>
                  <a:tblGrid>
                    <a:gridCol w="2677105">
                      <a:extLst>
                        <a:ext uri="{9D8B030D-6E8A-4147-A177-3AD203B41FA5}">
                          <a16:colId xmlns:a16="http://schemas.microsoft.com/office/drawing/2014/main" val="129172248"/>
                        </a:ext>
                      </a:extLst>
                    </a:gridCol>
                    <a:gridCol w="2171342">
                      <a:extLst>
                        <a:ext uri="{9D8B030D-6E8A-4147-A177-3AD203B41FA5}">
                          <a16:colId xmlns:a16="http://schemas.microsoft.com/office/drawing/2014/main" val="2981136724"/>
                        </a:ext>
                      </a:extLst>
                    </a:gridCol>
                    <a:gridCol w="3182867">
                      <a:extLst>
                        <a:ext uri="{9D8B030D-6E8A-4147-A177-3AD203B41FA5}">
                          <a16:colId xmlns:a16="http://schemas.microsoft.com/office/drawing/2014/main" val="4031316887"/>
                        </a:ext>
                      </a:extLst>
                    </a:gridCol>
                  </a:tblGrid>
                  <a:tr h="423992">
                    <a:tc>
                      <a:txBody>
                        <a:bodyPr/>
                        <a:lstStyle/>
                        <a:p>
                          <a:pPr algn="ctr"/>
                          <a:r>
                            <a:rPr lang="en-US" sz="1200" b="1" u="sng" dirty="0"/>
                            <a:t>Stage</a:t>
                          </a:r>
                        </a:p>
                      </a:txBody>
                      <a:tcPr marL="58232" marR="58232" marT="29116" marB="29116" anchor="ctr"/>
                    </a:tc>
                    <a:tc>
                      <a:txBody>
                        <a:bodyPr/>
                        <a:lstStyle/>
                        <a:p>
                          <a:pPr algn="ctr"/>
                          <a:r>
                            <a:rPr lang="en-US" sz="1200" b="1" u="sng" dirty="0"/>
                            <a:t>What the model sees during training</a:t>
                          </a:r>
                        </a:p>
                      </a:txBody>
                      <a:tcPr marL="58232" marR="58232" marT="29116" marB="29116" anchor="ctr"/>
                    </a:tc>
                    <a:tc>
                      <a:txBody>
                        <a:bodyPr/>
                        <a:lstStyle/>
                        <a:p>
                          <a:pPr algn="ctr"/>
                          <a:r>
                            <a:rPr lang="en-US" sz="1200" b="1" u="sng" dirty="0"/>
                            <a:t>What it learns</a:t>
                          </a:r>
                        </a:p>
                      </a:txBody>
                      <a:tcPr marL="58232" marR="58232" marT="29116" marB="29116" anchor="ctr"/>
                    </a:tc>
                    <a:extLst>
                      <a:ext uri="{0D108BD9-81ED-4DB2-BD59-A6C34878D82A}">
                        <a16:rowId xmlns:a16="http://schemas.microsoft.com/office/drawing/2014/main" val="1935703117"/>
                      </a:ext>
                    </a:extLst>
                  </a:tr>
                  <a:tr h="789752">
                    <a:tc>
                      <a:txBody>
                        <a:bodyPr/>
                        <a:lstStyle/>
                        <a:p>
                          <a:pPr algn="ctr"/>
                          <a:r>
                            <a:rPr lang="en-US" sz="1200" b="1" dirty="0"/>
                            <a:t>1. Pre-training</a:t>
                          </a:r>
                          <a:br>
                            <a:rPr lang="en-US" sz="1200" dirty="0"/>
                          </a:br>
                          <a:r>
                            <a:rPr lang="en-US" sz="1200" dirty="0"/>
                            <a:t>(next-token prediction on trillions of tokens)</a:t>
                          </a:r>
                        </a:p>
                      </a:txBody>
                      <a:tcPr marL="58232" marR="58232" marT="29116" marB="29116" anchor="ctr"/>
                    </a:tc>
                    <a:tc>
                      <a:txBody>
                        <a:bodyPr/>
                        <a:lstStyle/>
                        <a:p>
                          <a:pPr algn="ctr"/>
                          <a:r>
                            <a:rPr lang="en-US" sz="1200" dirty="0"/>
                            <a:t>Raw web text, code, forum Q&amp;A, documentation, chat logs, etc. </a:t>
                          </a:r>
                        </a:p>
                      </a:txBody>
                      <a:tcPr marL="58232" marR="58232" marT="29116" marB="29116" anchor="ctr"/>
                    </a:tc>
                    <a:tc>
                      <a:txBody>
                        <a:bodyPr/>
                        <a:lstStyle/>
                        <a:p>
                          <a:pPr algn="ctr"/>
                          <a:r>
                            <a:rPr lang="en-US" sz="1200" dirty="0"/>
                            <a:t>• The completion habit: given a context, continue it coherently.</a:t>
                          </a:r>
                          <a:br>
                            <a:rPr lang="en-US" sz="1200" dirty="0"/>
                          </a:br>
                          <a:r>
                            <a:rPr lang="en-US" sz="1200" dirty="0"/>
                            <a:t>• Statistical associations between “instruction-like” language and “answer-like” language.</a:t>
                          </a:r>
                        </a:p>
                      </a:txBody>
                      <a:tcPr marL="58232" marR="58232" marT="29116" marB="29116" anchor="ctr"/>
                    </a:tc>
                    <a:extLst>
                      <a:ext uri="{0D108BD9-81ED-4DB2-BD59-A6C34878D82A}">
                        <a16:rowId xmlns:a16="http://schemas.microsoft.com/office/drawing/2014/main" val="270159804"/>
                      </a:ext>
                    </a:extLst>
                  </a:tr>
                  <a:tr h="1158751">
                    <a:tc>
                      <a:txBody>
                        <a:bodyPr/>
                        <a:lstStyle/>
                        <a:p>
                          <a:pPr algn="ctr"/>
                          <a:r>
                            <a:rPr lang="en-US" sz="1200" b="1" dirty="0"/>
                            <a:t>2. Supervised Instruction Tuning</a:t>
                          </a:r>
                          <a:br>
                            <a:rPr lang="en-US" sz="1200" dirty="0"/>
                          </a:br>
                          <a:r>
                            <a:rPr lang="en-US" sz="1200" dirty="0"/>
                            <a:t>(a.k.a. “SFT” or “instruction fine-tune”)</a:t>
                          </a:r>
                        </a:p>
                      </a:txBody>
                      <a:tcPr marL="58232" marR="58232" marT="29116" marB="29116" anchor="ctr"/>
                    </a:tc>
                    <a:tc>
                      <a:txBody>
                        <a:bodyPr/>
                        <a:lstStyle/>
                        <a:p>
                          <a:pPr algn="ctr"/>
                          <a:r>
                            <a:rPr lang="en-US" sz="1200" dirty="0"/>
                            <a:t>Curated tuples </a:t>
                          </a:r>
                        </a:p>
                        <a:p>
                          <a:pPr algn="ctr"/>
                          <a:r>
                            <a:rPr lang="en-US" sz="1200" dirty="0"/>
                            <a:t>⟨instruction, ideal answer⟩</a:t>
                          </a:r>
                        </a:p>
                      </a:txBody>
                      <a:tcPr marL="58232" marR="58232" marT="29116" marB="29116" anchor="ctr"/>
                    </a:tc>
                    <a:tc>
                      <a:txBody>
                        <a:bodyPr/>
                        <a:lstStyle/>
                        <a:p>
                          <a:endParaRPr lang="en-US"/>
                        </a:p>
                      </a:txBody>
                      <a:tcPr marL="58232" marR="58232" marT="29116" marB="29116" anchor="ctr">
                        <a:blipFill>
                          <a:blip r:embed="rId2"/>
                          <a:stretch>
                            <a:fillRect l="-152988" t="-107692" r="-398" b="-89011"/>
                          </a:stretch>
                        </a:blipFill>
                      </a:tcPr>
                    </a:tc>
                    <a:extLst>
                      <a:ext uri="{0D108BD9-81ED-4DB2-BD59-A6C34878D82A}">
                        <a16:rowId xmlns:a16="http://schemas.microsoft.com/office/drawing/2014/main" val="2955572893"/>
                      </a:ext>
                    </a:extLst>
                  </a:tr>
                  <a:tr h="1009361">
                    <a:tc>
                      <a:txBody>
                        <a:bodyPr/>
                        <a:lstStyle/>
                        <a:p>
                          <a:pPr algn="ctr"/>
                          <a:r>
                            <a:rPr lang="en-US" sz="1200" b="1" dirty="0"/>
                            <a:t>3. Reinforcement Learning from Human Feedback</a:t>
                          </a:r>
                          <a:br>
                            <a:rPr lang="en-US" sz="1200" dirty="0"/>
                          </a:br>
                          <a:r>
                            <a:rPr lang="en-US" sz="1200" dirty="0"/>
                            <a:t>(RLHF / RLAIF)</a:t>
                          </a:r>
                        </a:p>
                      </a:txBody>
                      <a:tcPr marL="58232" marR="58232" marT="29116" marB="29116" anchor="ctr"/>
                    </a:tc>
                    <a:tc>
                      <a:txBody>
                        <a:bodyPr/>
                        <a:lstStyle/>
                        <a:p>
                          <a:pPr algn="ctr"/>
                          <a:r>
                            <a:rPr lang="en-US" sz="1200" dirty="0"/>
                            <a:t>Human raters rank multiple candidate completions; the model is optimized to get higher rankings (often with PPO).</a:t>
                          </a:r>
                        </a:p>
                      </a:txBody>
                      <a:tcPr marL="58232" marR="58232" marT="29116" marB="29116" anchor="ctr"/>
                    </a:tc>
                    <a:tc>
                      <a:txBody>
                        <a:bodyPr/>
                        <a:lstStyle/>
                        <a:p>
                          <a:pPr algn="ctr"/>
                          <a:r>
                            <a:rPr lang="en-US" sz="1200" dirty="0"/>
                            <a:t>• Soft “reward” for helpfulness, harmlessness, and honesty.</a:t>
                          </a:r>
                          <a:br>
                            <a:rPr lang="en-US" sz="1200" dirty="0"/>
                          </a:br>
                          <a:r>
                            <a:rPr lang="en-US" sz="1200" dirty="0"/>
                            <a:t>• Preference for complying with the literal request rather than ignoring or defying it.</a:t>
                          </a:r>
                        </a:p>
                      </a:txBody>
                      <a:tcPr marL="58232" marR="58232" marT="29116" marB="29116" anchor="ctr"/>
                    </a:tc>
                    <a:extLst>
                      <a:ext uri="{0D108BD9-81ED-4DB2-BD59-A6C34878D82A}">
                        <a16:rowId xmlns:a16="http://schemas.microsoft.com/office/drawing/2014/main" val="1670419526"/>
                      </a:ext>
                    </a:extLst>
                  </a:tr>
                </a:tbl>
              </a:graphicData>
            </a:graphic>
          </p:graphicFrame>
        </mc:Fallback>
      </mc:AlternateContent>
      <p:sp>
        <p:nvSpPr>
          <p:cNvPr id="8" name="Google Shape;1877;p85">
            <a:extLst>
              <a:ext uri="{FF2B5EF4-FFF2-40B4-BE49-F238E27FC236}">
                <a16:creationId xmlns:a16="http://schemas.microsoft.com/office/drawing/2014/main" id="{A32000E5-62CC-2E19-159D-BAF52B33A129}"/>
              </a:ext>
            </a:extLst>
          </p:cNvPr>
          <p:cNvSpPr/>
          <p:nvPr/>
        </p:nvSpPr>
        <p:spPr>
          <a:xfrm>
            <a:off x="1561334" y="4547384"/>
            <a:ext cx="1412466" cy="499537"/>
          </a:xfrm>
          <a:prstGeom prst="wedgeRectCallout">
            <a:avLst>
              <a:gd name="adj1" fmla="val 1543"/>
              <a:gd name="adj2" fmla="val -76069"/>
            </a:avLst>
          </a:prstGeom>
          <a:solidFill>
            <a:schemeClr val="accent5">
              <a:lumMod val="20000"/>
              <a:lumOff val="8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Would RLHF be the savior?</a:t>
            </a:r>
            <a:endParaRPr dirty="0"/>
          </a:p>
        </p:txBody>
      </p:sp>
      <p:sp>
        <p:nvSpPr>
          <p:cNvPr id="11" name="Google Shape;1877;p85">
            <a:extLst>
              <a:ext uri="{FF2B5EF4-FFF2-40B4-BE49-F238E27FC236}">
                <a16:creationId xmlns:a16="http://schemas.microsoft.com/office/drawing/2014/main" id="{23A26278-BA36-FBAE-D795-5E2E9272A76B}"/>
              </a:ext>
            </a:extLst>
          </p:cNvPr>
          <p:cNvSpPr/>
          <p:nvPr/>
        </p:nvSpPr>
        <p:spPr>
          <a:xfrm>
            <a:off x="3402420" y="4583844"/>
            <a:ext cx="1885506" cy="499537"/>
          </a:xfrm>
          <a:prstGeom prst="wedgeRectCallout">
            <a:avLst>
              <a:gd name="adj1" fmla="val -42641"/>
              <a:gd name="adj2" fmla="val -13771"/>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t>Maybe, depends on the data regime</a:t>
            </a:r>
            <a:endParaRPr dirty="0"/>
          </a:p>
        </p:txBody>
      </p:sp>
      <p:sp>
        <p:nvSpPr>
          <p:cNvPr id="4" name="Google Shape;1836;p85">
            <a:extLst>
              <a:ext uri="{FF2B5EF4-FFF2-40B4-BE49-F238E27FC236}">
                <a16:creationId xmlns:a16="http://schemas.microsoft.com/office/drawing/2014/main" id="{C792B5E0-F450-11E6-805C-DC4CE58C6F27}"/>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Is it possible to fix with RLHF?</a:t>
            </a:r>
          </a:p>
        </p:txBody>
      </p:sp>
      <p:sp>
        <p:nvSpPr>
          <p:cNvPr id="2" name="Google Shape;1771;p83">
            <a:extLst>
              <a:ext uri="{FF2B5EF4-FFF2-40B4-BE49-F238E27FC236}">
                <a16:creationId xmlns:a16="http://schemas.microsoft.com/office/drawing/2014/main" id="{DAC945B1-EB34-EE78-050B-61346AAECF61}"/>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3" name="Google Shape;1772;p83">
            <a:extLst>
              <a:ext uri="{FF2B5EF4-FFF2-40B4-BE49-F238E27FC236}">
                <a16:creationId xmlns:a16="http://schemas.microsoft.com/office/drawing/2014/main" id="{EA7EE194-09CF-33C3-21E0-F9AFF57AE38B}"/>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5" name="Google Shape;1773;p83">
            <a:extLst>
              <a:ext uri="{FF2B5EF4-FFF2-40B4-BE49-F238E27FC236}">
                <a16:creationId xmlns:a16="http://schemas.microsoft.com/office/drawing/2014/main" id="{D5C01751-1672-0A8B-1B2C-153253756E79}"/>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6" name="Google Shape;1774;p83">
            <a:extLst>
              <a:ext uri="{FF2B5EF4-FFF2-40B4-BE49-F238E27FC236}">
                <a16:creationId xmlns:a16="http://schemas.microsoft.com/office/drawing/2014/main" id="{C018ED09-5728-7E8A-B2F9-A93488CEDDA0}"/>
              </a:ext>
            </a:extLst>
          </p:cNvPr>
          <p:cNvSpPr/>
          <p:nvPr/>
        </p:nvSpPr>
        <p:spPr>
          <a:xfrm>
            <a:off x="2973800" y="202899"/>
            <a:ext cx="3191100" cy="180900"/>
          </a:xfrm>
          <a:prstGeom prst="rect">
            <a:avLst/>
          </a:prstGeom>
          <a:solidFill>
            <a:srgbClr val="D9EAD3"/>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347865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F64EC6-19A5-E84B-7ED4-E8BEE5788D1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1F9729-E7A8-21D3-6AE3-E565A4AB5574}"/>
                  </a:ext>
                </a:extLst>
              </p:cNvPr>
              <p:cNvSpPr txBox="1"/>
              <p:nvPr/>
            </p:nvSpPr>
            <p:spPr>
              <a:xfrm>
                <a:off x="396950" y="1078285"/>
                <a:ext cx="4876799" cy="4076052"/>
              </a:xfrm>
              <a:prstGeom prst="rect">
                <a:avLst/>
              </a:prstGeom>
              <a:noFill/>
            </p:spPr>
            <p:txBody>
              <a:bodyPr wrap="square">
                <a:spAutoFit/>
              </a:bodyPr>
              <a:lstStyle/>
              <a:p>
                <a:pPr>
                  <a:buNone/>
                </a:pPr>
                <a:r>
                  <a:rPr lang="en-US" sz="1600" b="1" dirty="0"/>
                  <a:t>1.1 Critic generative process</a:t>
                </a:r>
              </a:p>
              <a:p>
                <a:pPr>
                  <a:buNone/>
                </a:pPr>
                <a:r>
                  <a:rPr lang="en-US" dirty="0"/>
                  <a:t>Given a </a:t>
                </a:r>
                <a:r>
                  <a:rPr lang="en-US" i="1" dirty="0"/>
                  <a:t>critic</a:t>
                </a:r>
                <a:r>
                  <a:rPr lang="en-US" dirty="0"/>
                  <a:t> </a:t>
                </a:r>
                <a14:m>
                  <m:oMath xmlns:m="http://schemas.openxmlformats.org/officeDocument/2006/math">
                    <m:sSub>
                      <m:sSubPr>
                        <m:ctrlPr>
                          <a:rPr lang="en-US" i="1" dirty="0" err="1" smtClean="0">
                            <a:latin typeface="Cambria Math" panose="02040503050406030204" pitchFamily="18" charset="0"/>
                          </a:rPr>
                        </m:ctrlPr>
                      </m:sSubPr>
                      <m:e>
                        <m:r>
                          <a:rPr lang="en-US" b="0" i="1" dirty="0" smtClean="0">
                            <a:latin typeface="Cambria Math" panose="02040503050406030204" pitchFamily="18" charset="0"/>
                          </a:rPr>
                          <m:t>𝑃</m:t>
                        </m:r>
                      </m:e>
                      <m:sub>
                        <m:r>
                          <a:rPr lang="en-US" i="1" dirty="0" err="1" smtClean="0">
                            <a:latin typeface="Cambria Math" panose="02040503050406030204" pitchFamily="18" charset="0"/>
                          </a:rPr>
                          <m:t>𝑐</m:t>
                        </m:r>
                      </m:sub>
                    </m:sSub>
                  </m:oMath>
                </a14:m>
                <a:r>
                  <a:rPr lang="en-US" dirty="0"/>
                  <a:t> with latent </a:t>
                </a:r>
                <a14:m>
                  <m:oMath xmlns:m="http://schemas.openxmlformats.org/officeDocument/2006/math">
                    <m:r>
                      <a:rPr lang="en-US" i="1" dirty="0" smtClean="0">
                        <a:latin typeface="Cambria Math" panose="02040503050406030204" pitchFamily="18" charset="0"/>
                      </a:rPr>
                      <m:t>𝑧</m:t>
                    </m:r>
                  </m:oMath>
                </a14:m>
                <a:r>
                  <a:rPr lang="en-US" dirty="0"/>
                  <a:t> and text </a:t>
                </a:r>
                <a14:m>
                  <m:oMath xmlns:m="http://schemas.openxmlformats.org/officeDocument/2006/math">
                    <m:r>
                      <a:rPr lang="en-US" i="1" dirty="0" smtClean="0">
                        <a:latin typeface="Cambria Math" panose="02040503050406030204" pitchFamily="18" charset="0"/>
                      </a:rPr>
                      <m:t>𝑥</m:t>
                    </m:r>
                  </m:oMath>
                </a14:m>
                <a:r>
                  <a:rPr lang="en-US" dirty="0"/>
                  <a:t>:</a:t>
                </a:r>
              </a:p>
              <a:p>
                <a:pPr algn="ctr">
                  <a:buNone/>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𝑧</m:t>
                      </m:r>
                      <m:r>
                        <a:rPr lang="en-US" sz="1600" i="1" dirty="0" smtClean="0">
                          <a:latin typeface="Cambria Math" panose="02040503050406030204" pitchFamily="18" charset="0"/>
                        </a:rPr>
                        <m:t>∼</m:t>
                      </m:r>
                      <m:r>
                        <a:rPr lang="en-US" sz="1600" i="1" dirty="0" smtClean="0">
                          <a:latin typeface="Cambria Math" panose="02040503050406030204" pitchFamily="18" charset="0"/>
                        </a:rPr>
                        <m:t>𝑃𝑐</m:t>
                      </m:r>
                      <m:r>
                        <a:rPr lang="en-US" sz="1600" i="1" dirty="0">
                          <a:latin typeface="Cambria Math" panose="02040503050406030204" pitchFamily="18" charset="0"/>
                        </a:rPr>
                        <m:t>(</m:t>
                      </m:r>
                      <m:r>
                        <a:rPr lang="en-US" sz="1600" i="1" dirty="0">
                          <a:latin typeface="Cambria Math" panose="02040503050406030204" pitchFamily="18" charset="0"/>
                        </a:rPr>
                        <m:t>𝑧</m:t>
                      </m:r>
                      <m:r>
                        <a:rPr lang="en-US" sz="1600" i="1" dirty="0">
                          <a:latin typeface="Cambria Math" panose="02040503050406030204" pitchFamily="18" charset="0"/>
                        </a:rPr>
                        <m:t>),</m:t>
                      </m:r>
                      <m:r>
                        <a:rPr lang="en-US" sz="1600" i="1" dirty="0">
                          <a:latin typeface="Cambria Math" panose="02040503050406030204" pitchFamily="18" charset="0"/>
                        </a:rPr>
                        <m:t>𝑥</m:t>
                      </m:r>
                      <m:r>
                        <a:rPr lang="en-US" sz="1600" i="1" dirty="0">
                          <a:latin typeface="Cambria Math" panose="02040503050406030204" pitchFamily="18" charset="0"/>
                        </a:rPr>
                        <m:t>  ∼  </m:t>
                      </m:r>
                      <m:r>
                        <a:rPr lang="en-US" sz="1600" i="1" dirty="0">
                          <a:latin typeface="Cambria Math" panose="02040503050406030204" pitchFamily="18" charset="0"/>
                        </a:rPr>
                        <m:t>𝑃𝑐</m:t>
                      </m:r>
                      <m:r>
                        <a:rPr lang="en-US" sz="1600" i="1" dirty="0">
                          <a:latin typeface="Cambria Math" panose="02040503050406030204" pitchFamily="18" charset="0"/>
                        </a:rPr>
                        <m:t>(</m:t>
                      </m:r>
                      <m:r>
                        <a:rPr lang="en-US" sz="1600" i="1" dirty="0" err="1">
                          <a:latin typeface="Cambria Math" panose="02040503050406030204" pitchFamily="18" charset="0"/>
                        </a:rPr>
                        <m:t>𝑥</m:t>
                      </m:r>
                      <m:r>
                        <a:rPr lang="en-US" sz="1600" i="1" dirty="0" err="1">
                          <a:latin typeface="Cambria Math" panose="02040503050406030204" pitchFamily="18" charset="0"/>
                        </a:rPr>
                        <m:t>∣</m:t>
                      </m:r>
                      <m:r>
                        <a:rPr lang="en-US" sz="1600" i="1" dirty="0" err="1">
                          <a:latin typeface="Cambria Math" panose="02040503050406030204" pitchFamily="18" charset="0"/>
                        </a:rPr>
                        <m:t>𝑧</m:t>
                      </m:r>
                      <m:r>
                        <a:rPr lang="en-US" sz="1600" b="0" i="1" dirty="0" smtClean="0">
                          <a:latin typeface="Cambria Math" panose="02040503050406030204" pitchFamily="18" charset="0"/>
                        </a:rPr>
                        <m:t>)</m:t>
                      </m:r>
                    </m:oMath>
                  </m:oMathPara>
                </a14:m>
                <a:endParaRPr lang="en-US" sz="1600" dirty="0"/>
              </a:p>
              <a:p>
                <a:pPr>
                  <a:buNone/>
                </a:pPr>
                <a:endParaRPr lang="en-US" sz="1600" b="1" dirty="0"/>
              </a:p>
              <a:p>
                <a:pPr>
                  <a:buNone/>
                </a:pPr>
                <a:r>
                  <a:rPr lang="en-US" sz="1600" b="1" dirty="0"/>
                  <a:t>1.2 Projecting text into latent space</a:t>
                </a:r>
              </a:p>
              <a:p>
                <a:pPr>
                  <a:buNone/>
                </a:pPr>
                <a:r>
                  <a:rPr lang="en-US" dirty="0"/>
                  <a:t>For each document x, infer the posterior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i="1" dirty="0" smtClean="0">
                            <a:latin typeface="Cambria Math" panose="02040503050406030204" pitchFamily="18" charset="0"/>
                          </a:rPr>
                          <m:t>𝑐</m:t>
                        </m:r>
                      </m:sub>
                    </m:sSub>
                    <m:d>
                      <m:dPr>
                        <m:sepChr m:val="∣"/>
                        <m:ctrlPr>
                          <a:rPr lang="en-US" b="0" i="1" dirty="0" smtClean="0">
                            <a:latin typeface="Cambria Math" panose="02040503050406030204" pitchFamily="18" charset="0"/>
                          </a:rPr>
                        </m:ctrlPr>
                      </m:dPr>
                      <m:e>
                        <m:r>
                          <a:rPr lang="en-US" i="1" dirty="0" err="1" smtClean="0">
                            <a:latin typeface="Cambria Math" panose="02040503050406030204" pitchFamily="18" charset="0"/>
                          </a:rPr>
                          <m:t>𝑧</m:t>
                        </m:r>
                      </m:e>
                      <m:e>
                        <m:r>
                          <a:rPr lang="en-US" i="1" dirty="0" err="1" smtClean="0">
                            <a:latin typeface="Cambria Math" panose="02040503050406030204" pitchFamily="18" charset="0"/>
                          </a:rPr>
                          <m:t>𝑥</m:t>
                        </m:r>
                      </m:e>
                    </m:d>
                    <m:r>
                      <a:rPr lang="en-US" b="0" i="1" dirty="0" smtClean="0">
                        <a:latin typeface="Cambria Math" panose="02040503050406030204" pitchFamily="18" charset="0"/>
                      </a:rPr>
                      <m:t>.</m:t>
                    </m:r>
                    <m:r>
                      <a:rPr lang="en-US" i="1" dirty="0" smtClean="0">
                        <a:latin typeface="Cambria Math" panose="02040503050406030204" pitchFamily="18" charset="0"/>
                      </a:rPr>
                      <m:t> </m:t>
                    </m:r>
                  </m:oMath>
                </a14:m>
                <a:r>
                  <a:rPr lang="en-US" dirty="0"/>
                  <a:t>Define the </a:t>
                </a:r>
                <a:r>
                  <a:rPr lang="en-US" i="1" dirty="0"/>
                  <a:t>test statistics.</a:t>
                </a:r>
              </a:p>
              <a:p>
                <a:pPr>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𝑐</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𝐸</m:t>
                          </m:r>
                        </m:e>
                        <m:sub>
                          <m:r>
                            <a:rPr lang="en-US" sz="1600" b="0" i="1" smtClean="0">
                              <a:latin typeface="Cambria Math" panose="02040503050406030204" pitchFamily="18" charset="0"/>
                            </a:rPr>
                            <m:t>𝑧</m:t>
                          </m:r>
                          <m:r>
                            <a:rPr lang="en-US" sz="1600" b="0" i="1" smtClean="0">
                              <a:latin typeface="Cambria Math" panose="02040503050406030204" pitchFamily="18" charset="0"/>
                            </a:rPr>
                            <m:t>~</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𝑃</m:t>
                              </m:r>
                            </m:e>
                            <m:sub>
                              <m:r>
                                <a:rPr lang="en-US" sz="1600" i="1" dirty="0">
                                  <a:latin typeface="Cambria Math" panose="02040503050406030204" pitchFamily="18" charset="0"/>
                                </a:rPr>
                                <m:t>𝑐</m:t>
                              </m:r>
                            </m:sub>
                          </m:sSub>
                          <m:d>
                            <m:dPr>
                              <m:sepChr m:val="∣"/>
                              <m:ctrlPr>
                                <a:rPr lang="en-US" sz="1600" i="1" dirty="0">
                                  <a:latin typeface="Cambria Math" panose="02040503050406030204" pitchFamily="18" charset="0"/>
                                </a:rPr>
                              </m:ctrlPr>
                            </m:dPr>
                            <m:e>
                              <m:r>
                                <a:rPr lang="en-US" sz="1600" i="1" dirty="0" err="1">
                                  <a:latin typeface="Cambria Math" panose="02040503050406030204" pitchFamily="18" charset="0"/>
                                </a:rPr>
                                <m:t>𝑧</m:t>
                              </m:r>
                            </m:e>
                            <m:e>
                              <m:r>
                                <a:rPr lang="en-US" sz="1600" i="1" dirty="0" err="1">
                                  <a:latin typeface="Cambria Math" panose="02040503050406030204" pitchFamily="18" charset="0"/>
                                </a:rPr>
                                <m:t>𝑥</m:t>
                              </m:r>
                            </m:e>
                          </m:d>
                        </m:sub>
                      </m:sSub>
                      <m:r>
                        <a:rPr lang="en-US" sz="1600" b="0" i="1" smtClean="0">
                          <a:latin typeface="Cambria Math" panose="02040503050406030204" pitchFamily="18" charset="0"/>
                        </a:rPr>
                        <m:t>𝑙𝑜𝑔</m:t>
                      </m:r>
                      <m:sSub>
                        <m:sSubPr>
                          <m:ctrlPr>
                            <a:rPr lang="en-US" sz="1600" i="1" dirty="0">
                              <a:latin typeface="Cambria Math" panose="02040503050406030204" pitchFamily="18" charset="0"/>
                            </a:rPr>
                          </m:ctrlPr>
                        </m:sSubPr>
                        <m:e>
                          <m:r>
                            <a:rPr lang="en-US" sz="1600" b="0" i="1" dirty="0" smtClean="0">
                              <a:latin typeface="Cambria Math" panose="02040503050406030204" pitchFamily="18" charset="0"/>
                            </a:rPr>
                            <m:t> </m:t>
                          </m:r>
                          <m:r>
                            <a:rPr lang="en-US" sz="1600" i="1" dirty="0">
                              <a:latin typeface="Cambria Math" panose="02040503050406030204" pitchFamily="18" charset="0"/>
                            </a:rPr>
                            <m:t>𝑃</m:t>
                          </m:r>
                        </m:e>
                        <m:sub>
                          <m:r>
                            <a:rPr lang="en-US" sz="1600" i="1" dirty="0">
                              <a:latin typeface="Cambria Math" panose="02040503050406030204" pitchFamily="18" charset="0"/>
                            </a:rPr>
                            <m:t>𝑐</m:t>
                          </m:r>
                        </m:sub>
                      </m:sSub>
                      <m:r>
                        <a:rPr lang="en-US" sz="1600" b="0" i="1" dirty="0" smtClean="0">
                          <a:latin typeface="Cambria Math" panose="02040503050406030204" pitchFamily="18" charset="0"/>
                        </a:rPr>
                        <m:t>(</m:t>
                      </m:r>
                      <m:r>
                        <a:rPr lang="en-US" sz="1600" b="0" i="1" dirty="0" smtClean="0">
                          <a:latin typeface="Cambria Math" panose="02040503050406030204" pitchFamily="18" charset="0"/>
                        </a:rPr>
                        <m:t>𝑧</m:t>
                      </m:r>
                      <m:r>
                        <a:rPr lang="en-US" sz="1600" b="0" i="1" dirty="0" smtClean="0">
                          <a:latin typeface="Cambria Math" panose="02040503050406030204" pitchFamily="18" charset="0"/>
                        </a:rPr>
                        <m:t>)</m:t>
                      </m:r>
                    </m:oMath>
                  </m:oMathPara>
                </a14:m>
                <a:endParaRPr lang="en-US" sz="1600" i="1" dirty="0"/>
              </a:p>
              <a:p>
                <a:pPr>
                  <a:buNone/>
                </a:pPr>
                <a:r>
                  <a:rPr lang="en-US" dirty="0"/>
                  <a:t>Intuitively,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𝑐</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sub>
                    </m:sSub>
                  </m:oMath>
                </a14:m>
                <a:r>
                  <a:rPr lang="en-US" dirty="0"/>
                  <a:t> is the cross-entropy between posterior and prior (lower is better).</a:t>
                </a:r>
              </a:p>
              <a:p>
                <a:pPr>
                  <a:buNone/>
                </a:pPr>
                <a:endParaRPr lang="en-US" dirty="0"/>
              </a:p>
              <a:p>
                <a:pPr>
                  <a:buNone/>
                </a:pPr>
                <a:r>
                  <a:rPr lang="en-US" sz="1600" b="1" dirty="0"/>
                  <a:t>1.3 Distribution-level metric</a:t>
                </a:r>
              </a:p>
              <a:p>
                <a:pPr>
                  <a:buNone/>
                </a:pPr>
                <a:r>
                  <a:rPr lang="en-US" dirty="0"/>
                  <a:t>Average (2) over any sample source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i="1" dirty="0" smtClean="0">
                            <a:latin typeface="Cambria Math" panose="02040503050406030204" pitchFamily="18" charset="0"/>
                          </a:rPr>
                          <m:t>𝑋</m:t>
                        </m:r>
                      </m:sub>
                    </m:sSub>
                  </m:oMath>
                </a14:m>
                <a:r>
                  <a:rPr lang="en-US" i="1" dirty="0"/>
                  <a:t> </a:t>
                </a:r>
                <a:r>
                  <a:rPr lang="en-US" dirty="0"/>
                  <a:t>(real data or LM output):</a:t>
                </a:r>
                <a:endParaRPr lang="en-US" sz="1600" dirty="0"/>
              </a:p>
              <a:p>
                <a:pPr>
                  <a:buNone/>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smtClean="0">
                              <a:latin typeface="Cambria Math" panose="02040503050406030204" pitchFamily="18" charset="0"/>
                            </a:rPr>
                            <m:t>𝑇</m:t>
                          </m:r>
                        </m:e>
                        <m:sub>
                          <m:r>
                            <a:rPr lang="en-US" sz="1600" i="1" dirty="0" smtClean="0">
                              <a:latin typeface="Cambria Math" panose="02040503050406030204" pitchFamily="18" charset="0"/>
                            </a:rPr>
                            <m:t>𝑐</m:t>
                          </m:r>
                        </m:sub>
                      </m:sSub>
                      <m:r>
                        <a:rPr lang="en-US" sz="160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i="1" dirty="0" smtClean="0">
                              <a:latin typeface="Cambria Math" panose="02040503050406030204" pitchFamily="18" charset="0"/>
                            </a:rPr>
                            <m:t>𝑃</m:t>
                          </m:r>
                        </m:e>
                        <m:sub>
                          <m:r>
                            <a:rPr lang="en-US" sz="1600" i="1" dirty="0" smtClean="0">
                              <a:latin typeface="Cambria Math" panose="02040503050406030204" pitchFamily="18" charset="0"/>
                            </a:rPr>
                            <m:t>𝑋</m:t>
                          </m:r>
                        </m:sub>
                      </m:sSub>
                      <m:r>
                        <a:rPr lang="en-US" sz="1600" i="1" dirty="0" smtClean="0">
                          <a:latin typeface="Cambria Math" panose="02040503050406030204" pitchFamily="18" charset="0"/>
                        </a:rPr>
                        <m:t>​)=</m:t>
                      </m:r>
                      <m:sSub>
                        <m:sSubPr>
                          <m:ctrlPr>
                            <a:rPr lang="en-US" sz="1600" i="1" dirty="0" err="1" smtClean="0">
                              <a:latin typeface="Cambria Math" panose="02040503050406030204" pitchFamily="18" charset="0"/>
                            </a:rPr>
                          </m:ctrlPr>
                        </m:sSubPr>
                        <m:e>
                          <m:r>
                            <a:rPr lang="en-US" sz="1600" i="1" dirty="0" err="1" smtClean="0">
                              <a:latin typeface="Cambria Math" panose="02040503050406030204" pitchFamily="18" charset="0"/>
                            </a:rPr>
                            <m:t>𝐸</m:t>
                          </m:r>
                        </m:e>
                        <m:sub>
                          <m:r>
                            <a:rPr lang="en-US" sz="1600" i="1" dirty="0" err="1" smtClean="0">
                              <a:latin typeface="Cambria Math" panose="02040503050406030204" pitchFamily="18" charset="0"/>
                            </a:rPr>
                            <m:t>𝑥</m:t>
                          </m:r>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𝑃</m:t>
                              </m:r>
                            </m:e>
                            <m:sub>
                              <m:r>
                                <a:rPr lang="en-US" sz="1600" b="0" i="1" dirty="0" smtClean="0">
                                  <a:latin typeface="Cambria Math" panose="02040503050406030204" pitchFamily="18" charset="0"/>
                                </a:rPr>
                                <m:t>𝑥</m:t>
                              </m:r>
                            </m:sub>
                          </m:sSub>
                        </m:sub>
                      </m:sSub>
                      <m:r>
                        <a:rPr lang="en-US" sz="1600" i="1" dirty="0" smtClean="0">
                          <a:latin typeface="Cambria Math" panose="02040503050406030204" pitchFamily="18" charset="0"/>
                        </a:rPr>
                        <m:t>​​</m:t>
                      </m:r>
                      <m:sSub>
                        <m:sSubPr>
                          <m:ctrlPr>
                            <a:rPr lang="en-US" sz="1600" i="1" dirty="0" err="1" smtClean="0">
                              <a:latin typeface="Cambria Math" panose="02040503050406030204" pitchFamily="18" charset="0"/>
                            </a:rPr>
                          </m:ctrlPr>
                        </m:sSubPr>
                        <m:e>
                          <m:r>
                            <a:rPr lang="en-US" sz="1600" i="1" dirty="0" err="1" smtClean="0">
                              <a:latin typeface="Cambria Math" panose="02040503050406030204" pitchFamily="18" charset="0"/>
                            </a:rPr>
                            <m:t>𝑇</m:t>
                          </m:r>
                        </m:e>
                        <m:sub>
                          <m:r>
                            <a:rPr lang="en-US" sz="1600" i="1" dirty="0" err="1" smtClean="0">
                              <a:latin typeface="Cambria Math" panose="02040503050406030204" pitchFamily="18" charset="0"/>
                            </a:rPr>
                            <m:t>𝑐</m:t>
                          </m:r>
                        </m:sub>
                      </m:sSub>
                      <m:r>
                        <a:rPr lang="en-US" sz="1600" i="1" dirty="0" smtClean="0">
                          <a:latin typeface="Cambria Math" panose="02040503050406030204" pitchFamily="18" charset="0"/>
                        </a:rPr>
                        <m:t>​(</m:t>
                      </m:r>
                      <m:r>
                        <a:rPr lang="en-US" sz="1600" i="1" dirty="0" smtClean="0">
                          <a:latin typeface="Cambria Math" panose="02040503050406030204" pitchFamily="18" charset="0"/>
                        </a:rPr>
                        <m:t>𝑥</m:t>
                      </m:r>
                      <m:r>
                        <a:rPr lang="en-US" sz="1600" i="1" dirty="0" smtClean="0">
                          <a:latin typeface="Cambria Math" panose="02040503050406030204" pitchFamily="18" charset="0"/>
                        </a:rPr>
                        <m:t>).</m:t>
                      </m:r>
                    </m:oMath>
                  </m:oMathPara>
                </a14:m>
                <a:endParaRPr lang="en-US" sz="1600" b="1" dirty="0"/>
              </a:p>
              <a:p>
                <a:pPr>
                  <a:buNone/>
                </a:pPr>
                <a:r>
                  <a:rPr lang="en-US" dirty="0"/>
                  <a:t>With latent length </a:t>
                </a:r>
                <a14:m>
                  <m:oMath xmlns:m="http://schemas.openxmlformats.org/officeDocument/2006/math">
                    <m:r>
                      <a:rPr lang="en-US" i="1" dirty="0" smtClean="0">
                        <a:latin typeface="Cambria Math" panose="02040503050406030204" pitchFamily="18" charset="0"/>
                      </a:rPr>
                      <m:t>𝑀</m:t>
                    </m:r>
                  </m:oMath>
                </a14:m>
                <a:r>
                  <a:rPr lang="en-US" dirty="0"/>
                  <a:t>, </a:t>
                </a:r>
              </a:p>
              <a:p>
                <a:pPr>
                  <a:buNone/>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𝐿𝑎𝑡𝑒𝑛𝑡</m:t>
                      </m:r>
                      <m:r>
                        <a:rPr lang="en-US" sz="1600" i="1" dirty="0" smtClean="0">
                          <a:latin typeface="Cambria Math" panose="02040503050406030204" pitchFamily="18" charset="0"/>
                        </a:rPr>
                        <m:t> </m:t>
                      </m:r>
                      <m:r>
                        <a:rPr lang="en-US" sz="1600" i="1" dirty="0" smtClean="0">
                          <a:latin typeface="Cambria Math" panose="02040503050406030204" pitchFamily="18" charset="0"/>
                        </a:rPr>
                        <m:t>𝑃𝑃𝐿</m:t>
                      </m:r>
                      <m:r>
                        <a:rPr lang="en-US" sz="1600" i="1" dirty="0" smtClean="0">
                          <a:latin typeface="Cambria Math" panose="02040503050406030204" pitchFamily="18" charset="0"/>
                        </a:rPr>
                        <m:t>(</m:t>
                      </m:r>
                      <m:r>
                        <a:rPr lang="en-US" sz="1600" i="1" dirty="0" smtClean="0">
                          <a:latin typeface="Cambria Math" panose="02040503050406030204" pitchFamily="18" charset="0"/>
                        </a:rPr>
                        <m:t>𝑃𝑋</m:t>
                      </m:r>
                      <m:r>
                        <a:rPr lang="en-US" sz="1600" i="1" dirty="0" smtClean="0">
                          <a:latin typeface="Cambria Math" panose="02040503050406030204" pitchFamily="18" charset="0"/>
                        </a:rPr>
                        <m:t>)  = </m:t>
                      </m:r>
                      <m:sSub>
                        <m:sSubPr>
                          <m:ctrlPr>
                            <a:rPr lang="en-US" sz="1600" i="1" dirty="0" smtClean="0">
                              <a:latin typeface="Cambria Math" panose="02040503050406030204" pitchFamily="18" charset="0"/>
                            </a:rPr>
                          </m:ctrlPr>
                        </m:sSubPr>
                        <m:e>
                          <m:func>
                            <m:funcPr>
                              <m:ctrlPr>
                                <a:rPr lang="en-US" sz="1600" b="0" i="1" dirty="0" smtClean="0">
                                  <a:latin typeface="Cambria Math" panose="02040503050406030204" pitchFamily="18" charset="0"/>
                                </a:rPr>
                              </m:ctrlPr>
                            </m:funcPr>
                            <m:fName>
                              <m:r>
                                <m:rPr>
                                  <m:sty m:val="p"/>
                                </m:rPr>
                                <a:rPr lang="en-US" sz="1600" b="0" i="0" dirty="0" smtClean="0">
                                  <a:latin typeface="Cambria Math" panose="02040503050406030204" pitchFamily="18" charset="0"/>
                                </a:rPr>
                                <m:t>exp</m:t>
                              </m:r>
                            </m:fName>
                            <m:e>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𝑇</m:t>
                                  </m:r>
                                </m:e>
                                <m:sub>
                                  <m:r>
                                    <a:rPr lang="en-US" sz="1600" b="0" i="1" dirty="0" smtClean="0">
                                      <a:latin typeface="Cambria Math" panose="02040503050406030204" pitchFamily="18" charset="0"/>
                                    </a:rPr>
                                    <m:t>𝑐</m:t>
                                  </m:r>
                                </m:sub>
                              </m:sSub>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𝑃</m:t>
                                  </m:r>
                                </m:e>
                                <m:sub>
                                  <m:r>
                                    <a:rPr lang="en-US" sz="1600" b="0" i="1" dirty="0" smtClean="0">
                                      <a:latin typeface="Cambria Math" panose="02040503050406030204" pitchFamily="18" charset="0"/>
                                    </a:rPr>
                                    <m:t>𝑋</m:t>
                                  </m:r>
                                </m:sub>
                              </m:sSub>
                              <m:r>
                                <a:rPr lang="en-US" sz="1600" b="0" i="1" dirty="0" smtClean="0">
                                  <a:latin typeface="Cambria Math" panose="02040503050406030204" pitchFamily="18" charset="0"/>
                                </a:rPr>
                                <m:t>)</m:t>
                              </m:r>
                            </m:e>
                          </m:func>
                        </m:e>
                        <m:sub/>
                      </m:sSub>
                    </m:oMath>
                  </m:oMathPara>
                </a14:m>
                <a:endParaRPr lang="en-US" sz="1600" b="1" dirty="0"/>
              </a:p>
            </p:txBody>
          </p:sp>
        </mc:Choice>
        <mc:Fallback xmlns="">
          <p:sp>
            <p:nvSpPr>
              <p:cNvPr id="3" name="TextBox 2">
                <a:extLst>
                  <a:ext uri="{FF2B5EF4-FFF2-40B4-BE49-F238E27FC236}">
                    <a16:creationId xmlns:a16="http://schemas.microsoft.com/office/drawing/2014/main" id="{BA1F9729-E7A8-21D3-6AE3-E565A4AB5574}"/>
                  </a:ext>
                </a:extLst>
              </p:cNvPr>
              <p:cNvSpPr txBox="1">
                <a:spLocks noRot="1" noChangeAspect="1" noMove="1" noResize="1" noEditPoints="1" noAdjustHandles="1" noChangeArrowheads="1" noChangeShapeType="1" noTextEdit="1"/>
              </p:cNvSpPr>
              <p:nvPr/>
            </p:nvSpPr>
            <p:spPr>
              <a:xfrm>
                <a:off x="396950" y="1078285"/>
                <a:ext cx="4876799" cy="4076052"/>
              </a:xfrm>
              <a:prstGeom prst="rect">
                <a:avLst/>
              </a:prstGeom>
              <a:blipFill>
                <a:blip r:embed="rId2"/>
                <a:stretch>
                  <a:fillRect l="-779" t="-310" b="-1238"/>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0303BF42-4F91-4019-9967-5C900612D28B}"/>
              </a:ext>
            </a:extLst>
          </p:cNvPr>
          <p:cNvPicPr>
            <a:picLocks noChangeAspect="1"/>
          </p:cNvPicPr>
          <p:nvPr/>
        </p:nvPicPr>
        <p:blipFill>
          <a:blip r:embed="rId3"/>
          <a:stretch>
            <a:fillRect/>
          </a:stretch>
        </p:blipFill>
        <p:spPr>
          <a:xfrm>
            <a:off x="5127456" y="1275725"/>
            <a:ext cx="3619594" cy="3566945"/>
          </a:xfrm>
          <a:prstGeom prst="rect">
            <a:avLst/>
          </a:prstGeom>
        </p:spPr>
      </p:pic>
      <p:sp>
        <p:nvSpPr>
          <p:cNvPr id="9" name="Google Shape;1836;p85">
            <a:extLst>
              <a:ext uri="{FF2B5EF4-FFF2-40B4-BE49-F238E27FC236}">
                <a16:creationId xmlns:a16="http://schemas.microsoft.com/office/drawing/2014/main" id="{C8F33CB3-122A-2473-DF2A-693B3BBAAE6C}"/>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sz="2500" dirty="0">
                <a:solidFill>
                  <a:schemeClr val="dk2"/>
                </a:solidFill>
              </a:rPr>
              <a:t>How good is LLM planning in Creative Tasks?</a:t>
            </a:r>
            <a:endParaRPr lang="en-US" sz="2400" dirty="0"/>
          </a:p>
        </p:txBody>
      </p:sp>
      <p:sp>
        <p:nvSpPr>
          <p:cNvPr id="11" name="Google Shape;1771;p83">
            <a:extLst>
              <a:ext uri="{FF2B5EF4-FFF2-40B4-BE49-F238E27FC236}">
                <a16:creationId xmlns:a16="http://schemas.microsoft.com/office/drawing/2014/main" id="{63FC158B-3DAB-4B9E-4C37-7F3739998967}"/>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2" name="Google Shape;1772;p83">
            <a:extLst>
              <a:ext uri="{FF2B5EF4-FFF2-40B4-BE49-F238E27FC236}">
                <a16:creationId xmlns:a16="http://schemas.microsoft.com/office/drawing/2014/main" id="{7879451D-3CD7-9A35-3818-BD99604DDFEE}"/>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3" name="Google Shape;1773;p83">
            <a:extLst>
              <a:ext uri="{FF2B5EF4-FFF2-40B4-BE49-F238E27FC236}">
                <a16:creationId xmlns:a16="http://schemas.microsoft.com/office/drawing/2014/main" id="{823A83CF-C0D1-B022-64DE-B672076F664C}"/>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4" name="Google Shape;1774;p83">
            <a:extLst>
              <a:ext uri="{FF2B5EF4-FFF2-40B4-BE49-F238E27FC236}">
                <a16:creationId xmlns:a16="http://schemas.microsoft.com/office/drawing/2014/main" id="{13D1575B-325D-DF86-452E-14271BCBD139}"/>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29409857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Shape 2401">
          <a:extLst>
            <a:ext uri="{FF2B5EF4-FFF2-40B4-BE49-F238E27FC236}">
              <a16:creationId xmlns:a16="http://schemas.microsoft.com/office/drawing/2014/main" id="{EA24FB86-9BB0-56E2-8C45-43BEFA7555A1}"/>
            </a:ext>
          </a:extLst>
        </p:cNvPr>
        <p:cNvGrpSpPr/>
        <p:nvPr/>
      </p:nvGrpSpPr>
      <p:grpSpPr>
        <a:xfrm>
          <a:off x="0" y="0"/>
          <a:ext cx="0" cy="0"/>
          <a:chOff x="0" y="0"/>
          <a:chExt cx="0" cy="0"/>
        </a:xfrm>
      </p:grpSpPr>
      <p:sp>
        <p:nvSpPr>
          <p:cNvPr id="2402" name="Google Shape;2402;p126">
            <a:extLst>
              <a:ext uri="{FF2B5EF4-FFF2-40B4-BE49-F238E27FC236}">
                <a16:creationId xmlns:a16="http://schemas.microsoft.com/office/drawing/2014/main" id="{4A471E13-6201-7F1C-9206-A8A6C5246D53}"/>
              </a:ext>
            </a:extLst>
          </p:cNvPr>
          <p:cNvSpPr txBox="1">
            <a:spLocks noGrp="1"/>
          </p:cNvSpPr>
          <p:nvPr>
            <p:ph type="title"/>
          </p:nvPr>
        </p:nvSpPr>
        <p:spPr>
          <a:xfrm>
            <a:off x="457075" y="139352"/>
            <a:ext cx="8654100" cy="1028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sz="2000" dirty="0"/>
              <a:t>Story Generation Given Titles</a:t>
            </a:r>
            <a:endParaRPr sz="2000" dirty="0"/>
          </a:p>
        </p:txBody>
      </p:sp>
      <p:sp>
        <p:nvSpPr>
          <p:cNvPr id="2403" name="Google Shape;2403;p126">
            <a:extLst>
              <a:ext uri="{FF2B5EF4-FFF2-40B4-BE49-F238E27FC236}">
                <a16:creationId xmlns:a16="http://schemas.microsoft.com/office/drawing/2014/main" id="{B2F16863-C35E-2990-AC32-78D6BE24DCB4}"/>
              </a:ext>
            </a:extLst>
          </p:cNvPr>
          <p:cNvSpPr txBox="1">
            <a:spLocks noGrp="1"/>
          </p:cNvSpPr>
          <p:nvPr>
            <p:ph type="body" idx="1"/>
          </p:nvPr>
        </p:nvSpPr>
        <p:spPr>
          <a:xfrm>
            <a:off x="457200" y="1120378"/>
            <a:ext cx="4040100" cy="488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1200"/>
              </a:spcAft>
              <a:buClr>
                <a:srgbClr val="0070C0"/>
              </a:buClr>
              <a:buSzPts val="2400"/>
              <a:buNone/>
            </a:pPr>
            <a:r>
              <a:rPr lang="en" sz="1800">
                <a:solidFill>
                  <a:srgbClr val="0070C0"/>
                </a:solidFill>
              </a:rPr>
              <a:t>Without Storyline Planning</a:t>
            </a:r>
            <a:endParaRPr sz="1800"/>
          </a:p>
        </p:txBody>
      </p:sp>
      <p:sp>
        <p:nvSpPr>
          <p:cNvPr id="2404" name="Google Shape;2404;p126">
            <a:extLst>
              <a:ext uri="{FF2B5EF4-FFF2-40B4-BE49-F238E27FC236}">
                <a16:creationId xmlns:a16="http://schemas.microsoft.com/office/drawing/2014/main" id="{83C6D9A2-E819-ADDB-DD21-848BB0B6FAB1}"/>
              </a:ext>
            </a:extLst>
          </p:cNvPr>
          <p:cNvSpPr txBox="1">
            <a:spLocks noGrp="1"/>
          </p:cNvSpPr>
          <p:nvPr>
            <p:ph type="body" idx="2"/>
          </p:nvPr>
        </p:nvSpPr>
        <p:spPr>
          <a:xfrm>
            <a:off x="457200" y="1665684"/>
            <a:ext cx="3733800" cy="29064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100000"/>
              <a:buNone/>
            </a:pPr>
            <a:r>
              <a:rPr lang="en" sz="1600" b="1"/>
              <a:t>Story (generated):</a:t>
            </a:r>
            <a:endParaRPr sz="1600"/>
          </a:p>
          <a:p>
            <a:pPr marL="0" lvl="0" indent="0" algn="l" rtl="0">
              <a:spcBef>
                <a:spcPts val="480"/>
              </a:spcBef>
              <a:spcAft>
                <a:spcPts val="0"/>
              </a:spcAft>
              <a:buClr>
                <a:schemeClr val="dk1"/>
              </a:buClr>
              <a:buSzPct val="100000"/>
              <a:buNone/>
            </a:pPr>
            <a:r>
              <a:rPr lang="en" sz="1600"/>
              <a:t>I wanted to learn how to draw. </a:t>
            </a:r>
            <a:endParaRPr sz="1600"/>
          </a:p>
          <a:p>
            <a:pPr marL="0" lvl="0" indent="0" algn="l" rtl="0">
              <a:spcBef>
                <a:spcPts val="480"/>
              </a:spcBef>
              <a:spcAft>
                <a:spcPts val="0"/>
              </a:spcAft>
              <a:buClr>
                <a:schemeClr val="dk1"/>
              </a:buClr>
              <a:buSzPct val="100000"/>
              <a:buNone/>
            </a:pPr>
            <a:r>
              <a:rPr lang="en" sz="1600"/>
              <a:t>So, I decided to go to the gym. </a:t>
            </a:r>
            <a:endParaRPr sz="1600"/>
          </a:p>
          <a:p>
            <a:pPr marL="0" lvl="0" indent="0" algn="l" rtl="0">
              <a:spcBef>
                <a:spcPts val="480"/>
              </a:spcBef>
              <a:spcAft>
                <a:spcPts val="0"/>
              </a:spcAft>
              <a:buClr>
                <a:schemeClr val="dk1"/>
              </a:buClr>
              <a:buSzPct val="100000"/>
              <a:buNone/>
            </a:pPr>
            <a:r>
              <a:rPr lang="en" sz="1600"/>
              <a:t>I went to the local gym. </a:t>
            </a:r>
            <a:endParaRPr sz="1600"/>
          </a:p>
          <a:p>
            <a:pPr marL="0" lvl="0" indent="0" algn="l" rtl="0">
              <a:spcBef>
                <a:spcPts val="480"/>
              </a:spcBef>
              <a:spcAft>
                <a:spcPts val="0"/>
              </a:spcAft>
              <a:buClr>
                <a:schemeClr val="dk1"/>
              </a:buClr>
              <a:buSzPct val="100000"/>
              <a:buNone/>
            </a:pPr>
            <a:r>
              <a:rPr lang="en" sz="1600"/>
              <a:t>I got a lot of good grades. </a:t>
            </a:r>
            <a:endParaRPr sz="1600"/>
          </a:p>
          <a:p>
            <a:pPr marL="0" lvl="0" indent="0" algn="l" rtl="0">
              <a:spcBef>
                <a:spcPts val="480"/>
              </a:spcBef>
              <a:spcAft>
                <a:spcPts val="0"/>
              </a:spcAft>
              <a:buClr>
                <a:schemeClr val="dk1"/>
              </a:buClr>
              <a:buSzPct val="100000"/>
              <a:buNone/>
            </a:pPr>
            <a:r>
              <a:rPr lang="en" sz="1600"/>
              <a:t>I was very happy.</a:t>
            </a:r>
            <a:endParaRPr sz="1600"/>
          </a:p>
          <a:p>
            <a:pPr marL="0" lvl="0" indent="0" algn="l" rtl="0">
              <a:spcBef>
                <a:spcPts val="480"/>
              </a:spcBef>
              <a:spcAft>
                <a:spcPts val="1200"/>
              </a:spcAft>
              <a:buClr>
                <a:schemeClr val="dk1"/>
              </a:buClr>
              <a:buSzPct val="100000"/>
              <a:buNone/>
            </a:pPr>
            <a:endParaRPr sz="1600" b="1"/>
          </a:p>
        </p:txBody>
      </p:sp>
      <p:sp>
        <p:nvSpPr>
          <p:cNvPr id="2405" name="Google Shape;2405;p126">
            <a:extLst>
              <a:ext uri="{FF2B5EF4-FFF2-40B4-BE49-F238E27FC236}">
                <a16:creationId xmlns:a16="http://schemas.microsoft.com/office/drawing/2014/main" id="{D8586812-569D-633F-54A8-76F2838130EE}"/>
              </a:ext>
            </a:extLst>
          </p:cNvPr>
          <p:cNvSpPr txBox="1">
            <a:spLocks noGrp="1"/>
          </p:cNvSpPr>
          <p:nvPr>
            <p:ph type="body" idx="3"/>
          </p:nvPr>
        </p:nvSpPr>
        <p:spPr>
          <a:xfrm>
            <a:off x="4645025" y="1120378"/>
            <a:ext cx="4041900" cy="488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1200"/>
              </a:spcAft>
              <a:buClr>
                <a:srgbClr val="0070C0"/>
              </a:buClr>
              <a:buSzPts val="2400"/>
              <a:buNone/>
            </a:pPr>
            <a:r>
              <a:rPr lang="en" sz="1200">
                <a:solidFill>
                  <a:srgbClr val="0070C0"/>
                </a:solidFill>
              </a:rPr>
              <a:t>With Storyline Planning</a:t>
            </a:r>
            <a:endParaRPr sz="1200"/>
          </a:p>
        </p:txBody>
      </p:sp>
      <p:sp>
        <p:nvSpPr>
          <p:cNvPr id="2406" name="Google Shape;2406;p126">
            <a:extLst>
              <a:ext uri="{FF2B5EF4-FFF2-40B4-BE49-F238E27FC236}">
                <a16:creationId xmlns:a16="http://schemas.microsoft.com/office/drawing/2014/main" id="{DDF459D1-B3EC-778D-9B76-A6545EA61C3E}"/>
              </a:ext>
            </a:extLst>
          </p:cNvPr>
          <p:cNvSpPr txBox="1">
            <a:spLocks noGrp="1"/>
          </p:cNvSpPr>
          <p:nvPr>
            <p:ph type="body" idx="4"/>
          </p:nvPr>
        </p:nvSpPr>
        <p:spPr>
          <a:xfrm>
            <a:off x="4645025" y="1665684"/>
            <a:ext cx="4041900" cy="29064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lvl="0" indent="0" algn="l" rtl="0">
              <a:spcBef>
                <a:spcPts val="0"/>
              </a:spcBef>
              <a:spcAft>
                <a:spcPts val="0"/>
              </a:spcAft>
              <a:buClr>
                <a:srgbClr val="0070C0"/>
              </a:buClr>
              <a:buSzPct val="100000"/>
              <a:buNone/>
            </a:pPr>
            <a:r>
              <a:rPr lang="en" sz="1200" b="1">
                <a:solidFill>
                  <a:srgbClr val="0070C0"/>
                </a:solidFill>
              </a:rPr>
              <a:t>Storyline (generated):</a:t>
            </a:r>
            <a:r>
              <a:rPr lang="en" sz="1200">
                <a:solidFill>
                  <a:srgbClr val="0070C0"/>
                </a:solidFill>
              </a:rPr>
              <a:t> wanted -&gt; decided -&gt; class -&gt; practiced -&gt; well</a:t>
            </a:r>
            <a:endParaRPr sz="1200" b="1">
              <a:solidFill>
                <a:srgbClr val="0070C0"/>
              </a:solidFill>
            </a:endParaRPr>
          </a:p>
          <a:p>
            <a:pPr marL="0" lvl="0" indent="0" algn="l" rtl="0">
              <a:spcBef>
                <a:spcPts val="444"/>
              </a:spcBef>
              <a:spcAft>
                <a:spcPts val="0"/>
              </a:spcAft>
              <a:buClr>
                <a:schemeClr val="dk1"/>
              </a:buClr>
              <a:buSzPct val="100000"/>
              <a:buNone/>
            </a:pPr>
            <a:r>
              <a:rPr lang="en" sz="1200" b="1"/>
              <a:t>Story (generated): </a:t>
            </a:r>
            <a:endParaRPr sz="1200"/>
          </a:p>
          <a:p>
            <a:pPr marL="0" lvl="0" indent="0" algn="l" rtl="0">
              <a:spcBef>
                <a:spcPts val="481"/>
              </a:spcBef>
              <a:spcAft>
                <a:spcPts val="0"/>
              </a:spcAft>
              <a:buClr>
                <a:schemeClr val="dk1"/>
              </a:buClr>
              <a:buSzPct val="100000"/>
              <a:buNone/>
            </a:pPr>
            <a:r>
              <a:rPr lang="en" sz="1200"/>
              <a:t>I </a:t>
            </a:r>
            <a:r>
              <a:rPr lang="en" sz="1200" u="sng"/>
              <a:t>wanted</a:t>
            </a:r>
            <a:r>
              <a:rPr lang="en" sz="1200"/>
              <a:t> to be a gymnast.</a:t>
            </a:r>
            <a:endParaRPr sz="1200" b="1"/>
          </a:p>
          <a:p>
            <a:pPr marL="0" lvl="0" indent="0" algn="l" rtl="0">
              <a:spcBef>
                <a:spcPts val="481"/>
              </a:spcBef>
              <a:spcAft>
                <a:spcPts val="0"/>
              </a:spcAft>
              <a:buClr>
                <a:schemeClr val="dk1"/>
              </a:buClr>
              <a:buSzPct val="100000"/>
              <a:buNone/>
            </a:pPr>
            <a:r>
              <a:rPr lang="en" sz="1200"/>
              <a:t>I </a:t>
            </a:r>
            <a:r>
              <a:rPr lang="en" sz="1200" u="sng"/>
              <a:t>decided</a:t>
            </a:r>
            <a:r>
              <a:rPr lang="en" sz="1200"/>
              <a:t> to learn how to do gymnastics.</a:t>
            </a:r>
            <a:endParaRPr sz="1200"/>
          </a:p>
          <a:p>
            <a:pPr marL="0" lvl="0" indent="0" algn="l" rtl="0">
              <a:spcBef>
                <a:spcPts val="481"/>
              </a:spcBef>
              <a:spcAft>
                <a:spcPts val="0"/>
              </a:spcAft>
              <a:buClr>
                <a:schemeClr val="dk1"/>
              </a:buClr>
              <a:buSzPct val="100000"/>
              <a:buNone/>
            </a:pPr>
            <a:r>
              <a:rPr lang="en" sz="1200"/>
              <a:t>I decided to take a </a:t>
            </a:r>
            <a:r>
              <a:rPr lang="en" sz="1200" u="sng"/>
              <a:t>class</a:t>
            </a:r>
            <a:r>
              <a:rPr lang="en" sz="1200"/>
              <a:t>.</a:t>
            </a:r>
            <a:endParaRPr sz="1200"/>
          </a:p>
          <a:p>
            <a:pPr marL="0" lvl="0" indent="0" algn="l" rtl="0">
              <a:spcBef>
                <a:spcPts val="481"/>
              </a:spcBef>
              <a:spcAft>
                <a:spcPts val="0"/>
              </a:spcAft>
              <a:buClr>
                <a:schemeClr val="dk1"/>
              </a:buClr>
              <a:buSzPct val="100000"/>
              <a:buNone/>
            </a:pPr>
            <a:r>
              <a:rPr lang="en" sz="1200"/>
              <a:t>I </a:t>
            </a:r>
            <a:r>
              <a:rPr lang="en" sz="1200" u="sng"/>
              <a:t>practiced</a:t>
            </a:r>
            <a:r>
              <a:rPr lang="en" sz="1200"/>
              <a:t> every day. </a:t>
            </a:r>
            <a:endParaRPr sz="1200"/>
          </a:p>
          <a:p>
            <a:pPr marL="0" lvl="0" indent="0" algn="l" rtl="0">
              <a:spcBef>
                <a:spcPts val="481"/>
              </a:spcBef>
              <a:spcAft>
                <a:spcPts val="1200"/>
              </a:spcAft>
              <a:buClr>
                <a:schemeClr val="dk1"/>
              </a:buClr>
              <a:buSzPct val="100000"/>
              <a:buNone/>
            </a:pPr>
            <a:r>
              <a:rPr lang="en" sz="1200"/>
              <a:t>I was able to do </a:t>
            </a:r>
            <a:r>
              <a:rPr lang="en" sz="1200" u="sng"/>
              <a:t>well</a:t>
            </a:r>
            <a:r>
              <a:rPr lang="en" sz="1200"/>
              <a:t> on the class.</a:t>
            </a:r>
            <a:endParaRPr sz="1200" b="1"/>
          </a:p>
        </p:txBody>
      </p:sp>
      <p:sp>
        <p:nvSpPr>
          <p:cNvPr id="2407" name="Google Shape;2407;p126">
            <a:extLst>
              <a:ext uri="{FF2B5EF4-FFF2-40B4-BE49-F238E27FC236}">
                <a16:creationId xmlns:a16="http://schemas.microsoft.com/office/drawing/2014/main" id="{375BBE2F-B318-EBB0-E464-EED1247B28A5}"/>
              </a:ext>
            </a:extLst>
          </p:cNvPr>
          <p:cNvSpPr txBox="1"/>
          <p:nvPr/>
        </p:nvSpPr>
        <p:spPr>
          <a:xfrm>
            <a:off x="3179174" y="867020"/>
            <a:ext cx="26364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Calibri"/>
                <a:ea typeface="Calibri"/>
                <a:cs typeface="Calibri"/>
                <a:sym typeface="Calibri"/>
              </a:rPr>
              <a:t>Title: </a:t>
            </a:r>
            <a:r>
              <a:rPr lang="en" sz="2000">
                <a:solidFill>
                  <a:schemeClr val="dk1"/>
                </a:solidFill>
                <a:latin typeface="Calibri"/>
                <a:ea typeface="Calibri"/>
                <a:cs typeface="Calibri"/>
                <a:sym typeface="Calibri"/>
              </a:rPr>
              <a:t>gymnastics</a:t>
            </a:r>
            <a:endParaRPr sz="1100"/>
          </a:p>
        </p:txBody>
      </p:sp>
      <p:sp>
        <p:nvSpPr>
          <p:cNvPr id="2408" name="Google Shape;2408;p126">
            <a:extLst>
              <a:ext uri="{FF2B5EF4-FFF2-40B4-BE49-F238E27FC236}">
                <a16:creationId xmlns:a16="http://schemas.microsoft.com/office/drawing/2014/main" id="{8862BCAC-B811-750C-55C5-582C63CCA3FB}"/>
              </a:ext>
            </a:extLst>
          </p:cNvPr>
          <p:cNvSpPr txBox="1"/>
          <p:nvPr/>
        </p:nvSpPr>
        <p:spPr>
          <a:xfrm>
            <a:off x="441603" y="4637901"/>
            <a:ext cx="6340200"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i="1">
                <a:solidFill>
                  <a:srgbClr val="E36C09"/>
                </a:solidFill>
                <a:latin typeface="Comic Sans MS"/>
                <a:ea typeface="Comic Sans MS"/>
                <a:cs typeface="Comic Sans MS"/>
                <a:sym typeface="Comic Sans MS"/>
              </a:rPr>
              <a:t>Yao et al. (AAAI 2019).</a:t>
            </a:r>
            <a:r>
              <a:rPr lang="en" i="1">
                <a:solidFill>
                  <a:srgbClr val="0070C0"/>
                </a:solidFill>
                <a:latin typeface="Comic Sans MS"/>
                <a:ea typeface="Comic Sans MS"/>
                <a:cs typeface="Comic Sans MS"/>
                <a:sym typeface="Comic Sans MS"/>
              </a:rPr>
              <a:t>  </a:t>
            </a:r>
            <a:r>
              <a:rPr lang="en">
                <a:solidFill>
                  <a:srgbClr val="0070C0"/>
                </a:solidFill>
                <a:latin typeface="Comic Sans MS"/>
                <a:ea typeface="Comic Sans MS"/>
                <a:cs typeface="Comic Sans MS"/>
                <a:sym typeface="Comic Sans MS"/>
              </a:rPr>
              <a:t>Demo: </a:t>
            </a:r>
            <a:r>
              <a:rPr lang="en" u="sng">
                <a:solidFill>
                  <a:srgbClr val="0070C0"/>
                </a:solidFill>
                <a:latin typeface="Comic Sans MS"/>
                <a:ea typeface="Comic Sans MS"/>
                <a:cs typeface="Comic Sans MS"/>
                <a:sym typeface="Comic Sans MS"/>
                <a:hlinkClick r:id="rId3">
                  <a:extLst>
                    <a:ext uri="{A12FA001-AC4F-418D-AE19-62706E023703}">
                      <ahyp:hlinkClr xmlns:ahyp="http://schemas.microsoft.com/office/drawing/2018/hyperlinkcolor" val="tx"/>
                    </a:ext>
                  </a:extLst>
                </a:hlinkClick>
              </a:rPr>
              <a:t>http://cwc-story.isi.edu/</a:t>
            </a:r>
            <a:endParaRPr i="1">
              <a:solidFill>
                <a:srgbClr val="0070C0"/>
              </a:solidFill>
              <a:latin typeface="Comic Sans MS"/>
              <a:ea typeface="Comic Sans MS"/>
              <a:cs typeface="Comic Sans MS"/>
              <a:sym typeface="Comic Sans MS"/>
            </a:endParaRPr>
          </a:p>
        </p:txBody>
      </p:sp>
      <p:sp>
        <p:nvSpPr>
          <p:cNvPr id="2409" name="Google Shape;2409;p126">
            <a:extLst>
              <a:ext uri="{FF2B5EF4-FFF2-40B4-BE49-F238E27FC236}">
                <a16:creationId xmlns:a16="http://schemas.microsoft.com/office/drawing/2014/main" id="{21CFCA2B-AF9D-B35D-7B0B-92196665AD37}"/>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a:bodyPr>
          <a:lstStyle/>
          <a:p>
            <a:pPr marL="0" marR="0" lvl="0" indent="0" algn="r" rtl="0">
              <a:spcBef>
                <a:spcPts val="0"/>
              </a:spcBef>
              <a:spcAft>
                <a:spcPts val="0"/>
              </a:spcAft>
              <a:buNone/>
            </a:pPr>
            <a:fld id="{00000000-1234-1234-1234-123412341234}" type="slidenum">
              <a:rPr lang="en" sz="200" b="0">
                <a:solidFill>
                  <a:srgbClr val="FFFFFF"/>
                </a:solidFill>
                <a:latin typeface="Helvetica Neue"/>
                <a:ea typeface="Helvetica Neue"/>
                <a:cs typeface="Helvetica Neue"/>
                <a:sym typeface="Helvetica Neue"/>
              </a:rPr>
              <a:t>58</a:t>
            </a:fld>
            <a:endParaRPr sz="200" b="0">
              <a:solidFill>
                <a:srgbClr val="FFFFFF"/>
              </a:solidFill>
              <a:latin typeface="Helvetica Neue"/>
              <a:ea typeface="Helvetica Neue"/>
              <a:cs typeface="Helvetica Neue"/>
              <a:sym typeface="Helvetica Neue"/>
            </a:endParaRPr>
          </a:p>
        </p:txBody>
      </p:sp>
      <p:sp>
        <p:nvSpPr>
          <p:cNvPr id="10" name="Google Shape;1771;p83">
            <a:extLst>
              <a:ext uri="{FF2B5EF4-FFF2-40B4-BE49-F238E27FC236}">
                <a16:creationId xmlns:a16="http://schemas.microsoft.com/office/drawing/2014/main" id="{4208478E-3536-76A6-F4FD-1213215545C0}"/>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1" name="Google Shape;1772;p83">
            <a:extLst>
              <a:ext uri="{FF2B5EF4-FFF2-40B4-BE49-F238E27FC236}">
                <a16:creationId xmlns:a16="http://schemas.microsoft.com/office/drawing/2014/main" id="{9DABDBC2-5FAE-03F3-0F1B-DE1D275C989B}"/>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2" name="Google Shape;1773;p83">
            <a:extLst>
              <a:ext uri="{FF2B5EF4-FFF2-40B4-BE49-F238E27FC236}">
                <a16:creationId xmlns:a16="http://schemas.microsoft.com/office/drawing/2014/main" id="{412881F9-6BB1-98E3-1D46-AD9DBA0029EC}"/>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3" name="Google Shape;1774;p83">
            <a:extLst>
              <a:ext uri="{FF2B5EF4-FFF2-40B4-BE49-F238E27FC236}">
                <a16:creationId xmlns:a16="http://schemas.microsoft.com/office/drawing/2014/main" id="{6289DAC5-F061-5406-B2B8-3A7AE72997E4}"/>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41721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0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0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0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0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0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0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2414">
          <a:extLst>
            <a:ext uri="{FF2B5EF4-FFF2-40B4-BE49-F238E27FC236}">
              <a16:creationId xmlns:a16="http://schemas.microsoft.com/office/drawing/2014/main" id="{4500F545-2CFE-F194-F17B-09D9F549EB33}"/>
            </a:ext>
          </a:extLst>
        </p:cNvPr>
        <p:cNvGrpSpPr/>
        <p:nvPr/>
      </p:nvGrpSpPr>
      <p:grpSpPr>
        <a:xfrm>
          <a:off x="0" y="0"/>
          <a:ext cx="0" cy="0"/>
          <a:chOff x="0" y="0"/>
          <a:chExt cx="0" cy="0"/>
        </a:xfrm>
      </p:grpSpPr>
      <p:pic>
        <p:nvPicPr>
          <p:cNvPr id="2415" name="Google Shape;2415;p127">
            <a:extLst>
              <a:ext uri="{FF2B5EF4-FFF2-40B4-BE49-F238E27FC236}">
                <a16:creationId xmlns:a16="http://schemas.microsoft.com/office/drawing/2014/main" id="{42A6AAFE-3500-F06A-6147-1C2711A45BB8}"/>
              </a:ext>
            </a:extLst>
          </p:cNvPr>
          <p:cNvPicPr preferRelativeResize="0">
            <a:picLocks noGrp="1"/>
          </p:cNvPicPr>
          <p:nvPr>
            <p:ph type="body" idx="1"/>
          </p:nvPr>
        </p:nvPicPr>
        <p:blipFill rotWithShape="1">
          <a:blip r:embed="rId3">
            <a:alphaModFix/>
          </a:blip>
          <a:srcRect/>
          <a:stretch/>
        </p:blipFill>
        <p:spPr>
          <a:xfrm>
            <a:off x="152400" y="959975"/>
            <a:ext cx="8839200" cy="2411700"/>
          </a:xfrm>
          <a:prstGeom prst="rect">
            <a:avLst/>
          </a:prstGeom>
          <a:noFill/>
          <a:ln>
            <a:noFill/>
          </a:ln>
        </p:spPr>
      </p:pic>
      <p:sp>
        <p:nvSpPr>
          <p:cNvPr id="2416" name="Google Shape;2416;p127">
            <a:extLst>
              <a:ext uri="{FF2B5EF4-FFF2-40B4-BE49-F238E27FC236}">
                <a16:creationId xmlns:a16="http://schemas.microsoft.com/office/drawing/2014/main" id="{3B21E4E1-9B3B-81B9-6A7D-8DE3A00D7A5C}"/>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fontScale="32500" lnSpcReduction="20000"/>
          </a:bodyPr>
          <a:lstStyle/>
          <a:p>
            <a:pPr marL="0" lvl="0" indent="0" algn="r" rtl="0">
              <a:spcBef>
                <a:spcPts val="0"/>
              </a:spcBef>
              <a:spcAft>
                <a:spcPts val="0"/>
              </a:spcAft>
              <a:buNone/>
            </a:pPr>
            <a:fld id="{00000000-1234-1234-1234-123412341234}" type="slidenum">
              <a:rPr lang="en">
                <a:solidFill>
                  <a:srgbClr val="FFFFFF"/>
                </a:solidFill>
              </a:rPr>
              <a:t>59</a:t>
            </a:fld>
            <a:endParaRPr>
              <a:solidFill>
                <a:srgbClr val="FFFFFF"/>
              </a:solidFill>
            </a:endParaRPr>
          </a:p>
        </p:txBody>
      </p:sp>
      <p:sp>
        <p:nvSpPr>
          <p:cNvPr id="2417" name="Google Shape;2417;p127">
            <a:extLst>
              <a:ext uri="{FF2B5EF4-FFF2-40B4-BE49-F238E27FC236}">
                <a16:creationId xmlns:a16="http://schemas.microsoft.com/office/drawing/2014/main" id="{FFB2F0C2-3728-0466-9085-2813A53FC5AA}"/>
              </a:ext>
            </a:extLst>
          </p:cNvPr>
          <p:cNvSpPr txBox="1">
            <a:spLocks noGrp="1"/>
          </p:cNvSpPr>
          <p:nvPr>
            <p:ph type="title"/>
          </p:nvPr>
        </p:nvSpPr>
        <p:spPr>
          <a:xfrm>
            <a:off x="457199" y="171450"/>
            <a:ext cx="8654100" cy="800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dirty="0"/>
              <a:t>Plan-and-Write Overview</a:t>
            </a:r>
            <a:endParaRPr dirty="0"/>
          </a:p>
        </p:txBody>
      </p:sp>
      <p:sp>
        <p:nvSpPr>
          <p:cNvPr id="2418" name="Google Shape;2418;p127">
            <a:extLst>
              <a:ext uri="{FF2B5EF4-FFF2-40B4-BE49-F238E27FC236}">
                <a16:creationId xmlns:a16="http://schemas.microsoft.com/office/drawing/2014/main" id="{BDF1DEB5-A03B-AD48-62B2-761D9D2D283F}"/>
              </a:ext>
            </a:extLst>
          </p:cNvPr>
          <p:cNvSpPr txBox="1"/>
          <p:nvPr/>
        </p:nvSpPr>
        <p:spPr>
          <a:xfrm>
            <a:off x="283679" y="3420673"/>
            <a:ext cx="8479200" cy="138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800">
                <a:solidFill>
                  <a:schemeClr val="dk1"/>
                </a:solidFill>
                <a:latin typeface="Calibri"/>
                <a:ea typeface="Calibri"/>
                <a:cs typeface="Calibri"/>
                <a:sym typeface="Calibri"/>
              </a:rPr>
              <a:t>The </a:t>
            </a:r>
            <a:r>
              <a:rPr lang="en" sz="2800" i="1">
                <a:solidFill>
                  <a:srgbClr val="0070C0"/>
                </a:solidFill>
                <a:latin typeface="Calibri"/>
                <a:ea typeface="Calibri"/>
                <a:cs typeface="Calibri"/>
                <a:sym typeface="Calibri"/>
              </a:rPr>
              <a:t>planning</a:t>
            </a:r>
            <a:r>
              <a:rPr lang="en" sz="2800">
                <a:solidFill>
                  <a:srgbClr val="0070C0"/>
                </a:solidFill>
                <a:latin typeface="Calibri"/>
                <a:ea typeface="Calibri"/>
                <a:cs typeface="Calibri"/>
                <a:sym typeface="Calibri"/>
              </a:rPr>
              <a:t> </a:t>
            </a:r>
            <a:r>
              <a:rPr lang="en" sz="2800">
                <a:solidFill>
                  <a:schemeClr val="dk1"/>
                </a:solidFill>
                <a:latin typeface="Calibri"/>
                <a:ea typeface="Calibri"/>
                <a:cs typeface="Calibri"/>
                <a:sym typeface="Calibri"/>
              </a:rPr>
              <a:t>component generates storylines from titles. </a:t>
            </a:r>
            <a:endParaRPr/>
          </a:p>
          <a:p>
            <a:pPr marL="0" marR="0" lvl="0" indent="0" algn="l" rtl="0">
              <a:spcBef>
                <a:spcPts val="0"/>
              </a:spcBef>
              <a:spcAft>
                <a:spcPts val="0"/>
              </a:spcAft>
              <a:buNone/>
            </a:pPr>
            <a:r>
              <a:rPr lang="en" sz="2800">
                <a:solidFill>
                  <a:schemeClr val="dk1"/>
                </a:solidFill>
                <a:latin typeface="Calibri"/>
                <a:ea typeface="Calibri"/>
                <a:cs typeface="Calibri"/>
                <a:sym typeface="Calibri"/>
              </a:rPr>
              <a:t>The </a:t>
            </a:r>
            <a:r>
              <a:rPr lang="en" sz="2800" i="1">
                <a:solidFill>
                  <a:srgbClr val="0070C0"/>
                </a:solidFill>
                <a:latin typeface="Calibri"/>
                <a:ea typeface="Calibri"/>
                <a:cs typeface="Calibri"/>
                <a:sym typeface="Calibri"/>
              </a:rPr>
              <a:t>writing</a:t>
            </a:r>
            <a:r>
              <a:rPr lang="en" sz="2800">
                <a:solidFill>
                  <a:srgbClr val="0070C0"/>
                </a:solidFill>
                <a:latin typeface="Calibri"/>
                <a:ea typeface="Calibri"/>
                <a:cs typeface="Calibri"/>
                <a:sym typeface="Calibri"/>
              </a:rPr>
              <a:t> </a:t>
            </a:r>
            <a:r>
              <a:rPr lang="en" sz="2800">
                <a:solidFill>
                  <a:schemeClr val="dk1"/>
                </a:solidFill>
                <a:latin typeface="Calibri"/>
                <a:ea typeface="Calibri"/>
                <a:cs typeface="Calibri"/>
                <a:sym typeface="Calibri"/>
              </a:rPr>
              <a:t>component generates stories from storylines and titles.</a:t>
            </a:r>
            <a:endParaRPr/>
          </a:p>
        </p:txBody>
      </p:sp>
      <p:sp>
        <p:nvSpPr>
          <p:cNvPr id="6" name="Google Shape;1771;p83">
            <a:extLst>
              <a:ext uri="{FF2B5EF4-FFF2-40B4-BE49-F238E27FC236}">
                <a16:creationId xmlns:a16="http://schemas.microsoft.com/office/drawing/2014/main" id="{094F3179-29C7-2D21-0F68-A8D84AA437F3}"/>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7" name="Google Shape;1772;p83">
            <a:extLst>
              <a:ext uri="{FF2B5EF4-FFF2-40B4-BE49-F238E27FC236}">
                <a16:creationId xmlns:a16="http://schemas.microsoft.com/office/drawing/2014/main" id="{2DDB8438-8A1D-2EF5-4ABF-A62436284B37}"/>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8" name="Google Shape;1773;p83">
            <a:extLst>
              <a:ext uri="{FF2B5EF4-FFF2-40B4-BE49-F238E27FC236}">
                <a16:creationId xmlns:a16="http://schemas.microsoft.com/office/drawing/2014/main" id="{B552E999-CCCE-A0AF-F7CD-2DDFAA8AE452}"/>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9" name="Google Shape;1774;p83">
            <a:extLst>
              <a:ext uri="{FF2B5EF4-FFF2-40B4-BE49-F238E27FC236}">
                <a16:creationId xmlns:a16="http://schemas.microsoft.com/office/drawing/2014/main" id="{19614E39-7FE5-25EB-6634-7C5EAFD1FF1E}"/>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8094505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2423">
          <a:extLst>
            <a:ext uri="{FF2B5EF4-FFF2-40B4-BE49-F238E27FC236}">
              <a16:creationId xmlns:a16="http://schemas.microsoft.com/office/drawing/2014/main" id="{F923738A-BBCF-8C4C-FA9C-FAA506D7E039}"/>
            </a:ext>
          </a:extLst>
        </p:cNvPr>
        <p:cNvGrpSpPr/>
        <p:nvPr/>
      </p:nvGrpSpPr>
      <p:grpSpPr>
        <a:xfrm>
          <a:off x="0" y="0"/>
          <a:ext cx="0" cy="0"/>
          <a:chOff x="0" y="0"/>
          <a:chExt cx="0" cy="0"/>
        </a:xfrm>
      </p:grpSpPr>
      <p:sp>
        <p:nvSpPr>
          <p:cNvPr id="2424" name="Google Shape;2424;p128">
            <a:extLst>
              <a:ext uri="{FF2B5EF4-FFF2-40B4-BE49-F238E27FC236}">
                <a16:creationId xmlns:a16="http://schemas.microsoft.com/office/drawing/2014/main" id="{6B089FD4-E5C1-CBA5-625D-F9F5F65CCED3}"/>
              </a:ext>
            </a:extLst>
          </p:cNvPr>
          <p:cNvSpPr txBox="1">
            <a:spLocks noGrp="1"/>
          </p:cNvSpPr>
          <p:nvPr>
            <p:ph type="body" idx="1"/>
          </p:nvPr>
        </p:nvSpPr>
        <p:spPr>
          <a:xfrm>
            <a:off x="228601" y="1177528"/>
            <a:ext cx="8458200" cy="33945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800"/>
              <a:buChar char="●"/>
            </a:pPr>
            <a:r>
              <a:rPr lang="en"/>
              <a:t>The benefits of the storyline</a:t>
            </a:r>
            <a:endParaRPr/>
          </a:p>
          <a:p>
            <a:pPr marL="742950" lvl="1" indent="-285750" algn="l" rtl="0">
              <a:spcBef>
                <a:spcPts val="480"/>
              </a:spcBef>
              <a:spcAft>
                <a:spcPts val="0"/>
              </a:spcAft>
              <a:buClr>
                <a:schemeClr val="dk1"/>
              </a:buClr>
              <a:buSzPts val="2400"/>
              <a:buChar char="○"/>
            </a:pPr>
            <a:r>
              <a:rPr lang="en"/>
              <a:t>Having a big picture.</a:t>
            </a:r>
            <a:endParaRPr/>
          </a:p>
          <a:p>
            <a:pPr marL="742950" lvl="1" indent="-285750" algn="l" rtl="0">
              <a:spcBef>
                <a:spcPts val="480"/>
              </a:spcBef>
              <a:spcAft>
                <a:spcPts val="0"/>
              </a:spcAft>
              <a:buClr>
                <a:schemeClr val="dk1"/>
              </a:buClr>
              <a:buSzPts val="2400"/>
              <a:buChar char="○"/>
            </a:pPr>
            <a:r>
              <a:rPr lang="en"/>
              <a:t>The ability to model “what happens next” rather than “what’s the next word”.</a:t>
            </a:r>
            <a:endParaRPr/>
          </a:p>
          <a:p>
            <a:pPr marL="742950" lvl="1" indent="-285750" algn="l" rtl="0">
              <a:spcBef>
                <a:spcPts val="480"/>
              </a:spcBef>
              <a:spcAft>
                <a:spcPts val="0"/>
              </a:spcAft>
              <a:buClr>
                <a:schemeClr val="dk1"/>
              </a:buClr>
              <a:buSzPts val="2400"/>
              <a:buChar char="○"/>
            </a:pPr>
            <a:r>
              <a:rPr lang="en"/>
              <a:t>More fun interaction and control.</a:t>
            </a:r>
            <a:endParaRPr/>
          </a:p>
          <a:p>
            <a:pPr marL="342900" lvl="0" indent="-342900" algn="l" rtl="0">
              <a:spcBef>
                <a:spcPts val="560"/>
              </a:spcBef>
              <a:spcAft>
                <a:spcPts val="0"/>
              </a:spcAft>
              <a:buClr>
                <a:schemeClr val="dk1"/>
              </a:buClr>
              <a:buSzPts val="2800"/>
              <a:buChar char="●"/>
            </a:pPr>
            <a:r>
              <a:rPr lang="en"/>
              <a:t>The challenges of incorporating the storyline</a:t>
            </a:r>
            <a:endParaRPr/>
          </a:p>
          <a:p>
            <a:pPr marL="742950" lvl="1" indent="-285750" algn="l" rtl="0">
              <a:spcBef>
                <a:spcPts val="480"/>
              </a:spcBef>
              <a:spcAft>
                <a:spcPts val="0"/>
              </a:spcAft>
              <a:buClr>
                <a:schemeClr val="dk1"/>
              </a:buClr>
              <a:buSzPts val="2400"/>
              <a:buChar char="○"/>
            </a:pPr>
            <a:r>
              <a:rPr lang="en"/>
              <a:t>How to get the storyline?</a:t>
            </a:r>
            <a:endParaRPr/>
          </a:p>
          <a:p>
            <a:pPr marL="742950" lvl="1" indent="-285750" algn="l" rtl="0">
              <a:spcBef>
                <a:spcPts val="480"/>
              </a:spcBef>
              <a:spcAft>
                <a:spcPts val="0"/>
              </a:spcAft>
              <a:buClr>
                <a:schemeClr val="dk1"/>
              </a:buClr>
              <a:buSzPts val="2400"/>
              <a:buChar char="○"/>
            </a:pPr>
            <a:r>
              <a:rPr lang="en"/>
              <a:t>How to use the storyline?</a:t>
            </a:r>
            <a:endParaRPr/>
          </a:p>
          <a:p>
            <a:pPr marL="342900" lvl="0" indent="-165100" algn="l" rtl="0">
              <a:spcBef>
                <a:spcPts val="560"/>
              </a:spcBef>
              <a:spcAft>
                <a:spcPts val="1200"/>
              </a:spcAft>
              <a:buClr>
                <a:schemeClr val="dk1"/>
              </a:buClr>
              <a:buSzPts val="2800"/>
              <a:buNone/>
            </a:pPr>
            <a:endParaRPr/>
          </a:p>
        </p:txBody>
      </p:sp>
      <p:sp>
        <p:nvSpPr>
          <p:cNvPr id="2425" name="Google Shape;2425;p128">
            <a:extLst>
              <a:ext uri="{FF2B5EF4-FFF2-40B4-BE49-F238E27FC236}">
                <a16:creationId xmlns:a16="http://schemas.microsoft.com/office/drawing/2014/main" id="{1876F8D4-F672-3369-8EFB-A9EF07B2EA32}"/>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fontScale="32500" lnSpcReduction="20000"/>
          </a:bodyPr>
          <a:lstStyle/>
          <a:p>
            <a:pPr marL="0" lvl="0" indent="0" algn="r" rtl="0">
              <a:spcBef>
                <a:spcPts val="0"/>
              </a:spcBef>
              <a:spcAft>
                <a:spcPts val="0"/>
              </a:spcAft>
              <a:buNone/>
            </a:pPr>
            <a:fld id="{00000000-1234-1234-1234-123412341234}" type="slidenum">
              <a:rPr lang="en">
                <a:solidFill>
                  <a:srgbClr val="FFFFFF"/>
                </a:solidFill>
              </a:rPr>
              <a:t>60</a:t>
            </a:fld>
            <a:endParaRPr>
              <a:solidFill>
                <a:srgbClr val="FFFFFF"/>
              </a:solidFill>
            </a:endParaRPr>
          </a:p>
        </p:txBody>
      </p:sp>
      <p:sp>
        <p:nvSpPr>
          <p:cNvPr id="2426" name="Google Shape;2426;p128">
            <a:extLst>
              <a:ext uri="{FF2B5EF4-FFF2-40B4-BE49-F238E27FC236}">
                <a16:creationId xmlns:a16="http://schemas.microsoft.com/office/drawing/2014/main" id="{65480CEF-B986-4B33-9FF4-65EA95A8E14A}"/>
              </a:ext>
            </a:extLst>
          </p:cNvPr>
          <p:cNvSpPr txBox="1">
            <a:spLocks noGrp="1"/>
          </p:cNvSpPr>
          <p:nvPr>
            <p:ph type="title"/>
          </p:nvPr>
        </p:nvSpPr>
        <p:spPr>
          <a:xfrm>
            <a:off x="457199" y="285750"/>
            <a:ext cx="8654100" cy="71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a:t>Plan-and-Write Hierarchical Generation</a:t>
            </a:r>
            <a:endParaRPr/>
          </a:p>
        </p:txBody>
      </p:sp>
      <p:sp>
        <p:nvSpPr>
          <p:cNvPr id="2427" name="Google Shape;2427;p128">
            <a:extLst>
              <a:ext uri="{FF2B5EF4-FFF2-40B4-BE49-F238E27FC236}">
                <a16:creationId xmlns:a16="http://schemas.microsoft.com/office/drawing/2014/main" id="{AC1A0730-F4E9-8918-90E0-06711533D5DE}"/>
              </a:ext>
            </a:extLst>
          </p:cNvPr>
          <p:cNvSpPr txBox="1"/>
          <p:nvPr/>
        </p:nvSpPr>
        <p:spPr>
          <a:xfrm>
            <a:off x="670203" y="4637901"/>
            <a:ext cx="6340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i="1">
                <a:solidFill>
                  <a:srgbClr val="E36C09"/>
                </a:solidFill>
                <a:latin typeface="Comic Sans MS"/>
                <a:ea typeface="Comic Sans MS"/>
                <a:cs typeface="Comic Sans MS"/>
                <a:sym typeface="Comic Sans MS"/>
              </a:rPr>
              <a:t>Yao et al. (AAAI 2019).</a:t>
            </a:r>
            <a:r>
              <a:rPr lang="en" sz="1800" i="1">
                <a:solidFill>
                  <a:srgbClr val="0070C0"/>
                </a:solidFill>
                <a:latin typeface="Comic Sans MS"/>
                <a:ea typeface="Comic Sans MS"/>
                <a:cs typeface="Comic Sans MS"/>
                <a:sym typeface="Comic Sans MS"/>
              </a:rPr>
              <a:t>  </a:t>
            </a:r>
            <a:r>
              <a:rPr lang="en" sz="1800">
                <a:solidFill>
                  <a:srgbClr val="0070C0"/>
                </a:solidFill>
                <a:latin typeface="Comic Sans MS"/>
                <a:ea typeface="Comic Sans MS"/>
                <a:cs typeface="Comic Sans MS"/>
                <a:sym typeface="Comic Sans MS"/>
              </a:rPr>
              <a:t>Demo: </a:t>
            </a:r>
            <a:r>
              <a:rPr lang="en" sz="1800" u="sng">
                <a:solidFill>
                  <a:srgbClr val="0070C0"/>
                </a:solidFill>
                <a:latin typeface="Comic Sans MS"/>
                <a:ea typeface="Comic Sans MS"/>
                <a:cs typeface="Comic Sans MS"/>
                <a:sym typeface="Comic Sans MS"/>
                <a:hlinkClick r:id="rId3">
                  <a:extLst>
                    <a:ext uri="{A12FA001-AC4F-418D-AE19-62706E023703}">
                      <ahyp:hlinkClr xmlns:ahyp="http://schemas.microsoft.com/office/drawing/2018/hyperlinkcolor" val="tx"/>
                    </a:ext>
                  </a:extLst>
                </a:hlinkClick>
              </a:rPr>
              <a:t>http://cwc-story.isi.edu/</a:t>
            </a:r>
            <a:endParaRPr sz="1800" i="1">
              <a:solidFill>
                <a:srgbClr val="0070C0"/>
              </a:solidFill>
              <a:latin typeface="Comic Sans MS"/>
              <a:ea typeface="Comic Sans MS"/>
              <a:cs typeface="Comic Sans MS"/>
              <a:sym typeface="Comic Sans MS"/>
            </a:endParaRPr>
          </a:p>
        </p:txBody>
      </p:sp>
      <p:sp>
        <p:nvSpPr>
          <p:cNvPr id="6" name="Google Shape;1771;p83">
            <a:extLst>
              <a:ext uri="{FF2B5EF4-FFF2-40B4-BE49-F238E27FC236}">
                <a16:creationId xmlns:a16="http://schemas.microsoft.com/office/drawing/2014/main" id="{35F443AC-4F78-052D-26DB-6D352E3DD25A}"/>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7" name="Google Shape;1772;p83">
            <a:extLst>
              <a:ext uri="{FF2B5EF4-FFF2-40B4-BE49-F238E27FC236}">
                <a16:creationId xmlns:a16="http://schemas.microsoft.com/office/drawing/2014/main" id="{F08EEB00-5158-6170-2804-DEEF0B752D28}"/>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8" name="Google Shape;1773;p83">
            <a:extLst>
              <a:ext uri="{FF2B5EF4-FFF2-40B4-BE49-F238E27FC236}">
                <a16:creationId xmlns:a16="http://schemas.microsoft.com/office/drawing/2014/main" id="{C8B86E22-5946-3BC4-F58E-6CA073BA48AB}"/>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9" name="Google Shape;1774;p83">
            <a:extLst>
              <a:ext uri="{FF2B5EF4-FFF2-40B4-BE49-F238E27FC236}">
                <a16:creationId xmlns:a16="http://schemas.microsoft.com/office/drawing/2014/main" id="{6D01FFEC-9AD6-F75D-5476-254381C0242B}"/>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3889599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2432">
          <a:extLst>
            <a:ext uri="{FF2B5EF4-FFF2-40B4-BE49-F238E27FC236}">
              <a16:creationId xmlns:a16="http://schemas.microsoft.com/office/drawing/2014/main" id="{FBB45F89-A7B0-4BA1-6C57-727A8FC80226}"/>
            </a:ext>
          </a:extLst>
        </p:cNvPr>
        <p:cNvGrpSpPr/>
        <p:nvPr/>
      </p:nvGrpSpPr>
      <p:grpSpPr>
        <a:xfrm>
          <a:off x="0" y="0"/>
          <a:ext cx="0" cy="0"/>
          <a:chOff x="0" y="0"/>
          <a:chExt cx="0" cy="0"/>
        </a:xfrm>
      </p:grpSpPr>
      <p:sp>
        <p:nvSpPr>
          <p:cNvPr id="2433" name="Google Shape;2433;p129">
            <a:extLst>
              <a:ext uri="{FF2B5EF4-FFF2-40B4-BE49-F238E27FC236}">
                <a16:creationId xmlns:a16="http://schemas.microsoft.com/office/drawing/2014/main" id="{602AEC46-E742-DA1A-0B80-30774FDF8956}"/>
              </a:ext>
            </a:extLst>
          </p:cNvPr>
          <p:cNvSpPr txBox="1">
            <a:spLocks noGrp="1"/>
          </p:cNvSpPr>
          <p:nvPr>
            <p:ph type="title"/>
          </p:nvPr>
        </p:nvSpPr>
        <p:spPr>
          <a:xfrm>
            <a:off x="489900" y="269499"/>
            <a:ext cx="8654100" cy="800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sz="2400" dirty="0"/>
              <a:t>No Annotation? Extracting Storylines</a:t>
            </a:r>
            <a:endParaRPr sz="2400" dirty="0"/>
          </a:p>
        </p:txBody>
      </p:sp>
      <p:sp>
        <p:nvSpPr>
          <p:cNvPr id="2434" name="Google Shape;2434;p129">
            <a:extLst>
              <a:ext uri="{FF2B5EF4-FFF2-40B4-BE49-F238E27FC236}">
                <a16:creationId xmlns:a16="http://schemas.microsoft.com/office/drawing/2014/main" id="{9B6521C0-5289-614D-3D8F-6D2BAD66D00C}"/>
              </a:ext>
            </a:extLst>
          </p:cNvPr>
          <p:cNvSpPr txBox="1">
            <a:spLocks noGrp="1"/>
          </p:cNvSpPr>
          <p:nvPr>
            <p:ph type="body" idx="1"/>
          </p:nvPr>
        </p:nvSpPr>
        <p:spPr>
          <a:xfrm>
            <a:off x="609600" y="1085850"/>
            <a:ext cx="6477000" cy="27432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 sz="1600" b="1"/>
              <a:t>Title: </a:t>
            </a:r>
            <a:r>
              <a:rPr lang="en" sz="1600"/>
              <a:t>christmas shopping     </a:t>
            </a:r>
            <a:endParaRPr sz="1600" b="1"/>
          </a:p>
          <a:p>
            <a:pPr marL="0" lvl="0" indent="0" algn="l" rtl="0">
              <a:spcBef>
                <a:spcPts val="480"/>
              </a:spcBef>
              <a:spcAft>
                <a:spcPts val="0"/>
              </a:spcAft>
              <a:buClr>
                <a:schemeClr val="dk1"/>
              </a:buClr>
              <a:buSzPts val="2400"/>
              <a:buNone/>
            </a:pPr>
            <a:r>
              <a:rPr lang="en" sz="1600" b="1"/>
              <a:t>Story: </a:t>
            </a:r>
            <a:r>
              <a:rPr lang="en" sz="1600" b="1" u="sng">
                <a:solidFill>
                  <a:schemeClr val="accent1"/>
                </a:solidFill>
              </a:rPr>
              <a:t>Frankie</a:t>
            </a:r>
            <a:r>
              <a:rPr lang="en" sz="1600"/>
              <a:t> had christmas shopping to do.  </a:t>
            </a:r>
            <a:endParaRPr sz="1800"/>
          </a:p>
          <a:p>
            <a:pPr marL="0" lvl="0" indent="0" algn="l" rtl="0">
              <a:spcBef>
                <a:spcPts val="480"/>
              </a:spcBef>
              <a:spcAft>
                <a:spcPts val="0"/>
              </a:spcAft>
              <a:buClr>
                <a:schemeClr val="dk1"/>
              </a:buClr>
              <a:buSzPts val="2400"/>
              <a:buNone/>
            </a:pPr>
            <a:r>
              <a:rPr lang="en" sz="1600"/>
              <a:t>She went to the </a:t>
            </a:r>
            <a:r>
              <a:rPr lang="en" sz="1600" b="1" u="sng">
                <a:solidFill>
                  <a:schemeClr val="accent1"/>
                </a:solidFill>
              </a:rPr>
              <a:t>store</a:t>
            </a:r>
            <a:r>
              <a:rPr lang="en" sz="1600"/>
              <a:t>. </a:t>
            </a:r>
            <a:endParaRPr sz="1800"/>
          </a:p>
          <a:p>
            <a:pPr marL="0" lvl="0" indent="0" algn="l" rtl="0">
              <a:spcBef>
                <a:spcPts val="480"/>
              </a:spcBef>
              <a:spcAft>
                <a:spcPts val="0"/>
              </a:spcAft>
              <a:buClr>
                <a:schemeClr val="dk1"/>
              </a:buClr>
              <a:buSzPts val="2400"/>
              <a:buNone/>
            </a:pPr>
            <a:r>
              <a:rPr lang="en" sz="1600"/>
              <a:t>Inside, she walked around looking for </a:t>
            </a:r>
            <a:r>
              <a:rPr lang="en" sz="1600" b="1" u="sng">
                <a:solidFill>
                  <a:schemeClr val="accent1"/>
                </a:solidFill>
              </a:rPr>
              <a:t>gifts</a:t>
            </a:r>
            <a:r>
              <a:rPr lang="en" sz="1600"/>
              <a:t>.  </a:t>
            </a:r>
            <a:endParaRPr sz="1800"/>
          </a:p>
          <a:p>
            <a:pPr marL="0" lvl="0" indent="0" algn="l" rtl="0">
              <a:spcBef>
                <a:spcPts val="480"/>
              </a:spcBef>
              <a:spcAft>
                <a:spcPts val="0"/>
              </a:spcAft>
              <a:buClr>
                <a:schemeClr val="dk1"/>
              </a:buClr>
              <a:buSzPts val="2400"/>
              <a:buNone/>
            </a:pPr>
            <a:r>
              <a:rPr lang="en" sz="1600"/>
              <a:t>Soon her </a:t>
            </a:r>
            <a:r>
              <a:rPr lang="en" sz="1600" b="1" u="sng">
                <a:solidFill>
                  <a:schemeClr val="accent1"/>
                </a:solidFill>
              </a:rPr>
              <a:t>cart</a:t>
            </a:r>
            <a:r>
              <a:rPr lang="en" sz="1600"/>
              <a:t> was full.    </a:t>
            </a:r>
            <a:endParaRPr sz="1800"/>
          </a:p>
          <a:p>
            <a:pPr marL="0" lvl="0" indent="0" algn="l" rtl="0">
              <a:spcBef>
                <a:spcPts val="480"/>
              </a:spcBef>
              <a:spcAft>
                <a:spcPts val="0"/>
              </a:spcAft>
              <a:buClr>
                <a:schemeClr val="dk1"/>
              </a:buClr>
              <a:buSzPts val="2400"/>
              <a:buNone/>
            </a:pPr>
            <a:r>
              <a:rPr lang="en" sz="1600"/>
              <a:t>She </a:t>
            </a:r>
            <a:r>
              <a:rPr lang="en" sz="1600" b="1" u="sng">
                <a:solidFill>
                  <a:schemeClr val="accent1"/>
                </a:solidFill>
              </a:rPr>
              <a:t>paid</a:t>
            </a:r>
            <a:r>
              <a:rPr lang="en" sz="1600"/>
              <a:t> and took her things home.</a:t>
            </a:r>
            <a:endParaRPr sz="1800"/>
          </a:p>
          <a:p>
            <a:pPr marL="0" lvl="0" indent="0" algn="l" rtl="0">
              <a:spcBef>
                <a:spcPts val="480"/>
              </a:spcBef>
              <a:spcAft>
                <a:spcPts val="1200"/>
              </a:spcAft>
              <a:buClr>
                <a:srgbClr val="0070C0"/>
              </a:buClr>
              <a:buSzPts val="2400"/>
              <a:buNone/>
            </a:pPr>
            <a:r>
              <a:rPr lang="en" sz="1600" b="1">
                <a:solidFill>
                  <a:srgbClr val="0070C0"/>
                </a:solidFill>
              </a:rPr>
              <a:t>Storyline (unsupervised extraction):</a:t>
            </a:r>
            <a:r>
              <a:rPr lang="en" sz="1600">
                <a:solidFill>
                  <a:srgbClr val="0070C0"/>
                </a:solidFill>
              </a:rPr>
              <a:t> Frankie -&gt; store -&gt; gifts -&gt; cart -&gt; paid </a:t>
            </a:r>
            <a:endParaRPr sz="1600" b="1">
              <a:solidFill>
                <a:srgbClr val="0070C0"/>
              </a:solidFill>
            </a:endParaRPr>
          </a:p>
        </p:txBody>
      </p:sp>
      <p:sp>
        <p:nvSpPr>
          <p:cNvPr id="2435" name="Google Shape;2435;p129">
            <a:extLst>
              <a:ext uri="{FF2B5EF4-FFF2-40B4-BE49-F238E27FC236}">
                <a16:creationId xmlns:a16="http://schemas.microsoft.com/office/drawing/2014/main" id="{48469D86-FE91-EC32-9843-52E515F8ED80}"/>
              </a:ext>
            </a:extLst>
          </p:cNvPr>
          <p:cNvSpPr txBox="1">
            <a:spLocks noGrp="1"/>
          </p:cNvSpPr>
          <p:nvPr>
            <p:ph type="sldNum" idx="4294967295"/>
          </p:nvPr>
        </p:nvSpPr>
        <p:spPr>
          <a:xfrm>
            <a:off x="4337957" y="5003382"/>
            <a:ext cx="457200" cy="105600"/>
          </a:xfrm>
          <a:prstGeom prst="rect">
            <a:avLst/>
          </a:prstGeom>
          <a:noFill/>
          <a:ln>
            <a:noFill/>
          </a:ln>
        </p:spPr>
        <p:txBody>
          <a:bodyPr spcFirstLastPara="1" wrap="square" lIns="91425" tIns="45700" rIns="91425" bIns="0" anchor="b" anchorCtr="0">
            <a:normAutofit/>
          </a:bodyPr>
          <a:lstStyle/>
          <a:p>
            <a:pPr marL="0" marR="0" lvl="0" indent="0" algn="r" rtl="0">
              <a:spcBef>
                <a:spcPts val="0"/>
              </a:spcBef>
              <a:spcAft>
                <a:spcPts val="0"/>
              </a:spcAft>
              <a:buNone/>
            </a:pPr>
            <a:fld id="{00000000-1234-1234-1234-123412341234}" type="slidenum">
              <a:rPr lang="en" sz="100" b="0">
                <a:solidFill>
                  <a:srgbClr val="FFFFFF"/>
                </a:solidFill>
                <a:latin typeface="Helvetica Neue"/>
                <a:ea typeface="Helvetica Neue"/>
                <a:cs typeface="Helvetica Neue"/>
                <a:sym typeface="Helvetica Neue"/>
              </a:rPr>
              <a:t>61</a:t>
            </a:fld>
            <a:endParaRPr sz="100" b="0">
              <a:solidFill>
                <a:srgbClr val="FFFFFF"/>
              </a:solidFill>
              <a:latin typeface="Helvetica Neue"/>
              <a:ea typeface="Helvetica Neue"/>
              <a:cs typeface="Helvetica Neue"/>
              <a:sym typeface="Helvetica Neue"/>
            </a:endParaRPr>
          </a:p>
        </p:txBody>
      </p:sp>
      <p:sp>
        <p:nvSpPr>
          <p:cNvPr id="2436" name="Google Shape;2436;p129">
            <a:extLst>
              <a:ext uri="{FF2B5EF4-FFF2-40B4-BE49-F238E27FC236}">
                <a16:creationId xmlns:a16="http://schemas.microsoft.com/office/drawing/2014/main" id="{9DBAC703-C779-D481-FBC5-177EA6EBF0A0}"/>
              </a:ext>
            </a:extLst>
          </p:cNvPr>
          <p:cNvSpPr txBox="1"/>
          <p:nvPr/>
        </p:nvSpPr>
        <p:spPr>
          <a:xfrm>
            <a:off x="609600" y="4114800"/>
            <a:ext cx="758190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200">
                <a:solidFill>
                  <a:srgbClr val="0070C0"/>
                </a:solidFill>
                <a:latin typeface="Comic Sans MS"/>
                <a:ea typeface="Comic Sans MS"/>
                <a:cs typeface="Comic Sans MS"/>
                <a:sym typeface="Comic Sans MS"/>
              </a:rPr>
              <a:t>Extraction tool: the RAKE (Rapid Automatic Keyword Extraction) algorithm.</a:t>
            </a:r>
            <a:endParaRPr sz="1050"/>
          </a:p>
        </p:txBody>
      </p:sp>
      <p:sp>
        <p:nvSpPr>
          <p:cNvPr id="10" name="Google Shape;1771;p83">
            <a:extLst>
              <a:ext uri="{FF2B5EF4-FFF2-40B4-BE49-F238E27FC236}">
                <a16:creationId xmlns:a16="http://schemas.microsoft.com/office/drawing/2014/main" id="{775C8741-B121-D18B-8D53-EFBD1DFEEA61}"/>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1" name="Google Shape;1772;p83">
            <a:extLst>
              <a:ext uri="{FF2B5EF4-FFF2-40B4-BE49-F238E27FC236}">
                <a16:creationId xmlns:a16="http://schemas.microsoft.com/office/drawing/2014/main" id="{15EFD19B-5BD2-BB93-8E59-BF075DDDEBBF}"/>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2" name="Google Shape;1773;p83">
            <a:extLst>
              <a:ext uri="{FF2B5EF4-FFF2-40B4-BE49-F238E27FC236}">
                <a16:creationId xmlns:a16="http://schemas.microsoft.com/office/drawing/2014/main" id="{CC821605-D1BF-D01B-9098-8CCAE03FFDFD}"/>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3" name="Google Shape;1774;p83">
            <a:extLst>
              <a:ext uri="{FF2B5EF4-FFF2-40B4-BE49-F238E27FC236}">
                <a16:creationId xmlns:a16="http://schemas.microsoft.com/office/drawing/2014/main" id="{B26EEED9-3B55-63D1-9D3B-909A57B3E600}"/>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7019190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2441">
          <a:extLst>
            <a:ext uri="{FF2B5EF4-FFF2-40B4-BE49-F238E27FC236}">
              <a16:creationId xmlns:a16="http://schemas.microsoft.com/office/drawing/2014/main" id="{F4849C3D-00C6-7474-D2B5-55D0B79B4CFE}"/>
            </a:ext>
          </a:extLst>
        </p:cNvPr>
        <p:cNvGrpSpPr/>
        <p:nvPr/>
      </p:nvGrpSpPr>
      <p:grpSpPr>
        <a:xfrm>
          <a:off x="0" y="0"/>
          <a:ext cx="0" cy="0"/>
          <a:chOff x="0" y="0"/>
          <a:chExt cx="0" cy="0"/>
        </a:xfrm>
      </p:grpSpPr>
      <p:sp>
        <p:nvSpPr>
          <p:cNvPr id="2442" name="Google Shape;2442;p130">
            <a:extLst>
              <a:ext uri="{FF2B5EF4-FFF2-40B4-BE49-F238E27FC236}">
                <a16:creationId xmlns:a16="http://schemas.microsoft.com/office/drawing/2014/main" id="{966F55C8-3225-3ABA-9020-64338516C508}"/>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a:bodyPr>
          <a:lstStyle/>
          <a:p>
            <a:pPr marL="0" lvl="0" indent="0" algn="r" rtl="0">
              <a:spcBef>
                <a:spcPts val="0"/>
              </a:spcBef>
              <a:spcAft>
                <a:spcPts val="0"/>
              </a:spcAft>
              <a:buNone/>
            </a:pPr>
            <a:fld id="{00000000-1234-1234-1234-123412341234}" type="slidenum">
              <a:rPr lang="en" sz="300">
                <a:solidFill>
                  <a:srgbClr val="FFFFFF"/>
                </a:solidFill>
              </a:rPr>
              <a:t>62</a:t>
            </a:fld>
            <a:endParaRPr sz="300">
              <a:solidFill>
                <a:srgbClr val="FFFFFF"/>
              </a:solidFill>
            </a:endParaRPr>
          </a:p>
        </p:txBody>
      </p:sp>
      <p:sp>
        <p:nvSpPr>
          <p:cNvPr id="2443" name="Google Shape;2443;p130">
            <a:extLst>
              <a:ext uri="{FF2B5EF4-FFF2-40B4-BE49-F238E27FC236}">
                <a16:creationId xmlns:a16="http://schemas.microsoft.com/office/drawing/2014/main" id="{169480E2-74A6-BF22-2561-0C4670C21A28}"/>
              </a:ext>
            </a:extLst>
          </p:cNvPr>
          <p:cNvSpPr txBox="1">
            <a:spLocks noGrp="1"/>
          </p:cNvSpPr>
          <p:nvPr>
            <p:ph type="title"/>
          </p:nvPr>
        </p:nvSpPr>
        <p:spPr>
          <a:xfrm>
            <a:off x="457199" y="171450"/>
            <a:ext cx="8654100" cy="800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sz="2400"/>
              <a:t>Incorporating Storylines</a:t>
            </a:r>
            <a:endParaRPr sz="2400"/>
          </a:p>
        </p:txBody>
      </p:sp>
      <p:pic>
        <p:nvPicPr>
          <p:cNvPr id="2444" name="Google Shape;2444;p130">
            <a:extLst>
              <a:ext uri="{FF2B5EF4-FFF2-40B4-BE49-F238E27FC236}">
                <a16:creationId xmlns:a16="http://schemas.microsoft.com/office/drawing/2014/main" id="{A56E64A8-5E29-DCE0-63BC-385A8A0EDE28}"/>
              </a:ext>
            </a:extLst>
          </p:cNvPr>
          <p:cNvPicPr preferRelativeResize="0">
            <a:picLocks noGrp="1"/>
          </p:cNvPicPr>
          <p:nvPr>
            <p:ph type="body" idx="1"/>
          </p:nvPr>
        </p:nvPicPr>
        <p:blipFill rotWithShape="1">
          <a:blip r:embed="rId3">
            <a:alphaModFix/>
          </a:blip>
          <a:srcRect/>
          <a:stretch/>
        </p:blipFill>
        <p:spPr>
          <a:xfrm>
            <a:off x="4724400" y="1638989"/>
            <a:ext cx="4038600" cy="1068900"/>
          </a:xfrm>
          <a:prstGeom prst="rect">
            <a:avLst/>
          </a:prstGeom>
          <a:noFill/>
          <a:ln>
            <a:noFill/>
          </a:ln>
        </p:spPr>
      </p:pic>
      <p:pic>
        <p:nvPicPr>
          <p:cNvPr id="2445" name="Google Shape;2445;p130">
            <a:extLst>
              <a:ext uri="{FF2B5EF4-FFF2-40B4-BE49-F238E27FC236}">
                <a16:creationId xmlns:a16="http://schemas.microsoft.com/office/drawing/2014/main" id="{6647A402-456A-A71C-B687-23C7F59A4AB8}"/>
              </a:ext>
            </a:extLst>
          </p:cNvPr>
          <p:cNvPicPr preferRelativeResize="0"/>
          <p:nvPr/>
        </p:nvPicPr>
        <p:blipFill rotWithShape="1">
          <a:blip r:embed="rId4">
            <a:alphaModFix/>
          </a:blip>
          <a:srcRect/>
          <a:stretch/>
        </p:blipFill>
        <p:spPr>
          <a:xfrm>
            <a:off x="277930" y="1566841"/>
            <a:ext cx="2971799" cy="1237129"/>
          </a:xfrm>
          <a:prstGeom prst="rect">
            <a:avLst/>
          </a:prstGeom>
          <a:noFill/>
          <a:ln>
            <a:noFill/>
          </a:ln>
        </p:spPr>
      </p:pic>
      <p:sp>
        <p:nvSpPr>
          <p:cNvPr id="2446" name="Google Shape;2446;p130">
            <a:extLst>
              <a:ext uri="{FF2B5EF4-FFF2-40B4-BE49-F238E27FC236}">
                <a16:creationId xmlns:a16="http://schemas.microsoft.com/office/drawing/2014/main" id="{E7853CF7-608A-A89A-1500-32A1E1123826}"/>
              </a:ext>
            </a:extLst>
          </p:cNvPr>
          <p:cNvSpPr txBox="1"/>
          <p:nvPr/>
        </p:nvSpPr>
        <p:spPr>
          <a:xfrm>
            <a:off x="4769940" y="1196801"/>
            <a:ext cx="23166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Calibri"/>
                <a:ea typeface="Calibri"/>
                <a:cs typeface="Calibri"/>
                <a:sym typeface="Calibri"/>
              </a:rPr>
              <a:t>Dynamic Schema</a:t>
            </a:r>
            <a:endParaRPr sz="1200"/>
          </a:p>
        </p:txBody>
      </p:sp>
      <p:sp>
        <p:nvSpPr>
          <p:cNvPr id="2447" name="Google Shape;2447;p130">
            <a:extLst>
              <a:ext uri="{FF2B5EF4-FFF2-40B4-BE49-F238E27FC236}">
                <a16:creationId xmlns:a16="http://schemas.microsoft.com/office/drawing/2014/main" id="{D361D8FD-5AB4-D5CB-F472-DF71224F0C3E}"/>
              </a:ext>
            </a:extLst>
          </p:cNvPr>
          <p:cNvSpPr txBox="1"/>
          <p:nvPr/>
        </p:nvSpPr>
        <p:spPr>
          <a:xfrm>
            <a:off x="354130" y="1196801"/>
            <a:ext cx="19206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Calibri"/>
                <a:ea typeface="Calibri"/>
                <a:cs typeface="Calibri"/>
                <a:sym typeface="Calibri"/>
              </a:rPr>
              <a:t>Static Schema</a:t>
            </a:r>
            <a:endParaRPr sz="1200"/>
          </a:p>
        </p:txBody>
      </p:sp>
      <p:grpSp>
        <p:nvGrpSpPr>
          <p:cNvPr id="2448" name="Google Shape;2448;p130">
            <a:extLst>
              <a:ext uri="{FF2B5EF4-FFF2-40B4-BE49-F238E27FC236}">
                <a16:creationId xmlns:a16="http://schemas.microsoft.com/office/drawing/2014/main" id="{72FCB0EE-C05A-2C3F-81F9-DA93B2A4CFF2}"/>
              </a:ext>
            </a:extLst>
          </p:cNvPr>
          <p:cNvGrpSpPr/>
          <p:nvPr/>
        </p:nvGrpSpPr>
        <p:grpSpPr>
          <a:xfrm>
            <a:off x="4495800" y="3166617"/>
            <a:ext cx="4612580" cy="1190021"/>
            <a:chOff x="4495800" y="4222152"/>
            <a:chExt cx="4612580" cy="1586693"/>
          </a:xfrm>
        </p:grpSpPr>
        <p:sp>
          <p:nvSpPr>
            <p:cNvPr id="2449" name="Google Shape;2449;p130">
              <a:extLst>
                <a:ext uri="{FF2B5EF4-FFF2-40B4-BE49-F238E27FC236}">
                  <a16:creationId xmlns:a16="http://schemas.microsoft.com/office/drawing/2014/main" id="{EA87C5BC-3942-44B6-3E82-FC531E42BC12}"/>
                </a:ext>
              </a:extLst>
            </p:cNvPr>
            <p:cNvSpPr txBox="1"/>
            <p:nvPr/>
          </p:nvSpPr>
          <p:spPr>
            <a:xfrm>
              <a:off x="7251980" y="4268318"/>
              <a:ext cx="1856400" cy="276900"/>
            </a:xfrm>
            <a:prstGeom prst="rect">
              <a:avLst/>
            </a:prstGeom>
            <a:blipFill rotWithShape="1">
              <a:blip r:embed="rId5">
                <a:alphaModFix/>
              </a:blip>
              <a:stretch>
                <a:fillRect l="-3398" r="-2719" b="-272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600">
                  <a:latin typeface="Calibri"/>
                  <a:ea typeface="Calibri"/>
                  <a:cs typeface="Calibri"/>
                  <a:sym typeface="Calibri"/>
                </a:rPr>
                <a:t> </a:t>
              </a:r>
              <a:endParaRPr sz="1200"/>
            </a:p>
          </p:txBody>
        </p:sp>
        <p:sp>
          <p:nvSpPr>
            <p:cNvPr id="2450" name="Google Shape;2450;p130">
              <a:extLst>
                <a:ext uri="{FF2B5EF4-FFF2-40B4-BE49-F238E27FC236}">
                  <a16:creationId xmlns:a16="http://schemas.microsoft.com/office/drawing/2014/main" id="{151668A5-95B7-6ED8-B3CA-42A05F91B07F}"/>
                </a:ext>
              </a:extLst>
            </p:cNvPr>
            <p:cNvSpPr txBox="1"/>
            <p:nvPr/>
          </p:nvSpPr>
          <p:spPr>
            <a:xfrm>
              <a:off x="4495800" y="4222152"/>
              <a:ext cx="2900100" cy="451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Calibri"/>
                  <a:ea typeface="Calibri"/>
                  <a:cs typeface="Calibri"/>
                  <a:sym typeface="Calibri"/>
                </a:rPr>
                <a:t>At each plan step, we model</a:t>
              </a:r>
              <a:endParaRPr sz="1200"/>
            </a:p>
          </p:txBody>
        </p:sp>
        <p:sp>
          <p:nvSpPr>
            <p:cNvPr id="2451" name="Google Shape;2451;p130">
              <a:extLst>
                <a:ext uri="{FF2B5EF4-FFF2-40B4-BE49-F238E27FC236}">
                  <a16:creationId xmlns:a16="http://schemas.microsoft.com/office/drawing/2014/main" id="{13360796-8F12-89B0-2714-64D6CAE37F79}"/>
                </a:ext>
              </a:extLst>
            </p:cNvPr>
            <p:cNvSpPr txBox="1"/>
            <p:nvPr/>
          </p:nvSpPr>
          <p:spPr>
            <a:xfrm>
              <a:off x="7436536" y="4715565"/>
              <a:ext cx="1666500" cy="276900"/>
            </a:xfrm>
            <a:prstGeom prst="rect">
              <a:avLst/>
            </a:prstGeom>
            <a:blipFill rotWithShape="1">
              <a:blip r:embed="rId6">
                <a:alphaModFix/>
              </a:blip>
              <a:stretch>
                <a:fillRect l="-3789" r="-3029" b="-260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600">
                  <a:latin typeface="Calibri"/>
                  <a:ea typeface="Calibri"/>
                  <a:cs typeface="Calibri"/>
                  <a:sym typeface="Calibri"/>
                </a:rPr>
                <a:t> </a:t>
              </a:r>
              <a:endParaRPr sz="1200"/>
            </a:p>
          </p:txBody>
        </p:sp>
        <p:sp>
          <p:nvSpPr>
            <p:cNvPr id="2452" name="Google Shape;2452;p130">
              <a:extLst>
                <a:ext uri="{FF2B5EF4-FFF2-40B4-BE49-F238E27FC236}">
                  <a16:creationId xmlns:a16="http://schemas.microsoft.com/office/drawing/2014/main" id="{854F737B-E11A-2EC3-F9E2-43CD60D22239}"/>
                </a:ext>
              </a:extLst>
            </p:cNvPr>
            <p:cNvSpPr txBox="1"/>
            <p:nvPr/>
          </p:nvSpPr>
          <p:spPr>
            <a:xfrm>
              <a:off x="4617136" y="4669398"/>
              <a:ext cx="2980800" cy="451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Calibri"/>
                  <a:ea typeface="Calibri"/>
                  <a:cs typeface="Calibri"/>
                  <a:sym typeface="Calibri"/>
                </a:rPr>
                <a:t>At each write step, we model</a:t>
              </a:r>
              <a:endParaRPr sz="1200"/>
            </a:p>
          </p:txBody>
        </p:sp>
        <p:sp>
          <p:nvSpPr>
            <p:cNvPr id="2453" name="Google Shape;2453;p130">
              <a:extLst>
                <a:ext uri="{FF2B5EF4-FFF2-40B4-BE49-F238E27FC236}">
                  <a16:creationId xmlns:a16="http://schemas.microsoft.com/office/drawing/2014/main" id="{5B9C9771-5D66-55A5-032C-D8B0A6B400EB}"/>
                </a:ext>
              </a:extLst>
            </p:cNvPr>
            <p:cNvSpPr txBox="1"/>
            <p:nvPr/>
          </p:nvSpPr>
          <p:spPr>
            <a:xfrm>
              <a:off x="4607678" y="5029199"/>
              <a:ext cx="4191000" cy="7796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Calibri"/>
                  <a:ea typeface="Calibri"/>
                  <a:cs typeface="Calibri"/>
                  <a:sym typeface="Calibri"/>
                </a:rPr>
                <a:t>The probabilities are computed by some specifically designed fusion-RNN cells.</a:t>
              </a:r>
              <a:endParaRPr sz="1200"/>
            </a:p>
          </p:txBody>
        </p:sp>
      </p:grpSp>
      <p:grpSp>
        <p:nvGrpSpPr>
          <p:cNvPr id="2454" name="Google Shape;2454;p130">
            <a:extLst>
              <a:ext uri="{FF2B5EF4-FFF2-40B4-BE49-F238E27FC236}">
                <a16:creationId xmlns:a16="http://schemas.microsoft.com/office/drawing/2014/main" id="{86EFE01B-D0DE-2D4E-6B42-CCD5BFD736BF}"/>
              </a:ext>
            </a:extLst>
          </p:cNvPr>
          <p:cNvGrpSpPr/>
          <p:nvPr/>
        </p:nvGrpSpPr>
        <p:grpSpPr>
          <a:xfrm>
            <a:off x="76200" y="3157849"/>
            <a:ext cx="4522607" cy="1495464"/>
            <a:chOff x="76200" y="4210460"/>
            <a:chExt cx="4522607" cy="1993950"/>
          </a:xfrm>
        </p:grpSpPr>
        <p:sp>
          <p:nvSpPr>
            <p:cNvPr id="2455" name="Google Shape;2455;p130">
              <a:extLst>
                <a:ext uri="{FF2B5EF4-FFF2-40B4-BE49-F238E27FC236}">
                  <a16:creationId xmlns:a16="http://schemas.microsoft.com/office/drawing/2014/main" id="{A0BC7080-EA70-B11A-1F31-19BC369CE152}"/>
                </a:ext>
              </a:extLst>
            </p:cNvPr>
            <p:cNvSpPr txBox="1"/>
            <p:nvPr/>
          </p:nvSpPr>
          <p:spPr>
            <a:xfrm>
              <a:off x="2951159" y="4243820"/>
              <a:ext cx="1206600" cy="276900"/>
            </a:xfrm>
            <a:prstGeom prst="rect">
              <a:avLst/>
            </a:prstGeom>
            <a:blipFill rotWithShape="1">
              <a:blip r:embed="rId7">
                <a:alphaModFix/>
              </a:blip>
              <a:stretch>
                <a:fillRect l="-4169" r="-5199" b="-260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600">
                  <a:latin typeface="Calibri"/>
                  <a:ea typeface="Calibri"/>
                  <a:cs typeface="Calibri"/>
                  <a:sym typeface="Calibri"/>
                </a:rPr>
                <a:t> </a:t>
              </a:r>
              <a:endParaRPr sz="1200"/>
            </a:p>
          </p:txBody>
        </p:sp>
        <p:sp>
          <p:nvSpPr>
            <p:cNvPr id="2456" name="Google Shape;2456;p130">
              <a:extLst>
                <a:ext uri="{FF2B5EF4-FFF2-40B4-BE49-F238E27FC236}">
                  <a16:creationId xmlns:a16="http://schemas.microsoft.com/office/drawing/2014/main" id="{521B50D9-958F-0DC1-866B-FC937812834C}"/>
                </a:ext>
              </a:extLst>
            </p:cNvPr>
            <p:cNvSpPr txBox="1"/>
            <p:nvPr/>
          </p:nvSpPr>
          <p:spPr>
            <a:xfrm>
              <a:off x="125530" y="4210460"/>
              <a:ext cx="2900100" cy="451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Calibri"/>
                  <a:ea typeface="Calibri"/>
                  <a:cs typeface="Calibri"/>
                  <a:sym typeface="Calibri"/>
                </a:rPr>
                <a:t>At each plan step, we model</a:t>
              </a:r>
              <a:endParaRPr sz="1200"/>
            </a:p>
          </p:txBody>
        </p:sp>
        <p:sp>
          <p:nvSpPr>
            <p:cNvPr id="2457" name="Google Shape;2457;p130">
              <a:extLst>
                <a:ext uri="{FF2B5EF4-FFF2-40B4-BE49-F238E27FC236}">
                  <a16:creationId xmlns:a16="http://schemas.microsoft.com/office/drawing/2014/main" id="{D3858AAD-71DB-3E7A-8A2C-13B338D1FE40}"/>
                </a:ext>
              </a:extLst>
            </p:cNvPr>
            <p:cNvSpPr txBox="1"/>
            <p:nvPr/>
          </p:nvSpPr>
          <p:spPr>
            <a:xfrm>
              <a:off x="2938607" y="4693228"/>
              <a:ext cx="1660200" cy="276900"/>
            </a:xfrm>
            <a:prstGeom prst="rect">
              <a:avLst/>
            </a:prstGeom>
            <a:blipFill rotWithShape="1">
              <a:blip r:embed="rId8">
                <a:alphaModFix/>
              </a:blip>
              <a:stretch>
                <a:fillRect l="-5299" t="-27269" r="-7579" b="-499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600">
                  <a:latin typeface="Calibri"/>
                  <a:ea typeface="Calibri"/>
                  <a:cs typeface="Calibri"/>
                  <a:sym typeface="Calibri"/>
                </a:rPr>
                <a:t> </a:t>
              </a:r>
              <a:endParaRPr sz="1200"/>
            </a:p>
          </p:txBody>
        </p:sp>
        <p:sp>
          <p:nvSpPr>
            <p:cNvPr id="2458" name="Google Shape;2458;p130">
              <a:extLst>
                <a:ext uri="{FF2B5EF4-FFF2-40B4-BE49-F238E27FC236}">
                  <a16:creationId xmlns:a16="http://schemas.microsoft.com/office/drawing/2014/main" id="{1B1E15F4-A1EA-04DA-8E71-BC2706965E19}"/>
                </a:ext>
              </a:extLst>
            </p:cNvPr>
            <p:cNvSpPr txBox="1"/>
            <p:nvPr/>
          </p:nvSpPr>
          <p:spPr>
            <a:xfrm>
              <a:off x="76200" y="4659868"/>
              <a:ext cx="2980800" cy="4513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Calibri"/>
                  <a:ea typeface="Calibri"/>
                  <a:cs typeface="Calibri"/>
                  <a:sym typeface="Calibri"/>
                </a:rPr>
                <a:t>At each write step, we model</a:t>
              </a:r>
              <a:endParaRPr sz="1200"/>
            </a:p>
          </p:txBody>
        </p:sp>
        <p:sp>
          <p:nvSpPr>
            <p:cNvPr id="2459" name="Google Shape;2459;p130">
              <a:extLst>
                <a:ext uri="{FF2B5EF4-FFF2-40B4-BE49-F238E27FC236}">
                  <a16:creationId xmlns:a16="http://schemas.microsoft.com/office/drawing/2014/main" id="{88CA07AC-CAD2-BE70-3F79-06F714272D86}"/>
                </a:ext>
              </a:extLst>
            </p:cNvPr>
            <p:cNvSpPr txBox="1"/>
            <p:nvPr/>
          </p:nvSpPr>
          <p:spPr>
            <a:xfrm>
              <a:off x="125530" y="5096470"/>
              <a:ext cx="4191000" cy="11079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Calibri"/>
                  <a:ea typeface="Calibri"/>
                  <a:cs typeface="Calibri"/>
                  <a:sym typeface="Calibri"/>
                </a:rPr>
                <a:t>The probabilities are computed by standard language models and sequence to sequence with attention models.</a:t>
              </a:r>
              <a:endParaRPr sz="1200"/>
            </a:p>
          </p:txBody>
        </p:sp>
      </p:grpSp>
      <p:sp>
        <p:nvSpPr>
          <p:cNvPr id="2460" name="Google Shape;2460;p130">
            <a:extLst>
              <a:ext uri="{FF2B5EF4-FFF2-40B4-BE49-F238E27FC236}">
                <a16:creationId xmlns:a16="http://schemas.microsoft.com/office/drawing/2014/main" id="{91B14DE7-B369-3BC7-C46C-5D4185595E9F}"/>
              </a:ext>
            </a:extLst>
          </p:cNvPr>
          <p:cNvSpPr/>
          <p:nvPr/>
        </p:nvSpPr>
        <p:spPr>
          <a:xfrm>
            <a:off x="943959" y="1566841"/>
            <a:ext cx="3475500" cy="5715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2461" name="Google Shape;2461;p130">
            <a:extLst>
              <a:ext uri="{FF2B5EF4-FFF2-40B4-BE49-F238E27FC236}">
                <a16:creationId xmlns:a16="http://schemas.microsoft.com/office/drawing/2014/main" id="{A19FF170-E35D-6DD2-5EA4-C658E4FAEAEB}"/>
              </a:ext>
            </a:extLst>
          </p:cNvPr>
          <p:cNvSpPr/>
          <p:nvPr/>
        </p:nvSpPr>
        <p:spPr>
          <a:xfrm>
            <a:off x="927026" y="2261008"/>
            <a:ext cx="3475500" cy="5430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2462" name="Google Shape;2462;p130">
            <a:extLst>
              <a:ext uri="{FF2B5EF4-FFF2-40B4-BE49-F238E27FC236}">
                <a16:creationId xmlns:a16="http://schemas.microsoft.com/office/drawing/2014/main" id="{02297A31-CE2F-60B7-857D-72C732714D4E}"/>
              </a:ext>
            </a:extLst>
          </p:cNvPr>
          <p:cNvSpPr/>
          <p:nvPr/>
        </p:nvSpPr>
        <p:spPr>
          <a:xfrm>
            <a:off x="6248400" y="1630667"/>
            <a:ext cx="609600" cy="5715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2463" name="Google Shape;2463;p130">
            <a:extLst>
              <a:ext uri="{FF2B5EF4-FFF2-40B4-BE49-F238E27FC236}">
                <a16:creationId xmlns:a16="http://schemas.microsoft.com/office/drawing/2014/main" id="{8FD75BF0-AA92-BA7D-D88E-006B2EDCBCED}"/>
              </a:ext>
            </a:extLst>
          </p:cNvPr>
          <p:cNvSpPr/>
          <p:nvPr/>
        </p:nvSpPr>
        <p:spPr>
          <a:xfrm>
            <a:off x="6248400" y="2171700"/>
            <a:ext cx="609600" cy="5715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2464" name="Google Shape;2464;p130">
            <a:extLst>
              <a:ext uri="{FF2B5EF4-FFF2-40B4-BE49-F238E27FC236}">
                <a16:creationId xmlns:a16="http://schemas.microsoft.com/office/drawing/2014/main" id="{7C962128-0F41-F8B9-994B-83C551A94D27}"/>
              </a:ext>
            </a:extLst>
          </p:cNvPr>
          <p:cNvSpPr/>
          <p:nvPr/>
        </p:nvSpPr>
        <p:spPr>
          <a:xfrm>
            <a:off x="5562600" y="1630667"/>
            <a:ext cx="609600" cy="5715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2465" name="Google Shape;2465;p130">
            <a:extLst>
              <a:ext uri="{FF2B5EF4-FFF2-40B4-BE49-F238E27FC236}">
                <a16:creationId xmlns:a16="http://schemas.microsoft.com/office/drawing/2014/main" id="{023F2FD9-5508-092B-DC9A-B4DD5AA74003}"/>
              </a:ext>
            </a:extLst>
          </p:cNvPr>
          <p:cNvSpPr/>
          <p:nvPr/>
        </p:nvSpPr>
        <p:spPr>
          <a:xfrm>
            <a:off x="5562600" y="2171700"/>
            <a:ext cx="609600" cy="5715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10" name="Google Shape;1771;p83">
            <a:extLst>
              <a:ext uri="{FF2B5EF4-FFF2-40B4-BE49-F238E27FC236}">
                <a16:creationId xmlns:a16="http://schemas.microsoft.com/office/drawing/2014/main" id="{2CC8C6A9-DEE9-91EA-124F-EFB2D2D70BA1}"/>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11" name="Google Shape;1772;p83">
            <a:extLst>
              <a:ext uri="{FF2B5EF4-FFF2-40B4-BE49-F238E27FC236}">
                <a16:creationId xmlns:a16="http://schemas.microsoft.com/office/drawing/2014/main" id="{61CDCBB8-1005-8278-E8B9-DFE5E0A797AE}"/>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12" name="Google Shape;1773;p83">
            <a:extLst>
              <a:ext uri="{FF2B5EF4-FFF2-40B4-BE49-F238E27FC236}">
                <a16:creationId xmlns:a16="http://schemas.microsoft.com/office/drawing/2014/main" id="{7CF8FB1D-4C11-3D74-BBE7-29A7024575CC}"/>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13" name="Google Shape;1774;p83">
            <a:extLst>
              <a:ext uri="{FF2B5EF4-FFF2-40B4-BE49-F238E27FC236}">
                <a16:creationId xmlns:a16="http://schemas.microsoft.com/office/drawing/2014/main" id="{14FC9449-3440-C01B-43B7-00AC13A6D79E}"/>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182629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61"/>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1"/>
                                          </p:stCondLst>
                                        </p:cTn>
                                        <p:tgtEl>
                                          <p:spTgt spid="246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54"/>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1"/>
                                          </p:stCondLst>
                                        </p:cTn>
                                        <p:tgtEl>
                                          <p:spTgt spid="246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65"/>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1"/>
                                          </p:stCondLst>
                                        </p:cTn>
                                        <p:tgtEl>
                                          <p:spTgt spid="246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62"/>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1"/>
                                          </p:stCondLst>
                                        </p:cTn>
                                        <p:tgtEl>
                                          <p:spTgt spid="246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63"/>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1"/>
                                          </p:stCondLst>
                                        </p:cTn>
                                        <p:tgtEl>
                                          <p:spTgt spid="246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48"/>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1"/>
                                          </p:stCondLst>
                                        </p:cTn>
                                        <p:tgtEl>
                                          <p:spTgt spid="24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2470">
          <a:extLst>
            <a:ext uri="{FF2B5EF4-FFF2-40B4-BE49-F238E27FC236}">
              <a16:creationId xmlns:a16="http://schemas.microsoft.com/office/drawing/2014/main" id="{FB006C0F-E94D-DA07-40AF-AB98BB4FC705}"/>
            </a:ext>
          </a:extLst>
        </p:cNvPr>
        <p:cNvGrpSpPr/>
        <p:nvPr/>
      </p:nvGrpSpPr>
      <p:grpSpPr>
        <a:xfrm>
          <a:off x="0" y="0"/>
          <a:ext cx="0" cy="0"/>
          <a:chOff x="0" y="0"/>
          <a:chExt cx="0" cy="0"/>
        </a:xfrm>
      </p:grpSpPr>
      <p:sp>
        <p:nvSpPr>
          <p:cNvPr id="2471" name="Google Shape;2471;p131">
            <a:extLst>
              <a:ext uri="{FF2B5EF4-FFF2-40B4-BE49-F238E27FC236}">
                <a16:creationId xmlns:a16="http://schemas.microsoft.com/office/drawing/2014/main" id="{276E1D9E-6CE8-E6BD-8E6B-320AA0B50B30}"/>
              </a:ext>
            </a:extLst>
          </p:cNvPr>
          <p:cNvSpPr txBox="1">
            <a:spLocks noGrp="1"/>
          </p:cNvSpPr>
          <p:nvPr>
            <p:ph type="title"/>
          </p:nvPr>
        </p:nvSpPr>
        <p:spPr>
          <a:xfrm>
            <a:off x="457199" y="0"/>
            <a:ext cx="8654100" cy="1028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sz="1800"/>
              <a:t>Generation Results</a:t>
            </a:r>
            <a:endParaRPr sz="1800"/>
          </a:p>
        </p:txBody>
      </p:sp>
      <p:sp>
        <p:nvSpPr>
          <p:cNvPr id="2472" name="Google Shape;2472;p131">
            <a:extLst>
              <a:ext uri="{FF2B5EF4-FFF2-40B4-BE49-F238E27FC236}">
                <a16:creationId xmlns:a16="http://schemas.microsoft.com/office/drawing/2014/main" id="{E35099C8-C5EE-26F9-D85D-BAF24CFC8CB6}"/>
              </a:ext>
            </a:extLst>
          </p:cNvPr>
          <p:cNvSpPr txBox="1">
            <a:spLocks noGrp="1"/>
          </p:cNvSpPr>
          <p:nvPr>
            <p:ph type="body" idx="1"/>
          </p:nvPr>
        </p:nvSpPr>
        <p:spPr>
          <a:xfrm>
            <a:off x="457200" y="1120378"/>
            <a:ext cx="4040100" cy="488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1200"/>
              </a:spcAft>
              <a:buClr>
                <a:srgbClr val="0070C0"/>
              </a:buClr>
              <a:buSzPts val="2400"/>
              <a:buNone/>
            </a:pPr>
            <a:r>
              <a:rPr lang="en" sz="1600">
                <a:solidFill>
                  <a:srgbClr val="0070C0"/>
                </a:solidFill>
              </a:rPr>
              <a:t>Without Storyline Planning</a:t>
            </a:r>
            <a:endParaRPr sz="1600"/>
          </a:p>
        </p:txBody>
      </p:sp>
      <p:sp>
        <p:nvSpPr>
          <p:cNvPr id="2473" name="Google Shape;2473;p131">
            <a:extLst>
              <a:ext uri="{FF2B5EF4-FFF2-40B4-BE49-F238E27FC236}">
                <a16:creationId xmlns:a16="http://schemas.microsoft.com/office/drawing/2014/main" id="{6BAA85DE-C9FC-DD2A-389E-1414F07E5C54}"/>
              </a:ext>
            </a:extLst>
          </p:cNvPr>
          <p:cNvSpPr txBox="1">
            <a:spLocks noGrp="1"/>
          </p:cNvSpPr>
          <p:nvPr>
            <p:ph type="body" idx="2"/>
          </p:nvPr>
        </p:nvSpPr>
        <p:spPr>
          <a:xfrm>
            <a:off x="457200" y="1665684"/>
            <a:ext cx="4040100" cy="3135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 sz="1600" b="1"/>
              <a:t>Story (generated):</a:t>
            </a:r>
            <a:endParaRPr sz="1600"/>
          </a:p>
          <a:p>
            <a:pPr marL="0" lvl="0" indent="0" algn="l" rtl="0">
              <a:spcBef>
                <a:spcPts val="480"/>
              </a:spcBef>
              <a:spcAft>
                <a:spcPts val="1200"/>
              </a:spcAft>
              <a:buClr>
                <a:schemeClr val="dk1"/>
              </a:buClr>
              <a:buSzPts val="2400"/>
              <a:buNone/>
            </a:pPr>
            <a:r>
              <a:rPr lang="en" sz="1600"/>
              <a:t>When i was a kid, my parents took me to the mall.</a:t>
            </a:r>
            <a:br>
              <a:rPr lang="en" sz="1600"/>
            </a:br>
            <a:r>
              <a:rPr lang="en" sz="1600"/>
              <a:t>I was looking for a new pair of shoes.</a:t>
            </a:r>
            <a:br>
              <a:rPr lang="en" sz="1600"/>
            </a:br>
            <a:r>
              <a:rPr lang="en" sz="1600"/>
              <a:t>I found a pair that I really liked.</a:t>
            </a:r>
            <a:br>
              <a:rPr lang="en" sz="1600"/>
            </a:br>
            <a:r>
              <a:rPr lang="en" sz="1600"/>
              <a:t>I bought them and took them home .</a:t>
            </a:r>
            <a:br>
              <a:rPr lang="en" sz="1600"/>
            </a:br>
            <a:r>
              <a:rPr lang="en" sz="1600"/>
              <a:t>I was very happy with my new shoes.</a:t>
            </a:r>
            <a:endParaRPr sz="1600"/>
          </a:p>
        </p:txBody>
      </p:sp>
      <p:sp>
        <p:nvSpPr>
          <p:cNvPr id="2474" name="Google Shape;2474;p131">
            <a:extLst>
              <a:ext uri="{FF2B5EF4-FFF2-40B4-BE49-F238E27FC236}">
                <a16:creationId xmlns:a16="http://schemas.microsoft.com/office/drawing/2014/main" id="{D4858A4E-6296-413F-94FA-22EE87D8D72C}"/>
              </a:ext>
            </a:extLst>
          </p:cNvPr>
          <p:cNvSpPr txBox="1">
            <a:spLocks noGrp="1"/>
          </p:cNvSpPr>
          <p:nvPr>
            <p:ph type="body" idx="3"/>
          </p:nvPr>
        </p:nvSpPr>
        <p:spPr>
          <a:xfrm>
            <a:off x="4645025" y="1120378"/>
            <a:ext cx="4041900" cy="488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1200"/>
              </a:spcAft>
              <a:buClr>
                <a:srgbClr val="0070C0"/>
              </a:buClr>
              <a:buSzPts val="2400"/>
              <a:buNone/>
            </a:pPr>
            <a:r>
              <a:rPr lang="en" sz="1100">
                <a:solidFill>
                  <a:srgbClr val="0070C0"/>
                </a:solidFill>
              </a:rPr>
              <a:t>With Storyline Planning</a:t>
            </a:r>
            <a:endParaRPr sz="1100"/>
          </a:p>
        </p:txBody>
      </p:sp>
      <p:sp>
        <p:nvSpPr>
          <p:cNvPr id="2475" name="Google Shape;2475;p131">
            <a:extLst>
              <a:ext uri="{FF2B5EF4-FFF2-40B4-BE49-F238E27FC236}">
                <a16:creationId xmlns:a16="http://schemas.microsoft.com/office/drawing/2014/main" id="{1DE0C32F-D6AA-E71F-B140-7D760D770B52}"/>
              </a:ext>
            </a:extLst>
          </p:cNvPr>
          <p:cNvSpPr txBox="1">
            <a:spLocks noGrp="1"/>
          </p:cNvSpPr>
          <p:nvPr>
            <p:ph type="body" idx="4"/>
          </p:nvPr>
        </p:nvSpPr>
        <p:spPr>
          <a:xfrm>
            <a:off x="4645025" y="1665684"/>
            <a:ext cx="4041900" cy="3135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lvl="0" indent="0" algn="l" rtl="0">
              <a:spcBef>
                <a:spcPts val="0"/>
              </a:spcBef>
              <a:spcAft>
                <a:spcPts val="0"/>
              </a:spcAft>
              <a:buClr>
                <a:srgbClr val="0070C0"/>
              </a:buClr>
              <a:buSzPct val="100000"/>
              <a:buNone/>
            </a:pPr>
            <a:r>
              <a:rPr lang="en" sz="1400" b="1">
                <a:solidFill>
                  <a:srgbClr val="0070C0"/>
                </a:solidFill>
              </a:rPr>
              <a:t>Storyline (generated):</a:t>
            </a:r>
            <a:r>
              <a:rPr lang="en" sz="1400">
                <a:solidFill>
                  <a:srgbClr val="0070C0"/>
                </a:solidFill>
              </a:rPr>
              <a:t> phone -&gt; realized house -&gt; was -&gt; looked -&gt; found</a:t>
            </a:r>
            <a:endParaRPr sz="1400" b="1">
              <a:solidFill>
                <a:srgbClr val="0070C0"/>
              </a:solidFill>
            </a:endParaRPr>
          </a:p>
          <a:p>
            <a:pPr marL="0" lvl="0" indent="0" algn="l" rtl="0">
              <a:spcBef>
                <a:spcPts val="480"/>
              </a:spcBef>
              <a:spcAft>
                <a:spcPts val="0"/>
              </a:spcAft>
              <a:buClr>
                <a:schemeClr val="dk1"/>
              </a:buClr>
              <a:buSzPct val="100000"/>
              <a:buNone/>
            </a:pPr>
            <a:r>
              <a:rPr lang="en" sz="1400" b="1"/>
              <a:t>Story (generated): </a:t>
            </a:r>
            <a:endParaRPr sz="1400"/>
          </a:p>
          <a:p>
            <a:pPr marL="0" lvl="0" indent="0" algn="l" rtl="0">
              <a:spcBef>
                <a:spcPts val="480"/>
              </a:spcBef>
              <a:spcAft>
                <a:spcPts val="0"/>
              </a:spcAft>
              <a:buClr>
                <a:schemeClr val="dk1"/>
              </a:buClr>
              <a:buSzPct val="100000"/>
              <a:buNone/>
            </a:pPr>
            <a:r>
              <a:rPr lang="en" sz="1400"/>
              <a:t>I was looking for my phone. </a:t>
            </a:r>
            <a:endParaRPr sz="1400"/>
          </a:p>
          <a:p>
            <a:pPr marL="0" lvl="0" indent="0" algn="l" rtl="0">
              <a:spcBef>
                <a:spcPts val="480"/>
              </a:spcBef>
              <a:spcAft>
                <a:spcPts val="1200"/>
              </a:spcAft>
              <a:buClr>
                <a:schemeClr val="dk1"/>
              </a:buClr>
              <a:buSzPct val="100000"/>
              <a:buNone/>
            </a:pPr>
            <a:r>
              <a:rPr lang="en" sz="1400"/>
              <a:t>I realized it was in my house.</a:t>
            </a:r>
            <a:br>
              <a:rPr lang="en" sz="1400"/>
            </a:br>
            <a:r>
              <a:rPr lang="en" sz="1400"/>
              <a:t>I wasn't sure where it was.</a:t>
            </a:r>
            <a:br>
              <a:rPr lang="en" sz="1400"/>
            </a:br>
            <a:r>
              <a:rPr lang="en" sz="1400"/>
              <a:t>I looked everywhere.</a:t>
            </a:r>
            <a:br>
              <a:rPr lang="en" sz="1400"/>
            </a:br>
            <a:r>
              <a:rPr lang="en" sz="1400"/>
              <a:t>I found it in the back yard.</a:t>
            </a:r>
            <a:endParaRPr sz="1400" b="1"/>
          </a:p>
        </p:txBody>
      </p:sp>
      <p:sp>
        <p:nvSpPr>
          <p:cNvPr id="2476" name="Google Shape;2476;p131">
            <a:extLst>
              <a:ext uri="{FF2B5EF4-FFF2-40B4-BE49-F238E27FC236}">
                <a16:creationId xmlns:a16="http://schemas.microsoft.com/office/drawing/2014/main" id="{0F9F0E0E-99FF-BFA4-F682-D6BC60CCCE6B}"/>
              </a:ext>
            </a:extLst>
          </p:cNvPr>
          <p:cNvSpPr txBox="1"/>
          <p:nvPr/>
        </p:nvSpPr>
        <p:spPr>
          <a:xfrm>
            <a:off x="2727630" y="867020"/>
            <a:ext cx="31398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Calibri"/>
                <a:ea typeface="Calibri"/>
                <a:cs typeface="Calibri"/>
                <a:sym typeface="Calibri"/>
              </a:rPr>
              <a:t>Title: </a:t>
            </a:r>
            <a:r>
              <a:rPr lang="en" sz="1800">
                <a:solidFill>
                  <a:schemeClr val="dk1"/>
                </a:solidFill>
                <a:latin typeface="Calibri"/>
                <a:ea typeface="Calibri"/>
                <a:cs typeface="Calibri"/>
                <a:sym typeface="Calibri"/>
              </a:rPr>
              <a:t>the lost phone</a:t>
            </a:r>
            <a:endParaRPr sz="1050"/>
          </a:p>
        </p:txBody>
      </p:sp>
      <p:sp>
        <p:nvSpPr>
          <p:cNvPr id="2477" name="Google Shape;2477;p131">
            <a:extLst>
              <a:ext uri="{FF2B5EF4-FFF2-40B4-BE49-F238E27FC236}">
                <a16:creationId xmlns:a16="http://schemas.microsoft.com/office/drawing/2014/main" id="{7C8D969A-C9DB-4773-33A4-19C203C319AA}"/>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a:bodyPr>
          <a:lstStyle/>
          <a:p>
            <a:pPr marL="0" marR="0" lvl="0" indent="0" algn="r" rtl="0">
              <a:spcBef>
                <a:spcPts val="0"/>
              </a:spcBef>
              <a:spcAft>
                <a:spcPts val="0"/>
              </a:spcAft>
              <a:buNone/>
            </a:pPr>
            <a:fld id="{00000000-1234-1234-1234-123412341234}" type="slidenum">
              <a:rPr lang="en" sz="100" b="0">
                <a:solidFill>
                  <a:srgbClr val="FFFFFF"/>
                </a:solidFill>
                <a:latin typeface="Helvetica Neue"/>
                <a:ea typeface="Helvetica Neue"/>
                <a:cs typeface="Helvetica Neue"/>
                <a:sym typeface="Helvetica Neue"/>
              </a:rPr>
              <a:t>63</a:t>
            </a:fld>
            <a:endParaRPr sz="100" b="0">
              <a:solidFill>
                <a:srgbClr val="FFFFFF"/>
              </a:solidFill>
              <a:latin typeface="Helvetica Neue"/>
              <a:ea typeface="Helvetica Neue"/>
              <a:cs typeface="Helvetica Neue"/>
              <a:sym typeface="Helvetica Neue"/>
            </a:endParaRPr>
          </a:p>
        </p:txBody>
      </p:sp>
      <p:sp>
        <p:nvSpPr>
          <p:cNvPr id="6" name="Google Shape;1771;p83">
            <a:extLst>
              <a:ext uri="{FF2B5EF4-FFF2-40B4-BE49-F238E27FC236}">
                <a16:creationId xmlns:a16="http://schemas.microsoft.com/office/drawing/2014/main" id="{8A29AC34-2C19-AE35-820C-A4392EC4C9D4}"/>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7" name="Google Shape;1772;p83">
            <a:extLst>
              <a:ext uri="{FF2B5EF4-FFF2-40B4-BE49-F238E27FC236}">
                <a16:creationId xmlns:a16="http://schemas.microsoft.com/office/drawing/2014/main" id="{49BC1B18-850C-CD9D-BB14-5E1A6BF4521C}"/>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8" name="Google Shape;1773;p83">
            <a:extLst>
              <a:ext uri="{FF2B5EF4-FFF2-40B4-BE49-F238E27FC236}">
                <a16:creationId xmlns:a16="http://schemas.microsoft.com/office/drawing/2014/main" id="{C467AD21-028C-08B0-5AE9-ACB71539A02B}"/>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9" name="Google Shape;1774;p83">
            <a:extLst>
              <a:ext uri="{FF2B5EF4-FFF2-40B4-BE49-F238E27FC236}">
                <a16:creationId xmlns:a16="http://schemas.microsoft.com/office/drawing/2014/main" id="{775A5F8C-8465-2AFB-4493-C8FF26B927DB}"/>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30831282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2482">
          <a:extLst>
            <a:ext uri="{FF2B5EF4-FFF2-40B4-BE49-F238E27FC236}">
              <a16:creationId xmlns:a16="http://schemas.microsoft.com/office/drawing/2014/main" id="{AD8C6A56-55AA-02E1-095E-F7A8CE0FFD70}"/>
            </a:ext>
          </a:extLst>
        </p:cNvPr>
        <p:cNvGrpSpPr/>
        <p:nvPr/>
      </p:nvGrpSpPr>
      <p:grpSpPr>
        <a:xfrm>
          <a:off x="0" y="0"/>
          <a:ext cx="0" cy="0"/>
          <a:chOff x="0" y="0"/>
          <a:chExt cx="0" cy="0"/>
        </a:xfrm>
      </p:grpSpPr>
      <p:pic>
        <p:nvPicPr>
          <p:cNvPr id="2483" name="Google Shape;2483;p132">
            <a:extLst>
              <a:ext uri="{FF2B5EF4-FFF2-40B4-BE49-F238E27FC236}">
                <a16:creationId xmlns:a16="http://schemas.microsoft.com/office/drawing/2014/main" id="{0F1BD07F-2CD9-C05B-D0E7-72500CEF235B}"/>
              </a:ext>
            </a:extLst>
          </p:cNvPr>
          <p:cNvPicPr preferRelativeResize="0">
            <a:picLocks noGrp="1"/>
          </p:cNvPicPr>
          <p:nvPr>
            <p:ph type="body" idx="1"/>
          </p:nvPr>
        </p:nvPicPr>
        <p:blipFill rotWithShape="1">
          <a:blip r:embed="rId3">
            <a:alphaModFix/>
          </a:blip>
          <a:srcRect/>
          <a:stretch/>
        </p:blipFill>
        <p:spPr>
          <a:xfrm>
            <a:off x="4857572" y="2343150"/>
            <a:ext cx="3448200" cy="1975200"/>
          </a:xfrm>
          <a:prstGeom prst="rect">
            <a:avLst/>
          </a:prstGeom>
          <a:noFill/>
          <a:ln>
            <a:noFill/>
          </a:ln>
        </p:spPr>
      </p:pic>
      <p:sp>
        <p:nvSpPr>
          <p:cNvPr id="2484" name="Google Shape;2484;p132">
            <a:extLst>
              <a:ext uri="{FF2B5EF4-FFF2-40B4-BE49-F238E27FC236}">
                <a16:creationId xmlns:a16="http://schemas.microsoft.com/office/drawing/2014/main" id="{7AEAA370-C33D-57A0-7844-8F179725FF06}"/>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a:bodyPr>
          <a:lstStyle/>
          <a:p>
            <a:pPr marL="0" lvl="0" indent="0" algn="r" rtl="0">
              <a:spcBef>
                <a:spcPts val="0"/>
              </a:spcBef>
              <a:spcAft>
                <a:spcPts val="0"/>
              </a:spcAft>
              <a:buNone/>
            </a:pPr>
            <a:fld id="{00000000-1234-1234-1234-123412341234}" type="slidenum">
              <a:rPr lang="en" sz="300">
                <a:solidFill>
                  <a:srgbClr val="FFFFFF"/>
                </a:solidFill>
              </a:rPr>
              <a:t>64</a:t>
            </a:fld>
            <a:endParaRPr sz="300">
              <a:solidFill>
                <a:srgbClr val="FFFFFF"/>
              </a:solidFill>
            </a:endParaRPr>
          </a:p>
        </p:txBody>
      </p:sp>
      <p:sp>
        <p:nvSpPr>
          <p:cNvPr id="2485" name="Google Shape;2485;p132">
            <a:extLst>
              <a:ext uri="{FF2B5EF4-FFF2-40B4-BE49-F238E27FC236}">
                <a16:creationId xmlns:a16="http://schemas.microsoft.com/office/drawing/2014/main" id="{286D5F19-EA0F-99A4-6CBE-6EBCDCCA83BC}"/>
              </a:ext>
            </a:extLst>
          </p:cNvPr>
          <p:cNvSpPr txBox="1">
            <a:spLocks noGrp="1"/>
          </p:cNvSpPr>
          <p:nvPr>
            <p:ph type="title"/>
          </p:nvPr>
        </p:nvSpPr>
        <p:spPr>
          <a:xfrm>
            <a:off x="457199" y="178897"/>
            <a:ext cx="8654100" cy="964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sz="2400" b="0"/>
              <a:t>Automatic Evaluation of Repetition</a:t>
            </a:r>
            <a:endParaRPr sz="2400"/>
          </a:p>
        </p:txBody>
      </p:sp>
      <p:pic>
        <p:nvPicPr>
          <p:cNvPr id="2486" name="Google Shape;2486;p132">
            <a:extLst>
              <a:ext uri="{FF2B5EF4-FFF2-40B4-BE49-F238E27FC236}">
                <a16:creationId xmlns:a16="http://schemas.microsoft.com/office/drawing/2014/main" id="{A8115666-1D81-9023-EE75-5C242CFC9B71}"/>
              </a:ext>
            </a:extLst>
          </p:cNvPr>
          <p:cNvPicPr preferRelativeResize="0"/>
          <p:nvPr/>
        </p:nvPicPr>
        <p:blipFill rotWithShape="1">
          <a:blip r:embed="rId4">
            <a:alphaModFix/>
          </a:blip>
          <a:srcRect/>
          <a:stretch/>
        </p:blipFill>
        <p:spPr>
          <a:xfrm>
            <a:off x="838200" y="2347754"/>
            <a:ext cx="2580140" cy="1970761"/>
          </a:xfrm>
          <a:prstGeom prst="rect">
            <a:avLst/>
          </a:prstGeom>
          <a:noFill/>
          <a:ln>
            <a:noFill/>
          </a:ln>
        </p:spPr>
      </p:pic>
      <p:sp>
        <p:nvSpPr>
          <p:cNvPr id="2487" name="Google Shape;2487;p132">
            <a:extLst>
              <a:ext uri="{FF2B5EF4-FFF2-40B4-BE49-F238E27FC236}">
                <a16:creationId xmlns:a16="http://schemas.microsoft.com/office/drawing/2014/main" id="{8361DF55-5CCF-3342-AC46-80B9C9BB31E3}"/>
              </a:ext>
            </a:extLst>
          </p:cNvPr>
          <p:cNvSpPr txBox="1"/>
          <p:nvPr/>
        </p:nvSpPr>
        <p:spPr>
          <a:xfrm>
            <a:off x="953576" y="4214768"/>
            <a:ext cx="30672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a:solidFill>
                  <a:schemeClr val="dk1"/>
                </a:solidFill>
                <a:latin typeface="Calibri"/>
                <a:ea typeface="Calibri"/>
                <a:cs typeface="Calibri"/>
                <a:sym typeface="Calibri"/>
              </a:rPr>
              <a:t>Inter-story repetition rates</a:t>
            </a:r>
            <a:endParaRPr sz="1200"/>
          </a:p>
        </p:txBody>
      </p:sp>
      <p:sp>
        <p:nvSpPr>
          <p:cNvPr id="2488" name="Google Shape;2488;p132">
            <a:extLst>
              <a:ext uri="{FF2B5EF4-FFF2-40B4-BE49-F238E27FC236}">
                <a16:creationId xmlns:a16="http://schemas.microsoft.com/office/drawing/2014/main" id="{FEB3F586-6F57-1C5C-85AB-14A0A5E2CD82}"/>
              </a:ext>
            </a:extLst>
          </p:cNvPr>
          <p:cNvSpPr txBox="1"/>
          <p:nvPr/>
        </p:nvSpPr>
        <p:spPr>
          <a:xfrm>
            <a:off x="5181600" y="4214768"/>
            <a:ext cx="30672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a:solidFill>
                  <a:schemeClr val="dk1"/>
                </a:solidFill>
                <a:latin typeface="Calibri"/>
                <a:ea typeface="Calibri"/>
                <a:cs typeface="Calibri"/>
                <a:sym typeface="Calibri"/>
              </a:rPr>
              <a:t>Intra-story repetition rates</a:t>
            </a:r>
            <a:endParaRPr sz="1200"/>
          </a:p>
        </p:txBody>
      </p:sp>
      <p:sp>
        <p:nvSpPr>
          <p:cNvPr id="2489" name="Google Shape;2489;p132">
            <a:extLst>
              <a:ext uri="{FF2B5EF4-FFF2-40B4-BE49-F238E27FC236}">
                <a16:creationId xmlns:a16="http://schemas.microsoft.com/office/drawing/2014/main" id="{B99E9840-00E4-660A-C66D-B3C854E090FE}"/>
              </a:ext>
            </a:extLst>
          </p:cNvPr>
          <p:cNvSpPr txBox="1"/>
          <p:nvPr/>
        </p:nvSpPr>
        <p:spPr>
          <a:xfrm>
            <a:off x="457199" y="1061472"/>
            <a:ext cx="8044500" cy="101562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 sz="2000" b="1">
                <a:solidFill>
                  <a:schemeClr val="dk1"/>
                </a:solidFill>
                <a:latin typeface="Calibri"/>
                <a:ea typeface="Calibri"/>
                <a:cs typeface="Calibri"/>
                <a:sym typeface="Calibri"/>
              </a:rPr>
              <a:t>Inter-story repetition:</a:t>
            </a:r>
            <a:r>
              <a:rPr lang="en" sz="2000">
                <a:solidFill>
                  <a:schemeClr val="dk1"/>
                </a:solidFill>
                <a:latin typeface="Calibri"/>
                <a:ea typeface="Calibri"/>
                <a:cs typeface="Calibri"/>
                <a:sym typeface="Calibri"/>
              </a:rPr>
              <a:t> how much different stories look like each other? </a:t>
            </a:r>
            <a:endParaRPr sz="1200"/>
          </a:p>
          <a:p>
            <a:pPr marL="342900" marR="0" lvl="0" indent="-342900" algn="l" rtl="0">
              <a:spcBef>
                <a:spcPts val="0"/>
              </a:spcBef>
              <a:spcAft>
                <a:spcPts val="0"/>
              </a:spcAft>
              <a:buClr>
                <a:schemeClr val="dk1"/>
              </a:buClr>
              <a:buSzPts val="2400"/>
              <a:buFont typeface="Arial"/>
              <a:buChar char="•"/>
            </a:pPr>
            <a:r>
              <a:rPr lang="en" sz="2000" b="1">
                <a:solidFill>
                  <a:schemeClr val="dk1"/>
                </a:solidFill>
                <a:latin typeface="Calibri"/>
                <a:ea typeface="Calibri"/>
                <a:cs typeface="Calibri"/>
                <a:sym typeface="Calibri"/>
              </a:rPr>
              <a:t>Intra-story repetition: </a:t>
            </a:r>
            <a:r>
              <a:rPr lang="en" sz="2000">
                <a:solidFill>
                  <a:schemeClr val="dk1"/>
                </a:solidFill>
                <a:latin typeface="Calibri"/>
                <a:ea typeface="Calibri"/>
                <a:cs typeface="Calibri"/>
                <a:sym typeface="Calibri"/>
              </a:rPr>
              <a:t>how much different sentences in a story look like each other?</a:t>
            </a:r>
            <a:endParaRPr sz="1200"/>
          </a:p>
        </p:txBody>
      </p:sp>
      <p:sp>
        <p:nvSpPr>
          <p:cNvPr id="6" name="Google Shape;1771;p83">
            <a:extLst>
              <a:ext uri="{FF2B5EF4-FFF2-40B4-BE49-F238E27FC236}">
                <a16:creationId xmlns:a16="http://schemas.microsoft.com/office/drawing/2014/main" id="{AA6FA87B-58E0-3850-2492-7DEFD596D59D}"/>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7" name="Google Shape;1772;p83">
            <a:extLst>
              <a:ext uri="{FF2B5EF4-FFF2-40B4-BE49-F238E27FC236}">
                <a16:creationId xmlns:a16="http://schemas.microsoft.com/office/drawing/2014/main" id="{6A29AA48-9E75-8053-4BD8-E9F5BEB20C7A}"/>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8" name="Google Shape;1773;p83">
            <a:extLst>
              <a:ext uri="{FF2B5EF4-FFF2-40B4-BE49-F238E27FC236}">
                <a16:creationId xmlns:a16="http://schemas.microsoft.com/office/drawing/2014/main" id="{9E1B1599-3A9C-C3FE-A21C-F1BBE9458672}"/>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9" name="Google Shape;1774;p83">
            <a:extLst>
              <a:ext uri="{FF2B5EF4-FFF2-40B4-BE49-F238E27FC236}">
                <a16:creationId xmlns:a16="http://schemas.microsoft.com/office/drawing/2014/main" id="{1525496D-F2AE-6D33-F5BB-25DC0C171940}"/>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6024639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2494">
          <a:extLst>
            <a:ext uri="{FF2B5EF4-FFF2-40B4-BE49-F238E27FC236}">
              <a16:creationId xmlns:a16="http://schemas.microsoft.com/office/drawing/2014/main" id="{F1A30E0D-F109-EA38-9DFA-6DDC7BD5ED42}"/>
            </a:ext>
          </a:extLst>
        </p:cNvPr>
        <p:cNvGrpSpPr/>
        <p:nvPr/>
      </p:nvGrpSpPr>
      <p:grpSpPr>
        <a:xfrm>
          <a:off x="0" y="0"/>
          <a:ext cx="0" cy="0"/>
          <a:chOff x="0" y="0"/>
          <a:chExt cx="0" cy="0"/>
        </a:xfrm>
      </p:grpSpPr>
      <p:graphicFrame>
        <p:nvGraphicFramePr>
          <p:cNvPr id="2495" name="Google Shape;2495;p133">
            <a:extLst>
              <a:ext uri="{FF2B5EF4-FFF2-40B4-BE49-F238E27FC236}">
                <a16:creationId xmlns:a16="http://schemas.microsoft.com/office/drawing/2014/main" id="{50849367-C0F9-8512-E47B-96BAEDD69391}"/>
              </a:ext>
            </a:extLst>
          </p:cNvPr>
          <p:cNvGraphicFramePr/>
          <p:nvPr/>
        </p:nvGraphicFramePr>
        <p:xfrm>
          <a:off x="609601" y="965957"/>
          <a:ext cx="7862150" cy="2798760"/>
        </p:xfrm>
        <a:graphic>
          <a:graphicData uri="http://schemas.openxmlformats.org/drawingml/2006/table">
            <a:tbl>
              <a:tblPr firstRow="1" bandRow="1">
                <a:noFill/>
                <a:tableStyleId>{9DBD82F4-FF5A-4DA7-A40D-C38478E7092A}</a:tableStyleId>
              </a:tblPr>
              <a:tblGrid>
                <a:gridCol w="1920950">
                  <a:extLst>
                    <a:ext uri="{9D8B030D-6E8A-4147-A177-3AD203B41FA5}">
                      <a16:colId xmlns:a16="http://schemas.microsoft.com/office/drawing/2014/main" val="20000"/>
                    </a:ext>
                  </a:extLst>
                </a:gridCol>
                <a:gridCol w="1808025">
                  <a:extLst>
                    <a:ext uri="{9D8B030D-6E8A-4147-A177-3AD203B41FA5}">
                      <a16:colId xmlns:a16="http://schemas.microsoft.com/office/drawing/2014/main" val="20001"/>
                    </a:ext>
                  </a:extLst>
                </a:gridCol>
                <a:gridCol w="1437525">
                  <a:extLst>
                    <a:ext uri="{9D8B030D-6E8A-4147-A177-3AD203B41FA5}">
                      <a16:colId xmlns:a16="http://schemas.microsoft.com/office/drawing/2014/main" val="20002"/>
                    </a:ext>
                  </a:extLst>
                </a:gridCol>
                <a:gridCol w="1347825">
                  <a:extLst>
                    <a:ext uri="{9D8B030D-6E8A-4147-A177-3AD203B41FA5}">
                      <a16:colId xmlns:a16="http://schemas.microsoft.com/office/drawing/2014/main" val="20003"/>
                    </a:ext>
                  </a:extLst>
                </a:gridCol>
                <a:gridCol w="1347825">
                  <a:extLst>
                    <a:ext uri="{9D8B030D-6E8A-4147-A177-3AD203B41FA5}">
                      <a16:colId xmlns:a16="http://schemas.microsoft.com/office/drawing/2014/main" val="20004"/>
                    </a:ext>
                  </a:extLst>
                </a:gridCol>
              </a:tblGrid>
              <a:tr h="474000">
                <a:tc rowSpan="2">
                  <a:txBody>
                    <a:bodyPr/>
                    <a:lstStyle/>
                    <a:p>
                      <a:pPr marL="0" marR="0" lvl="0" indent="0" algn="ctr" rtl="0">
                        <a:spcBef>
                          <a:spcPts val="0"/>
                        </a:spcBef>
                        <a:spcAft>
                          <a:spcPts val="0"/>
                        </a:spcAft>
                        <a:buNone/>
                      </a:pPr>
                      <a:r>
                        <a:rPr lang="en" sz="1700" u="none" strike="noStrike" cap="none"/>
                        <a:t>Aspect</a:t>
                      </a:r>
                      <a:endParaRPr sz="1100"/>
                    </a:p>
                  </a:txBody>
                  <a:tcPr marL="91450" marR="9145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 sz="1700" u="none" strike="noStrike" cap="none"/>
                        <a:t>Static vs. Language Model</a:t>
                      </a:r>
                      <a:endParaRPr sz="1700" u="none" strike="noStrike" cap="none"/>
                    </a:p>
                  </a:txBody>
                  <a:tcPr marL="91450" marR="9145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ctr" rtl="0">
                        <a:spcBef>
                          <a:spcPts val="0"/>
                        </a:spcBef>
                        <a:spcAft>
                          <a:spcPts val="0"/>
                        </a:spcAft>
                        <a:buNone/>
                      </a:pPr>
                      <a:r>
                        <a:rPr lang="en" sz="1700" u="none" strike="noStrike" cap="none"/>
                        <a:t>Dynamic vs. Incremental-Seq2Seq</a:t>
                      </a:r>
                      <a:endParaRPr sz="1700" u="none" strike="noStrike" cap="none"/>
                    </a:p>
                  </a:txBody>
                  <a:tcPr marL="91450" marR="9145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442400">
                <a:tc vMerge="1">
                  <a:txBody>
                    <a:bodyPr/>
                    <a:lstStyle/>
                    <a:p>
                      <a:endParaRPr lang="en-US"/>
                    </a:p>
                  </a:txBody>
                  <a:tcPr/>
                </a:tc>
                <a:tc>
                  <a:txBody>
                    <a:bodyPr/>
                    <a:lstStyle/>
                    <a:p>
                      <a:pPr marL="0" marR="0" lvl="0" indent="0" algn="ctr" rtl="0">
                        <a:spcBef>
                          <a:spcPts val="0"/>
                        </a:spcBef>
                        <a:spcAft>
                          <a:spcPts val="0"/>
                        </a:spcAft>
                        <a:buNone/>
                      </a:pPr>
                      <a:r>
                        <a:rPr lang="en" sz="1700" u="none" strike="noStrike" cap="none"/>
                        <a:t>Static</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LM</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Dyna.</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Seq2Seq</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2400">
                <a:tc>
                  <a:txBody>
                    <a:bodyPr/>
                    <a:lstStyle/>
                    <a:p>
                      <a:pPr marL="0" marR="0" lvl="0" indent="0" algn="ctr" rtl="0">
                        <a:spcBef>
                          <a:spcPts val="0"/>
                        </a:spcBef>
                        <a:spcAft>
                          <a:spcPts val="0"/>
                        </a:spcAft>
                        <a:buNone/>
                      </a:pPr>
                      <a:r>
                        <a:rPr lang="en" sz="1700" u="none" strike="noStrike" cap="none"/>
                        <a:t>Fidelity</a:t>
                      </a:r>
                      <a:endParaRPr sz="1100"/>
                    </a:p>
                  </a:txBody>
                  <a:tcPr marL="91450" marR="9145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38.5%</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16.3%</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35.8%</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12.9%</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42400">
                <a:tc>
                  <a:txBody>
                    <a:bodyPr/>
                    <a:lstStyle/>
                    <a:p>
                      <a:pPr marL="0" marR="0" lvl="0" indent="0" algn="ctr" rtl="0">
                        <a:spcBef>
                          <a:spcPts val="0"/>
                        </a:spcBef>
                        <a:spcAft>
                          <a:spcPts val="0"/>
                        </a:spcAft>
                        <a:buNone/>
                      </a:pPr>
                      <a:r>
                        <a:rPr lang="en" sz="1700" u="none" strike="noStrike" cap="none"/>
                        <a:t>Coherence</a:t>
                      </a:r>
                      <a:endParaRPr sz="1100"/>
                    </a:p>
                  </a:txBody>
                  <a:tcPr marL="91450" marR="9145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39.4%</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32.3%</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37.2%</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28.6%</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42400">
                <a:tc>
                  <a:txBody>
                    <a:bodyPr/>
                    <a:lstStyle/>
                    <a:p>
                      <a:pPr marL="0" marR="0" lvl="0" indent="0" algn="ctr" rtl="0">
                        <a:spcBef>
                          <a:spcPts val="0"/>
                        </a:spcBef>
                        <a:spcAft>
                          <a:spcPts val="0"/>
                        </a:spcAft>
                        <a:buNone/>
                      </a:pPr>
                      <a:r>
                        <a:rPr lang="en" sz="1700" u="none" strike="noStrike" cap="none"/>
                        <a:t>Interesting</a:t>
                      </a:r>
                      <a:endParaRPr sz="1100"/>
                    </a:p>
                  </a:txBody>
                  <a:tcPr marL="91450" marR="9145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39.5%</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35.7%</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43.5%</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26.7%</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42400">
                <a:tc>
                  <a:txBody>
                    <a:bodyPr/>
                    <a:lstStyle/>
                    <a:p>
                      <a:pPr marL="0" marR="0" lvl="0" indent="0" algn="ctr" rtl="0">
                        <a:spcBef>
                          <a:spcPts val="0"/>
                        </a:spcBef>
                        <a:spcAft>
                          <a:spcPts val="0"/>
                        </a:spcAft>
                        <a:buNone/>
                      </a:pPr>
                      <a:r>
                        <a:rPr lang="en" sz="1700" u="none" strike="noStrike" cap="none"/>
                        <a:t>Overall</a:t>
                      </a:r>
                      <a:endParaRPr sz="1100"/>
                    </a:p>
                  </a:txBody>
                  <a:tcPr marL="91450" marR="91450"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40.9%</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34.2%</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b="1" u="none" strike="noStrike" cap="none"/>
                        <a:t>42.9%</a:t>
                      </a:r>
                      <a:endParaRPr sz="1100"/>
                    </a:p>
                  </a:txBody>
                  <a:tcPr marL="91450" marR="91450" marT="34300" marB="3430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 sz="1700" u="none" strike="noStrike" cap="none"/>
                        <a:t>27.0%</a:t>
                      </a:r>
                      <a:endParaRPr sz="1100"/>
                    </a:p>
                  </a:txBody>
                  <a:tcPr marL="91450" marR="91450" marT="34300" marB="3430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496" name="Google Shape;2496;p133">
            <a:extLst>
              <a:ext uri="{FF2B5EF4-FFF2-40B4-BE49-F238E27FC236}">
                <a16:creationId xmlns:a16="http://schemas.microsoft.com/office/drawing/2014/main" id="{CB1F26DF-67FE-DBA3-11B8-2C8A6CB4D5C3}"/>
              </a:ext>
            </a:extLst>
          </p:cNvPr>
          <p:cNvSpPr txBox="1">
            <a:spLocks noGrp="1"/>
          </p:cNvSpPr>
          <p:nvPr>
            <p:ph type="sldNum" idx="12"/>
          </p:nvPr>
        </p:nvSpPr>
        <p:spPr>
          <a:xfrm>
            <a:off x="4337957" y="5003382"/>
            <a:ext cx="457200" cy="105600"/>
          </a:xfrm>
          <a:prstGeom prst="rect">
            <a:avLst/>
          </a:prstGeom>
          <a:noFill/>
          <a:ln>
            <a:noFill/>
          </a:ln>
        </p:spPr>
        <p:txBody>
          <a:bodyPr spcFirstLastPara="1" wrap="square" lIns="91425" tIns="45700" rIns="91425" bIns="0" anchor="b" anchorCtr="0">
            <a:normAutofit fontScale="32500" lnSpcReduction="20000"/>
          </a:bodyPr>
          <a:lstStyle/>
          <a:p>
            <a:pPr marL="0" lvl="0" indent="0" algn="r" rtl="0">
              <a:spcBef>
                <a:spcPts val="0"/>
              </a:spcBef>
              <a:spcAft>
                <a:spcPts val="0"/>
              </a:spcAft>
              <a:buNone/>
            </a:pPr>
            <a:fld id="{00000000-1234-1234-1234-123412341234}" type="slidenum">
              <a:rPr lang="en">
                <a:solidFill>
                  <a:srgbClr val="FFFFFF"/>
                </a:solidFill>
              </a:rPr>
              <a:t>65</a:t>
            </a:fld>
            <a:endParaRPr>
              <a:solidFill>
                <a:srgbClr val="FFFFFF"/>
              </a:solidFill>
            </a:endParaRPr>
          </a:p>
        </p:txBody>
      </p:sp>
      <p:sp>
        <p:nvSpPr>
          <p:cNvPr id="2497" name="Google Shape;2497;p133">
            <a:extLst>
              <a:ext uri="{FF2B5EF4-FFF2-40B4-BE49-F238E27FC236}">
                <a16:creationId xmlns:a16="http://schemas.microsoft.com/office/drawing/2014/main" id="{61255F82-1B92-6BC0-5531-5DBA2D2CC826}"/>
              </a:ext>
            </a:extLst>
          </p:cNvPr>
          <p:cNvSpPr txBox="1">
            <a:spLocks noGrp="1"/>
          </p:cNvSpPr>
          <p:nvPr>
            <p:ph type="title"/>
          </p:nvPr>
        </p:nvSpPr>
        <p:spPr>
          <a:xfrm>
            <a:off x="457199" y="171450"/>
            <a:ext cx="8654100" cy="800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accent1"/>
              </a:buClr>
              <a:buSzPts val="4000"/>
              <a:buFont typeface="Helvetica Neue"/>
              <a:buNone/>
            </a:pPr>
            <a:r>
              <a:rPr lang="en"/>
              <a:t>User Preferences</a:t>
            </a:r>
            <a:endParaRPr/>
          </a:p>
        </p:txBody>
      </p:sp>
      <p:sp>
        <p:nvSpPr>
          <p:cNvPr id="2498" name="Google Shape;2498;p133">
            <a:extLst>
              <a:ext uri="{FF2B5EF4-FFF2-40B4-BE49-F238E27FC236}">
                <a16:creationId xmlns:a16="http://schemas.microsoft.com/office/drawing/2014/main" id="{31B31B8E-F451-24E2-0F7B-EE16D4995E52}"/>
              </a:ext>
            </a:extLst>
          </p:cNvPr>
          <p:cNvSpPr txBox="1"/>
          <p:nvPr/>
        </p:nvSpPr>
        <p:spPr>
          <a:xfrm>
            <a:off x="457198" y="3869636"/>
            <a:ext cx="84582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Calibri"/>
                <a:ea typeface="Calibri"/>
                <a:cs typeface="Calibri"/>
                <a:sym typeface="Calibri"/>
              </a:rPr>
              <a:t>The human study is conducted on Amazon Mechanical Turk (AMT). 233 users were participated in the study.</a:t>
            </a:r>
            <a:endParaRPr/>
          </a:p>
        </p:txBody>
      </p:sp>
      <p:sp>
        <p:nvSpPr>
          <p:cNvPr id="6" name="Google Shape;1771;p83">
            <a:extLst>
              <a:ext uri="{FF2B5EF4-FFF2-40B4-BE49-F238E27FC236}">
                <a16:creationId xmlns:a16="http://schemas.microsoft.com/office/drawing/2014/main" id="{8B1D6B7A-9EF8-1D83-2F8A-65CE6550200E}"/>
              </a:ext>
            </a:extLst>
          </p:cNvPr>
          <p:cNvSpPr/>
          <p:nvPr/>
        </p:nvSpPr>
        <p:spPr>
          <a:xfrm>
            <a:off x="7100" y="203566"/>
            <a:ext cx="2966700" cy="180900"/>
          </a:xfrm>
          <a:prstGeom prst="rect">
            <a:avLst/>
          </a:prstGeom>
          <a:solidFill>
            <a:srgbClr val="FFF2CC"/>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Search</a:t>
            </a:r>
            <a:endParaRPr sz="700" dirty="0"/>
          </a:p>
        </p:txBody>
      </p:sp>
      <p:sp>
        <p:nvSpPr>
          <p:cNvPr id="7" name="Google Shape;1772;p83">
            <a:extLst>
              <a:ext uri="{FF2B5EF4-FFF2-40B4-BE49-F238E27FC236}">
                <a16:creationId xmlns:a16="http://schemas.microsoft.com/office/drawing/2014/main" id="{3FFB5699-EF80-0759-98CE-74A2D843E3A3}"/>
              </a:ext>
            </a:extLst>
          </p:cNvPr>
          <p:cNvSpPr/>
          <p:nvPr/>
        </p:nvSpPr>
        <p:spPr>
          <a:xfrm>
            <a:off x="6173600" y="202899"/>
            <a:ext cx="2966700" cy="180900"/>
          </a:xfrm>
          <a:prstGeom prst="rect">
            <a:avLst/>
          </a:prstGeom>
          <a:solidFill>
            <a:srgbClr val="C9DAF8"/>
          </a:solidFill>
          <a:ln w="1905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595959"/>
                </a:solidFill>
              </a:rPr>
              <a:t>Constraint-following</a:t>
            </a:r>
            <a:endParaRPr sz="700" dirty="0"/>
          </a:p>
        </p:txBody>
      </p:sp>
      <p:sp>
        <p:nvSpPr>
          <p:cNvPr id="8" name="Google Shape;1773;p83">
            <a:extLst>
              <a:ext uri="{FF2B5EF4-FFF2-40B4-BE49-F238E27FC236}">
                <a16:creationId xmlns:a16="http://schemas.microsoft.com/office/drawing/2014/main" id="{8102DCAB-D2C9-E9E1-CA51-E9822674FA72}"/>
              </a:ext>
            </a:extLst>
          </p:cNvPr>
          <p:cNvSpPr/>
          <p:nvPr/>
        </p:nvSpPr>
        <p:spPr>
          <a:xfrm>
            <a:off x="7100" y="5525"/>
            <a:ext cx="9144000" cy="181500"/>
          </a:xfrm>
          <a:prstGeom prst="rect">
            <a:avLst/>
          </a:prstGeom>
          <a:solidFill>
            <a:srgbClr val="D9D2E9"/>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Problem-Finding | </a:t>
            </a:r>
            <a:r>
              <a:rPr lang="en" sz="1200" b="1"/>
              <a:t>Path Finding</a:t>
            </a:r>
            <a:r>
              <a:rPr lang="en" sz="1200"/>
              <a:t> | Evaluation</a:t>
            </a:r>
            <a:endParaRPr sz="1200"/>
          </a:p>
        </p:txBody>
      </p:sp>
      <p:sp>
        <p:nvSpPr>
          <p:cNvPr id="9" name="Google Shape;1774;p83">
            <a:extLst>
              <a:ext uri="{FF2B5EF4-FFF2-40B4-BE49-F238E27FC236}">
                <a16:creationId xmlns:a16="http://schemas.microsoft.com/office/drawing/2014/main" id="{398A829A-BD74-E321-68E2-A12BD23F0217}"/>
              </a:ext>
            </a:extLst>
          </p:cNvPr>
          <p:cNvSpPr/>
          <p:nvPr/>
        </p:nvSpPr>
        <p:spPr>
          <a:xfrm>
            <a:off x="2973800" y="202899"/>
            <a:ext cx="3191100" cy="180900"/>
          </a:xfrm>
          <a:prstGeom prst="rect">
            <a:avLst/>
          </a:prstGeom>
          <a:solidFill>
            <a:srgbClr val="D9EAD3"/>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595959"/>
                </a:solidFill>
              </a:rPr>
              <a:t>Hierarchical Planning</a:t>
            </a:r>
            <a:endParaRPr sz="700" b="1" dirty="0"/>
          </a:p>
        </p:txBody>
      </p:sp>
    </p:spTree>
    <p:extLst>
      <p:ext uri="{BB962C8B-B14F-4D97-AF65-F5344CB8AC3E}">
        <p14:creationId xmlns:p14="http://schemas.microsoft.com/office/powerpoint/2010/main" val="410958059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8651</TotalTime>
  <Words>4700</Words>
  <Application>Microsoft Macintosh PowerPoint</Application>
  <PresentationFormat>On-screen Show (16:9)</PresentationFormat>
  <Paragraphs>760</Paragraphs>
  <Slides>65</Slides>
  <Notes>19</Notes>
  <HiddenSlides>10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Calibri</vt:lpstr>
      <vt:lpstr>Cambria Math</vt:lpstr>
      <vt:lpstr>Helvetica Neue</vt:lpstr>
      <vt:lpstr>Söhne</vt:lpstr>
      <vt:lpstr>Lucida Sans</vt:lpstr>
      <vt:lpstr>Arial</vt:lpstr>
      <vt:lpstr>Comic Sans MS</vt:lpstr>
      <vt:lpstr>Fira Sans Medium</vt:lpstr>
      <vt:lpstr>Simple Light</vt:lpstr>
      <vt:lpstr>Path Finding How the search space for creative tasks is navigated.</vt:lpstr>
      <vt:lpstr>PowerPoint Presentation</vt:lpstr>
      <vt:lpstr>Challenges of creative planning </vt:lpstr>
      <vt:lpstr>Challenges of creative planning </vt:lpstr>
      <vt:lpstr>Conventional Planning</vt:lpstr>
      <vt:lpstr>Path-finding: Overview and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Story Generation Given Titles</vt:lpstr>
      <vt:lpstr>Plan-and-Write Overview</vt:lpstr>
      <vt:lpstr>Plan-and-Write Hierarchical Generation</vt:lpstr>
      <vt:lpstr>No Annotation? Extracting Storylines</vt:lpstr>
      <vt:lpstr>Incorporating Storylines</vt:lpstr>
      <vt:lpstr>Generation Results</vt:lpstr>
      <vt:lpstr>Automatic Evaluation of Repetition</vt:lpstr>
      <vt:lpstr>User Preferences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Jonathan May</cp:lastModifiedBy>
  <cp:revision>19</cp:revision>
  <dcterms:modified xsi:type="dcterms:W3CDTF">2025-10-10T00:04:36Z</dcterms:modified>
</cp:coreProperties>
</file>