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6" r:id="rId2"/>
  </p:sldMasterIdLst>
  <p:notesMasterIdLst>
    <p:notesMasterId r:id="rId90"/>
  </p:notesMasterIdLst>
  <p:sldIdLst>
    <p:sldId id="329" r:id="rId3"/>
    <p:sldId id="34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  <p:sldId id="276" r:id="rId23"/>
    <p:sldId id="277" r:id="rId24"/>
    <p:sldId id="278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324" r:id="rId33"/>
    <p:sldId id="287" r:id="rId34"/>
    <p:sldId id="288" r:id="rId35"/>
    <p:sldId id="289" r:id="rId36"/>
    <p:sldId id="290" r:id="rId37"/>
    <p:sldId id="465" r:id="rId38"/>
    <p:sldId id="291" r:id="rId39"/>
    <p:sldId id="292" r:id="rId40"/>
    <p:sldId id="333" r:id="rId41"/>
    <p:sldId id="334" r:id="rId42"/>
    <p:sldId id="336" r:id="rId43"/>
    <p:sldId id="335" r:id="rId44"/>
    <p:sldId id="326" r:id="rId45"/>
    <p:sldId id="331" r:id="rId46"/>
    <p:sldId id="332" r:id="rId47"/>
    <p:sldId id="337" r:id="rId48"/>
    <p:sldId id="463" r:id="rId49"/>
    <p:sldId id="464" r:id="rId50"/>
    <p:sldId id="472" r:id="rId51"/>
    <p:sldId id="338" r:id="rId52"/>
    <p:sldId id="339" r:id="rId53"/>
    <p:sldId id="340" r:id="rId54"/>
    <p:sldId id="349" r:id="rId55"/>
    <p:sldId id="350" r:id="rId56"/>
    <p:sldId id="351" r:id="rId57"/>
    <p:sldId id="352" r:id="rId58"/>
    <p:sldId id="353" r:id="rId59"/>
    <p:sldId id="354" r:id="rId60"/>
    <p:sldId id="355" r:id="rId61"/>
    <p:sldId id="459" r:id="rId62"/>
    <p:sldId id="341" r:id="rId63"/>
    <p:sldId id="344" r:id="rId64"/>
    <p:sldId id="356" r:id="rId65"/>
    <p:sldId id="462" r:id="rId66"/>
    <p:sldId id="402" r:id="rId67"/>
    <p:sldId id="474" r:id="rId68"/>
    <p:sldId id="428" r:id="rId69"/>
    <p:sldId id="458" r:id="rId70"/>
    <p:sldId id="460" r:id="rId71"/>
    <p:sldId id="466" r:id="rId72"/>
    <p:sldId id="360" r:id="rId73"/>
    <p:sldId id="467" r:id="rId74"/>
    <p:sldId id="469" r:id="rId75"/>
    <p:sldId id="470" r:id="rId76"/>
    <p:sldId id="468" r:id="rId77"/>
    <p:sldId id="483" r:id="rId78"/>
    <p:sldId id="471" r:id="rId79"/>
    <p:sldId id="359" r:id="rId80"/>
    <p:sldId id="475" r:id="rId81"/>
    <p:sldId id="476" r:id="rId82"/>
    <p:sldId id="477" r:id="rId83"/>
    <p:sldId id="481" r:id="rId84"/>
    <p:sldId id="482" r:id="rId85"/>
    <p:sldId id="480" r:id="rId86"/>
    <p:sldId id="357" r:id="rId87"/>
    <p:sldId id="478" r:id="rId88"/>
    <p:sldId id="479" r:id="rId89"/>
  </p:sldIdLst>
  <p:sldSz cx="9144000" cy="5143500" type="screen16x9"/>
  <p:notesSz cx="6858000" cy="9144000"/>
  <p:defaultTextStyle>
    <a:defPPr marL="0" marR="0" indent="0" algn="l" defTabSz="573855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13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143463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286927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43039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573855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717318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86078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004246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147709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88"/>
    <p:restoredTop sz="76849"/>
  </p:normalViewPr>
  <p:slideViewPr>
    <p:cSldViewPr snapToGrid="0" showGuides="1">
      <p:cViewPr varScale="1">
        <p:scale>
          <a:sx n="120" d="100"/>
          <a:sy n="120" d="100"/>
        </p:scale>
        <p:origin x="192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1pPr>
    <a:lvl2pPr indent="143463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2pPr>
    <a:lvl3pPr indent="286927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3pPr>
    <a:lvl4pPr indent="43039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4pPr>
    <a:lvl5pPr indent="573855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5pPr>
    <a:lvl6pPr indent="717318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6pPr>
    <a:lvl7pPr indent="86078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7pPr>
    <a:lvl8pPr indent="1004246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8pPr>
    <a:lvl9pPr indent="1147709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ays = this</a:t>
            </a:r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patet ugharkel pitsburg = send a package to pgh</a:t>
            </a:r>
          </a:p>
        </p:txBody>
      </p:sp>
    </p:spTree>
    <p:extLst>
      <p:ext uri="{BB962C8B-B14F-4D97-AF65-F5344CB8AC3E}">
        <p14:creationId xmlns:p14="http://schemas.microsoft.com/office/powerpoint/2010/main" val="24671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the context is always the *correct* y so far, and in real world you make mistakes but keep going. leads to repetition. if a word happens it’s more likely to happen</a:t>
            </a:r>
          </a:p>
        </p:txBody>
      </p:sp>
    </p:spTree>
    <p:extLst>
      <p:ext uri="{BB962C8B-B14F-4D97-AF65-F5344CB8AC3E}">
        <p14:creationId xmlns:p14="http://schemas.microsoft.com/office/powerpoint/2010/main" val="2537175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24 x 4 = 96; 96/16 = 6</a:t>
            </a:r>
          </a:p>
        </p:txBody>
      </p:sp>
    </p:spTree>
    <p:extLst>
      <p:ext uri="{BB962C8B-B14F-4D97-AF65-F5344CB8AC3E}">
        <p14:creationId xmlns:p14="http://schemas.microsoft.com/office/powerpoint/2010/main" val="206394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mt example; assumes some japanese input i guess that isn’t seen? replace with something else...</a:t>
            </a:r>
          </a:p>
        </p:txBody>
      </p:sp>
    </p:spTree>
    <p:extLst>
      <p:ext uri="{BB962C8B-B14F-4D97-AF65-F5344CB8AC3E}">
        <p14:creationId xmlns:p14="http://schemas.microsoft.com/office/powerpoint/2010/main" val="3194821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22863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449591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recall along the rows, or precision along the columns. use IDF to encourage rarer more contentful terms</a:t>
            </a:r>
          </a:p>
        </p:txBody>
      </p:sp>
    </p:spTree>
    <p:extLst>
      <p:ext uri="{BB962C8B-B14F-4D97-AF65-F5344CB8AC3E}">
        <p14:creationId xmlns:p14="http://schemas.microsoft.com/office/powerpoint/2010/main" val="77543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wait, but this is different from reward * KL div, isn’t it?</a:t>
            </a:r>
          </a:p>
        </p:txBody>
      </p:sp>
    </p:spTree>
    <p:extLst>
      <p:ext uri="{BB962C8B-B14F-4D97-AF65-F5344CB8AC3E}">
        <p14:creationId xmlns:p14="http://schemas.microsoft.com/office/powerpoint/2010/main" val="329024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ask: what are X, A, R in NLP?</a:t>
            </a:r>
          </a:p>
        </p:txBody>
      </p:sp>
    </p:spTree>
    <p:extLst>
      <p:ext uri="{BB962C8B-B14F-4D97-AF65-F5344CB8AC3E}">
        <p14:creationId xmlns:p14="http://schemas.microsoft.com/office/powerpoint/2010/main" val="2068644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call center: reward if complete w/o human, mild reward if human delivered, punishment if hangup (maybe?)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chain of thought may not be good but you still might get the right answer. if you only care about answer, then this is an RL scenario. I tend to not favor this.</a:t>
            </a:r>
          </a:p>
        </p:txBody>
      </p:sp>
    </p:spTree>
    <p:extLst>
      <p:ext uri="{BB962C8B-B14F-4D97-AF65-F5344CB8AC3E}">
        <p14:creationId xmlns:p14="http://schemas.microsoft.com/office/powerpoint/2010/main" val="1083433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skippable? not sure point w/r/t RL</a:t>
            </a:r>
          </a:p>
        </p:txBody>
      </p:sp>
    </p:spTree>
    <p:extLst>
      <p:ext uri="{BB962C8B-B14F-4D97-AF65-F5344CB8AC3E}">
        <p14:creationId xmlns:p14="http://schemas.microsoft.com/office/powerpoint/2010/main" val="4082090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zero one reward; iimplies more flexible rewards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this is the expectation of the reward</a:t>
            </a:r>
          </a:p>
        </p:txBody>
      </p:sp>
    </p:spTree>
    <p:extLst>
      <p:ext uri="{BB962C8B-B14F-4D97-AF65-F5344CB8AC3E}">
        <p14:creationId xmlns:p14="http://schemas.microsoft.com/office/powerpoint/2010/main" val="9941080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mostly just amortize over the sequence</a:t>
            </a:r>
          </a:p>
        </p:txBody>
      </p:sp>
    </p:spTree>
    <p:extLst>
      <p:ext uri="{BB962C8B-B14F-4D97-AF65-F5344CB8AC3E}">
        <p14:creationId xmlns:p14="http://schemas.microsoft.com/office/powerpoint/2010/main" val="22785751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TODO replace with actual loss curves if possible</a:t>
            </a:r>
          </a:p>
        </p:txBody>
      </p:sp>
    </p:spTree>
    <p:extLst>
      <p:ext uri="{BB962C8B-B14F-4D97-AF65-F5344CB8AC3E}">
        <p14:creationId xmlns:p14="http://schemas.microsoft.com/office/powerpoint/2010/main" val="11980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why is sampling stability not a problem with MLE? (because cross entropy and specifically eq for deriv of softmax inherently downweights all other possibilities)</a:t>
            </a:r>
          </a:p>
        </p:txBody>
      </p:sp>
    </p:spTree>
    <p:extLst>
      <p:ext uri="{BB962C8B-B14F-4D97-AF65-F5344CB8AC3E}">
        <p14:creationId xmlns:p14="http://schemas.microsoft.com/office/powerpoint/2010/main" val="2370378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change this to objective; higher is better but it’s represented as a loss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also point out how the kl is hard to calculate.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both are fairly popular nowadays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implemented in hf trl</a:t>
            </a:r>
          </a:p>
        </p:txBody>
      </p:sp>
    </p:spTree>
    <p:extLst>
      <p:ext uri="{BB962C8B-B14F-4D97-AF65-F5344CB8AC3E}">
        <p14:creationId xmlns:p14="http://schemas.microsoft.com/office/powerpoint/2010/main" val="4168579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378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used as motivation for normed reward</a:t>
            </a:r>
          </a:p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9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12036293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37745006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88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507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39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030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add Appendix 1 derivation</a:t>
            </a:r>
          </a:p>
        </p:txBody>
      </p:sp>
    </p:spTree>
    <p:extLst>
      <p:ext uri="{BB962C8B-B14F-4D97-AF65-F5344CB8AC3E}">
        <p14:creationId xmlns:p14="http://schemas.microsoft.com/office/powerpoint/2010/main" val="2922969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72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AND TO MAKE IT DIFFERENTIABLE</a:t>
            </a:r>
          </a:p>
        </p:txBody>
      </p:sp>
    </p:spTree>
    <p:extLst>
      <p:ext uri="{BB962C8B-B14F-4D97-AF65-F5344CB8AC3E}">
        <p14:creationId xmlns:p14="http://schemas.microsoft.com/office/powerpoint/2010/main" val="6365739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86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30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5935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7645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891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https://arxiv.org/pdf/2401.08417</a:t>
            </a:r>
          </a:p>
          <a:p>
            <a:pPr algn="l" defTabSz="286927" rtl="0" latinLnBrk="0">
              <a:lnSpc>
                <a:spcPct val="117999"/>
              </a:lnSpc>
            </a:pPr>
            <a:endParaRPr lang="en-US"/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RE-RENDER</a:t>
            </a:r>
          </a:p>
        </p:txBody>
      </p:sp>
    </p:spTree>
    <p:extLst>
      <p:ext uri="{BB962C8B-B14F-4D97-AF65-F5344CB8AC3E}">
        <p14:creationId xmlns:p14="http://schemas.microsoft.com/office/powerpoint/2010/main" val="35780857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true also for xx-&gt;en. True also for reference-based model but not generally true for BLEU; they make an argument that it’s time to stop using BLEU. </a:t>
            </a:r>
          </a:p>
        </p:txBody>
      </p:sp>
    </p:spTree>
    <p:extLst>
      <p:ext uri="{BB962C8B-B14F-4D97-AF65-F5344CB8AC3E}">
        <p14:creationId xmlns:p14="http://schemas.microsoft.com/office/powerpoint/2010/main" val="31561419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STRAP = one model per native language/author for transfer. In ETS that was a better baseline for PPO/DPO/CPO but in Reddit combining them was better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EE4C76-D470-2943-A523-62A6C24A31B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39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key ideas: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GPT training data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iterative optimization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overgeneration</a:t>
            </a:r>
          </a:p>
        </p:txBody>
      </p:sp>
    </p:spTree>
    <p:extLst>
      <p:ext uri="{BB962C8B-B14F-4D97-AF65-F5344CB8AC3E}">
        <p14:creationId xmlns:p14="http://schemas.microsoft.com/office/powerpoint/2010/main" val="3261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68" y="356964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92970" y="863947"/>
            <a:ext cx="7358063" cy="1741289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2652118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952864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70" y="354285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646357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504129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78363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2070168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8623270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45449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8306921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7957586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304734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9581858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960753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6"/>
          </a:xfrm>
        </p:spPr>
        <p:txBody>
          <a:bodyPr anchor="t"/>
          <a:lstStyle>
            <a:lvl1pPr algn="l">
              <a:defRPr sz="2250" b="0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6"/>
            <a:ext cx="7772400" cy="1125140"/>
          </a:xfrm>
        </p:spPr>
        <p:txBody>
          <a:bodyPr anchor="b"/>
          <a:lstStyle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62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2pPr>
            <a:lvl3pPr marL="514323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485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4pPr>
            <a:lvl5pPr marL="1028647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5pPr>
            <a:lvl6pPr marL="1285808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6pPr>
            <a:lvl7pPr marL="1542970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7pPr>
            <a:lvl8pPr marL="1800132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8pPr>
            <a:lvl9pPr marL="2057294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730968C9-9258-CC43-A070-A065DA3A9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2960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2BC1AC74-C21C-3749-AE24-7D6B4C2FB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025" b="0" i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3" y="859539"/>
            <a:ext cx="8235697" cy="3735086"/>
          </a:xfrm>
        </p:spPr>
        <p:txBody>
          <a:bodyPr/>
          <a:lstStyle>
            <a:lvl1pPr>
              <a:defRPr sz="1575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408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AC01FE60-F77D-EB45-8BCC-399A94413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825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CDF07-152F-B868-7C1A-769881A3CBA3}"/>
              </a:ext>
            </a:extLst>
          </p:cNvPr>
          <p:cNvSpPr txBox="1"/>
          <p:nvPr userDrawn="1"/>
        </p:nvSpPr>
        <p:spPr>
          <a:xfrm>
            <a:off x="89022" y="4912131"/>
            <a:ext cx="3299328" cy="1840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6789" tIns="26789" rIns="26789" bIns="26789" numCol="1" spcCol="38100" rtlCol="0" anchor="ctr">
            <a:spAutoFit/>
          </a:bodyPr>
          <a:lstStyle/>
          <a:p>
            <a:pPr marL="0" marR="0" indent="0" algn="l" defTabSz="30804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44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slide from Graham Neubig ANLP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077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2.14740" TargetMode="External"/><Relationship Id="rId3" Type="http://schemas.openxmlformats.org/officeDocument/2006/relationships/hyperlink" Target="https://arxiv.org/abs/2203.02155" TargetMode="External"/><Relationship Id="rId7" Type="http://schemas.openxmlformats.org/officeDocument/2006/relationships/hyperlink" Target="https://arxiv.org/abs/1707.06347" TargetMode="External"/><Relationship Id="rId2" Type="http://schemas.openxmlformats.org/officeDocument/2006/relationships/hyperlink" Target="https://arxiv.org/abs/1909.08593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arxiv.org/abs/2401.08417" TargetMode="External"/><Relationship Id="rId11" Type="http://schemas.openxmlformats.org/officeDocument/2006/relationships/hyperlink" Target="https://aclanthology.org/2024.naacl-short.34/" TargetMode="External"/><Relationship Id="rId5" Type="http://schemas.openxmlformats.org/officeDocument/2006/relationships/hyperlink" Target="https://arxiv.org/abs/2402.01306" TargetMode="External"/><Relationship Id="rId10" Type="http://schemas.openxmlformats.org/officeDocument/2006/relationships/hyperlink" Target="https://arxiv.org/abs/2406.11581" TargetMode="External"/><Relationship Id="rId4" Type="http://schemas.openxmlformats.org/officeDocument/2006/relationships/hyperlink" Target="https://arxiv.org/abs/2305.18290" TargetMode="External"/><Relationship Id="rId9" Type="http://schemas.openxmlformats.org/officeDocument/2006/relationships/hyperlink" Target="https://arxiv.org/abs/2403.0804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0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karpathy.github.io/2016/05/31/rl/" TargetMode="Externa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rxiv.org/abs/1707.06347" TargetMode="Externa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huggingface/trl/blob/main/trl/trainer/ppo_trainer.py" TargetMode="Externa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2.png"/><Relationship Id="rId4" Type="http://schemas.openxmlformats.org/officeDocument/2006/relationships/hyperlink" Target="https://openai.com/index/chatgp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arxiv.org/abs/2203.02155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arxiv.org/abs/2401.0841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aclanthology.org/2024.naacl-short.34/" TargetMode="External"/><Relationship Id="rId1" Type="http://schemas.openxmlformats.org/officeDocument/2006/relationships/slideLayout" Target="../slideLayouts/slideLayout1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4.naacl-short.34/" TargetMode="External"/><Relationship Id="rId2" Type="http://schemas.openxmlformats.org/officeDocument/2006/relationships/hyperlink" Target="https://arxiv.org/abs/2404.19733" TargetMode="External"/><Relationship Id="rId1" Type="http://schemas.openxmlformats.org/officeDocument/2006/relationships/slideLayout" Target="../slideLayouts/slideLayout1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arxiv.org/abs/2402.14740" TargetMode="External"/><Relationship Id="rId1" Type="http://schemas.openxmlformats.org/officeDocument/2006/relationships/slideLayout" Target="../slideLayouts/slideLayout1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02.01306" TargetMode="External"/><Relationship Id="rId1" Type="http://schemas.openxmlformats.org/officeDocument/2006/relationships/slideLayout" Target="../slideLayouts/slideLayout1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0EAD4-5816-D0F2-1217-90F837305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Human Feedback and Optimization For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20CA56-C3D4-BC88-BB81-6205CE937B40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Autofit/>
          </a:bodyPr>
          <a:lstStyle/>
          <a:p>
            <a:r>
              <a:rPr lang="en-US" sz="2000"/>
              <a:t>Jonathan May</a:t>
            </a:r>
          </a:p>
          <a:p>
            <a:r>
              <a:rPr lang="en-US" sz="2000"/>
              <a:t>USC CSCI 662</a:t>
            </a:r>
          </a:p>
          <a:p>
            <a:r>
              <a:rPr lang="en-US" sz="2000"/>
              <a:t>Oct 1,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0E88A7-04CD-0850-8FD7-69384A54E3D9}"/>
              </a:ext>
            </a:extLst>
          </p:cNvPr>
          <p:cNvSpPr txBox="1"/>
          <p:nvPr/>
        </p:nvSpPr>
        <p:spPr>
          <a:xfrm>
            <a:off x="372368" y="4084983"/>
            <a:ext cx="8771632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Thanks to Graham Neubig (CMU) and Archit Sharma (Stanford) for slides/inspiration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Thanks to Bill Byrne (Cambridge) for discussion and pointers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830294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024E-0896-194C-72D8-F346C7EEB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Reading 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4087E-8C41-6DB9-42BE-CC3A681F8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06" y="1593950"/>
            <a:ext cx="7804547" cy="3315146"/>
          </a:xfrm>
        </p:spPr>
        <p:txBody>
          <a:bodyPr>
            <a:normAutofit fontScale="55000" lnSpcReduction="20000"/>
          </a:bodyPr>
          <a:lstStyle/>
          <a:p>
            <a:r>
              <a:rPr lang="en-US"/>
              <a:t>Critical Papers</a:t>
            </a:r>
          </a:p>
          <a:p>
            <a:pPr lvl="1"/>
            <a:r>
              <a:rPr lang="en-US">
                <a:hlinkClick r:id="rId2"/>
              </a:rPr>
              <a:t>Ziegler et al. 2020</a:t>
            </a:r>
            <a:r>
              <a:rPr lang="en-US"/>
              <a:t>. RLHF for LMs from OpenAI. Foundation for InstructGPT/ChatGPT</a:t>
            </a:r>
          </a:p>
          <a:p>
            <a:pPr lvl="1"/>
            <a:r>
              <a:rPr lang="en-US">
                <a:hlinkClick r:id="rId3"/>
              </a:rPr>
              <a:t>Ouyang et al. 2022</a:t>
            </a:r>
            <a:r>
              <a:rPr lang="en-US"/>
              <a:t>. InstructGPT (mainly section 3 and relevant appendices)</a:t>
            </a:r>
          </a:p>
          <a:p>
            <a:pPr lvl="1"/>
            <a:r>
              <a:rPr lang="en-US">
                <a:hlinkClick r:id="rId4"/>
              </a:rPr>
              <a:t>Rafailov et al. 2023</a:t>
            </a:r>
            <a:r>
              <a:rPr lang="en-US"/>
              <a:t>. DPO</a:t>
            </a:r>
          </a:p>
          <a:p>
            <a:pPr lvl="1"/>
            <a:r>
              <a:rPr lang="en-US">
                <a:hlinkClick r:id="rId5"/>
              </a:rPr>
              <a:t>Ethayarajh et al. 2024</a:t>
            </a:r>
            <a:r>
              <a:rPr lang="en-US"/>
              <a:t>. KTO. Also gives a nice overview of RLHF/PPO/DPO</a:t>
            </a:r>
          </a:p>
          <a:p>
            <a:pPr lvl="1"/>
            <a:r>
              <a:rPr lang="en-US">
                <a:hlinkClick r:id="rId6"/>
              </a:rPr>
              <a:t>Xu et al. 2024.</a:t>
            </a:r>
            <a:r>
              <a:rPr lang="en-US"/>
              <a:t> CPO (mainly section 3 and relevant appendices)</a:t>
            </a:r>
          </a:p>
          <a:p>
            <a:r>
              <a:rPr lang="en-US"/>
              <a:t>Other Papers</a:t>
            </a:r>
          </a:p>
          <a:p>
            <a:pPr lvl="1"/>
            <a:r>
              <a:rPr lang="en-US">
                <a:hlinkClick r:id="rId7"/>
              </a:rPr>
              <a:t>Schulman et al. 2017</a:t>
            </a:r>
            <a:r>
              <a:rPr lang="en-US"/>
              <a:t> PPO, not from an LM perspective</a:t>
            </a:r>
          </a:p>
          <a:p>
            <a:pPr lvl="1"/>
            <a:r>
              <a:rPr lang="en-US">
                <a:hlinkClick r:id="rId8"/>
              </a:rPr>
              <a:t>Ahmadian et al. 2024</a:t>
            </a:r>
            <a:r>
              <a:rPr lang="en-US"/>
              <a:t> Cohere paper on REINFORCE. Good recap of Ziegler too</a:t>
            </a:r>
          </a:p>
          <a:p>
            <a:pPr lvl="1"/>
            <a:r>
              <a:rPr lang="en-US">
                <a:hlinkClick r:id="rId9"/>
              </a:rPr>
              <a:t>Liu et al. 2024 </a:t>
            </a:r>
            <a:r>
              <a:rPr lang="en-US"/>
              <a:t>and </a:t>
            </a:r>
            <a:r>
              <a:rPr lang="en-US">
                <a:hlinkClick r:id="rId10"/>
              </a:rPr>
              <a:t>Liu and May 2024 </a:t>
            </a:r>
            <a:r>
              <a:rPr lang="en-US"/>
              <a:t>. ASTRAPOP and STAMP</a:t>
            </a:r>
          </a:p>
          <a:p>
            <a:pPr lvl="1"/>
            <a:r>
              <a:rPr lang="en-US">
                <a:hlinkClick r:id="rId11"/>
              </a:rPr>
              <a:t>Yang et al. 2024</a:t>
            </a:r>
            <a:r>
              <a:rPr lang="en-US"/>
              <a:t>. DPO and MBR (for MT)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843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Maximum Likelihood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Maximum Likelihood Training</a:t>
            </a:r>
          </a:p>
        </p:txBody>
      </p:sp>
      <p:sp>
        <p:nvSpPr>
          <p:cNvPr id="126" name="Maximum the likelihood of predicting the next word in the reference given the previous words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861192"/>
          </a:xfrm>
          <a:prstGeom prst="rect">
            <a:avLst/>
          </a:prstGeom>
        </p:spPr>
        <p:txBody>
          <a:bodyPr/>
          <a:lstStyle/>
          <a:p>
            <a:r>
              <a:t>Maximum the likelihood of predicting the next word in the reference given the previous words</a:t>
            </a:r>
          </a:p>
        </p:txBody>
      </p:sp>
      <p:pic>
        <p:nvPicPr>
          <p:cNvPr id="127" name="CodeCogsEqn.pdf" descr="CodeCogsEqn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715" y="2436077"/>
            <a:ext cx="4282883" cy="11955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roblem 1: Some Mistakes are Worse than Oth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 1: Some Mistakes are Worse than Others</a:t>
            </a:r>
          </a:p>
        </p:txBody>
      </p:sp>
      <p:sp>
        <p:nvSpPr>
          <p:cNvPr id="130" name="In the end, we want good output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32041" indent="-232041" defTabSz="304968">
              <a:spcBef>
                <a:spcPts val="1213"/>
              </a:spcBef>
              <a:defRPr sz="3564"/>
            </a:pPr>
            <a:r>
              <a:t>In the end, we want good outputs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Some mistaken predictions hurt more than others, so we'd like to penalize them appropriately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e.g.: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a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Tokyo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****ing send this package to Pittsburgh</a:t>
            </a:r>
          </a:p>
        </p:txBody>
      </p:sp>
      <p:pic>
        <p:nvPicPr>
          <p:cNvPr id="13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91539" y="3427195"/>
            <a:ext cx="248636" cy="311528"/>
          </a:xfrm>
          <a:prstGeom prst="rect">
            <a:avLst/>
          </a:prstGeom>
        </p:spPr>
      </p:pic>
      <p:pic>
        <p:nvPicPr>
          <p:cNvPr id="133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766456" y="3841416"/>
            <a:ext cx="878970" cy="342957"/>
          </a:xfrm>
          <a:prstGeom prst="rect">
            <a:avLst/>
          </a:prstGeom>
        </p:spPr>
      </p:pic>
      <p:pic>
        <p:nvPicPr>
          <p:cNvPr id="135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148572" y="4195377"/>
            <a:ext cx="888950" cy="4064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684496-7949-7268-D71F-F35775596945}"/>
              </a:ext>
            </a:extLst>
          </p:cNvPr>
          <p:cNvSpPr txBox="1"/>
          <p:nvPr/>
        </p:nvSpPr>
        <p:spPr>
          <a:xfrm>
            <a:off x="0" y="2477832"/>
            <a:ext cx="1069181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/>
              <a:t>Խնդրում ենք ուղարկել այս փաթեթը Պիտսբուրգ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2FD73-2564-514D-3238-EE927C02AF39}"/>
              </a:ext>
            </a:extLst>
          </p:cNvPr>
          <p:cNvSpPr txBox="1"/>
          <p:nvPr/>
        </p:nvSpPr>
        <p:spPr>
          <a:xfrm>
            <a:off x="2915857" y="4668298"/>
            <a:ext cx="6919360" cy="4001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/>
              <a:t>(Khndrum yenk’ ugharkel ays p’at’et’y Pitsburg)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1" uiExpand="1" build="p" bldLvl="5" advAuto="0"/>
      <p:bldP spid="131" grpId="2" animBg="1" advAuto="0"/>
      <p:bldP spid="133" grpId="3" animBg="1" advAuto="0"/>
      <p:bldP spid="135" grpId="4" animBg="1" advAuto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roblem 2: The “Gold-standard” in MLE can be Ba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73201">
              <a:defRPr sz="6480"/>
            </a:lvl1pPr>
          </a:lstStyle>
          <a:p>
            <a:r>
              <a:rPr sz="3600"/>
              <a:t>Problem 2: The “Gold-standard” in MLE can be Bad</a:t>
            </a:r>
          </a:p>
        </p:txBody>
      </p:sp>
      <p:sp>
        <p:nvSpPr>
          <p:cNvPr id="139" name="Corpora are full of outputs that we wouldn’t want a language model reproducing!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Corpora are full of outputs that we wouldn’t want a language model reproducing!</a:t>
            </a:r>
          </a:p>
          <a:p>
            <a:r>
              <a:t>For instance:</a:t>
            </a:r>
          </a:p>
          <a:p>
            <a:pPr lvl="1"/>
            <a:r>
              <a:t>Toxic comments in reddit</a:t>
            </a:r>
          </a:p>
          <a:p>
            <a:pPr lvl="1"/>
            <a:r>
              <a:t>Disinformation</a:t>
            </a:r>
          </a:p>
          <a:p>
            <a:pPr lvl="1"/>
            <a:r>
              <a:t>Translations from old machine translation systems</a:t>
            </a:r>
            <a:endParaRPr lang="en-US"/>
          </a:p>
          <a:p>
            <a:pPr lvl="1"/>
            <a:r>
              <a:rPr lang="en-US"/>
              <a:t>Less-good auto-generated text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1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oblem 3: Exposure Bia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543305">
              <a:defRPr sz="7440"/>
            </a:lvl1pPr>
          </a:lstStyle>
          <a:p>
            <a:r>
              <a:rPr sz="3600"/>
              <a:t>Problem 3: Exposure Bias</a:t>
            </a:r>
          </a:p>
        </p:txBody>
      </p:sp>
      <p:sp>
        <p:nvSpPr>
          <p:cNvPr id="142" name="MLE training doesn’t consider the necessity for generation — relies on gold-standard context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716277"/>
          </a:xfrm>
          <a:prstGeom prst="rect">
            <a:avLst/>
          </a:prstGeom>
        </p:spPr>
        <p:txBody>
          <a:bodyPr/>
          <a:lstStyle/>
          <a:p>
            <a:r>
              <a:t>MLE training doesn’t consider the necessity for generation — relies on gold-standard context</a:t>
            </a:r>
          </a:p>
        </p:txBody>
      </p:sp>
      <p:sp>
        <p:nvSpPr>
          <p:cNvPr id="143" name="Exposure bias: The model is not exposed to mistakes during training, and cannot deal with them at test"/>
          <p:cNvSpPr txBox="1"/>
          <p:nvPr/>
        </p:nvSpPr>
        <p:spPr>
          <a:xfrm>
            <a:off x="1645295" y="4133597"/>
            <a:ext cx="5853410" cy="726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 b="1">
                <a:latin typeface="Helvetica"/>
                <a:ea typeface="Helvetica"/>
                <a:cs typeface="Helvetica"/>
                <a:sym typeface="Helvetica"/>
              </a:rPr>
              <a:t>Exposure bias:</a:t>
            </a:r>
            <a:r>
              <a:rPr sz="1803"/>
              <a:t> The model is not exposed to mistakes during training, and cannot deal with them at test</a:t>
            </a:r>
          </a:p>
        </p:txBody>
      </p:sp>
      <p:sp>
        <p:nvSpPr>
          <p:cNvPr id="144" name="I"/>
          <p:cNvSpPr txBox="1"/>
          <p:nvPr/>
        </p:nvSpPr>
        <p:spPr>
          <a:xfrm>
            <a:off x="3671948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45" name="Group"/>
          <p:cNvSpPr/>
          <p:nvPr/>
        </p:nvSpPr>
        <p:spPr>
          <a:xfrm flipH="1">
            <a:off x="3724403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49" name="Group"/>
          <p:cNvGrpSpPr/>
          <p:nvPr/>
        </p:nvGrpSpPr>
        <p:grpSpPr>
          <a:xfrm>
            <a:off x="3390484" y="3020484"/>
            <a:ext cx="703294" cy="638215"/>
            <a:chOff x="0" y="0"/>
            <a:chExt cx="1333652" cy="1210243"/>
          </a:xfrm>
        </p:grpSpPr>
        <p:sp>
          <p:nvSpPr>
            <p:cNvPr id="146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47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48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54" name="Group"/>
          <p:cNvGrpSpPr/>
          <p:nvPr/>
        </p:nvGrpSpPr>
        <p:grpSpPr>
          <a:xfrm>
            <a:off x="3497912" y="2837025"/>
            <a:ext cx="452978" cy="179044"/>
            <a:chOff x="0" y="0"/>
            <a:chExt cx="858978" cy="339519"/>
          </a:xfrm>
        </p:grpSpPr>
        <p:sp>
          <p:nvSpPr>
            <p:cNvPr id="150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1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2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3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55" name="Line"/>
          <p:cNvSpPr/>
          <p:nvPr/>
        </p:nvSpPr>
        <p:spPr>
          <a:xfrm>
            <a:off x="2786785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56" name="Line"/>
          <p:cNvSpPr/>
          <p:nvPr/>
        </p:nvSpPr>
        <p:spPr>
          <a:xfrm>
            <a:off x="3015605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60" name="Group"/>
          <p:cNvGrpSpPr/>
          <p:nvPr/>
        </p:nvGrpSpPr>
        <p:grpSpPr>
          <a:xfrm>
            <a:off x="2452866" y="3020484"/>
            <a:ext cx="703294" cy="638215"/>
            <a:chOff x="0" y="0"/>
            <a:chExt cx="1333652" cy="1210243"/>
          </a:xfrm>
        </p:grpSpPr>
        <p:sp>
          <p:nvSpPr>
            <p:cNvPr id="157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58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9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65" name="Group"/>
          <p:cNvGrpSpPr/>
          <p:nvPr/>
        </p:nvGrpSpPr>
        <p:grpSpPr>
          <a:xfrm>
            <a:off x="2560295" y="2837025"/>
            <a:ext cx="452978" cy="179044"/>
            <a:chOff x="0" y="0"/>
            <a:chExt cx="858978" cy="339519"/>
          </a:xfrm>
        </p:grpSpPr>
        <p:sp>
          <p:nvSpPr>
            <p:cNvPr id="161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62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3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4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66" name="I"/>
          <p:cNvSpPr txBox="1"/>
          <p:nvPr/>
        </p:nvSpPr>
        <p:spPr>
          <a:xfrm>
            <a:off x="2734331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67" name="I"/>
          <p:cNvSpPr txBox="1"/>
          <p:nvPr/>
        </p:nvSpPr>
        <p:spPr>
          <a:xfrm>
            <a:off x="3671948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8" name="I"/>
          <p:cNvSpPr txBox="1"/>
          <p:nvPr/>
        </p:nvSpPr>
        <p:spPr>
          <a:xfrm>
            <a:off x="4609566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9" name="Group"/>
          <p:cNvSpPr/>
          <p:nvPr/>
        </p:nvSpPr>
        <p:spPr>
          <a:xfrm flipH="1">
            <a:off x="4662020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73" name="Group"/>
          <p:cNvGrpSpPr/>
          <p:nvPr/>
        </p:nvGrpSpPr>
        <p:grpSpPr>
          <a:xfrm>
            <a:off x="4328101" y="3020484"/>
            <a:ext cx="703294" cy="638215"/>
            <a:chOff x="0" y="0"/>
            <a:chExt cx="1333652" cy="1210243"/>
          </a:xfrm>
        </p:grpSpPr>
        <p:sp>
          <p:nvSpPr>
            <p:cNvPr id="170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71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2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78" name="Group"/>
          <p:cNvGrpSpPr/>
          <p:nvPr/>
        </p:nvGrpSpPr>
        <p:grpSpPr>
          <a:xfrm>
            <a:off x="4435530" y="2837025"/>
            <a:ext cx="452978" cy="179044"/>
            <a:chOff x="0" y="0"/>
            <a:chExt cx="858978" cy="339519"/>
          </a:xfrm>
        </p:grpSpPr>
        <p:sp>
          <p:nvSpPr>
            <p:cNvPr id="174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5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6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7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79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3468503" y="2867637"/>
            <a:ext cx="1360323" cy="576909"/>
          </a:xfrm>
          <a:prstGeom prst="rect">
            <a:avLst/>
          </a:prstGeom>
        </p:spPr>
      </p:pic>
      <p:sp>
        <p:nvSpPr>
          <p:cNvPr id="181" name="I"/>
          <p:cNvSpPr txBox="1"/>
          <p:nvPr/>
        </p:nvSpPr>
        <p:spPr>
          <a:xfrm>
            <a:off x="4609566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pic>
        <p:nvPicPr>
          <p:cNvPr id="182" name="Line Shape" descr="Line Shap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8386019">
            <a:off x="2597858" y="2867637"/>
            <a:ext cx="1360323" cy="576909"/>
          </a:xfrm>
          <a:prstGeom prst="rect">
            <a:avLst/>
          </a:prstGeom>
        </p:spPr>
      </p:pic>
      <p:sp>
        <p:nvSpPr>
          <p:cNvPr id="184" name="encoder"/>
          <p:cNvSpPr txBox="1"/>
          <p:nvPr/>
        </p:nvSpPr>
        <p:spPr>
          <a:xfrm>
            <a:off x="2392445" y="2289419"/>
            <a:ext cx="647212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sz="1192"/>
              <a:t>encoder</a:t>
            </a:r>
          </a:p>
        </p:txBody>
      </p:sp>
      <p:sp>
        <p:nvSpPr>
          <p:cNvPr id="185" name="Line"/>
          <p:cNvSpPr/>
          <p:nvPr/>
        </p:nvSpPr>
        <p:spPr>
          <a:xfrm>
            <a:off x="3953222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86" name="I"/>
          <p:cNvSpPr txBox="1"/>
          <p:nvPr/>
        </p:nvSpPr>
        <p:spPr>
          <a:xfrm>
            <a:off x="5547183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87" name="Group"/>
          <p:cNvSpPr/>
          <p:nvPr/>
        </p:nvSpPr>
        <p:spPr>
          <a:xfrm flipH="1">
            <a:off x="5599636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91" name="Group"/>
          <p:cNvGrpSpPr/>
          <p:nvPr/>
        </p:nvGrpSpPr>
        <p:grpSpPr>
          <a:xfrm>
            <a:off x="5265719" y="3020484"/>
            <a:ext cx="703294" cy="638215"/>
            <a:chOff x="0" y="0"/>
            <a:chExt cx="1333652" cy="1210243"/>
          </a:xfrm>
        </p:grpSpPr>
        <p:sp>
          <p:nvSpPr>
            <p:cNvPr id="188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89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0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96" name="Group"/>
          <p:cNvGrpSpPr/>
          <p:nvPr/>
        </p:nvGrpSpPr>
        <p:grpSpPr>
          <a:xfrm>
            <a:off x="5373147" y="2837025"/>
            <a:ext cx="452978" cy="179044"/>
            <a:chOff x="0" y="0"/>
            <a:chExt cx="858978" cy="339519"/>
          </a:xfrm>
        </p:grpSpPr>
        <p:sp>
          <p:nvSpPr>
            <p:cNvPr id="192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3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4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5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97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4406120" y="2867637"/>
            <a:ext cx="1360323" cy="576909"/>
          </a:xfrm>
          <a:prstGeom prst="rect">
            <a:avLst/>
          </a:prstGeom>
        </p:spPr>
      </p:pic>
      <p:sp>
        <p:nvSpPr>
          <p:cNvPr id="199" name="I"/>
          <p:cNvSpPr txBox="1"/>
          <p:nvPr/>
        </p:nvSpPr>
        <p:spPr>
          <a:xfrm>
            <a:off x="5547183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0" name="Line"/>
          <p:cNvSpPr/>
          <p:nvPr/>
        </p:nvSpPr>
        <p:spPr>
          <a:xfrm>
            <a:off x="4890839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201" name="I"/>
          <p:cNvSpPr txBox="1"/>
          <p:nvPr/>
        </p:nvSpPr>
        <p:spPr>
          <a:xfrm>
            <a:off x="6417827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2" name="Group"/>
          <p:cNvSpPr/>
          <p:nvPr/>
        </p:nvSpPr>
        <p:spPr>
          <a:xfrm flipH="1">
            <a:off x="6470281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206" name="Group"/>
          <p:cNvGrpSpPr/>
          <p:nvPr/>
        </p:nvGrpSpPr>
        <p:grpSpPr>
          <a:xfrm>
            <a:off x="6136363" y="3020484"/>
            <a:ext cx="703294" cy="638215"/>
            <a:chOff x="0" y="0"/>
            <a:chExt cx="1333652" cy="1210243"/>
          </a:xfrm>
        </p:grpSpPr>
        <p:sp>
          <p:nvSpPr>
            <p:cNvPr id="203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204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5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211" name="Group"/>
          <p:cNvGrpSpPr/>
          <p:nvPr/>
        </p:nvGrpSpPr>
        <p:grpSpPr>
          <a:xfrm>
            <a:off x="6243791" y="2837025"/>
            <a:ext cx="452978" cy="179044"/>
            <a:chOff x="0" y="0"/>
            <a:chExt cx="858978" cy="339519"/>
          </a:xfrm>
        </p:grpSpPr>
        <p:sp>
          <p:nvSpPr>
            <p:cNvPr id="207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8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09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10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212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5276764" y="2867637"/>
            <a:ext cx="1360323" cy="576909"/>
          </a:xfrm>
          <a:prstGeom prst="rect">
            <a:avLst/>
          </a:prstGeom>
        </p:spPr>
      </p:pic>
      <p:sp>
        <p:nvSpPr>
          <p:cNvPr id="214" name="I"/>
          <p:cNvSpPr txBox="1"/>
          <p:nvPr/>
        </p:nvSpPr>
        <p:spPr>
          <a:xfrm>
            <a:off x="6417827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15" name="Line"/>
          <p:cNvSpPr/>
          <p:nvPr/>
        </p:nvSpPr>
        <p:spPr>
          <a:xfrm>
            <a:off x="5761484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Measuring how “Good” an Output Is"/>
          <p:cNvSpPr txBox="1">
            <a:spLocks noGrp="1"/>
          </p:cNvSpPr>
          <p:nvPr>
            <p:ph type="title"/>
          </p:nvPr>
        </p:nvSpPr>
        <p:spPr>
          <a:xfrm>
            <a:off x="1645295" y="200248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rPr lang="en-US"/>
              <a:t>An Alternative: </a:t>
            </a:r>
            <a:r>
              <a:t>Measuring how “Good” an Output Is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How to Measure output “Goodness&quot;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4800"/>
              <a:t>How to Measure output “Goodness"?</a:t>
            </a:r>
          </a:p>
        </p:txBody>
      </p:sp>
      <p:sp>
        <p:nvSpPr>
          <p:cNvPr id="220" name="Objective assessm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  <a:p>
            <a:r>
              <a:t>Human subjective annotation</a:t>
            </a:r>
          </a:p>
          <a:p>
            <a:r>
              <a:t>Machine prediction of human preferences</a:t>
            </a:r>
          </a:p>
          <a:p>
            <a:r>
              <a:t>Use in another system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1" build="p" bldLvl="5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Objective 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</p:txBody>
      </p:sp>
      <p:sp>
        <p:nvSpPr>
          <p:cNvPr id="223" name="Have an annotated “correct” answer and match against thi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1"/>
            <a:ext cx="5853410" cy="1370219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annotated “correct” answer and match against this</a:t>
            </a:r>
          </a:p>
          <a:p>
            <a:r>
              <a:t>e.g. in solving math problems, answering objective questions</a:t>
            </a:r>
          </a:p>
        </p:txBody>
      </p:sp>
      <p:grpSp>
        <p:nvGrpSpPr>
          <p:cNvPr id="227" name="Group"/>
          <p:cNvGrpSpPr/>
          <p:nvPr/>
        </p:nvGrpSpPr>
        <p:grpSpPr>
          <a:xfrm>
            <a:off x="1379637" y="2897683"/>
            <a:ext cx="6218845" cy="1471715"/>
            <a:chOff x="0" y="0"/>
            <a:chExt cx="11860080" cy="2890630"/>
          </a:xfrm>
        </p:grpSpPr>
        <p:sp>
          <p:nvSpPr>
            <p:cNvPr id="224" name="Beth bakes 4, 2 dozen batches of cookies in a week. If these cookies are shared amongst 16 people equally, how many cookies does each person consume?"/>
            <p:cNvSpPr txBox="1"/>
            <p:nvPr/>
          </p:nvSpPr>
          <p:spPr>
            <a:xfrm>
              <a:off x="121428" y="151016"/>
              <a:ext cx="11507156" cy="1738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spAutoFit/>
            </a:bodyPr>
            <a:lstStyle/>
            <a:p>
              <a:r>
                <a:rPr sz="1800"/>
                <a:t>Beth bakes 4</a:t>
              </a:r>
              <a:r>
                <a:rPr lang="en-US" sz="1800"/>
                <a:t> </a:t>
              </a:r>
              <a:r>
                <a:rPr sz="1800"/>
                <a:t>batches of </a:t>
              </a:r>
              <a:r>
                <a:rPr lang="en-US" sz="1800"/>
                <a:t>2 dozen </a:t>
              </a:r>
              <a:r>
                <a:rPr sz="1800"/>
                <a:t>cookies in a week. If these cookies are shared amongst 16 people equally, how many cookies does each person consume?</a:t>
              </a:r>
            </a:p>
          </p:txBody>
        </p:sp>
        <p:sp>
          <p:nvSpPr>
            <p:cNvPr id="225" name="Rectangle"/>
            <p:cNvSpPr/>
            <p:nvPr/>
          </p:nvSpPr>
          <p:spPr>
            <a:xfrm>
              <a:off x="0" y="0"/>
              <a:ext cx="11860080" cy="211474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26" name="Source: GSM8K - Cobbe et al. 2021"/>
            <p:cNvSpPr txBox="1"/>
            <p:nvPr/>
          </p:nvSpPr>
          <p:spPr>
            <a:xfrm>
              <a:off x="5772408" y="2424054"/>
              <a:ext cx="4795854" cy="4665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Source: GSM8K - Cobbe et al. 2021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1" animBg="1" advAuto="0"/>
      <p:bldP spid="227" grpId="2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152;p22" descr="Google Shape;152;p22"/>
          <p:cNvPicPr>
            <a:picLocks noChangeAspect="1"/>
          </p:cNvPicPr>
          <p:nvPr/>
        </p:nvPicPr>
        <p:blipFill>
          <a:blip r:embed="rId2"/>
          <a:srcRect l="8180" r="15644"/>
          <a:stretch>
            <a:fillRect/>
          </a:stretch>
        </p:blipFill>
        <p:spPr>
          <a:xfrm>
            <a:off x="3904191" y="1449442"/>
            <a:ext cx="2695315" cy="2358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0" name="Google Shape;153;p22"/>
          <p:cNvGrpSpPr/>
          <p:nvPr/>
        </p:nvGrpSpPr>
        <p:grpSpPr>
          <a:xfrm>
            <a:off x="1408631" y="1464225"/>
            <a:ext cx="2171026" cy="2693027"/>
            <a:chOff x="0" y="0"/>
            <a:chExt cx="4116907" cy="5106776"/>
          </a:xfrm>
        </p:grpSpPr>
        <p:pic>
          <p:nvPicPr>
            <p:cNvPr id="230" name="Google Shape;154;p22" descr="Google Shape;154;p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487" y="975360"/>
              <a:ext cx="1321281" cy="1761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33" name="Google Shape;155;p22"/>
            <p:cNvGrpSpPr/>
            <p:nvPr/>
          </p:nvGrpSpPr>
          <p:grpSpPr>
            <a:xfrm>
              <a:off x="2078023" y="0"/>
              <a:ext cx="1321275" cy="1761068"/>
              <a:chOff x="0" y="0"/>
              <a:chExt cx="1321273" cy="1761067"/>
            </a:xfrm>
          </p:grpSpPr>
          <p:pic>
            <p:nvPicPr>
              <p:cNvPr id="231" name="Google Shape;156;p22" descr="Google Shape;156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2" name="Google Shape;157;p22"/>
              <p:cNvSpPr txBox="1"/>
              <p:nvPr/>
            </p:nvSpPr>
            <p:spPr>
              <a:xfrm>
                <a:off x="107526" y="151074"/>
                <a:ext cx="721921" cy="6932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4" name="Google Shape;158;p22"/>
            <p:cNvSpPr txBox="1"/>
            <p:nvPr/>
          </p:nvSpPr>
          <p:spPr>
            <a:xfrm>
              <a:off x="0" y="2679536"/>
              <a:ext cx="1459199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Source</a:t>
              </a:r>
            </a:p>
          </p:txBody>
        </p:sp>
        <p:sp>
          <p:nvSpPr>
            <p:cNvPr id="235" name="Google Shape;159;p22"/>
            <p:cNvSpPr txBox="1"/>
            <p:nvPr/>
          </p:nvSpPr>
          <p:spPr>
            <a:xfrm>
              <a:off x="1625599" y="1704176"/>
              <a:ext cx="24209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1</a:t>
              </a:r>
            </a:p>
          </p:txBody>
        </p:sp>
        <p:grpSp>
          <p:nvGrpSpPr>
            <p:cNvPr id="238" name="Google Shape;160;p22"/>
            <p:cNvGrpSpPr/>
            <p:nvPr/>
          </p:nvGrpSpPr>
          <p:grpSpPr>
            <a:xfrm>
              <a:off x="2078023" y="2709333"/>
              <a:ext cx="1321275" cy="1761069"/>
              <a:chOff x="0" y="0"/>
              <a:chExt cx="1321273" cy="1761067"/>
            </a:xfrm>
          </p:grpSpPr>
          <p:pic>
            <p:nvPicPr>
              <p:cNvPr id="236" name="Google Shape;161;p22" descr="Google Shape;161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7" name="Google Shape;162;p22"/>
              <p:cNvSpPr txBox="1"/>
              <p:nvPr/>
            </p:nvSpPr>
            <p:spPr>
              <a:xfrm>
                <a:off x="107526" y="151076"/>
                <a:ext cx="721921" cy="69326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9" name="Google Shape;163;p22"/>
            <p:cNvSpPr txBox="1"/>
            <p:nvPr/>
          </p:nvSpPr>
          <p:spPr>
            <a:xfrm>
              <a:off x="1625599" y="4413511"/>
              <a:ext cx="24913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2</a:t>
              </a:r>
            </a:p>
          </p:txBody>
        </p:sp>
      </p:grpSp>
      <p:grpSp>
        <p:nvGrpSpPr>
          <p:cNvPr id="244" name="Google Shape;164;p22"/>
          <p:cNvGrpSpPr/>
          <p:nvPr/>
        </p:nvGrpSpPr>
        <p:grpSpPr>
          <a:xfrm>
            <a:off x="3417862" y="1720782"/>
            <a:ext cx="4284284" cy="415474"/>
            <a:chOff x="0" y="0"/>
            <a:chExt cx="8124269" cy="787860"/>
          </a:xfrm>
        </p:grpSpPr>
        <p:sp>
          <p:nvSpPr>
            <p:cNvPr id="241" name="Google Shape;165;p22"/>
            <p:cNvSpPr/>
            <p:nvPr/>
          </p:nvSpPr>
          <p:spPr>
            <a:xfrm>
              <a:off x="6285653" y="393830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2" name="Google Shape;166;p22"/>
            <p:cNvSpPr/>
            <p:nvPr/>
          </p:nvSpPr>
          <p:spPr>
            <a:xfrm>
              <a:off x="0" y="393830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3" name="Google Shape;167;p22"/>
            <p:cNvSpPr txBox="1"/>
            <p:nvPr/>
          </p:nvSpPr>
          <p:spPr>
            <a:xfrm>
              <a:off x="7125441" y="0"/>
              <a:ext cx="998828" cy="7878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800"/>
                <a:t>0.8</a:t>
              </a:r>
            </a:p>
          </p:txBody>
        </p:sp>
      </p:grpSp>
      <p:grpSp>
        <p:nvGrpSpPr>
          <p:cNvPr id="248" name="Google Shape;168;p22"/>
          <p:cNvGrpSpPr/>
          <p:nvPr/>
        </p:nvGrpSpPr>
        <p:grpSpPr>
          <a:xfrm>
            <a:off x="3417862" y="3155664"/>
            <a:ext cx="4284284" cy="415474"/>
            <a:chOff x="0" y="0"/>
            <a:chExt cx="8124269" cy="787859"/>
          </a:xfrm>
        </p:grpSpPr>
        <p:sp>
          <p:nvSpPr>
            <p:cNvPr id="245" name="Google Shape;169;p22"/>
            <p:cNvSpPr/>
            <p:nvPr/>
          </p:nvSpPr>
          <p:spPr>
            <a:xfrm>
              <a:off x="6285653" y="382203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6" name="Google Shape;170;p22"/>
            <p:cNvSpPr/>
            <p:nvPr/>
          </p:nvSpPr>
          <p:spPr>
            <a:xfrm>
              <a:off x="0" y="382203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7" name="Google Shape;171;p22"/>
            <p:cNvSpPr/>
            <p:nvPr/>
          </p:nvSpPr>
          <p:spPr>
            <a:xfrm>
              <a:off x="7125441" y="0"/>
              <a:ext cx="998828" cy="7878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/>
              </a:lvl1pPr>
            </a:lstStyle>
            <a:p>
              <a:r>
                <a:rPr sz="1800"/>
                <a:t>0.5</a:t>
              </a:r>
            </a:p>
          </p:txBody>
        </p:sp>
      </p:grpSp>
      <p:sp>
        <p:nvSpPr>
          <p:cNvPr id="249" name="Google Shape;151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Human Evaluation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2" animBg="1" advAuto="0"/>
      <p:bldP spid="240" grpId="1" animBg="1" advAuto="0"/>
      <p:bldP spid="244" grpId="3" animBg="1" advAuto="0"/>
      <p:bldP spid="248" grpId="4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Human Feedback: Direct Assessment"/>
          <p:cNvSpPr txBox="1">
            <a:spLocks noGrp="1"/>
          </p:cNvSpPr>
          <p:nvPr>
            <p:ph type="title"/>
          </p:nvPr>
        </p:nvSpPr>
        <p:spPr>
          <a:xfrm>
            <a:off x="626165" y="168965"/>
            <a:ext cx="8328992" cy="70387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Direct Assessment</a:t>
            </a:r>
          </a:p>
        </p:txBody>
      </p:sp>
      <p:sp>
        <p:nvSpPr>
          <p:cNvPr id="252" name="Directly give a score…"/>
          <p:cNvSpPr txBox="1">
            <a:spLocks noGrp="1"/>
          </p:cNvSpPr>
          <p:nvPr>
            <p:ph type="body" idx="1"/>
          </p:nvPr>
        </p:nvSpPr>
        <p:spPr>
          <a:xfrm>
            <a:off x="1645295" y="846332"/>
            <a:ext cx="5853410" cy="3969735"/>
          </a:xfrm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17977" indent="-217977" defTabSz="286485">
              <a:spcBef>
                <a:spcPts val="1160"/>
              </a:spcBef>
              <a:defRPr sz="3348"/>
            </a:pPr>
            <a:r>
              <a:t>Directly give a score</a:t>
            </a:r>
            <a:br/>
            <a:br/>
            <a:endParaRPr/>
          </a:p>
          <a:p>
            <a:pPr marL="217977" indent="-217977" defTabSz="286485">
              <a:spcBef>
                <a:spcPts val="1160"/>
              </a:spcBef>
              <a:defRPr sz="3348"/>
            </a:pPr>
            <a:r>
              <a:t>Often assign scores based on desirable traits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Fluency:</a:t>
            </a:r>
            <a:r>
              <a:t> how natural is the output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Adequacy:</a:t>
            </a:r>
            <a:r>
              <a:t> in translation, how well does the output reflect the input semantics?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Factuality:</a:t>
            </a:r>
            <a:r>
              <a:t> is the output factually entailed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Coherence:</a:t>
            </a:r>
            <a:r>
              <a:t> does the output fit coherently in a discourse?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t>etc. etc.</a:t>
            </a:r>
          </a:p>
        </p:txBody>
      </p:sp>
      <p:grpSp>
        <p:nvGrpSpPr>
          <p:cNvPr id="257" name="Group"/>
          <p:cNvGrpSpPr/>
          <p:nvPr/>
        </p:nvGrpSpPr>
        <p:grpSpPr>
          <a:xfrm>
            <a:off x="1933278" y="1272481"/>
            <a:ext cx="5183893" cy="464310"/>
            <a:chOff x="0" y="0"/>
            <a:chExt cx="9830197" cy="880468"/>
          </a:xfrm>
        </p:grpSpPr>
        <p:sp>
          <p:nvSpPr>
            <p:cNvPr id="253" name="Rectangle"/>
            <p:cNvSpPr/>
            <p:nvPr/>
          </p:nvSpPr>
          <p:spPr>
            <a:xfrm>
              <a:off x="0" y="0"/>
              <a:ext cx="9830197" cy="880468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4" name="Please send this package to Tokyo"/>
            <p:cNvSpPr txBox="1"/>
            <p:nvPr/>
          </p:nvSpPr>
          <p:spPr>
            <a:xfrm>
              <a:off x="102345" y="215004"/>
              <a:ext cx="491576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55" name="Line"/>
            <p:cNvSpPr/>
            <p:nvPr/>
          </p:nvSpPr>
          <p:spPr>
            <a:xfrm>
              <a:off x="7620000" y="474133"/>
              <a:ext cx="335269" cy="1"/>
            </a:xfrm>
            <a:prstGeom prst="line">
              <a:avLst/>
            </a:prstGeom>
            <a:noFill/>
            <a:ln w="38100" cap="flat">
              <a:solidFill>
                <a:schemeClr val="accent5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6" name="2/10"/>
            <p:cNvSpPr txBox="1"/>
            <p:nvPr/>
          </p:nvSpPr>
          <p:spPr>
            <a:xfrm>
              <a:off x="8208234" y="215004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2/10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BE472CC-E2B7-6801-3839-F8A62F781383}"/>
              </a:ext>
            </a:extLst>
          </p:cNvPr>
          <p:cNvSpPr txBox="1"/>
          <p:nvPr/>
        </p:nvSpPr>
        <p:spPr>
          <a:xfrm>
            <a:off x="5630184" y="656816"/>
            <a:ext cx="3355508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800"/>
              <a:t>Խնդրում ենք ուղարկել </a:t>
            </a:r>
          </a:p>
          <a:p>
            <a:r>
              <a:rPr lang="en-US" sz="1800"/>
              <a:t>այս փաթեթը Պիտսբուրգ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1" uiExpand="1" build="p" bldLvl="5" animBg="1" advAuto="0"/>
      <p:bldP spid="257" grpId="2" animBg="1" advAuto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Human Feedback: Preference Ratings"/>
          <p:cNvSpPr txBox="1">
            <a:spLocks noGrp="1"/>
          </p:cNvSpPr>
          <p:nvPr>
            <p:ph type="title"/>
          </p:nvPr>
        </p:nvSpPr>
        <p:spPr>
          <a:xfrm>
            <a:off x="1645295" y="195319"/>
            <a:ext cx="5853410" cy="76125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Preference Ratings</a:t>
            </a:r>
          </a:p>
        </p:txBody>
      </p:sp>
      <p:sp>
        <p:nvSpPr>
          <p:cNvPr id="260" name="Preference rankings…"/>
          <p:cNvSpPr txBox="1">
            <a:spLocks noGrp="1"/>
          </p:cNvSpPr>
          <p:nvPr>
            <p:ph type="body" idx="1"/>
          </p:nvPr>
        </p:nvSpPr>
        <p:spPr>
          <a:xfrm>
            <a:off x="861524" y="1212562"/>
            <a:ext cx="5853410" cy="35070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Preference rankings</a:t>
            </a:r>
            <a:br/>
            <a:br/>
            <a:br/>
            <a:endParaRPr/>
          </a:p>
          <a:p>
            <a:r>
              <a:t>+ can be easier and more intuitive than direct assessment</a:t>
            </a:r>
          </a:p>
          <a:p>
            <a:r>
              <a:t>- can’t tell if all systems are really good or really bad</a:t>
            </a:r>
          </a:p>
          <a:p>
            <a:r>
              <a:t>To rank multiple systems</a:t>
            </a:r>
            <a:r>
              <a:rPr lang="en-US"/>
              <a:t> (avoid overwhelming humans)</a:t>
            </a:r>
            <a:r>
              <a:t>, can use E</a:t>
            </a:r>
            <a:r>
              <a:rPr lang="en-US"/>
              <a:t>lo</a:t>
            </a:r>
            <a:r>
              <a:t> or TrueSkill rankings (Sakaguchi et al. 2014)</a:t>
            </a:r>
          </a:p>
        </p:txBody>
      </p:sp>
      <p:grpSp>
        <p:nvGrpSpPr>
          <p:cNvPr id="266" name="Group"/>
          <p:cNvGrpSpPr/>
          <p:nvPr/>
        </p:nvGrpSpPr>
        <p:grpSpPr>
          <a:xfrm>
            <a:off x="1149507" y="1637489"/>
            <a:ext cx="5183893" cy="859344"/>
            <a:chOff x="0" y="0"/>
            <a:chExt cx="9830197" cy="1629569"/>
          </a:xfrm>
        </p:grpSpPr>
        <p:sp>
          <p:nvSpPr>
            <p:cNvPr id="261" name="Rectangle"/>
            <p:cNvSpPr/>
            <p:nvPr/>
          </p:nvSpPr>
          <p:spPr>
            <a:xfrm>
              <a:off x="0" y="0"/>
              <a:ext cx="9830197" cy="16295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62" name="Please send this package to Tokyo"/>
            <p:cNvSpPr txBox="1"/>
            <p:nvPr/>
          </p:nvSpPr>
          <p:spPr>
            <a:xfrm>
              <a:off x="102345" y="265804"/>
              <a:ext cx="491272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63" name="Please send a package to Pittsburgh"/>
            <p:cNvSpPr txBox="1"/>
            <p:nvPr/>
          </p:nvSpPr>
          <p:spPr>
            <a:xfrm>
              <a:off x="102345" y="900802"/>
              <a:ext cx="517110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a package to Pittsburgh</a:t>
              </a:r>
            </a:p>
          </p:txBody>
        </p:sp>
        <p:sp>
          <p:nvSpPr>
            <p:cNvPr id="264" name="worse"/>
            <p:cNvSpPr txBox="1"/>
            <p:nvPr/>
          </p:nvSpPr>
          <p:spPr>
            <a:xfrm>
              <a:off x="8484361" y="265804"/>
              <a:ext cx="87773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worse</a:t>
              </a:r>
            </a:p>
          </p:txBody>
        </p:sp>
        <p:sp>
          <p:nvSpPr>
            <p:cNvPr id="265" name="better"/>
            <p:cNvSpPr txBox="1"/>
            <p:nvPr/>
          </p:nvSpPr>
          <p:spPr>
            <a:xfrm>
              <a:off x="8491962" y="862702"/>
              <a:ext cx="86253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better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1A2684-4EC3-5547-6A4A-265F309EEA08}"/>
              </a:ext>
            </a:extLst>
          </p:cNvPr>
          <p:cNvSpPr txBox="1"/>
          <p:nvPr/>
        </p:nvSpPr>
        <p:spPr>
          <a:xfrm>
            <a:off x="7063993" y="3354456"/>
            <a:ext cx="1828800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connection to Bradley-Terry model: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A046A-14F1-8C29-1B70-961983F44948}"/>
              </a:ext>
            </a:extLst>
          </p:cNvPr>
          <p:cNvSpPr txBox="1"/>
          <p:nvPr/>
        </p:nvSpPr>
        <p:spPr>
          <a:xfrm>
            <a:off x="6834350" y="4037322"/>
            <a:ext cx="2288086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p(sys1 &gt; sys2) = pref1/(pref1+pref2)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" grpId="1" build="p" bldLvl="5" animBg="1" advAuto="0"/>
      <p:bldP spid="266" grpId="2" animBg="1" advAuto="0"/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Human Feedback: Error Annotation"/>
          <p:cNvSpPr txBox="1">
            <a:spLocks noGrp="1"/>
          </p:cNvSpPr>
          <p:nvPr>
            <p:ph type="title"/>
          </p:nvPr>
        </p:nvSpPr>
        <p:spPr>
          <a:xfrm>
            <a:off x="612948" y="199416"/>
            <a:ext cx="8129117" cy="673426"/>
          </a:xfrm>
          <a:prstGeom prst="rect">
            <a:avLst/>
          </a:prstGeom>
        </p:spPr>
        <p:txBody>
          <a:bodyPr>
            <a:noAutofit/>
          </a:bodyPr>
          <a:lstStyle>
            <a:lvl1pPr defTabSz="397256">
              <a:defRPr sz="5440"/>
            </a:lvl1pPr>
          </a:lstStyle>
          <a:p>
            <a:r>
              <a:rPr sz="3600"/>
              <a:t>Human Feedback: Error Annotation</a:t>
            </a:r>
          </a:p>
        </p:txBody>
      </p:sp>
      <p:sp>
        <p:nvSpPr>
          <p:cNvPr id="269" name="Annotate individual errors within the outputs…"/>
          <p:cNvSpPr txBox="1">
            <a:spLocks noGrp="1"/>
          </p:cNvSpPr>
          <p:nvPr>
            <p:ph type="body" sz="quarter" idx="1"/>
          </p:nvPr>
        </p:nvSpPr>
        <p:spPr>
          <a:xfrm>
            <a:off x="1645295" y="846088"/>
            <a:ext cx="6028525" cy="993932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15634" indent="-215634" defTabSz="283404">
              <a:spcBef>
                <a:spcPts val="1160"/>
              </a:spcBef>
              <a:defRPr sz="3312"/>
            </a:pPr>
            <a:r>
              <a:t>Annotate individual errors within the outputs</a:t>
            </a:r>
          </a:p>
          <a:p>
            <a:pPr marL="215634" indent="-215634" defTabSz="283404">
              <a:spcBef>
                <a:spcPts val="1160"/>
              </a:spcBef>
              <a:defRPr sz="3312"/>
            </a:pPr>
            <a:r>
              <a:t>e.g. Multi-dimensional Quality Metrics (Freitag et al. 2021)</a:t>
            </a:r>
          </a:p>
        </p:txBody>
      </p:sp>
      <p:sp>
        <p:nvSpPr>
          <p:cNvPr id="270" name="+ Gives more fine-grained feedback…"/>
          <p:cNvSpPr txBox="1"/>
          <p:nvPr/>
        </p:nvSpPr>
        <p:spPr>
          <a:xfrm>
            <a:off x="1645295" y="3477347"/>
            <a:ext cx="5853410" cy="1466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Gives more fine-grained feedback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Can be more consistent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- Can be very time-consuming</a:t>
            </a:r>
          </a:p>
        </p:txBody>
      </p:sp>
      <p:grpSp>
        <p:nvGrpSpPr>
          <p:cNvPr id="278" name="Group"/>
          <p:cNvGrpSpPr/>
          <p:nvPr/>
        </p:nvGrpSpPr>
        <p:grpSpPr>
          <a:xfrm>
            <a:off x="2297530" y="1998339"/>
            <a:ext cx="4364468" cy="1528972"/>
            <a:chOff x="0" y="0"/>
            <a:chExt cx="8276323" cy="2899381"/>
          </a:xfrm>
        </p:grpSpPr>
        <p:sp>
          <p:nvSpPr>
            <p:cNvPr id="271" name="Text"/>
            <p:cNvSpPr txBox="1"/>
            <p:nvPr/>
          </p:nvSpPr>
          <p:spPr>
            <a:xfrm>
              <a:off x="4236869" y="943714"/>
              <a:ext cx="142110" cy="28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 algn="l" defTabSz="457200">
                <a:defRPr sz="1200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sz="633"/>
                <a:t> </a:t>
              </a:r>
            </a:p>
          </p:txBody>
        </p:sp>
        <p:sp>
          <p:nvSpPr>
            <p:cNvPr id="272" name="Can you send a package to Tokyo"/>
            <p:cNvSpPr txBox="1"/>
            <p:nvPr/>
          </p:nvSpPr>
          <p:spPr>
            <a:xfrm>
              <a:off x="867766" y="174660"/>
              <a:ext cx="6069656" cy="569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600"/>
                <a:t>Can you send a package to Tokyo</a:t>
              </a:r>
            </a:p>
          </p:txBody>
        </p:sp>
        <p:sp>
          <p:nvSpPr>
            <p:cNvPr id="273" name="Line"/>
            <p:cNvSpPr/>
            <p:nvPr/>
          </p:nvSpPr>
          <p:spPr>
            <a:xfrm>
              <a:off x="3365454" y="924911"/>
              <a:ext cx="302168" cy="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4" name="minor/…"/>
            <p:cNvSpPr txBox="1"/>
            <p:nvPr/>
          </p:nvSpPr>
          <p:spPr>
            <a:xfrm>
              <a:off x="2682502" y="1298023"/>
              <a:ext cx="1668073" cy="1146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minor/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linguistic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conventions</a:t>
              </a:r>
            </a:p>
          </p:txBody>
        </p:sp>
        <p:sp>
          <p:nvSpPr>
            <p:cNvPr id="275" name="major/…"/>
            <p:cNvSpPr txBox="1"/>
            <p:nvPr/>
          </p:nvSpPr>
          <p:spPr>
            <a:xfrm>
              <a:off x="5720657" y="1289133"/>
              <a:ext cx="1312421" cy="7983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major/</a:t>
              </a:r>
            </a:p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accuracy</a:t>
              </a:r>
            </a:p>
          </p:txBody>
        </p:sp>
        <p:sp>
          <p:nvSpPr>
            <p:cNvPr id="276" name="Line"/>
            <p:cNvSpPr/>
            <p:nvPr/>
          </p:nvSpPr>
          <p:spPr>
            <a:xfrm>
              <a:off x="5754494" y="905213"/>
              <a:ext cx="1182928" cy="2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7" name="Rectangle"/>
            <p:cNvSpPr/>
            <p:nvPr/>
          </p:nvSpPr>
          <p:spPr>
            <a:xfrm>
              <a:off x="0" y="0"/>
              <a:ext cx="8276323" cy="2899381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7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1" build="p" bldLvl="5" animBg="1" advAuto="0"/>
      <p:bldP spid="270" grpId="3" build="p" bldLvl="5" animBg="1" advAuto="0"/>
      <p:bldP spid="278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176;p23"/>
          <p:cNvSpPr txBox="1">
            <a:spLocks noGrp="1"/>
          </p:cNvSpPr>
          <p:nvPr>
            <p:ph type="title"/>
          </p:nvPr>
        </p:nvSpPr>
        <p:spPr>
          <a:xfrm>
            <a:off x="1645295" y="36577"/>
            <a:ext cx="5853410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58760">
              <a:defRPr sz="6719"/>
            </a:pPr>
            <a:r>
              <a:rPr sz="3600"/>
              <a:t>An Alternative</a:t>
            </a:r>
            <a:r>
              <a:rPr lang="en-US" sz="3600"/>
              <a:t> to Humans</a:t>
            </a:r>
            <a:r>
              <a:rPr sz="3600"/>
              <a:t>:</a:t>
            </a:r>
            <a:br>
              <a:rPr sz="3600"/>
            </a:br>
            <a:r>
              <a:rPr sz="3600"/>
              <a:t>Automatic Evaluation</a:t>
            </a:r>
          </a:p>
        </p:txBody>
      </p:sp>
      <p:pic>
        <p:nvPicPr>
          <p:cNvPr id="281" name="Google Shape;177;p23" descr="Google Shape;177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20" y="1978575"/>
            <a:ext cx="696769" cy="9286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Google Shape;179;p23" descr="Google Shape;179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146422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Google Shape;180;p23"/>
          <p:cNvSpPr txBox="1"/>
          <p:nvPr/>
        </p:nvSpPr>
        <p:spPr>
          <a:xfrm>
            <a:off x="3875617" y="154389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84" name="Google Shape;181;p23"/>
          <p:cNvSpPr txBox="1"/>
          <p:nvPr/>
        </p:nvSpPr>
        <p:spPr>
          <a:xfrm>
            <a:off x="1637231" y="2877263"/>
            <a:ext cx="7695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Source</a:t>
            </a:r>
          </a:p>
        </p:txBody>
      </p:sp>
      <p:pic>
        <p:nvPicPr>
          <p:cNvPr id="285" name="Google Shape;183;p23" descr="Google Shape;183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808" y="197857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184;p23"/>
          <p:cNvSpPr txBox="1"/>
          <p:nvPr/>
        </p:nvSpPr>
        <p:spPr>
          <a:xfrm>
            <a:off x="2494482" y="2877263"/>
            <a:ext cx="10316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Reference</a:t>
            </a:r>
          </a:p>
        </p:txBody>
      </p:sp>
      <p:sp>
        <p:nvSpPr>
          <p:cNvPr id="287" name="Google Shape;185;p23"/>
          <p:cNvSpPr txBox="1"/>
          <p:nvPr/>
        </p:nvSpPr>
        <p:spPr>
          <a:xfrm>
            <a:off x="3580331" y="2362913"/>
            <a:ext cx="127665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1</a:t>
            </a:r>
          </a:p>
        </p:txBody>
      </p:sp>
      <p:pic>
        <p:nvPicPr>
          <p:cNvPr id="288" name="Google Shape;187;p23" descr="Google Shape;187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2892976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Google Shape;188;p23"/>
          <p:cNvSpPr txBox="1"/>
          <p:nvPr/>
        </p:nvSpPr>
        <p:spPr>
          <a:xfrm>
            <a:off x="3875617" y="297264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90" name="Google Shape;189;p23"/>
          <p:cNvSpPr txBox="1"/>
          <p:nvPr/>
        </p:nvSpPr>
        <p:spPr>
          <a:xfrm>
            <a:off x="3580331" y="3791662"/>
            <a:ext cx="1313776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2</a:t>
            </a:r>
          </a:p>
        </p:txBody>
      </p:sp>
      <p:pic>
        <p:nvPicPr>
          <p:cNvPr id="291" name="Google Shape;191;p23" descr="Google Shape;191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158762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Google Shape;192;p23"/>
          <p:cNvSpPr/>
          <p:nvPr/>
        </p:nvSpPr>
        <p:spPr>
          <a:xfrm>
            <a:off x="62182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3" name="Google Shape;193;p23"/>
          <p:cNvSpPr/>
          <p:nvPr/>
        </p:nvSpPr>
        <p:spPr>
          <a:xfrm>
            <a:off x="48466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4" name="Google Shape;194;p23"/>
          <p:cNvSpPr txBox="1"/>
          <p:nvPr/>
        </p:nvSpPr>
        <p:spPr>
          <a:xfrm>
            <a:off x="6661070" y="1720781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0.8</a:t>
            </a:r>
          </a:p>
        </p:txBody>
      </p:sp>
      <p:pic>
        <p:nvPicPr>
          <p:cNvPr id="295" name="Google Shape;196;p23" descr="Google Shape;196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301637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197;p23"/>
          <p:cNvSpPr/>
          <p:nvPr/>
        </p:nvSpPr>
        <p:spPr>
          <a:xfrm>
            <a:off x="62182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7" name="Google Shape;198;p23"/>
          <p:cNvSpPr/>
          <p:nvPr/>
        </p:nvSpPr>
        <p:spPr>
          <a:xfrm>
            <a:off x="48466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8" name="Google Shape;199;p23"/>
          <p:cNvSpPr txBox="1"/>
          <p:nvPr/>
        </p:nvSpPr>
        <p:spPr>
          <a:xfrm>
            <a:off x="6661070" y="3212812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0.5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chine Prediction of Human Preferenc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Machine Prediction of Human Preferences</a:t>
            </a:r>
          </a:p>
        </p:txBody>
      </p:sp>
      <p:sp>
        <p:nvSpPr>
          <p:cNvPr id="301" name="Predict human feedback automatically using a mode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Predict human feedback automatically using a model</a:t>
            </a:r>
          </a:p>
          <a:p>
            <a:r>
              <a:t>Variously called</a:t>
            </a:r>
          </a:p>
          <a:p>
            <a:pPr lvl="1"/>
            <a:r>
              <a:t>“automatic evaluation” e.g. in machine translation</a:t>
            </a:r>
          </a:p>
          <a:p>
            <a:pPr lvl="1"/>
            <a:r>
              <a:t>“reward model” e.g. in chatbots</a:t>
            </a:r>
          </a:p>
          <a:p>
            <a:r>
              <a:t>Sometimes uses a “reference” output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" grpId="1" uiExpand="1" build="p" bldLvl="5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265;p27"/>
          <p:cNvSpPr txBox="1">
            <a:spLocks noGrp="1"/>
          </p:cNvSpPr>
          <p:nvPr>
            <p:ph type="title"/>
          </p:nvPr>
        </p:nvSpPr>
        <p:spPr>
          <a:xfrm>
            <a:off x="864037" y="536295"/>
            <a:ext cx="7136964" cy="546671"/>
          </a:xfrm>
          <a:prstGeom prst="rect">
            <a:avLst/>
          </a:prstGeom>
        </p:spPr>
        <p:txBody>
          <a:bodyPr>
            <a:noAutofit/>
          </a:bodyPr>
          <a:lstStyle>
            <a:lvl1pPr defTabSz="455675">
              <a:defRPr sz="6240"/>
            </a:lvl1pPr>
          </a:lstStyle>
          <a:p>
            <a:r>
              <a:rPr sz="3600"/>
              <a:t>Embedding-based Evaluation</a:t>
            </a:r>
          </a:p>
        </p:txBody>
      </p:sp>
      <p:sp>
        <p:nvSpPr>
          <p:cNvPr id="304" name="Unsupervised calculation based on embedding similarit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262169"/>
            <a:ext cx="5853410" cy="804511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Unsupervised calculation based on embedding similarity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e.g. BERTScore (Zhang et al. 2019)</a:t>
            </a:r>
          </a:p>
        </p:txBody>
      </p:sp>
      <p:pic>
        <p:nvPicPr>
          <p:cNvPr id="305" name="Google Shape;267;p27" descr="Google Shape;267;p27"/>
          <p:cNvPicPr>
            <a:picLocks noChangeAspect="1"/>
          </p:cNvPicPr>
          <p:nvPr/>
        </p:nvPicPr>
        <p:blipFill>
          <a:blip r:embed="rId3"/>
          <a:srcRect r="86323"/>
          <a:stretch>
            <a:fillRect/>
          </a:stretch>
        </p:blipFill>
        <p:spPr>
          <a:xfrm>
            <a:off x="1017982" y="2571750"/>
            <a:ext cx="1008638" cy="209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Google Shape;268;p27" descr="Google Shape;268;p27"/>
          <p:cNvPicPr>
            <a:picLocks noChangeAspect="1"/>
          </p:cNvPicPr>
          <p:nvPr/>
        </p:nvPicPr>
        <p:blipFill>
          <a:blip r:embed="rId3"/>
          <a:srcRect l="67345"/>
          <a:stretch>
            <a:fillRect/>
          </a:stretch>
        </p:blipFill>
        <p:spPr>
          <a:xfrm>
            <a:off x="5761594" y="2571751"/>
            <a:ext cx="2239407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7" name="Google Shape;269;p27" descr="Google Shape;269;p27"/>
          <p:cNvPicPr>
            <a:picLocks noChangeAspect="1"/>
          </p:cNvPicPr>
          <p:nvPr/>
        </p:nvPicPr>
        <p:blipFill>
          <a:blip r:embed="rId3"/>
          <a:srcRect l="13674" r="74842"/>
          <a:stretch>
            <a:fillRect/>
          </a:stretch>
        </p:blipFill>
        <p:spPr>
          <a:xfrm>
            <a:off x="2080931" y="2571750"/>
            <a:ext cx="787443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8" name="Google Shape;270;p27" descr="Google Shape;270;p27"/>
          <p:cNvPicPr>
            <a:picLocks noChangeAspect="1"/>
          </p:cNvPicPr>
          <p:nvPr/>
        </p:nvPicPr>
        <p:blipFill>
          <a:blip r:embed="rId3"/>
          <a:srcRect l="25401" r="59890"/>
          <a:stretch>
            <a:fillRect/>
          </a:stretch>
        </p:blipFill>
        <p:spPr>
          <a:xfrm>
            <a:off x="2881293" y="2571751"/>
            <a:ext cx="1008638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9" name="Google Shape;271;p27" descr="Google Shape;271;p27"/>
          <p:cNvPicPr>
            <a:picLocks noChangeAspect="1"/>
          </p:cNvPicPr>
          <p:nvPr/>
        </p:nvPicPr>
        <p:blipFill>
          <a:blip r:embed="rId3"/>
          <a:srcRect l="40205" r="32654"/>
          <a:stretch>
            <a:fillRect/>
          </a:stretch>
        </p:blipFill>
        <p:spPr>
          <a:xfrm>
            <a:off x="3900374" y="2571751"/>
            <a:ext cx="1861218" cy="19517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" grpId="1" animBg="1" advAuto="0"/>
      <p:bldP spid="306" grpId="5" animBg="1" advAuto="0"/>
      <p:bldP spid="307" grpId="2" animBg="1" advAuto="0"/>
      <p:bldP spid="308" grpId="3" animBg="1" advAuto="0"/>
      <p:bldP spid="309" grpId="4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280;p28"/>
          <p:cNvSpPr txBox="1">
            <a:spLocks noGrp="1"/>
          </p:cNvSpPr>
          <p:nvPr>
            <p:ph type="title"/>
          </p:nvPr>
        </p:nvSpPr>
        <p:spPr>
          <a:xfrm>
            <a:off x="721737" y="255798"/>
            <a:ext cx="7150835" cy="692521"/>
          </a:xfrm>
          <a:prstGeom prst="rect">
            <a:avLst/>
          </a:prstGeom>
        </p:spPr>
        <p:txBody>
          <a:bodyPr>
            <a:noAutofit/>
          </a:bodyPr>
          <a:lstStyle>
            <a:lvl1pPr defTabSz="467359">
              <a:defRPr sz="6400"/>
            </a:lvl1pPr>
          </a:lstStyle>
          <a:p>
            <a:r>
              <a:rPr sz="3600"/>
              <a:t> Regression-based Evaluation</a:t>
            </a:r>
          </a:p>
        </p:txBody>
      </p:sp>
      <p:sp>
        <p:nvSpPr>
          <p:cNvPr id="312" name="Google Shape;283;p28"/>
          <p:cNvSpPr txBox="1"/>
          <p:nvPr/>
        </p:nvSpPr>
        <p:spPr>
          <a:xfrm>
            <a:off x="2088098" y="2618876"/>
            <a:ext cx="952074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Source</a:t>
            </a:r>
          </a:p>
        </p:txBody>
      </p:sp>
      <p:sp>
        <p:nvSpPr>
          <p:cNvPr id="313" name="Google Shape;284;p28"/>
          <p:cNvSpPr txBox="1"/>
          <p:nvPr/>
        </p:nvSpPr>
        <p:spPr>
          <a:xfrm>
            <a:off x="1963139" y="3650462"/>
            <a:ext cx="127665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Reference</a:t>
            </a:r>
          </a:p>
        </p:txBody>
      </p:sp>
      <p:pic>
        <p:nvPicPr>
          <p:cNvPr id="314" name="Google Shape;285;p28" descr="Google Shape;285;p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191" y="2005938"/>
            <a:ext cx="493530" cy="657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Google Shape;286;p28" descr="Google Shape;286;p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620" y="3037525"/>
            <a:ext cx="493519" cy="65778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8" name="Google Shape;287;p28"/>
          <p:cNvGrpSpPr/>
          <p:nvPr/>
        </p:nvGrpSpPr>
        <p:grpSpPr>
          <a:xfrm>
            <a:off x="2187400" y="4028936"/>
            <a:ext cx="493520" cy="657790"/>
            <a:chOff x="0" y="0"/>
            <a:chExt cx="935858" cy="1247363"/>
          </a:xfrm>
        </p:grpSpPr>
        <p:pic>
          <p:nvPicPr>
            <p:cNvPr id="316" name="Google Shape;288;p28" descr="Google Shape;288;p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935858" cy="1247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7" name="Google Shape;289;p28"/>
            <p:cNvSpPr txBox="1"/>
            <p:nvPr/>
          </p:nvSpPr>
          <p:spPr>
            <a:xfrm>
              <a:off x="76161" y="107006"/>
              <a:ext cx="603848" cy="5395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sp>
        <p:nvSpPr>
          <p:cNvPr id="319" name="Google Shape;290;p28"/>
          <p:cNvSpPr txBox="1"/>
          <p:nvPr/>
        </p:nvSpPr>
        <p:spPr>
          <a:xfrm>
            <a:off x="1834523" y="4641869"/>
            <a:ext cx="164289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Hypothesis 1</a:t>
            </a:r>
          </a:p>
        </p:txBody>
      </p:sp>
      <p:grpSp>
        <p:nvGrpSpPr>
          <p:cNvPr id="323" name="Google Shape;291;p28"/>
          <p:cNvGrpSpPr/>
          <p:nvPr/>
        </p:nvGrpSpPr>
        <p:grpSpPr>
          <a:xfrm>
            <a:off x="3214886" y="2134670"/>
            <a:ext cx="3426307" cy="902857"/>
            <a:chOff x="-1" y="0"/>
            <a:chExt cx="6497291" cy="1712083"/>
          </a:xfrm>
        </p:grpSpPr>
        <p:sp>
          <p:nvSpPr>
            <p:cNvPr id="320" name="Google Shape;292;p28"/>
            <p:cNvSpPr/>
            <p:nvPr/>
          </p:nvSpPr>
          <p:spPr>
            <a:xfrm flipV="1">
              <a:off x="-1" y="682558"/>
              <a:ext cx="4500908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21" name="Google Shape;293;p28" descr="Google Shape;293;p28"/>
            <p:cNvPicPr>
              <a:picLocks noChangeAspect="1"/>
            </p:cNvPicPr>
            <p:nvPr/>
          </p:nvPicPr>
          <p:blipFill>
            <a:blip r:embed="rId4"/>
            <a:srcRect l="8180" r="15645"/>
            <a:stretch>
              <a:fillRect/>
            </a:stretch>
          </p:blipFill>
          <p:spPr>
            <a:xfrm>
              <a:off x="1411114" y="0"/>
              <a:ext cx="1956268" cy="17120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2" name="Google Shape;294;p28"/>
            <p:cNvSpPr txBox="1"/>
            <p:nvPr/>
          </p:nvSpPr>
          <p:spPr>
            <a:xfrm>
              <a:off x="4925879" y="216779"/>
              <a:ext cx="1571411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0.5</a:t>
              </a:r>
            </a:p>
          </p:txBody>
        </p:sp>
      </p:grpSp>
      <p:grpSp>
        <p:nvGrpSpPr>
          <p:cNvPr id="327" name="Google Shape;295;p28"/>
          <p:cNvGrpSpPr/>
          <p:nvPr/>
        </p:nvGrpSpPr>
        <p:grpSpPr>
          <a:xfrm>
            <a:off x="5342799" y="2729522"/>
            <a:ext cx="1642891" cy="1233298"/>
            <a:chOff x="-244656" y="-1"/>
            <a:chExt cx="3115407" cy="2338697"/>
          </a:xfrm>
        </p:grpSpPr>
        <p:sp>
          <p:nvSpPr>
            <p:cNvPr id="324" name="Google Shape;296;p28"/>
            <p:cNvSpPr txBox="1"/>
            <p:nvPr/>
          </p:nvSpPr>
          <p:spPr>
            <a:xfrm>
              <a:off x="-244656" y="388451"/>
              <a:ext cx="3115407" cy="958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0.4</a:t>
              </a:r>
            </a:p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Difference</a:t>
              </a:r>
            </a:p>
          </p:txBody>
        </p:sp>
        <p:sp>
          <p:nvSpPr>
            <p:cNvPr id="325" name="Google Shape;297;p28"/>
            <p:cNvSpPr/>
            <p:nvPr/>
          </p:nvSpPr>
          <p:spPr>
            <a:xfrm flipV="1">
              <a:off x="1123035" y="1848455"/>
              <a:ext cx="5974" cy="4902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26" name="Google Shape;299;p28"/>
            <p:cNvSpPr/>
            <p:nvPr/>
          </p:nvSpPr>
          <p:spPr>
            <a:xfrm flipH="1">
              <a:off x="1129173" y="-1"/>
              <a:ext cx="1" cy="5350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</p:grpSp>
      <p:grpSp>
        <p:nvGrpSpPr>
          <p:cNvPr id="331" name="Google Shape;300;p28"/>
          <p:cNvGrpSpPr/>
          <p:nvPr/>
        </p:nvGrpSpPr>
        <p:grpSpPr>
          <a:xfrm>
            <a:off x="3214886" y="3719519"/>
            <a:ext cx="3112520" cy="809158"/>
            <a:chOff x="0" y="0"/>
            <a:chExt cx="5902259" cy="1534402"/>
          </a:xfrm>
        </p:grpSpPr>
        <p:sp>
          <p:nvSpPr>
            <p:cNvPr id="328" name="Google Shape;298;p28"/>
            <p:cNvSpPr txBox="1"/>
            <p:nvPr/>
          </p:nvSpPr>
          <p:spPr>
            <a:xfrm>
              <a:off x="4903431" y="461368"/>
              <a:ext cx="998828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0.1</a:t>
              </a:r>
            </a:p>
          </p:txBody>
        </p:sp>
        <p:sp>
          <p:nvSpPr>
            <p:cNvPr id="329" name="Google Shape;301;p28"/>
            <p:cNvSpPr/>
            <p:nvPr/>
          </p:nvSpPr>
          <p:spPr>
            <a:xfrm flipV="1">
              <a:off x="0" y="711668"/>
              <a:ext cx="4500907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30" name="Google Shape;302;p28" descr="Google Shape;302;p28"/>
            <p:cNvPicPr>
              <a:picLocks noChangeAspect="1"/>
            </p:cNvPicPr>
            <p:nvPr/>
          </p:nvPicPr>
          <p:blipFill>
            <a:blip r:embed="rId5"/>
            <a:srcRect r="74779"/>
            <a:stretch>
              <a:fillRect/>
            </a:stretch>
          </p:blipFill>
          <p:spPr>
            <a:xfrm>
              <a:off x="1795561" y="0"/>
              <a:ext cx="1360142" cy="15344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4" name="Google Shape;303;p28"/>
          <p:cNvGrpSpPr/>
          <p:nvPr/>
        </p:nvGrpSpPr>
        <p:grpSpPr>
          <a:xfrm>
            <a:off x="4157368" y="3240382"/>
            <a:ext cx="1314451" cy="549226"/>
            <a:chOff x="0" y="0"/>
            <a:chExt cx="2492587" cy="1041494"/>
          </a:xfrm>
        </p:grpSpPr>
        <p:sp>
          <p:nvSpPr>
            <p:cNvPr id="332" name="Google Shape;304;p28"/>
            <p:cNvSpPr/>
            <p:nvPr/>
          </p:nvSpPr>
          <p:spPr>
            <a:xfrm flipH="1">
              <a:off x="1368320" y="223146"/>
              <a:ext cx="1124267" cy="818348"/>
            </a:xfrm>
            <a:prstGeom prst="line">
              <a:avLst/>
            </a:prstGeom>
            <a:noFill/>
            <a:ln w="50800" cap="flat">
              <a:solidFill>
                <a:srgbClr val="CC0000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33" name="Google Shape;305;p28"/>
            <p:cNvSpPr txBox="1"/>
            <p:nvPr/>
          </p:nvSpPr>
          <p:spPr>
            <a:xfrm>
              <a:off x="0" y="0"/>
              <a:ext cx="225834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defTabSz="1733973">
                <a:defRPr>
                  <a:solidFill>
                    <a:srgbClr val="CC0000"/>
                  </a:solidFill>
                </a:defRPr>
              </a:lvl1pPr>
            </a:lstStyle>
            <a:p>
              <a:r>
                <a:rPr sz="1192"/>
                <a:t>Update</a:t>
              </a:r>
            </a:p>
          </p:txBody>
        </p:sp>
      </p:grpSp>
      <p:sp>
        <p:nvSpPr>
          <p:cNvPr id="335" name="Supervised training of an embedding-based regressor…"/>
          <p:cNvSpPr txBox="1"/>
          <p:nvPr/>
        </p:nvSpPr>
        <p:spPr>
          <a:xfrm>
            <a:off x="1555843" y="1023547"/>
            <a:ext cx="5853410" cy="804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Supervised training of an embedding-based regressor</a:t>
            </a:r>
          </a:p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e.g.  COMET (Rei et al. 2020)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1" animBg="1" advAuto="0"/>
      <p:bldP spid="327" grpId="3" animBg="1" advAuto="0"/>
      <p:bldP spid="331" grpId="2" animBg="1" advAuto="0"/>
      <p:bldP spid="334" grpId="4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04;p24"/>
          <p:cNvSpPr txBox="1">
            <a:spLocks noGrp="1"/>
          </p:cNvSpPr>
          <p:nvPr>
            <p:ph type="title"/>
          </p:nvPr>
        </p:nvSpPr>
        <p:spPr>
          <a:xfrm>
            <a:off x="966765" y="315978"/>
            <a:ext cx="7210470" cy="509107"/>
          </a:xfrm>
          <a:prstGeom prst="rect">
            <a:avLst/>
          </a:prstGeom>
        </p:spPr>
        <p:txBody>
          <a:bodyPr>
            <a:noAutofit/>
          </a:bodyPr>
          <a:lstStyle>
            <a:lvl1pPr defTabSz="531622">
              <a:defRPr sz="7280"/>
            </a:lvl1pPr>
          </a:lstStyle>
          <a:p>
            <a:r>
              <a:rPr sz="3200"/>
              <a:t>Meta-evaluation of Metrics</a:t>
            </a:r>
          </a:p>
        </p:txBody>
      </p:sp>
      <p:grpSp>
        <p:nvGrpSpPr>
          <p:cNvPr id="348" name="Google Shape;205;p24"/>
          <p:cNvGrpSpPr>
            <a:grpSpLocks noChangeAspect="1"/>
          </p:cNvGrpSpPr>
          <p:nvPr/>
        </p:nvGrpSpPr>
        <p:grpSpPr>
          <a:xfrm>
            <a:off x="2112535" y="1277368"/>
            <a:ext cx="338328" cy="450943"/>
            <a:chOff x="0" y="0"/>
            <a:chExt cx="892520" cy="1189601"/>
          </a:xfrm>
        </p:grpSpPr>
        <p:pic>
          <p:nvPicPr>
            <p:cNvPr id="346" name="Google Shape;206;p24" descr="Google Shape;206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7" name="Google Shape;207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1" name="Google Shape;208;p24"/>
          <p:cNvGrpSpPr>
            <a:grpSpLocks noChangeAspect="1"/>
          </p:cNvGrpSpPr>
          <p:nvPr/>
        </p:nvGrpSpPr>
        <p:grpSpPr>
          <a:xfrm>
            <a:off x="2112535" y="1963168"/>
            <a:ext cx="338328" cy="450943"/>
            <a:chOff x="0" y="0"/>
            <a:chExt cx="892520" cy="1189601"/>
          </a:xfrm>
        </p:grpSpPr>
        <p:pic>
          <p:nvPicPr>
            <p:cNvPr id="349" name="Google Shape;209;p24" descr="Google Shape;209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0" name="Google Shape;210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4" name="Google Shape;211;p24"/>
          <p:cNvGrpSpPr>
            <a:grpSpLocks noChangeAspect="1"/>
          </p:cNvGrpSpPr>
          <p:nvPr/>
        </p:nvGrpSpPr>
        <p:grpSpPr>
          <a:xfrm>
            <a:off x="2112535" y="2648968"/>
            <a:ext cx="338328" cy="450943"/>
            <a:chOff x="0" y="0"/>
            <a:chExt cx="892520" cy="1189601"/>
          </a:xfrm>
        </p:grpSpPr>
        <p:pic>
          <p:nvPicPr>
            <p:cNvPr id="352" name="Google Shape;212;p24" descr="Google Shape;212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3" name="Google Shape;213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7" name="Google Shape;214;p24"/>
          <p:cNvGrpSpPr>
            <a:grpSpLocks noChangeAspect="1"/>
          </p:cNvGrpSpPr>
          <p:nvPr/>
        </p:nvGrpSpPr>
        <p:grpSpPr>
          <a:xfrm>
            <a:off x="2112535" y="3334768"/>
            <a:ext cx="338328" cy="450943"/>
            <a:chOff x="0" y="0"/>
            <a:chExt cx="892520" cy="1189601"/>
          </a:xfrm>
        </p:grpSpPr>
        <p:pic>
          <p:nvPicPr>
            <p:cNvPr id="355" name="Google Shape;215;p24" descr="Google Shape;215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6" name="Google Shape;216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63" name="Google Shape;217;p24"/>
          <p:cNvGrpSpPr/>
          <p:nvPr/>
        </p:nvGrpSpPr>
        <p:grpSpPr>
          <a:xfrm>
            <a:off x="3160575" y="842768"/>
            <a:ext cx="960751" cy="3091952"/>
            <a:chOff x="0" y="0"/>
            <a:chExt cx="1821867" cy="5863256"/>
          </a:xfrm>
        </p:grpSpPr>
        <p:sp>
          <p:nvSpPr>
            <p:cNvPr id="358" name="Google Shape;218;p24"/>
            <p:cNvSpPr txBox="1"/>
            <p:nvPr/>
          </p:nvSpPr>
          <p:spPr>
            <a:xfrm>
              <a:off x="0" y="0"/>
              <a:ext cx="182186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Human</a:t>
              </a:r>
            </a:p>
          </p:txBody>
        </p:sp>
        <p:sp>
          <p:nvSpPr>
            <p:cNvPr id="359" name="Google Shape;219;p24"/>
            <p:cNvSpPr txBox="1"/>
            <p:nvPr/>
          </p:nvSpPr>
          <p:spPr>
            <a:xfrm>
              <a:off x="325120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0.8</a:t>
              </a:r>
            </a:p>
          </p:txBody>
        </p:sp>
        <p:sp>
          <p:nvSpPr>
            <p:cNvPr id="360" name="Google Shape;220;p24"/>
            <p:cNvSpPr txBox="1"/>
            <p:nvPr/>
          </p:nvSpPr>
          <p:spPr>
            <a:xfrm>
              <a:off x="325120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1" name="Google Shape;221;p24"/>
            <p:cNvSpPr txBox="1"/>
            <p:nvPr/>
          </p:nvSpPr>
          <p:spPr>
            <a:xfrm>
              <a:off x="325120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2" name="Google Shape;222;p24"/>
            <p:cNvSpPr txBox="1"/>
            <p:nvPr/>
          </p:nvSpPr>
          <p:spPr>
            <a:xfrm>
              <a:off x="325120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0.6</a:t>
              </a:r>
            </a:p>
          </p:txBody>
        </p:sp>
      </p:grpSp>
      <p:grpSp>
        <p:nvGrpSpPr>
          <p:cNvPr id="369" name="Google Shape;223;p24"/>
          <p:cNvGrpSpPr/>
          <p:nvPr/>
        </p:nvGrpSpPr>
        <p:grpSpPr>
          <a:xfrm>
            <a:off x="4417875" y="842768"/>
            <a:ext cx="1231214" cy="3091952"/>
            <a:chOff x="0" y="0"/>
            <a:chExt cx="2334746" cy="5863256"/>
          </a:xfrm>
        </p:grpSpPr>
        <p:sp>
          <p:nvSpPr>
            <p:cNvPr id="364" name="Google Shape;224;p24"/>
            <p:cNvSpPr txBox="1"/>
            <p:nvPr/>
          </p:nvSpPr>
          <p:spPr>
            <a:xfrm>
              <a:off x="0" y="0"/>
              <a:ext cx="2334746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Automatic</a:t>
              </a:r>
            </a:p>
          </p:txBody>
        </p:sp>
        <p:sp>
          <p:nvSpPr>
            <p:cNvPr id="365" name="Google Shape;225;p24"/>
            <p:cNvSpPr txBox="1"/>
            <p:nvPr/>
          </p:nvSpPr>
          <p:spPr>
            <a:xfrm>
              <a:off x="541867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0.7</a:t>
              </a:r>
            </a:p>
          </p:txBody>
        </p:sp>
        <p:sp>
          <p:nvSpPr>
            <p:cNvPr id="366" name="Google Shape;226;p24"/>
            <p:cNvSpPr txBox="1"/>
            <p:nvPr/>
          </p:nvSpPr>
          <p:spPr>
            <a:xfrm>
              <a:off x="541867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7" name="Google Shape;227;p24"/>
            <p:cNvSpPr txBox="1"/>
            <p:nvPr/>
          </p:nvSpPr>
          <p:spPr>
            <a:xfrm>
              <a:off x="541867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8" name="Google Shape;228;p24"/>
            <p:cNvSpPr txBox="1"/>
            <p:nvPr/>
          </p:nvSpPr>
          <p:spPr>
            <a:xfrm>
              <a:off x="541867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0.4</a:t>
              </a:r>
            </a:p>
          </p:txBody>
        </p:sp>
      </p:grpSp>
      <p:grpSp>
        <p:nvGrpSpPr>
          <p:cNvPr id="372" name="Google Shape;229;p24"/>
          <p:cNvGrpSpPr/>
          <p:nvPr/>
        </p:nvGrpSpPr>
        <p:grpSpPr>
          <a:xfrm>
            <a:off x="5541901" y="1833931"/>
            <a:ext cx="2389726" cy="1055714"/>
            <a:chOff x="0" y="0"/>
            <a:chExt cx="4531627" cy="2001945"/>
          </a:xfrm>
        </p:grpSpPr>
        <p:sp>
          <p:nvSpPr>
            <p:cNvPr id="370" name="Google Shape;230;p24"/>
            <p:cNvSpPr/>
            <p:nvPr/>
          </p:nvSpPr>
          <p:spPr>
            <a:xfrm>
              <a:off x="0" y="1287253"/>
              <a:ext cx="965121" cy="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71" name="Google Shape;231;p24"/>
            <p:cNvSpPr txBox="1"/>
            <p:nvPr/>
          </p:nvSpPr>
          <p:spPr>
            <a:xfrm>
              <a:off x="1327360" y="0"/>
              <a:ext cx="3204267" cy="20019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algn="l" defTabSz="914324"/>
              <a:r>
                <a:rPr sz="1192"/>
                <a:t>Pearson = 0.23</a:t>
              </a:r>
            </a:p>
            <a:p>
              <a:pPr algn="l" defTabSz="914324"/>
              <a:endParaRPr sz="1192"/>
            </a:p>
            <a:p>
              <a:pPr algn="l" defTabSz="914324"/>
              <a:r>
                <a:rPr sz="1192"/>
                <a:t>Kendall = 0.33</a:t>
              </a:r>
              <a:br>
                <a:rPr sz="1192"/>
              </a:br>
              <a:br>
                <a:rPr sz="1192"/>
              </a:br>
              <a:r>
                <a:rPr sz="1192"/>
                <a:t>Error = 0.28</a:t>
              </a:r>
            </a:p>
          </p:txBody>
        </p:sp>
      </p:grpSp>
      <p:sp>
        <p:nvSpPr>
          <p:cNvPr id="373" name="Use datasets like WMT shared tasks (Fabbri et al. 2020), SumEval (Freitag et al. 2023)"/>
          <p:cNvSpPr txBox="1">
            <a:spLocks noGrp="1"/>
          </p:cNvSpPr>
          <p:nvPr>
            <p:ph type="body" sz="quarter" idx="1"/>
          </p:nvPr>
        </p:nvSpPr>
        <p:spPr>
          <a:xfrm>
            <a:off x="1748509" y="4099510"/>
            <a:ext cx="5853411" cy="797224"/>
          </a:xfrm>
          <a:prstGeom prst="rect">
            <a:avLst/>
          </a:prstGeom>
        </p:spPr>
        <p:txBody>
          <a:bodyPr/>
          <a:lstStyle/>
          <a:p>
            <a:r>
              <a:t>Use datasets like WMT shared tasks (Fabbri et al. 2020), SumEval (Freitag et al. 2023)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3" grpId="1" animBg="1" advAuto="0"/>
      <p:bldP spid="369" grpId="2" animBg="1" advAuto="0"/>
      <p:bldP spid="372" grpId="3" animBg="1" advAuto="0"/>
      <p:bldP spid="373" grpId="4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Use in a Downstream Syst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Use in a Downstream System</a:t>
            </a:r>
          </a:p>
        </p:txBody>
      </p:sp>
      <p:sp>
        <p:nvSpPr>
          <p:cNvPr id="376" name="Intrinsic evaluation: Evaluate the quality of the output itself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Intrinsic evaluation:</a:t>
            </a:r>
            <a:r>
              <a:t> Evaluate the quality of the output itself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Extrinsic evaluation:</a:t>
            </a:r>
            <a:r>
              <a:t> Evaluate output quality by its utility</a:t>
            </a:r>
          </a:p>
          <a:p>
            <a:r>
              <a:t>Example: evaluate LLM summaries through QA accuracy (Eyal et al. 2019)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" grpId="1" build="p" bldLvl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Error and Risk"/>
          <p:cNvSpPr txBox="1">
            <a:spLocks noGrp="1"/>
          </p:cNvSpPr>
          <p:nvPr>
            <p:ph type="title"/>
          </p:nvPr>
        </p:nvSpPr>
        <p:spPr>
          <a:xfrm>
            <a:off x="1645295" y="1841748"/>
            <a:ext cx="5853410" cy="113853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Incorporating “Goodness” into Learning: </a:t>
            </a:r>
            <a:r>
              <a:t>Error and Risk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Error</a:t>
            </a:r>
          </a:p>
        </p:txBody>
      </p:sp>
      <p:sp>
        <p:nvSpPr>
          <p:cNvPr id="381" name="Generate an output…"/>
          <p:cNvSpPr txBox="1">
            <a:spLocks noGrp="1"/>
          </p:cNvSpPr>
          <p:nvPr>
            <p:ph type="body" idx="1"/>
          </p:nvPr>
        </p:nvSpPr>
        <p:spPr>
          <a:xfrm>
            <a:off x="1645295" y="1372940"/>
            <a:ext cx="6069048" cy="3315146"/>
          </a:xfrm>
          <a:prstGeom prst="rect">
            <a:avLst/>
          </a:prstGeom>
        </p:spPr>
        <p:txBody>
          <a:bodyPr/>
          <a:lstStyle/>
          <a:p>
            <a:r>
              <a:t>Generate an output</a:t>
            </a:r>
            <a:br/>
            <a:br/>
            <a:endParaRPr/>
          </a:p>
          <a:p>
            <a:r>
              <a:t>Calculate its "badness" (e.g. 1-eval score)</a:t>
            </a:r>
            <a:br/>
            <a:br/>
            <a:endParaRPr/>
          </a:p>
          <a:p>
            <a:r>
              <a:t>We would like to minimize error</a:t>
            </a:r>
          </a:p>
        </p:txBody>
      </p:sp>
      <p:pic>
        <p:nvPicPr>
          <p:cNvPr id="382" name="CodeCogsEqn (1).pdf" descr="CodeCogsEqn (1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364" y="2325785"/>
            <a:ext cx="2230662" cy="509908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CodeCogsEqn (2).pdf" descr="CodeCogsEqn (2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628" y="3347960"/>
            <a:ext cx="3495649" cy="3959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1" grpId="1" build="p" bldLvl="5" animBg="1" advAuto="0"/>
      <p:bldP spid="382" grpId="2" animBg="1" advAuto="0"/>
      <p:bldP spid="383" grpId="3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roblem: Argmax is Non-differenti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Problem: </a:t>
            </a:r>
            <a:r>
              <a:rPr lang="en-US" sz="3600"/>
              <a:t>Eval</a:t>
            </a:r>
            <a:r>
              <a:rPr sz="3600"/>
              <a:t> is Non-differentiable</a:t>
            </a:r>
          </a:p>
        </p:txBody>
      </p:sp>
      <p:sp>
        <p:nvSpPr>
          <p:cNvPr id="386" name="The argmax function makes discrete zero-one decisions…"/>
          <p:cNvSpPr txBox="1">
            <a:spLocks noGrp="1"/>
          </p:cNvSpPr>
          <p:nvPr>
            <p:ph type="body" idx="1"/>
          </p:nvPr>
        </p:nvSpPr>
        <p:spPr>
          <a:xfrm>
            <a:off x="669726" y="1155337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rPr lang="en-US"/>
              <a:t>Evaluation function applies to a sequence, not a token</a:t>
            </a:r>
            <a:endParaRPr/>
          </a:p>
          <a:p>
            <a:r>
              <a:t>The gradient</a:t>
            </a:r>
            <a:r>
              <a:rPr lang="en-US"/>
              <a:t> (and value!)</a:t>
            </a:r>
            <a:r>
              <a:t> of this function is zero almost everywhere, not-conducive to gradient-based training</a:t>
            </a:r>
            <a:endParaRPr lang="en-US"/>
          </a:p>
          <a:p>
            <a:r>
              <a:rPr lang="en-US"/>
              <a:t>Only sampling one output doesn’t give us information about the error for other outputs given the same input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" grpId="1" build="p" bldLvl="5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is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Risk</a:t>
            </a:r>
          </a:p>
        </p:txBody>
      </p:sp>
      <p:sp>
        <p:nvSpPr>
          <p:cNvPr id="389" name="Risk is defined as the expected error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561454"/>
          </a:xfrm>
          <a:prstGeom prst="rect">
            <a:avLst/>
          </a:prstGeom>
        </p:spPr>
        <p:txBody>
          <a:bodyPr/>
          <a:lstStyle/>
          <a:p>
            <a:r>
              <a:t>Risk is defined as the expected error</a:t>
            </a:r>
          </a:p>
        </p:txBody>
      </p:sp>
      <p:sp>
        <p:nvSpPr>
          <p:cNvPr id="390" name="This is includes the probability in the objective function!…"/>
          <p:cNvSpPr txBox="1"/>
          <p:nvPr/>
        </p:nvSpPr>
        <p:spPr>
          <a:xfrm>
            <a:off x="1645295" y="2731197"/>
            <a:ext cx="5853410" cy="1846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/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This includes the probability in the objective function!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Differentiable, but the sum is intractable</a:t>
            </a:r>
            <a:r>
              <a:rPr lang="en-US" sz="1765"/>
              <a:t> (so sample over a reduced set per X; avoid duplicates and bad samples)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lang="en-US" sz="1765"/>
              <a:t>Very similar to RL; see REINFORCE algorithm; next section</a:t>
            </a:r>
            <a:endParaRPr sz="1765"/>
          </a:p>
        </p:txBody>
      </p:sp>
      <p:pic>
        <p:nvPicPr>
          <p:cNvPr id="391" name="CodeCogsEqn (3).pdf" descr="CodeCogsEqn (3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78" y="2172299"/>
            <a:ext cx="4384763" cy="6248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9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" grpId="1" animBg="1" advAuto="0"/>
      <p:bldP spid="390" grpId="3" build="p" bldLvl="5" animBg="1" advAuto="0"/>
      <p:bldP spid="391" grpId="2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inforcment Learning Basics: Policy Gradient…"/>
          <p:cNvSpPr txBox="1">
            <a:spLocks noGrp="1"/>
          </p:cNvSpPr>
          <p:nvPr>
            <p:ph type="title"/>
          </p:nvPr>
        </p:nvSpPr>
        <p:spPr>
          <a:xfrm>
            <a:off x="1645295" y="197569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defTabSz="200231">
              <a:defRPr sz="5200"/>
            </a:pPr>
            <a:r>
              <a:t>Reinforcment Learning Basics: Policy Gradient</a:t>
            </a:r>
          </a:p>
          <a:p>
            <a:pPr defTabSz="200231">
              <a:defRPr sz="3120"/>
            </a:pPr>
            <a:r>
              <a:t>(Review of </a:t>
            </a:r>
            <a:r>
              <a:rPr>
                <a:hlinkClick r:id="rId2"/>
              </a:rPr>
              <a:t>Karpathy 2016</a:t>
            </a:r>
            <a:r>
              <a:t>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What is Reinforcement Learning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What is Reinforcement Learning?</a:t>
            </a:r>
          </a:p>
        </p:txBody>
      </p:sp>
      <p:sp>
        <p:nvSpPr>
          <p:cNvPr id="401" name="Learning where we have an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Learning where we have an</a:t>
            </a:r>
          </a:p>
          <a:p>
            <a:pPr lvl="1"/>
            <a:r>
              <a:t>environment X</a:t>
            </a:r>
          </a:p>
          <a:p>
            <a:pPr lvl="1"/>
            <a:r>
              <a:t>ability to make actions A</a:t>
            </a:r>
          </a:p>
          <a:p>
            <a:pPr lvl="1"/>
            <a:r>
              <a:t>get a delayed reward R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Example of pong:</a:t>
            </a:r>
            <a:r>
              <a:t> X is our observed image, A is up or down, and R is the win/loss at the end of the game</a:t>
            </a:r>
            <a:endParaRPr lang="en-US"/>
          </a:p>
          <a:p>
            <a:r>
              <a:rPr lang="en-US"/>
              <a:t>What are X, A, R in an NLP task?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1" uiExpand="1" build="p" bldLvl="5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Why Reinforcement Learning in NLP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Why Reinforcement Learning in NLP?</a:t>
            </a:r>
          </a:p>
        </p:txBody>
      </p:sp>
      <p:sp>
        <p:nvSpPr>
          <p:cNvPr id="404" name="We may have a typical reinforcement learning scenario: e.g. a dialog where we can make responses and will get a reward at the end.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typical reinforcement learning scenario</a:t>
            </a:r>
            <a:r>
              <a:t>: e.g. a dialog where we can make responses and will get a reward at the end.</a:t>
            </a:r>
          </a:p>
          <a:p>
            <a:r>
              <a:t>We may have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latent variables</a:t>
            </a:r>
            <a:r>
              <a:t> (e.g. chains of thought), where we decide the latent variable, then get a reward based on their configuration.</a:t>
            </a:r>
          </a:p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sequence-level evaluation metric</a:t>
            </a:r>
            <a:r>
              <a:t> such that we cannot optimize without first generating a whole sentence.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4" grpId="1" build="p" bldLvl="5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upervised M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Supervised MLE</a:t>
            </a:r>
          </a:p>
        </p:txBody>
      </p:sp>
      <p:sp>
        <p:nvSpPr>
          <p:cNvPr id="407" name="We are given the correct decision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0"/>
            <a:ext cx="5853410" cy="2165100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22666" indent="-222666" defTabSz="292646">
              <a:spcBef>
                <a:spcPts val="1160"/>
              </a:spcBef>
              <a:defRPr sz="3420"/>
            </a:pPr>
            <a:r>
              <a:t>We are given the correct decisions</a:t>
            </a:r>
            <a:br/>
            <a:br/>
            <a:br/>
            <a:endParaRPr/>
          </a:p>
          <a:p>
            <a:pPr marL="222666" indent="-222666" defTabSz="292646">
              <a:spcBef>
                <a:spcPts val="1160"/>
              </a:spcBef>
              <a:defRPr sz="3420"/>
            </a:pPr>
            <a:r>
              <a:t>In the context of reinforcement learning, this is also called “imitation learning,” imitating a teacher (although imitation learning is more general)</a:t>
            </a:r>
          </a:p>
        </p:txBody>
      </p:sp>
      <p:pic>
        <p:nvPicPr>
          <p:cNvPr id="408" name="eq-010-super.pdf" descr="eq-010-super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932" y="2137510"/>
            <a:ext cx="3094137" cy="254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7" grpId="1" build="p" bldLvl="5" animBg="1" advAuto="0"/>
      <p:bldP spid="408" grpId="2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elf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Self Training</a:t>
            </a:r>
          </a:p>
        </p:txBody>
      </p:sp>
      <p:sp>
        <p:nvSpPr>
          <p:cNvPr id="411" name="Sample or argmax according to the current model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51438"/>
          </a:xfrm>
          <a:prstGeom prst="rect">
            <a:avLst/>
          </a:prstGeom>
        </p:spPr>
        <p:txBody>
          <a:bodyPr/>
          <a:lstStyle/>
          <a:p>
            <a:r>
              <a:t>Sample or argmax according to the current model</a:t>
            </a:r>
          </a:p>
        </p:txBody>
      </p:sp>
      <p:grpSp>
        <p:nvGrpSpPr>
          <p:cNvPr id="415" name="Group"/>
          <p:cNvGrpSpPr/>
          <p:nvPr/>
        </p:nvGrpSpPr>
        <p:grpSpPr>
          <a:xfrm>
            <a:off x="2347463" y="1907115"/>
            <a:ext cx="4844356" cy="294681"/>
            <a:chOff x="0" y="44449"/>
            <a:chExt cx="9186334" cy="558801"/>
          </a:xfrm>
        </p:grpSpPr>
        <p:pic>
          <p:nvPicPr>
            <p:cNvPr id="412" name="eq-020-sample.pdf" descr="eq-020-sample.pdf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44449"/>
              <a:ext cx="2794000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13" name="eq-030-argmax.pdf" descr="eq-030-argmax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88933" y="44449"/>
              <a:ext cx="4597401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14" name="or"/>
            <p:cNvSpPr txBox="1"/>
            <p:nvPr/>
          </p:nvSpPr>
          <p:spPr>
            <a:xfrm>
              <a:off x="3510981" y="98620"/>
              <a:ext cx="360973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or</a:t>
              </a:r>
            </a:p>
          </p:txBody>
        </p:sp>
      </p:grpSp>
      <p:sp>
        <p:nvSpPr>
          <p:cNvPr id="416" name="Use this sample (or samples) to maximize likelihood"/>
          <p:cNvSpPr txBox="1"/>
          <p:nvPr/>
        </p:nvSpPr>
        <p:spPr>
          <a:xfrm>
            <a:off x="1645295" y="2243584"/>
            <a:ext cx="5853410" cy="451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>
            <a:lvl1pPr marL="440055" indent="-440055" algn="l" defTabSz="578358">
              <a:spcBef>
                <a:spcPts val="4100"/>
              </a:spcBef>
              <a:buSzPct val="75000"/>
              <a:buChar char="•"/>
              <a:defRPr sz="3564"/>
            </a:lvl1pPr>
          </a:lstStyle>
          <a:p>
            <a:r>
              <a:rPr sz="1879"/>
              <a:t>Use this sample (or samples) to maximize likelihood</a:t>
            </a:r>
          </a:p>
        </p:txBody>
      </p:sp>
      <p:sp>
        <p:nvSpPr>
          <p:cNvPr id="417" name="No correct answer needed! But is this a good idea?…"/>
          <p:cNvSpPr txBox="1"/>
          <p:nvPr/>
        </p:nvSpPr>
        <p:spPr>
          <a:xfrm>
            <a:off x="1645295" y="3184410"/>
            <a:ext cx="5853410" cy="172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/>
              <a:t>No correct answer needed! But is this a good idea?</a:t>
            </a:r>
          </a:p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 i="1">
                <a:latin typeface="Helvetica"/>
                <a:ea typeface="Helvetica"/>
                <a:cs typeface="Helvetica"/>
                <a:sym typeface="Helvetica"/>
              </a:rPr>
              <a:t>One successful alternative:</a:t>
            </a:r>
            <a:r>
              <a:rPr sz="1670"/>
              <a:t> co-training, only use sentences where multiple models agree (Blum and Mitchell 1998)</a:t>
            </a:r>
          </a:p>
        </p:txBody>
      </p:sp>
      <p:pic>
        <p:nvPicPr>
          <p:cNvPr id="418" name="eq-040-self.pdf" descr="eq-040-self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593" y="2736706"/>
            <a:ext cx="2658814" cy="2946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1" grpId="1" animBg="1" advAuto="0"/>
      <p:bldP spid="415" grpId="2" animBg="1" advAuto="0"/>
      <p:bldP spid="416" grpId="3" animBg="1" advAuto="0"/>
      <p:bldP spid="417" grpId="5" build="p" bldLvl="5" animBg="1" advAuto="0"/>
      <p:bldP spid="418" grpId="4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olicy Gradient/REINFOR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6570">
              <a:defRPr sz="6800"/>
            </a:lvl1pPr>
          </a:lstStyle>
          <a:p>
            <a:r>
              <a:rPr sz="3600"/>
              <a:t>Policy Gradient/REINFORCE</a:t>
            </a:r>
          </a:p>
        </p:txBody>
      </p:sp>
      <p:sp>
        <p:nvSpPr>
          <p:cNvPr id="421" name="Add a term that scales the loss by the reward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24684"/>
          </a:xfrm>
          <a:prstGeom prst="rect">
            <a:avLst/>
          </a:prstGeom>
        </p:spPr>
        <p:txBody>
          <a:bodyPr/>
          <a:lstStyle/>
          <a:p>
            <a:r>
              <a:t>Add a term that scales the loss by the reward</a:t>
            </a:r>
          </a:p>
        </p:txBody>
      </p:sp>
      <p:sp>
        <p:nvSpPr>
          <p:cNvPr id="422" name="Outputs that get a bigger reward will get a higher weight…"/>
          <p:cNvSpPr txBox="1"/>
          <p:nvPr/>
        </p:nvSpPr>
        <p:spPr>
          <a:xfrm>
            <a:off x="1645295" y="2444502"/>
            <a:ext cx="5853410" cy="101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Outputs that get a bigger reward will get a higher weight</a:t>
            </a:r>
          </a:p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Quiz: Under what conditions is this equal to MLE?</a:t>
            </a:r>
          </a:p>
        </p:txBody>
      </p:sp>
      <p:pic>
        <p:nvPicPr>
          <p:cNvPr id="423" name="CodeCogsEqn (5).pdf" descr="CodeCogsEqn (5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130" y="1985170"/>
            <a:ext cx="4412598" cy="3308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" grpId="1" animBg="1" advAuto="0"/>
      <p:bldP spid="422" grpId="3" build="p" bldLvl="5" animBg="1" advAuto="0"/>
      <p:bldP spid="423" grpId="2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Credit Assignment for Rewar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Credit Assignment for Rewards</a:t>
            </a:r>
          </a:p>
        </p:txBody>
      </p:sp>
      <p:sp>
        <p:nvSpPr>
          <p:cNvPr id="426" name="How do we know which action led to the reward?…"/>
          <p:cNvSpPr txBox="1">
            <a:spLocks noGrp="1"/>
          </p:cNvSpPr>
          <p:nvPr>
            <p:ph type="body" idx="1"/>
          </p:nvPr>
        </p:nvSpPr>
        <p:spPr>
          <a:xfrm>
            <a:off x="1645295" y="1372941"/>
            <a:ext cx="5853410" cy="3410074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How do we know which action led to the reward?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Best scenario, immediate reward:</a:t>
            </a:r>
            <a:br/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Worst scenario, only at end of roll-out:</a:t>
            </a:r>
            <a:br/>
            <a:br>
              <a:rPr lang="en-US"/>
            </a:br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Often assign decaying rewards for future events to take into account the time delay between action and reward</a:t>
            </a:r>
            <a:endParaRPr lang="en-US"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rPr lang="en-US"/>
              <a:t>Most frequent approach: do nothing (just average across actions or only apply it to the final token)</a:t>
            </a:r>
            <a:endParaRPr/>
          </a:p>
        </p:txBody>
      </p:sp>
      <p:grpSp>
        <p:nvGrpSpPr>
          <p:cNvPr id="439" name="Group"/>
          <p:cNvGrpSpPr/>
          <p:nvPr/>
        </p:nvGrpSpPr>
        <p:grpSpPr>
          <a:xfrm>
            <a:off x="3201938" y="2185087"/>
            <a:ext cx="2625771" cy="505440"/>
            <a:chOff x="83941" y="98621"/>
            <a:chExt cx="4979239" cy="958461"/>
          </a:xfrm>
        </p:grpSpPr>
        <p:sp>
          <p:nvSpPr>
            <p:cNvPr id="427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28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29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30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31" name="a5"/>
            <p:cNvSpPr txBox="1"/>
            <p:nvPr/>
          </p:nvSpPr>
          <p:spPr>
            <a:xfrm>
              <a:off x="3639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32" name="a6"/>
            <p:cNvSpPr txBox="1"/>
            <p:nvPr/>
          </p:nvSpPr>
          <p:spPr>
            <a:xfrm>
              <a:off x="4528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33" name="0"/>
            <p:cNvSpPr txBox="1"/>
            <p:nvPr/>
          </p:nvSpPr>
          <p:spPr>
            <a:xfrm>
              <a:off x="137136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4" name="+1"/>
            <p:cNvSpPr txBox="1"/>
            <p:nvPr/>
          </p:nvSpPr>
          <p:spPr>
            <a:xfrm>
              <a:off x="930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5" name="0"/>
            <p:cNvSpPr txBox="1"/>
            <p:nvPr/>
          </p:nvSpPr>
          <p:spPr>
            <a:xfrm>
              <a:off x="1915137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6" name="-0.5"/>
            <p:cNvSpPr txBox="1"/>
            <p:nvPr/>
          </p:nvSpPr>
          <p:spPr>
            <a:xfrm>
              <a:off x="2633911" y="606620"/>
              <a:ext cx="604154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-0.5</a:t>
              </a:r>
            </a:p>
          </p:txBody>
        </p:sp>
        <p:sp>
          <p:nvSpPr>
            <p:cNvPr id="437" name="+1"/>
            <p:cNvSpPr txBox="1"/>
            <p:nvPr/>
          </p:nvSpPr>
          <p:spPr>
            <a:xfrm>
              <a:off x="3597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8" name="+1.5"/>
            <p:cNvSpPr txBox="1"/>
            <p:nvPr/>
          </p:nvSpPr>
          <p:spPr>
            <a:xfrm>
              <a:off x="4364793" y="606620"/>
              <a:ext cx="698387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+1.5</a:t>
              </a:r>
            </a:p>
          </p:txBody>
        </p:sp>
      </p:grpSp>
      <p:grpSp>
        <p:nvGrpSpPr>
          <p:cNvPr id="447" name="Group"/>
          <p:cNvGrpSpPr/>
          <p:nvPr/>
        </p:nvGrpSpPr>
        <p:grpSpPr>
          <a:xfrm>
            <a:off x="3201938" y="3122703"/>
            <a:ext cx="3286019" cy="237550"/>
            <a:chOff x="83941" y="98619"/>
            <a:chExt cx="6231266" cy="450464"/>
          </a:xfrm>
        </p:grpSpPr>
        <p:sp>
          <p:nvSpPr>
            <p:cNvPr id="440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41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42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43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44" name="a5"/>
            <p:cNvSpPr txBox="1"/>
            <p:nvPr/>
          </p:nvSpPr>
          <p:spPr>
            <a:xfrm>
              <a:off x="3639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45" name="a6"/>
            <p:cNvSpPr txBox="1"/>
            <p:nvPr/>
          </p:nvSpPr>
          <p:spPr>
            <a:xfrm>
              <a:off x="4528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46" name="+3"/>
            <p:cNvSpPr txBox="1"/>
            <p:nvPr/>
          </p:nvSpPr>
          <p:spPr>
            <a:xfrm>
              <a:off x="5859999" y="98619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+3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1" build="p" bldLvl="5" animBg="1" advAuto="0"/>
      <p:bldP spid="439" grpId="2" animBg="1" advAuto="0"/>
      <p:bldP spid="447" grpId="3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49EDB-8A44-4B71-4084-CCC812A0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Naive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E769B-E94A-E96A-7FA4-FD82FBEAB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45295" y="1372940"/>
            <a:ext cx="5853410" cy="3187898"/>
          </a:xfrm>
        </p:spPr>
        <p:txBody>
          <a:bodyPr/>
          <a:lstStyle/>
          <a:p>
            <a:pPr marL="391758" indent="-391758">
              <a:buFont typeface="+mj-lt"/>
              <a:buAutoNum type="arabicPeriod"/>
            </a:pPr>
            <a:r>
              <a:rPr lang="en-US"/>
              <a:t>From a base model, given an (X, Y) pair [or just X], generate [or score] some [YHAT] with probability P(YHAT|X) 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Calculate R(YHAT, Y) [depending on R approach]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Update model with loss per REINFORCE algorithm</a:t>
            </a:r>
          </a:p>
          <a:p>
            <a:pPr marL="0" indent="0">
              <a:buNone/>
            </a:pPr>
            <a:r>
              <a:rPr lang="en-US"/>
              <a:t>Problem?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3A567-4224-BA50-4A8E-B6021D6E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63" y="3638160"/>
            <a:ext cx="2014762" cy="13948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59851A-7258-8D39-F14A-2D7F87E99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181" y="3576340"/>
            <a:ext cx="2084323" cy="156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7134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tabilizing Reinforcement Learning"/>
          <p:cNvSpPr txBox="1">
            <a:spLocks noGrp="1"/>
          </p:cNvSpPr>
          <p:nvPr>
            <p:ph type="title"/>
          </p:nvPr>
        </p:nvSpPr>
        <p:spPr>
          <a:xfrm>
            <a:off x="1645295" y="1908721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t>Stabilizing Reinforcement Learning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roblems w/ Reinforcement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Problems w/ Reinforcement Learning</a:t>
            </a:r>
          </a:p>
        </p:txBody>
      </p:sp>
      <p:sp>
        <p:nvSpPr>
          <p:cNvPr id="452" name="Like other sampling-based methods, reinforcement learning is unst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Like other sampling-based methods, reinforcement learning is unstable</a:t>
            </a:r>
          </a:p>
          <a:p>
            <a:r>
              <a:t>It is particularly unstable when using bigger output spaces (e.g. words of a vocabulary)</a:t>
            </a:r>
          </a:p>
          <a:p>
            <a:r>
              <a:t>A number of strategies can be used to stabilize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2" grpId="1" build="p" bldLvl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re-training with MLE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sz="3600"/>
              <a:t>Pre-training with MLE</a:t>
            </a:r>
          </a:p>
          <a:p>
            <a:pPr>
              <a:defRPr sz="4800"/>
            </a:pPr>
            <a:r>
              <a:rPr sz="3600"/>
              <a:t>(Ranzato et al. 2016)</a:t>
            </a:r>
          </a:p>
        </p:txBody>
      </p:sp>
      <p:sp>
        <p:nvSpPr>
          <p:cNvPr id="455" name="Start training with MLE, then switch over to RL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39"/>
            <a:ext cx="5853410" cy="2231934"/>
          </a:xfrm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r>
              <a:t>Start training with MLE, then switch over to RL</a:t>
            </a:r>
            <a:endParaRPr lang="en-US"/>
          </a:p>
          <a:p>
            <a:r>
              <a:rPr lang="en-US"/>
              <a:t>Almost seems obvious for us! </a:t>
            </a:r>
            <a:endParaRPr/>
          </a:p>
          <a:p>
            <a:r>
              <a:t>Works only in the scenarios where we can run MLE</a:t>
            </a:r>
            <a:endParaRPr lang="en-US"/>
          </a:p>
          <a:p>
            <a:pPr lvl="1"/>
            <a:r>
              <a:rPr lang="en-US"/>
              <a:t>e.g. standard RL (cartpole)</a:t>
            </a:r>
          </a:p>
          <a:p>
            <a:pPr lvl="1"/>
            <a:r>
              <a:rPr lang="en-US"/>
              <a:t>or in NLP if no training data (but now we effectivevly always can have </a:t>
            </a:r>
            <a:r>
              <a:rPr lang="en-US" u="sng"/>
              <a:t>some</a:t>
            </a:r>
            <a:r>
              <a:rPr lang="en-US"/>
              <a:t> kind of training data)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5" grpId="1" build="p" bldLvl="5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gularization to an Existing Model…"/>
          <p:cNvSpPr txBox="1">
            <a:spLocks noGrp="1"/>
          </p:cNvSpPr>
          <p:nvPr>
            <p:ph type="title"/>
          </p:nvPr>
        </p:nvSpPr>
        <p:spPr>
          <a:xfrm>
            <a:off x="516834" y="-32232"/>
            <a:ext cx="8627165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09473">
              <a:defRPr sz="5440"/>
            </a:pPr>
            <a:r>
              <a:rPr sz="3600"/>
              <a:t>Regularization to an Existing Model</a:t>
            </a:r>
          </a:p>
          <a:p>
            <a:pPr defTabSz="209473">
              <a:defRPr sz="3264"/>
            </a:pPr>
            <a:r>
              <a:rPr sz="3600"/>
              <a:t>(e.g. Schulman et al. 2017)</a:t>
            </a:r>
          </a:p>
        </p:txBody>
      </p:sp>
      <p:sp>
        <p:nvSpPr>
          <p:cNvPr id="458" name="Have an existing model, and prevent it from moving too far awa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054696"/>
            <a:ext cx="5853410" cy="108465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existing model, and prevent it from moving too far away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Method one:</a:t>
            </a:r>
            <a:r>
              <a:t> KL regularization</a:t>
            </a:r>
          </a:p>
        </p:txBody>
      </p:sp>
      <p:sp>
        <p:nvSpPr>
          <p:cNvPr id="459" name="Method two: proximal policy optimization (PPO)"/>
          <p:cNvSpPr txBox="1"/>
          <p:nvPr/>
        </p:nvSpPr>
        <p:spPr>
          <a:xfrm>
            <a:off x="1645295" y="3323569"/>
            <a:ext cx="5853410" cy="5476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 b="1">
                <a:latin typeface="Helvetica"/>
                <a:ea typeface="Helvetica"/>
                <a:cs typeface="Helvetica"/>
                <a:sym typeface="Helvetica"/>
              </a:rPr>
              <a:t>Method two:</a:t>
            </a:r>
            <a:r>
              <a:rPr sz="1800"/>
              <a:t> proximal policy optimization (PPO)</a:t>
            </a:r>
          </a:p>
        </p:txBody>
      </p:sp>
      <p:grpSp>
        <p:nvGrpSpPr>
          <p:cNvPr id="462" name="Group"/>
          <p:cNvGrpSpPr/>
          <p:nvPr/>
        </p:nvGrpSpPr>
        <p:grpSpPr>
          <a:xfrm>
            <a:off x="2997135" y="2906614"/>
            <a:ext cx="1509257" cy="387091"/>
            <a:chOff x="214007" y="0"/>
            <a:chExt cx="2861997" cy="734039"/>
          </a:xfrm>
        </p:grpSpPr>
        <p:sp>
          <p:nvSpPr>
            <p:cNvPr id="460" name="Line"/>
            <p:cNvSpPr/>
            <p:nvPr/>
          </p:nvSpPr>
          <p:spPr>
            <a:xfrm>
              <a:off x="214007" y="0"/>
              <a:ext cx="2861997" cy="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1" name="improve reward"/>
            <p:cNvSpPr txBox="1"/>
            <p:nvPr/>
          </p:nvSpPr>
          <p:spPr>
            <a:xfrm>
              <a:off x="578429" y="283576"/>
              <a:ext cx="2133156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/>
                  </a:solidFill>
                </a:defRPr>
              </a:lvl1pPr>
            </a:lstStyle>
            <a:p>
              <a:r>
                <a:rPr sz="1192"/>
                <a:t>improve reward</a:t>
              </a:r>
            </a:p>
          </p:txBody>
        </p:sp>
      </p:grpSp>
      <p:grpSp>
        <p:nvGrpSpPr>
          <p:cNvPr id="465" name="Group"/>
          <p:cNvGrpSpPr/>
          <p:nvPr/>
        </p:nvGrpSpPr>
        <p:grpSpPr>
          <a:xfrm>
            <a:off x="4758539" y="2840415"/>
            <a:ext cx="2096379" cy="364863"/>
            <a:chOff x="0" y="0"/>
            <a:chExt cx="3975354" cy="691887"/>
          </a:xfrm>
        </p:grpSpPr>
        <p:sp>
          <p:nvSpPr>
            <p:cNvPr id="463" name="Line"/>
            <p:cNvSpPr/>
            <p:nvPr/>
          </p:nvSpPr>
          <p:spPr>
            <a:xfrm>
              <a:off x="0" y="0"/>
              <a:ext cx="3975354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4" name="keep model similar"/>
            <p:cNvSpPr txBox="1"/>
            <p:nvPr/>
          </p:nvSpPr>
          <p:spPr>
            <a:xfrm>
              <a:off x="859062" y="241425"/>
              <a:ext cx="2546566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keep model similar</a:t>
              </a:r>
            </a:p>
          </p:txBody>
        </p:sp>
      </p:grpSp>
      <p:grpSp>
        <p:nvGrpSpPr>
          <p:cNvPr id="468" name="Group"/>
          <p:cNvGrpSpPr/>
          <p:nvPr/>
        </p:nvGrpSpPr>
        <p:grpSpPr>
          <a:xfrm>
            <a:off x="5385082" y="4288142"/>
            <a:ext cx="1843409" cy="318019"/>
            <a:chOff x="454239" y="0"/>
            <a:chExt cx="4287142" cy="696999"/>
          </a:xfrm>
        </p:grpSpPr>
        <p:sp>
          <p:nvSpPr>
            <p:cNvPr id="466" name="Line"/>
            <p:cNvSpPr/>
            <p:nvPr/>
          </p:nvSpPr>
          <p:spPr>
            <a:xfrm>
              <a:off x="454239" y="0"/>
              <a:ext cx="4287142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7" name="don’t reward large jumps"/>
            <p:cNvSpPr txBox="1"/>
            <p:nvPr/>
          </p:nvSpPr>
          <p:spPr>
            <a:xfrm>
              <a:off x="547854" y="176365"/>
              <a:ext cx="4099912" cy="5206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don’t reward large jumps</a:t>
              </a:r>
            </a:p>
          </p:txBody>
        </p:sp>
      </p:grpSp>
      <p:grpSp>
        <p:nvGrpSpPr>
          <p:cNvPr id="471" name="Group"/>
          <p:cNvGrpSpPr/>
          <p:nvPr/>
        </p:nvGrpSpPr>
        <p:grpSpPr>
          <a:xfrm>
            <a:off x="1896184" y="2236887"/>
            <a:ext cx="5221158" cy="1138535"/>
            <a:chOff x="0" y="0"/>
            <a:chExt cx="9900860" cy="2159000"/>
          </a:xfrm>
        </p:grpSpPr>
        <p:sp>
          <p:nvSpPr>
            <p:cNvPr id="469" name="Rectangle"/>
            <p:cNvSpPr/>
            <p:nvPr/>
          </p:nvSpPr>
          <p:spPr>
            <a:xfrm>
              <a:off x="0" y="0"/>
              <a:ext cx="9900861" cy="215900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0" name="CodeCogsEqn (8).pdf" descr="CodeCogsEqn (8)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871" y="93707"/>
              <a:ext cx="9135931" cy="9550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472" name="CodeCogsEqn (7).pdf" descr="CodeCogsEqn (7)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467" y="4138908"/>
            <a:ext cx="1596768" cy="37066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5" name="Group"/>
          <p:cNvGrpSpPr/>
          <p:nvPr/>
        </p:nvGrpSpPr>
        <p:grpSpPr>
          <a:xfrm>
            <a:off x="2902857" y="3869272"/>
            <a:ext cx="4889173" cy="909933"/>
            <a:chOff x="0" y="0"/>
            <a:chExt cx="9271318" cy="1725501"/>
          </a:xfrm>
        </p:grpSpPr>
        <p:sp>
          <p:nvSpPr>
            <p:cNvPr id="473" name="Rectangle"/>
            <p:cNvSpPr/>
            <p:nvPr/>
          </p:nvSpPr>
          <p:spPr>
            <a:xfrm>
              <a:off x="0" y="0"/>
              <a:ext cx="9271319" cy="1725502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4" name="CodeCogsEqn (9).pdf" descr="CodeCogsEqn (9).pdf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668" y="299662"/>
              <a:ext cx="8586755" cy="44047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3937651-FD93-B2A5-EACD-1924CF084F28}"/>
              </a:ext>
            </a:extLst>
          </p:cNvPr>
          <p:cNvSpPr txBox="1"/>
          <p:nvPr/>
        </p:nvSpPr>
        <p:spPr>
          <a:xfrm>
            <a:off x="6854918" y="1910418"/>
            <a:ext cx="2154436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tough to calculate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8" grpId="1" build="p" bldLvl="5" animBg="1" advAuto="0"/>
      <p:bldP spid="459" grpId="5" animBg="1" advAuto="0"/>
      <p:bldP spid="462" grpId="3" animBg="1" advAuto="0"/>
      <p:bldP spid="465" grpId="4" animBg="1" advAuto="0"/>
      <p:bldP spid="468" grpId="8" animBg="1" advAuto="0"/>
      <p:bldP spid="471" grpId="2" animBg="1" advAuto="0"/>
      <p:bldP spid="472" grpId="6" animBg="1" advAuto="0"/>
      <p:bldP spid="475" grpId="7" animBg="1" advAuto="0"/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E420A-B222-8B08-71CF-CD9C9040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Understanding the pessimistic clipping term a little more (from </a:t>
            </a:r>
            <a:r>
              <a:rPr lang="en-US">
                <a:hlinkClick r:id="rId2"/>
              </a:rPr>
              <a:t>Schulman et al. 2017</a:t>
            </a:r>
            <a:r>
              <a:rPr lang="en-US"/>
              <a:t>)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4B9D873-194A-D813-0F44-9C81AFD1B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456" y="1509856"/>
            <a:ext cx="3902273" cy="1198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R &gt; 0, so any &lt;1 rat (where current model is worse)  will be used but the biggest rat is 1+𝛜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0832-A576-D6A7-9BF9-6F456DA4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93" y="2706526"/>
            <a:ext cx="2298700" cy="2387600"/>
          </a:xfrm>
          <a:prstGeom prst="rect">
            <a:avLst/>
          </a:prstGeom>
        </p:spPr>
      </p:pic>
      <p:pic>
        <p:nvPicPr>
          <p:cNvPr id="6" name="CodeCogsEqn (9).pdf" descr="CodeCogsEqn (9).pdf">
            <a:extLst>
              <a:ext uri="{FF2B5EF4-FFF2-40B4-BE49-F238E27FC236}">
                <a16:creationId xmlns:a16="http://schemas.microsoft.com/office/drawing/2014/main" id="{4F4A6D06-BE7E-E298-A3D2-AEEF801A1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5593" y="1372939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247B353-BB68-36B7-1451-64D0B36CC805}"/>
              </a:ext>
            </a:extLst>
          </p:cNvPr>
          <p:cNvSpPr txBox="1">
            <a:spLocks/>
          </p:cNvSpPr>
          <p:nvPr/>
        </p:nvSpPr>
        <p:spPr>
          <a:xfrm>
            <a:off x="1514312" y="4653019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rat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734C463-E9DE-C39E-D99C-DB3075DA4CD1}"/>
              </a:ext>
            </a:extLst>
          </p:cNvPr>
          <p:cNvSpPr txBox="1">
            <a:spLocks/>
          </p:cNvSpPr>
          <p:nvPr/>
        </p:nvSpPr>
        <p:spPr>
          <a:xfrm>
            <a:off x="529574" y="3238874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925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loss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ED7696-1A17-15CD-B019-95A7A433CCB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2251"/>
          <a:stretch/>
        </p:blipFill>
        <p:spPr>
          <a:xfrm>
            <a:off x="4882433" y="2511474"/>
            <a:ext cx="2231333" cy="2213349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05F431-4632-2198-C840-65D1C10A8F9C}"/>
              </a:ext>
            </a:extLst>
          </p:cNvPr>
          <p:cNvSpPr txBox="1">
            <a:spLocks/>
          </p:cNvSpPr>
          <p:nvPr/>
        </p:nvSpPr>
        <p:spPr>
          <a:xfrm>
            <a:off x="4701314" y="1646773"/>
            <a:ext cx="3630444" cy="924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lnSpcReduction="100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 &lt; 0, so any &gt;1 rat (where current model is better) will be used but the smallest rat is 1-𝛜</a:t>
            </a:r>
          </a:p>
        </p:txBody>
      </p:sp>
    </p:spTree>
    <p:extLst>
      <p:ext uri="{BB962C8B-B14F-4D97-AF65-F5344CB8AC3E}">
        <p14:creationId xmlns:p14="http://schemas.microsoft.com/office/powerpoint/2010/main" val="3355401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8" grpId="0" animBg="1"/>
      <p:bldP spid="9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Adding a Baseli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Adding a Baseline</a:t>
            </a:r>
            <a:r>
              <a:rPr lang="en-US"/>
              <a:t> To Normalize R</a:t>
            </a:r>
            <a:endParaRPr/>
          </a:p>
        </p:txBody>
      </p:sp>
      <p:sp>
        <p:nvSpPr>
          <p:cNvPr id="478" name="Basic idea: we have expectations about our reward for a particular sentence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66428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Basic idea: we have expectations about our reward for a particular sentence</a:t>
            </a:r>
          </a:p>
        </p:txBody>
      </p:sp>
      <p:grpSp>
        <p:nvGrpSpPr>
          <p:cNvPr id="482" name="Group"/>
          <p:cNvGrpSpPr/>
          <p:nvPr/>
        </p:nvGrpSpPr>
        <p:grpSpPr>
          <a:xfrm>
            <a:off x="4817037" y="2185086"/>
            <a:ext cx="581490" cy="907276"/>
            <a:chOff x="289224" y="98618"/>
            <a:chExt cx="1102674" cy="1720464"/>
          </a:xfrm>
        </p:grpSpPr>
        <p:sp>
          <p:nvSpPr>
            <p:cNvPr id="479" name="Reward"/>
            <p:cNvSpPr txBox="1"/>
            <p:nvPr/>
          </p:nvSpPr>
          <p:spPr>
            <a:xfrm>
              <a:off x="289224" y="98618"/>
              <a:ext cx="110267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Reward</a:t>
              </a:r>
            </a:p>
          </p:txBody>
        </p:sp>
        <p:sp>
          <p:nvSpPr>
            <p:cNvPr id="480" name="0.8"/>
            <p:cNvSpPr txBox="1"/>
            <p:nvPr/>
          </p:nvSpPr>
          <p:spPr>
            <a:xfrm>
              <a:off x="587124" y="733617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0.8</a:t>
              </a:r>
            </a:p>
          </p:txBody>
        </p:sp>
        <p:sp>
          <p:nvSpPr>
            <p:cNvPr id="481" name="0.3"/>
            <p:cNvSpPr txBox="1"/>
            <p:nvPr/>
          </p:nvSpPr>
          <p:spPr>
            <a:xfrm>
              <a:off x="587124" y="1368619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0.3</a:t>
              </a:r>
            </a:p>
          </p:txBody>
        </p:sp>
      </p:grpSp>
      <p:grpSp>
        <p:nvGrpSpPr>
          <p:cNvPr id="486" name="Group"/>
          <p:cNvGrpSpPr/>
          <p:nvPr/>
        </p:nvGrpSpPr>
        <p:grpSpPr>
          <a:xfrm>
            <a:off x="5925915" y="2185086"/>
            <a:ext cx="640801" cy="907276"/>
            <a:chOff x="326255" y="98618"/>
            <a:chExt cx="1215148" cy="1720464"/>
          </a:xfrm>
        </p:grpSpPr>
        <p:sp>
          <p:nvSpPr>
            <p:cNvPr id="483" name="0.95"/>
            <p:cNvSpPr txBox="1"/>
            <p:nvPr/>
          </p:nvSpPr>
          <p:spPr>
            <a:xfrm>
              <a:off x="599835" y="733617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0.95</a:t>
              </a:r>
            </a:p>
          </p:txBody>
        </p:sp>
        <p:sp>
          <p:nvSpPr>
            <p:cNvPr id="484" name="Baseline"/>
            <p:cNvSpPr txBox="1"/>
            <p:nvPr/>
          </p:nvSpPr>
          <p:spPr>
            <a:xfrm>
              <a:off x="326255" y="98618"/>
              <a:ext cx="1215148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Baseline</a:t>
              </a:r>
            </a:p>
          </p:txBody>
        </p:sp>
        <p:sp>
          <p:nvSpPr>
            <p:cNvPr id="485" name="0.1"/>
            <p:cNvSpPr txBox="1"/>
            <p:nvPr/>
          </p:nvSpPr>
          <p:spPr>
            <a:xfrm>
              <a:off x="681911" y="1368619"/>
              <a:ext cx="50384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0.1</a:t>
              </a:r>
            </a:p>
          </p:txBody>
        </p:sp>
      </p:grpSp>
      <p:grpSp>
        <p:nvGrpSpPr>
          <p:cNvPr id="490" name="Group"/>
          <p:cNvGrpSpPr/>
          <p:nvPr/>
        </p:nvGrpSpPr>
        <p:grpSpPr>
          <a:xfrm>
            <a:off x="7049129" y="2220927"/>
            <a:ext cx="403557" cy="835593"/>
            <a:chOff x="574" y="71622"/>
            <a:chExt cx="1155116" cy="1774458"/>
          </a:xfrm>
        </p:grpSpPr>
        <p:sp>
          <p:nvSpPr>
            <p:cNvPr id="487" name="B-R"/>
            <p:cNvSpPr txBox="1"/>
            <p:nvPr/>
          </p:nvSpPr>
          <p:spPr>
            <a:xfrm>
              <a:off x="133633" y="71622"/>
              <a:ext cx="888993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B-R</a:t>
              </a:r>
            </a:p>
          </p:txBody>
        </p:sp>
        <p:sp>
          <p:nvSpPr>
            <p:cNvPr id="488" name="-0.15"/>
            <p:cNvSpPr txBox="1"/>
            <p:nvPr/>
          </p:nvSpPr>
          <p:spPr>
            <a:xfrm>
              <a:off x="574" y="706623"/>
              <a:ext cx="1155116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>
                      <a:hueOff val="-176146"/>
                      <a:satOff val="3665"/>
                      <a:lumOff val="-13986"/>
                    </a:schemeClr>
                  </a:solidFill>
                </a:defRPr>
              </a:lvl1pPr>
            </a:lstStyle>
            <a:p>
              <a:r>
                <a:rPr sz="1192"/>
                <a:t>-0.15</a:t>
              </a:r>
            </a:p>
          </p:txBody>
        </p:sp>
        <p:sp>
          <p:nvSpPr>
            <p:cNvPr id="489" name="0.2"/>
            <p:cNvSpPr txBox="1"/>
            <p:nvPr/>
          </p:nvSpPr>
          <p:spPr>
            <a:xfrm>
              <a:off x="195576" y="1341623"/>
              <a:ext cx="765105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>
                      <a:hueOff val="47394"/>
                      <a:satOff val="-25753"/>
                      <a:lumOff val="-7544"/>
                    </a:schemeClr>
                  </a:solidFill>
                </a:defRPr>
              </a:lvl1pPr>
            </a:lstStyle>
            <a:p>
              <a:r>
                <a:rPr sz="1192"/>
                <a:t>0.2</a:t>
              </a:r>
            </a:p>
          </p:txBody>
        </p:sp>
      </p:grpSp>
      <p:grpSp>
        <p:nvGrpSpPr>
          <p:cNvPr id="494" name="Group"/>
          <p:cNvGrpSpPr/>
          <p:nvPr/>
        </p:nvGrpSpPr>
        <p:grpSpPr>
          <a:xfrm>
            <a:off x="1526977" y="2118639"/>
            <a:ext cx="6211540" cy="1040170"/>
            <a:chOff x="0" y="0"/>
            <a:chExt cx="11778920" cy="1972469"/>
          </a:xfrm>
        </p:grpSpPr>
        <p:sp>
          <p:nvSpPr>
            <p:cNvPr id="491" name="“This is an easy sentence”"/>
            <p:cNvSpPr txBox="1"/>
            <p:nvPr/>
          </p:nvSpPr>
          <p:spPr>
            <a:xfrm>
              <a:off x="1089062" y="761006"/>
              <a:ext cx="3528412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“This is an easy sentence”</a:t>
              </a:r>
            </a:p>
          </p:txBody>
        </p:sp>
        <p:sp>
          <p:nvSpPr>
            <p:cNvPr id="492" name="“Buffalo Buffalo Buffalo”"/>
            <p:cNvSpPr txBox="1"/>
            <p:nvPr/>
          </p:nvSpPr>
          <p:spPr>
            <a:xfrm>
              <a:off x="1248650" y="1396005"/>
              <a:ext cx="3209237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“Buffalo Buffalo Buffalo”</a:t>
              </a:r>
            </a:p>
          </p:txBody>
        </p:sp>
        <p:sp>
          <p:nvSpPr>
            <p:cNvPr id="493" name="Rectangle"/>
            <p:cNvSpPr/>
            <p:nvPr/>
          </p:nvSpPr>
          <p:spPr>
            <a:xfrm>
              <a:off x="0" y="0"/>
              <a:ext cx="11778920" cy="19724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sp>
        <p:nvSpPr>
          <p:cNvPr id="495" name="We can instead weight our likelihood by B-R to reflect when we did better or worse than expected"/>
          <p:cNvSpPr txBox="1"/>
          <p:nvPr/>
        </p:nvSpPr>
        <p:spPr>
          <a:xfrm>
            <a:off x="1645295" y="3315147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2041" indent="-232041" algn="l" defTabSz="304968">
              <a:spcBef>
                <a:spcPts val="2162"/>
              </a:spcBef>
              <a:buSzPct val="75000"/>
              <a:buChar char="•"/>
              <a:defRPr sz="3564"/>
            </a:pPr>
            <a:r>
              <a:rPr sz="1879"/>
              <a:t>We can instead weight our likelihood by B-R to reflect when we did </a:t>
            </a:r>
            <a:r>
              <a:rPr sz="1879" b="1">
                <a:latin typeface="Helvetica"/>
                <a:ea typeface="Helvetica"/>
                <a:cs typeface="Helvetica"/>
                <a:sym typeface="Helvetica"/>
              </a:rPr>
              <a:t>better or worse than expected</a:t>
            </a:r>
          </a:p>
        </p:txBody>
      </p:sp>
      <p:pic>
        <p:nvPicPr>
          <p:cNvPr id="496" name="eq-060-baseline.pdf" descr="eq-060-baseline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383" y="4083239"/>
            <a:ext cx="4962674" cy="294680"/>
          </a:xfrm>
          <a:prstGeom prst="rect">
            <a:avLst/>
          </a:prstGeom>
          <a:ln w="12700">
            <a:miter lim="400000"/>
          </a:ln>
        </p:spPr>
      </p:pic>
      <p:sp>
        <p:nvSpPr>
          <p:cNvPr id="497" name="(Be careful to not backprop through the baseline)"/>
          <p:cNvSpPr txBox="1"/>
          <p:nvPr/>
        </p:nvSpPr>
        <p:spPr>
          <a:xfrm>
            <a:off x="1645295" y="4453682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>
            <a:lvl1pPr marL="444500" indent="-444500" algn="l">
              <a:spcBef>
                <a:spcPts val="4200"/>
              </a:spcBef>
              <a:buSzPct val="75000"/>
              <a:buChar char="•"/>
            </a:lvl1pPr>
          </a:lstStyle>
          <a:p>
            <a:r>
              <a:rPr sz="1192"/>
              <a:t>(Be careful to not backprop through the baseline)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8" grpId="1" animBg="1" advAuto="0"/>
      <p:bldP spid="482" grpId="3" animBg="1" advAuto="0"/>
      <p:bldP spid="486" grpId="4" animBg="1" advAuto="0"/>
      <p:bldP spid="490" grpId="5" animBg="1" advAuto="0"/>
      <p:bldP spid="494" grpId="2" animBg="1" advAuto="0"/>
      <p:bldP spid="495" grpId="6" animBg="1" advAuto="0"/>
      <p:bldP spid="496" grpId="7" animBg="1" advAuto="0"/>
      <p:bldP spid="497" grpId="8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Calculating Basel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Calculating Baselines</a:t>
            </a:r>
          </a:p>
        </p:txBody>
      </p:sp>
      <p:sp>
        <p:nvSpPr>
          <p:cNvPr id="500" name="Choice of a baseline is arbitrary…"/>
          <p:cNvSpPr txBox="1">
            <a:spLocks noGrp="1"/>
          </p:cNvSpPr>
          <p:nvPr>
            <p:ph type="body" idx="1"/>
          </p:nvPr>
        </p:nvSpPr>
        <p:spPr>
          <a:xfrm>
            <a:off x="669726" y="1035010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t>Choice of a baseline is arbitrary</a:t>
            </a:r>
          </a:p>
          <a:p>
            <a:r>
              <a:t>Option 1: predict final reward using linear from current state (e.g. Ranzato et al. 2016)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Sentence-level:</a:t>
            </a:r>
            <a:r>
              <a:t> one baseline per sentence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Decoder state level:</a:t>
            </a:r>
            <a:r>
              <a:t> one baseline per output action</a:t>
            </a:r>
          </a:p>
          <a:p>
            <a:r>
              <a:t>Option 2: use the mean of the rewards in the batch as the baseline (e.g. Dayan 1990)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0" grpId="1" build="p" bldLvl="5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1014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111707" y="1138535"/>
            <a:ext cx="10503285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trl 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PPOTrainer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PPOConfig, AutoModelForCausalLMWithValueHead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config = PPOConfig(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model_name="lvwerra/gpt2-imdb",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learning_rate=1.41e-5,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log_with="wandb",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915F3-22A1-E1EC-D2CC-FB5EE9BADC60}"/>
              </a:ext>
            </a:extLst>
          </p:cNvPr>
          <p:cNvSpPr txBox="1"/>
          <p:nvPr/>
        </p:nvSpPr>
        <p:spPr>
          <a:xfrm>
            <a:off x="111708" y="2718455"/>
            <a:ext cx="8773876" cy="7489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ref_model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ppo_trainer = PPOTrainer(config, model, ref_model</a:t>
            </a: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, ...)</a:t>
            </a:r>
            <a:endParaRPr kumimoji="0" lang="en-US" sz="140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CB75-7A23-8B2D-92EF-2CCC5DA07CB4}"/>
              </a:ext>
            </a:extLst>
          </p:cNvPr>
          <p:cNvSpPr txBox="1"/>
          <p:nvPr/>
        </p:nvSpPr>
        <p:spPr>
          <a:xfrm>
            <a:off x="6620343" y="2352246"/>
            <a:ext cx="2013372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Model starts as 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550EE-8063-2048-0453-8FD0ABCAFB21}"/>
              </a:ext>
            </a:extLst>
          </p:cNvPr>
          <p:cNvSpPr txBox="1"/>
          <p:nvPr/>
        </p:nvSpPr>
        <p:spPr>
          <a:xfrm>
            <a:off x="111707" y="3626395"/>
            <a:ext cx="8773876" cy="11798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sentiment_pipe = pipeline("sentiment-analysis", model="distilbert-imdb”, 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text = "this movie was really bad!!"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sentiment_pipe(text...)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[[{'label': 'NEGATIVE', 'score': 2.335048198699951},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{'label': 'POSITIVE', 'score': -2.726576566696167}]]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0CB4D-81BE-AB26-BBB4-F85C431ED5FF}"/>
              </a:ext>
            </a:extLst>
          </p:cNvPr>
          <p:cNvSpPr txBox="1"/>
          <p:nvPr/>
        </p:nvSpPr>
        <p:spPr>
          <a:xfrm>
            <a:off x="6126618" y="4112527"/>
            <a:ext cx="3000821" cy="656590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reward model (R)</a:t>
            </a:r>
            <a:br>
              <a:rPr lang="en-US" sz="1800"/>
            </a:br>
            <a:r>
              <a:rPr lang="en-US" sz="1800"/>
              <a:t> is basic sentiment classifier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FDA30C65-CDF1-E1EB-7929-807074426953}"/>
              </a:ext>
            </a:extLst>
          </p:cNvPr>
          <p:cNvSpPr/>
          <p:nvPr/>
        </p:nvSpPr>
        <p:spPr>
          <a:xfrm rot="9409290">
            <a:off x="5647174" y="2236753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21EBA-07AB-0BBC-EB6C-95DC62E85819}"/>
              </a:ext>
            </a:extLst>
          </p:cNvPr>
          <p:cNvSpPr/>
          <p:nvPr/>
        </p:nvSpPr>
        <p:spPr>
          <a:xfrm>
            <a:off x="111707" y="2731837"/>
            <a:ext cx="9015732" cy="89455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BB0CA-763E-1E19-7E64-9E151A349EED}"/>
              </a:ext>
            </a:extLst>
          </p:cNvPr>
          <p:cNvSpPr/>
          <p:nvPr/>
        </p:nvSpPr>
        <p:spPr>
          <a:xfrm>
            <a:off x="64132" y="3675571"/>
            <a:ext cx="9079867" cy="202519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22581485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3" grpId="0" animBg="1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228598" y="1084447"/>
            <a:ext cx="10503285" cy="35496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 batch in enumerate(ppo_trainer.dataloader):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query_t = batch["input_ids"]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Get response from gpt2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response_t =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for query in queries: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   response_t.append(ppo_trainer.generate(query...))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batch["response"] = [tokenizer.decode(r) for r in response_t]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Compute sentiment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texts = [q + r for q, r in zip(batch["query"], batch["response"])]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outputs = sentiment_pipe(texts...)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rewards = [o[1]["score"] for o in outputs]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160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Run PPO step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stats = ppo_trainer.step(query_t, response_t, rewards)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09141-26C7-C0F4-62E0-8AA6E94629DF}"/>
              </a:ext>
            </a:extLst>
          </p:cNvPr>
          <p:cNvSpPr txBox="1"/>
          <p:nvPr/>
        </p:nvSpPr>
        <p:spPr>
          <a:xfrm>
            <a:off x="5899521" y="3497468"/>
            <a:ext cx="324447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positive signal used as reward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26EC3-AA30-CA69-6822-18ACF34CC14B}"/>
              </a:ext>
            </a:extLst>
          </p:cNvPr>
          <p:cNvSpPr txBox="1"/>
          <p:nvPr/>
        </p:nvSpPr>
        <p:spPr>
          <a:xfrm>
            <a:off x="5478564" y="1763687"/>
            <a:ext cx="343683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run the model to produce output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100112C-792A-EB63-3A2E-34AA363ED73A}"/>
              </a:ext>
            </a:extLst>
          </p:cNvPr>
          <p:cNvSpPr/>
          <p:nvPr/>
        </p:nvSpPr>
        <p:spPr>
          <a:xfrm rot="9409290">
            <a:off x="4416633" y="1680889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E7E0AB-A09A-9556-1570-B90242C4C88A}"/>
              </a:ext>
            </a:extLst>
          </p:cNvPr>
          <p:cNvSpPr/>
          <p:nvPr/>
        </p:nvSpPr>
        <p:spPr>
          <a:xfrm>
            <a:off x="669726" y="1649096"/>
            <a:ext cx="9015732" cy="10058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591C3-499A-F75E-4D29-06D3A9245DA9}"/>
              </a:ext>
            </a:extLst>
          </p:cNvPr>
          <p:cNvSpPr/>
          <p:nvPr/>
        </p:nvSpPr>
        <p:spPr>
          <a:xfrm>
            <a:off x="669726" y="2601812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84D52C-32EA-6677-473F-2F16B2267E75}"/>
              </a:ext>
            </a:extLst>
          </p:cNvPr>
          <p:cNvSpPr/>
          <p:nvPr/>
        </p:nvSpPr>
        <p:spPr>
          <a:xfrm>
            <a:off x="617518" y="4081354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015B530-7231-E9D9-0913-47F7B0CA62B1}"/>
              </a:ext>
            </a:extLst>
          </p:cNvPr>
          <p:cNvSpPr/>
          <p:nvPr/>
        </p:nvSpPr>
        <p:spPr>
          <a:xfrm rot="11763350">
            <a:off x="4074607" y="3814196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48285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9" grpId="0" animBg="1"/>
      <p:bldP spid="10" grpId="0" animBg="1"/>
      <p:bldP spid="7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DE6BE-D28F-CDBF-144C-3CA97482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83499"/>
            <a:ext cx="7804547" cy="1138535"/>
          </a:xfrm>
        </p:spPr>
        <p:txBody>
          <a:bodyPr/>
          <a:lstStyle/>
          <a:p>
            <a:r>
              <a:rPr lang="en-US"/>
              <a:t>Reward Calculation from trl </a:t>
            </a:r>
            <a:r>
              <a:rPr lang="en-US">
                <a:hlinkClick r:id="rId2"/>
              </a:rPr>
              <a:t>PPO code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A9AC9-F9E1-29F8-79D1-315484595A5B}"/>
              </a:ext>
            </a:extLst>
          </p:cNvPr>
          <p:cNvSpPr txBox="1"/>
          <p:nvPr/>
        </p:nvSpPr>
        <p:spPr>
          <a:xfrm>
            <a:off x="3645543" y="4734689"/>
            <a:ext cx="4337726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(Note: this is somewhat out of date PPO code)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E8F9C-EFF5-FCBB-DE1E-18BFF52815C5}"/>
              </a:ext>
            </a:extLst>
          </p:cNvPr>
          <p:cNvSpPr txBox="1"/>
          <p:nvPr/>
        </p:nvSpPr>
        <p:spPr>
          <a:xfrm>
            <a:off x="-321750" y="632520"/>
            <a:ext cx="8842164" cy="41652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compute_rewards(self,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scores, # Scores from the reward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logprobs, # Log probabilities of the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ref_logprobs, # Log probabilities of the reference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masks, 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rewards, non_score_rewards, kls = [], [],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for score, logprob, ref_logprob, mask in zip(scores, logprobs, ref_logprobs, masks):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compute KL penalty (from difference in logprobs)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 = self._kl_penalty(logprob, ref_logprob)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kls.append(kl)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 = -self.kl_ctl.value * kl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non_score_rewards.append(non_score_reward)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 = non_score_reward.clone()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last_non_masked_index = mask.nonzero()[-1]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reward is preference model score + KL penalty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reward[last_non_masked_index] +=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rewards.append(reward)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return torch.stack(rewards), torch.stack(non_score_rewards), torch.stack(kls)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_kl_penalty(self, logprob, ref_logprob):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if self.config.kl_penalty == "kl":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return logprob - ref_logprob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90D10-A360-5254-5F9B-4120BF62702F}"/>
              </a:ext>
            </a:extLst>
          </p:cNvPr>
          <p:cNvSpPr txBox="1"/>
          <p:nvPr/>
        </p:nvSpPr>
        <p:spPr>
          <a:xfrm>
            <a:off x="5057476" y="2397343"/>
            <a:ext cx="2189702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beta (can be dynamic)</a:t>
            </a:r>
          </a:p>
        </p:txBody>
      </p:sp>
      <p:pic>
        <p:nvPicPr>
          <p:cNvPr id="10" name="CodeCogsEqn (7).pdf" descr="CodeCogsEqn (7).pdf">
            <a:extLst>
              <a:ext uri="{FF2B5EF4-FFF2-40B4-BE49-F238E27FC236}">
                <a16:creationId xmlns:a16="http://schemas.microsoft.com/office/drawing/2014/main" id="{CF526972-EB7E-2FAA-85CE-7C146E95D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406" y="2026682"/>
            <a:ext cx="1596768" cy="370661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C67227-3C3B-8ABA-6A06-0645EA13E5D0}"/>
              </a:ext>
            </a:extLst>
          </p:cNvPr>
          <p:cNvSpPr txBox="1"/>
          <p:nvPr/>
        </p:nvSpPr>
        <p:spPr>
          <a:xfrm>
            <a:off x="5223787" y="3226751"/>
            <a:ext cx="2778005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pretty irregular, right? </a:t>
            </a:r>
            <a:b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Explains instability somewhat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C006BA-9354-5F86-95C9-BE7CC82041F9}"/>
              </a:ext>
            </a:extLst>
          </p:cNvPr>
          <p:cNvSpPr/>
          <p:nvPr/>
        </p:nvSpPr>
        <p:spPr>
          <a:xfrm>
            <a:off x="378323" y="1820183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14565-6639-67C4-9300-A9A91FB54264}"/>
              </a:ext>
            </a:extLst>
          </p:cNvPr>
          <p:cNvSpPr/>
          <p:nvPr/>
        </p:nvSpPr>
        <p:spPr>
          <a:xfrm>
            <a:off x="378323" y="2903203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A3CF68-F30F-92DE-BC90-C755EFAD3516}"/>
              </a:ext>
            </a:extLst>
          </p:cNvPr>
          <p:cNvSpPr/>
          <p:nvPr/>
        </p:nvSpPr>
        <p:spPr>
          <a:xfrm>
            <a:off x="-58497" y="3647164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6785478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A556E-33D9-EB5D-41BC-03A214B7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RLHF </a:t>
            </a:r>
            <a:r>
              <a:rPr lang="en-US">
                <a:sym typeface="Wingdings" pitchFamily="2" charset="2"/>
              </a:rPr>
              <a:t> InstructGPT  ChatGPT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03426-7DE5-795F-5A8B-4384FF1A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726" y="914177"/>
            <a:ext cx="7804547" cy="3315146"/>
          </a:xfrm>
        </p:spPr>
        <p:txBody>
          <a:bodyPr/>
          <a:lstStyle/>
          <a:p>
            <a:r>
              <a:rPr lang="en-US"/>
              <a:t>Start with a much better SFT model than baseline GPTx</a:t>
            </a:r>
          </a:p>
          <a:p>
            <a:r>
              <a:rPr lang="en-US"/>
              <a:t>Reward model from human feedback, adjusted carefully to prevent destabilization during RL</a:t>
            </a:r>
          </a:p>
          <a:p>
            <a:r>
              <a:rPr lang="en-US"/>
              <a:t>PPO used, to encourage stability during RL</a:t>
            </a:r>
          </a:p>
          <a:p>
            <a:r>
              <a:rPr lang="en-US"/>
              <a:t>Lots of data </a:t>
            </a:r>
          </a:p>
        </p:txBody>
      </p:sp>
    </p:spTree>
    <p:extLst>
      <p:ext uri="{BB962C8B-B14F-4D97-AF65-F5344CB8AC3E}">
        <p14:creationId xmlns:p14="http://schemas.microsoft.com/office/powerpoint/2010/main" val="3074346979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7" y="-7142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Overview: RLHF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83BCA-8702-DB9D-8083-82A3A11A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0397" y="3171922"/>
            <a:ext cx="7804547" cy="3315146"/>
          </a:xfrm>
        </p:spPr>
        <p:txBody>
          <a:bodyPr/>
          <a:lstStyle/>
          <a:p>
            <a:r>
              <a:rPr lang="en-US"/>
              <a:t>ChatGPT </a:t>
            </a:r>
            <a:r>
              <a:rPr lang="en-US">
                <a:hlinkClick r:id="rId4"/>
              </a:rPr>
              <a:t>Blog Post</a:t>
            </a:r>
            <a:r>
              <a:rPr lang="en-US"/>
              <a:t>: “ChatGPT is a sibling model to InstructGPT...”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892" y="834222"/>
            <a:ext cx="6459052" cy="3835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091682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648" b="12840"/>
          <a:stretch/>
        </p:blipFill>
        <p:spPr bwMode="auto">
          <a:xfrm>
            <a:off x="198783" y="242791"/>
            <a:ext cx="2713382" cy="462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0785" y="3011557"/>
            <a:ext cx="5870222" cy="1785860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Plain old supervised fine-tuning (“mid-training”) of GPT 3.5 (𝜌)</a:t>
            </a:r>
          </a:p>
          <a:p>
            <a:r>
              <a:rPr lang="en-US"/>
              <a:t>InstructGPT: 13k examples; mix of labeler-generated tasks and user-provided suggestions </a:t>
            </a:r>
          </a:p>
          <a:p>
            <a:r>
              <a:rPr lang="en-US"/>
              <a:t>This gets a pretty-good instruction following model (𝜋)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FE2988-97BE-D965-49DF-85CEF4064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249" y="644305"/>
            <a:ext cx="5539758" cy="236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144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20" r="35070" b="4229"/>
          <a:stretch/>
        </p:blipFill>
        <p:spPr bwMode="auto">
          <a:xfrm>
            <a:off x="102529" y="106758"/>
            <a:ext cx="285253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314004"/>
            <a:ext cx="5539758" cy="3599276"/>
          </a:xfrm>
        </p:spPr>
        <p:txBody>
          <a:bodyPr>
            <a:normAutofit/>
          </a:bodyPr>
          <a:lstStyle/>
          <a:p>
            <a:r>
              <a:rPr lang="en-US" sz="1600"/>
              <a:t>For each prompt x, several outputs y0...y3, preferred one (b) identified (33k of these collected in InstructGPT)</a:t>
            </a:r>
          </a:p>
          <a:p>
            <a:r>
              <a:rPr lang="en-US" sz="1600"/>
              <a:t>Reward model (r) could be anything we discussed at the beginning</a:t>
            </a:r>
          </a:p>
          <a:p>
            <a:r>
              <a:rPr lang="en-US" sz="1600"/>
              <a:t>In this work, it is the SFT model with a linear classifier head, trained to optimize human selection (Plackett-Luce, which is generalized Bradley-Terry):</a:t>
            </a:r>
            <a:br>
              <a:rPr lang="en-US" sz="1600"/>
            </a:br>
            <a:br>
              <a:rPr lang="en-US" sz="1600"/>
            </a:br>
            <a:endParaRPr lang="en-US" sz="1600"/>
          </a:p>
          <a:p>
            <a:r>
              <a:rPr lang="en-US" sz="1600"/>
              <a:t>r is also normalized to have mean 0 variance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4A3666-427F-A9E2-1B53-169131D8F13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333"/>
          <a:stretch/>
        </p:blipFill>
        <p:spPr>
          <a:xfrm>
            <a:off x="4251394" y="2773017"/>
            <a:ext cx="3543300" cy="5800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A74915-5684-3CED-C73D-F9C044D79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0664" y="3656997"/>
            <a:ext cx="4608158" cy="148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287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0" r="-2963" b="4229"/>
          <a:stretch/>
        </p:blipFill>
        <p:spPr bwMode="auto">
          <a:xfrm>
            <a:off x="218664" y="106758"/>
            <a:ext cx="320040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793820"/>
            <a:ext cx="5539758" cy="3599276"/>
          </a:xfrm>
        </p:spPr>
        <p:txBody>
          <a:bodyPr>
            <a:normAutofit/>
          </a:bodyPr>
          <a:lstStyle/>
          <a:p>
            <a:r>
              <a:rPr lang="en-US"/>
              <a:t>We now repeatedly draw (a batch of) x (a prompt) and use 𝜋 to complete it (y) – recall self training (31k prompts collected)</a:t>
            </a:r>
          </a:p>
          <a:p>
            <a:r>
              <a:rPr lang="en-US"/>
              <a:t>Reward R is a modification of r that discourages variance from the SFT model (repeating theme!):</a:t>
            </a:r>
            <a:br>
              <a:rPr lang="en-US"/>
            </a:br>
            <a:endParaRPr lang="en-US"/>
          </a:p>
          <a:p>
            <a:r>
              <a:rPr lang="en-US"/>
              <a:t>Then PPO is used to encourage outputs with good R; recall 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6FE6C-E9E0-EC6D-12EE-1CE039687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042" y="2571749"/>
            <a:ext cx="2705100" cy="698500"/>
          </a:xfrm>
          <a:prstGeom prst="rect">
            <a:avLst/>
          </a:prstGeom>
        </p:spPr>
      </p:pic>
      <p:pic>
        <p:nvPicPr>
          <p:cNvPr id="8" name="CodeCogsEqn (9).pdf" descr="CodeCogsEqn (9).pdf">
            <a:extLst>
              <a:ext uri="{FF2B5EF4-FFF2-40B4-BE49-F238E27FC236}">
                <a16:creationId xmlns:a16="http://schemas.microsoft.com/office/drawing/2014/main" id="{1B90D4F8-B704-0553-80F1-310CFC2E1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0649" y="3841170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9" name="CodeCogsEqn (7).pdf" descr="CodeCogsEqn (7).pdf">
            <a:extLst>
              <a:ext uri="{FF2B5EF4-FFF2-40B4-BE49-F238E27FC236}">
                <a16:creationId xmlns:a16="http://schemas.microsoft.com/office/drawing/2014/main" id="{7E888ABD-D9FA-45C0-1690-CB00838029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0669" y="4122565"/>
            <a:ext cx="1596768" cy="370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7A06AF-A946-E1EA-06B3-8A9A024A97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5832" y="4122167"/>
            <a:ext cx="4165662" cy="102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783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Results (Ouyang et al. ‘22)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931BF7-3DB6-CFF5-018D-B6AB0FC47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10" y="1172069"/>
            <a:ext cx="7428176" cy="24879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7692013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Generally better at “high-level” tasks</a:t>
            </a:r>
          </a:p>
          <a:p>
            <a:pPr algn="l"/>
            <a:r>
              <a:rPr lang="en-US"/>
              <a:t>(PPO-ptx variant includes an additional pretraining term in objective to avoid catastrophic forgetting)</a:t>
            </a:r>
          </a:p>
        </p:txBody>
      </p:sp>
    </p:spTree>
    <p:extLst>
      <p:ext uri="{BB962C8B-B14F-4D97-AF65-F5344CB8AC3E}">
        <p14:creationId xmlns:p14="http://schemas.microsoft.com/office/powerpoint/2010/main" val="784795245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Prompts vs other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8519475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FLAN and T0 (derived from existing benchmarks, manipulated into prompt structure) aren’t sufficiently diverse to improve performance on OpenAI’s API prompt distribution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A3A31-B465-DA7C-A6F7-42A3B9134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334" y="1115951"/>
            <a:ext cx="3339332" cy="265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23821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3AF14-F8FB-DD0B-CBFC-2C1B81D28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How Important is it to ChatGPT/etc?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06693-B5D7-F051-FA3C-DEB65B306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1054100"/>
            <a:ext cx="3962400" cy="303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86E400-7CC6-5C6A-58EE-A20858722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27" y="1206361"/>
            <a:ext cx="3644900" cy="3213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FC8D9D-C52A-EFE2-2C76-CE80666A3F3C}"/>
              </a:ext>
            </a:extLst>
          </p:cNvPr>
          <p:cNvSpPr txBox="1"/>
          <p:nvPr/>
        </p:nvSpPr>
        <p:spPr>
          <a:xfrm>
            <a:off x="221064" y="4589278"/>
            <a:ext cx="9264580" cy="4401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GPT-4 report suggests...not very? They (probably) do a </a:t>
            </a:r>
            <a:r>
              <a:rPr lang="en-US" u="sng"/>
              <a:t>lot</a:t>
            </a:r>
            <a:r>
              <a:rPr lang="en-US"/>
              <a:t> of SFT...</a:t>
            </a:r>
          </a:p>
        </p:txBody>
      </p:sp>
    </p:spTree>
    <p:extLst>
      <p:ext uri="{BB962C8B-B14F-4D97-AF65-F5344CB8AC3E}">
        <p14:creationId xmlns:p14="http://schemas.microsoft.com/office/powerpoint/2010/main" val="37468171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D8BC8-D335-71C5-8458-3700E4392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DPO: Let’s Get Rid of the Reward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C7A4B-25B3-8C73-19E5-7CCB89304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200" y="1134458"/>
            <a:ext cx="8313500" cy="3676138"/>
          </a:xfrm>
        </p:spPr>
        <p:txBody>
          <a:bodyPr/>
          <a:lstStyle/>
          <a:p>
            <a:r>
              <a:rPr lang="en-US"/>
              <a:t>It seems like we’re kind of scared of the reward and the instability it causes! </a:t>
            </a:r>
          </a:p>
          <a:p>
            <a:pPr lvl="1"/>
            <a:r>
              <a:rPr lang="en-US"/>
              <a:t>We normalize the value</a:t>
            </a:r>
          </a:p>
          <a:p>
            <a:pPr lvl="1"/>
            <a:r>
              <a:rPr lang="en-US"/>
              <a:t>We regularize its impact on model scores</a:t>
            </a:r>
          </a:p>
          <a:p>
            <a:r>
              <a:rPr lang="en-US"/>
              <a:t>Can we avoid it altogether by defining reward in terms of model evolution? </a:t>
            </a:r>
          </a:p>
          <a:p>
            <a:r>
              <a:rPr lang="en-US"/>
              <a:t>Consider the RL optimization (expectation of R):</a:t>
            </a:r>
          </a:p>
          <a:p>
            <a:pPr lvl="1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EAF1A-3EC9-DFEA-2F9A-F2D755D1A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295" y="2195317"/>
            <a:ext cx="3994978" cy="4087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FAD063-28C9-DB5B-B200-7AB4DF883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600" y="2499413"/>
            <a:ext cx="2705100" cy="698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E1D023-E90A-95BE-C1EB-0DE0C2115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90" y="4306621"/>
            <a:ext cx="5064004" cy="724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22F6C9D-061D-24E9-28FF-A8BE4A3BA8FF}"/>
              </a:ext>
            </a:extLst>
          </p:cNvPr>
          <p:cNvSpPr txBox="1"/>
          <p:nvPr/>
        </p:nvSpPr>
        <p:spPr>
          <a:xfrm>
            <a:off x="1609234" y="4433005"/>
            <a:ext cx="990656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R(x, y)</a:t>
            </a:r>
          </a:p>
        </p:txBody>
      </p:sp>
    </p:spTree>
    <p:extLst>
      <p:ext uri="{BB962C8B-B14F-4D97-AF65-F5344CB8AC3E}">
        <p14:creationId xmlns:p14="http://schemas.microsoft.com/office/powerpoint/2010/main" val="7410845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A3B75-D317-EAEB-CEEB-2C2E2120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64F25-6A15-0640-A319-18C48C8EB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233" y="1927914"/>
            <a:ext cx="4771674" cy="9246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61FB34-3FC8-46B5-EA0B-6B0C4D0A3381}"/>
              </a:ext>
            </a:extLst>
          </p:cNvPr>
          <p:cNvSpPr txBox="1"/>
          <p:nvPr/>
        </p:nvSpPr>
        <p:spPr>
          <a:xfrm>
            <a:off x="191963" y="1613676"/>
            <a:ext cx="549669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can show that the best policy has this form: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FC59D-5885-409F-C54D-F286018A6DFA}"/>
              </a:ext>
            </a:extLst>
          </p:cNvPr>
          <p:cNvSpPr txBox="1"/>
          <p:nvPr/>
        </p:nvSpPr>
        <p:spPr>
          <a:xfrm>
            <a:off x="5963478" y="1032480"/>
            <a:ext cx="3637723" cy="718145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pi-ref is same thing as rho before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985A6-5601-C808-C221-177408AD6ED1}"/>
              </a:ext>
            </a:extLst>
          </p:cNvPr>
          <p:cNvSpPr txBox="1"/>
          <p:nvPr/>
        </p:nvSpPr>
        <p:spPr>
          <a:xfrm>
            <a:off x="191963" y="2689359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 potential problem here is Z, the partition function, which is intractable for NLP)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C8942-0641-C815-B681-F0CC9F064C9F}"/>
              </a:ext>
            </a:extLst>
          </p:cNvPr>
          <p:cNvSpPr txBox="1"/>
          <p:nvPr/>
        </p:nvSpPr>
        <p:spPr>
          <a:xfrm>
            <a:off x="191963" y="3344125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 reward can then be expressed in terms of a ratio of models (and Z)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5FF30A-3CFA-D0BD-1798-1A444BFE29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106"/>
          <a:stretch/>
        </p:blipFill>
        <p:spPr>
          <a:xfrm>
            <a:off x="1711186" y="3899100"/>
            <a:ext cx="3276600" cy="57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2976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221B1-CD8D-FFED-1CD4-AEDEA009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Bradley-Terry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ABB352-17CB-251C-998A-902F747039EC}"/>
              </a:ext>
            </a:extLst>
          </p:cNvPr>
          <p:cNvSpPr txBox="1"/>
          <p:nvPr/>
        </p:nvSpPr>
        <p:spPr>
          <a:xfrm>
            <a:off x="301400" y="1088577"/>
            <a:ext cx="8541200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If you have some score (r*) for choices 1 vs 2 (let’s say sports teams number of wins), the Bradley-Terry Model says the probability that 1 is better than (beats) 2 is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08D5DA-16D9-35AF-98D7-A8E1E6A5D0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5"/>
          <a:stretch/>
        </p:blipFill>
        <p:spPr>
          <a:xfrm>
            <a:off x="3101008" y="1852462"/>
            <a:ext cx="4158698" cy="749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7E6B8-17C0-65FC-7AE6-CFBE5722453D}"/>
              </a:ext>
            </a:extLst>
          </p:cNvPr>
          <p:cNvSpPr txBox="1"/>
          <p:nvPr/>
        </p:nvSpPr>
        <p:spPr>
          <a:xfrm>
            <a:off x="301400" y="2763487"/>
            <a:ext cx="1646670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So let’s plug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54192-3A9F-24A3-56A1-B3E1F56E1E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106"/>
          <a:stretch/>
        </p:blipFill>
        <p:spPr>
          <a:xfrm>
            <a:off x="1780759" y="2716392"/>
            <a:ext cx="3276600" cy="575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6ECB10-284C-17EE-A754-E2E86E0A2C7C}"/>
              </a:ext>
            </a:extLst>
          </p:cNvPr>
          <p:cNvSpPr txBox="1"/>
          <p:nvPr/>
        </p:nvSpPr>
        <p:spPr>
          <a:xfrm>
            <a:off x="5180357" y="2716392"/>
            <a:ext cx="3785241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for r(...) when comparing a “winning” vs “losing alternative: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D29E60-BED4-6B6B-9E06-0B457B8C5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51" y="3376550"/>
            <a:ext cx="4965700" cy="711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1178CB-852F-8949-9839-100458DBF6FF}"/>
              </a:ext>
            </a:extLst>
          </p:cNvPr>
          <p:cNvSpPr txBox="1"/>
          <p:nvPr/>
        </p:nvSpPr>
        <p:spPr>
          <a:xfrm>
            <a:off x="301400" y="4054923"/>
            <a:ext cx="7997774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Sigmoid of the ratio! And no Z! Which gets us to the DPO loss: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3DE54-26C3-D54D-21D0-995C9BAF4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09" y="4424058"/>
            <a:ext cx="6515100" cy="647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A394FF5-B90F-1904-9CE0-07A44454176E}"/>
              </a:ext>
            </a:extLst>
          </p:cNvPr>
          <p:cNvSpPr txBox="1"/>
          <p:nvPr/>
        </p:nvSpPr>
        <p:spPr>
          <a:xfrm>
            <a:off x="7078925" y="4446237"/>
            <a:ext cx="1933223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(an explanation of </a:t>
            </a:r>
            <a:b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this is in hidden slides)</a:t>
            </a:r>
          </a:p>
        </p:txBody>
      </p:sp>
    </p:spTree>
    <p:extLst>
      <p:ext uri="{BB962C8B-B14F-4D97-AF65-F5344CB8AC3E}">
        <p14:creationId xmlns:p14="http://schemas.microsoft.com/office/powerpoint/2010/main" val="38058759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EEBE28-AC46-70F7-6731-DC8C43AB2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-1"/>
            <a:ext cx="8998674" cy="50543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438D6D-E6DA-0343-FC2E-8E9BB98C3813}"/>
              </a:ext>
            </a:extLst>
          </p:cNvPr>
          <p:cNvSpPr/>
          <p:nvPr/>
        </p:nvSpPr>
        <p:spPr>
          <a:xfrm>
            <a:off x="1204290" y="1704199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2CDB75-F401-2B6D-8133-F089B94A375B}"/>
              </a:ext>
            </a:extLst>
          </p:cNvPr>
          <p:cNvSpPr/>
          <p:nvPr/>
        </p:nvSpPr>
        <p:spPr>
          <a:xfrm>
            <a:off x="452173" y="2527159"/>
            <a:ext cx="8088925" cy="17042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1521904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B9910FE-4898-F54C-1652-8B1F1AFBC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0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0EB5EEF-27A0-5DE3-B57A-327F6AAA547F}"/>
              </a:ext>
            </a:extLst>
          </p:cNvPr>
          <p:cNvSpPr/>
          <p:nvPr/>
        </p:nvSpPr>
        <p:spPr>
          <a:xfrm>
            <a:off x="763674" y="1835328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44651-9EB0-FA41-0B88-86D05E4566C7}"/>
              </a:ext>
            </a:extLst>
          </p:cNvPr>
          <p:cNvSpPr/>
          <p:nvPr/>
        </p:nvSpPr>
        <p:spPr>
          <a:xfrm>
            <a:off x="512465" y="2463436"/>
            <a:ext cx="6235002" cy="13716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A4D104-BF4A-7F8C-A8BF-8CBDFF7BEBA1}"/>
              </a:ext>
            </a:extLst>
          </p:cNvPr>
          <p:cNvSpPr/>
          <p:nvPr/>
        </p:nvSpPr>
        <p:spPr>
          <a:xfrm>
            <a:off x="276329" y="3876769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AD7A3-A4EE-D63E-30AB-7C741BA91C38}"/>
              </a:ext>
            </a:extLst>
          </p:cNvPr>
          <p:cNvSpPr/>
          <p:nvPr/>
        </p:nvSpPr>
        <p:spPr>
          <a:xfrm>
            <a:off x="2169042" y="951299"/>
            <a:ext cx="244549" cy="18638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71628498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71CD78-E5CF-CB22-850C-FABF73EE9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4510" y="251208"/>
            <a:ext cx="9157448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6DE2432-F796-D708-87EC-C4E1DC6D2F75}"/>
              </a:ext>
            </a:extLst>
          </p:cNvPr>
          <p:cNvSpPr/>
          <p:nvPr/>
        </p:nvSpPr>
        <p:spPr>
          <a:xfrm>
            <a:off x="-10050" y="1693926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F37895-00E3-5286-D66A-74D9442E7293}"/>
              </a:ext>
            </a:extLst>
          </p:cNvPr>
          <p:cNvSpPr/>
          <p:nvPr/>
        </p:nvSpPr>
        <p:spPr>
          <a:xfrm>
            <a:off x="331594" y="2326281"/>
            <a:ext cx="6235002" cy="993354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8457D-175E-1977-91BB-84A8721437CF}"/>
              </a:ext>
            </a:extLst>
          </p:cNvPr>
          <p:cNvSpPr/>
          <p:nvPr/>
        </p:nvSpPr>
        <p:spPr>
          <a:xfrm>
            <a:off x="0" y="3215096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5069540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DB0EB6-2A6B-29E5-11C6-8BEEC4220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160"/>
            <a:ext cx="8979902" cy="504377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6B534F4-B484-5F77-4D7D-E4C177A2407F}"/>
              </a:ext>
            </a:extLst>
          </p:cNvPr>
          <p:cNvSpPr/>
          <p:nvPr/>
        </p:nvSpPr>
        <p:spPr>
          <a:xfrm>
            <a:off x="1251020" y="1718268"/>
            <a:ext cx="6576646" cy="60350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59BE1-2670-2CB8-BC53-72E6867C5C97}"/>
              </a:ext>
            </a:extLst>
          </p:cNvPr>
          <p:cNvSpPr/>
          <p:nvPr/>
        </p:nvSpPr>
        <p:spPr>
          <a:xfrm>
            <a:off x="1013207" y="2894880"/>
            <a:ext cx="610102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58EA-0A22-CB52-2D21-7DC900F61103}"/>
              </a:ext>
            </a:extLst>
          </p:cNvPr>
          <p:cNvSpPr/>
          <p:nvPr/>
        </p:nvSpPr>
        <p:spPr>
          <a:xfrm>
            <a:off x="750276" y="2297430"/>
            <a:ext cx="7971693" cy="56692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230D46-21CF-D980-FFC4-E7D801D68A7F}"/>
              </a:ext>
            </a:extLst>
          </p:cNvPr>
          <p:cNvSpPr/>
          <p:nvPr/>
        </p:nvSpPr>
        <p:spPr>
          <a:xfrm>
            <a:off x="884253" y="3443520"/>
            <a:ext cx="6101026" cy="6400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E213B-653B-97CA-8D19-729F28A47D30}"/>
              </a:ext>
            </a:extLst>
          </p:cNvPr>
          <p:cNvSpPr/>
          <p:nvPr/>
        </p:nvSpPr>
        <p:spPr>
          <a:xfrm>
            <a:off x="411980" y="4135628"/>
            <a:ext cx="1828802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4395249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BE5AA0-24C3-CC55-7040-62F8F8FF7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7" y="43283"/>
            <a:ext cx="9080385" cy="510021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80F614-45DC-25E4-824D-334C6FC24986}"/>
              </a:ext>
            </a:extLst>
          </p:cNvPr>
          <p:cNvSpPr/>
          <p:nvPr/>
        </p:nvSpPr>
        <p:spPr>
          <a:xfrm>
            <a:off x="467247" y="1518972"/>
            <a:ext cx="6164665" cy="105277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2EFE7-30CA-8F01-9BBE-0BDF6AA2B6FE}"/>
              </a:ext>
            </a:extLst>
          </p:cNvPr>
          <p:cNvSpPr/>
          <p:nvPr/>
        </p:nvSpPr>
        <p:spPr>
          <a:xfrm>
            <a:off x="467247" y="2656333"/>
            <a:ext cx="7209694" cy="11774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387DCC-4C6C-B2A4-77FC-507BFB7B2872}"/>
              </a:ext>
            </a:extLst>
          </p:cNvPr>
          <p:cNvSpPr/>
          <p:nvPr/>
        </p:nvSpPr>
        <p:spPr>
          <a:xfrm>
            <a:off x="217714" y="3833773"/>
            <a:ext cx="7971693" cy="8229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0967140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AB79E7-E1A5-BB98-BE1D-5CD8C1437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47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C52F4C-81C7-4553-7313-9397AD1B08BB}"/>
              </a:ext>
            </a:extLst>
          </p:cNvPr>
          <p:cNvSpPr/>
          <p:nvPr/>
        </p:nvSpPr>
        <p:spPr>
          <a:xfrm>
            <a:off x="331597" y="1951054"/>
            <a:ext cx="7094136" cy="118872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89596-7A38-BF39-C4BD-57055F921677}"/>
              </a:ext>
            </a:extLst>
          </p:cNvPr>
          <p:cNvSpPr/>
          <p:nvPr/>
        </p:nvSpPr>
        <p:spPr>
          <a:xfrm>
            <a:off x="517490" y="3056374"/>
            <a:ext cx="8109020" cy="11438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6572529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AEC6F8D-1C40-5DA0-96D8-B7428982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4711F84-7C0F-A563-31E5-33B727B0B140}"/>
              </a:ext>
            </a:extLst>
          </p:cNvPr>
          <p:cNvSpPr/>
          <p:nvPr/>
        </p:nvSpPr>
        <p:spPr>
          <a:xfrm>
            <a:off x="1828800" y="967952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DE10A0-0415-35D6-8D4C-FF55285E579D}"/>
              </a:ext>
            </a:extLst>
          </p:cNvPr>
          <p:cNvSpPr/>
          <p:nvPr/>
        </p:nvSpPr>
        <p:spPr>
          <a:xfrm>
            <a:off x="489018" y="2115130"/>
            <a:ext cx="7398938" cy="9738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28E04-6B71-3BE1-AAC1-EF370375F2D0}"/>
              </a:ext>
            </a:extLst>
          </p:cNvPr>
          <p:cNvSpPr/>
          <p:nvPr/>
        </p:nvSpPr>
        <p:spPr>
          <a:xfrm>
            <a:off x="1980362" y="1542335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1933E5-ED5B-6448-2C55-AD296B2E23BA}"/>
              </a:ext>
            </a:extLst>
          </p:cNvPr>
          <p:cNvSpPr/>
          <p:nvPr/>
        </p:nvSpPr>
        <p:spPr>
          <a:xfrm>
            <a:off x="138998" y="2795620"/>
            <a:ext cx="7276686" cy="2188361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8068593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3A3B70-74ED-110A-0EAC-4FAE49309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1117A6-219F-1108-A6F9-3CB0A88DF472}"/>
              </a:ext>
            </a:extLst>
          </p:cNvPr>
          <p:cNvSpPr/>
          <p:nvPr/>
        </p:nvSpPr>
        <p:spPr>
          <a:xfrm>
            <a:off x="138997" y="2795620"/>
            <a:ext cx="8733697" cy="209792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0513658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4C3A-377F-8AF5-1E40-DC7BB9C5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 in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EC822-BEFF-C036-4E1D-45FC8E270D69}"/>
              </a:ext>
            </a:extLst>
          </p:cNvPr>
          <p:cNvSpPr txBox="1"/>
          <p:nvPr/>
        </p:nvSpPr>
        <p:spPr>
          <a:xfrm>
            <a:off x="231826" y="1013866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don’t need an explicit reward model, and we don’t need to worry about its magnitude.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16658-58DF-27A3-B803-562E1D53D8BB}"/>
              </a:ext>
            </a:extLst>
          </p:cNvPr>
          <p:cNvSpPr txBox="1"/>
          <p:nvPr/>
        </p:nvSpPr>
        <p:spPr>
          <a:xfrm>
            <a:off x="231826" y="1715860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All we need to do is know, for two completions, which is the “winner” and which is the “loser.”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26BB7B-55D6-B9D7-2B26-702286C0F0E3}"/>
              </a:ext>
            </a:extLst>
          </p:cNvPr>
          <p:cNvSpPr txBox="1"/>
          <p:nvPr/>
        </p:nvSpPr>
        <p:spPr>
          <a:xfrm>
            <a:off x="231826" y="2417854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Then we evaluate each completion according to our reference model and the current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B8B580-EA13-E13A-3806-64519984B773}"/>
              </a:ext>
            </a:extLst>
          </p:cNvPr>
          <p:cNvSpPr txBox="1"/>
          <p:nvPr/>
        </p:nvSpPr>
        <p:spPr>
          <a:xfrm>
            <a:off x="573113" y="3045473"/>
            <a:ext cx="7997774" cy="19492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Here’s the algorithm: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Start with SFT ”reference model”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For each prompt x, sample y1, y2 from reference, and use reward model (or human preference) to label as yw and yl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Optimize the current model based on the DPO loss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Go back to step 2 as needed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9095246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A4BF855E-D2F7-3828-B08D-84634CD8BA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11361" r="15028" b="73954"/>
          <a:stretch/>
        </p:blipFill>
        <p:spPr>
          <a:xfrm>
            <a:off x="1148533" y="1161390"/>
            <a:ext cx="6515100" cy="754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CB18EB-F226-8563-5CDE-AE4421EB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Holding Two Models is Kind of A Lot?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943BD6B-770C-6137-4E97-22660830CECF}"/>
              </a:ext>
            </a:extLst>
          </p:cNvPr>
          <p:cNvSpPr/>
          <p:nvPr/>
        </p:nvSpPr>
        <p:spPr>
          <a:xfrm>
            <a:off x="4929809" y="1238536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8E18A4F-3324-1534-79C2-D03CDA9F2DC5}"/>
              </a:ext>
            </a:extLst>
          </p:cNvPr>
          <p:cNvSpPr/>
          <p:nvPr/>
        </p:nvSpPr>
        <p:spPr>
          <a:xfrm>
            <a:off x="4929808" y="1558541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FCEC3-9156-4904-9CD7-921B1A9A95F6}"/>
              </a:ext>
            </a:extLst>
          </p:cNvPr>
          <p:cNvSpPr txBox="1"/>
          <p:nvPr/>
        </p:nvSpPr>
        <p:spPr>
          <a:xfrm>
            <a:off x="154291" y="1897034"/>
            <a:ext cx="4775518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These are big models! They take up a lot of GPU RAM and they take time to run!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6F58D-7B73-22DC-42B5-E8567D834798}"/>
              </a:ext>
            </a:extLst>
          </p:cNvPr>
          <p:cNvSpPr txBox="1"/>
          <p:nvPr/>
        </p:nvSpPr>
        <p:spPr>
          <a:xfrm>
            <a:off x="154291" y="2615910"/>
            <a:ext cx="4243676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What if we used a uniform</a:t>
            </a:r>
            <a:r>
              <a:rPr kumimoji="0" lang="en-US" sz="20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model</a:t>
            </a: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instead of 𝜌? Wouldn’t need to calculate anything!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023A-838E-9960-AE83-91C21539C1E0}"/>
              </a:ext>
            </a:extLst>
          </p:cNvPr>
          <p:cNvSpPr txBox="1"/>
          <p:nvPr/>
        </p:nvSpPr>
        <p:spPr>
          <a:xfrm>
            <a:off x="154291" y="3714657"/>
            <a:ext cx="4775518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is it any good?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12085C-1933-170E-A36E-80F03FA3B061}"/>
              </a:ext>
            </a:extLst>
          </p:cNvPr>
          <p:cNvSpPr txBox="1"/>
          <p:nvPr/>
        </p:nvSpPr>
        <p:spPr>
          <a:xfrm>
            <a:off x="5237921" y="2036967"/>
            <a:ext cx="429064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def get_loss(w, l, ref, model):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w_ref = ref(w) # inf 1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w_mod = model(w) # inf 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l_ref = ref(l) # inf 3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l_mod = model(l) # inf 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return &lt;dpo equation&gt;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2C1350A-2769-E078-9EE6-8085DD9FAFEC}"/>
              </a:ext>
            </a:extLst>
          </p:cNvPr>
          <p:cNvGrpSpPr/>
          <p:nvPr/>
        </p:nvGrpSpPr>
        <p:grpSpPr>
          <a:xfrm>
            <a:off x="4572000" y="2444587"/>
            <a:ext cx="4574730" cy="656590"/>
            <a:chOff x="3430595" y="3813024"/>
            <a:chExt cx="4748763" cy="65659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4AAEFF-2B1D-DE8C-CB06-FDF74031FF57}"/>
                </a:ext>
              </a:extLst>
            </p:cNvPr>
            <p:cNvCxnSpPr/>
            <p:nvPr/>
          </p:nvCxnSpPr>
          <p:spPr>
            <a:xfrm>
              <a:off x="3979147" y="3813024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BB4E6C-6B47-30CE-B9EB-BBAFC3E14DBA}"/>
                </a:ext>
              </a:extLst>
            </p:cNvPr>
            <p:cNvCxnSpPr/>
            <p:nvPr/>
          </p:nvCxnSpPr>
          <p:spPr>
            <a:xfrm>
              <a:off x="3979146" y="4327165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907F70-D5F5-B46F-6EB5-E068695339B3}"/>
                </a:ext>
              </a:extLst>
            </p:cNvPr>
            <p:cNvSpPr txBox="1"/>
            <p:nvPr/>
          </p:nvSpPr>
          <p:spPr>
            <a:xfrm>
              <a:off x="3430595" y="3813024"/>
              <a:ext cx="333425" cy="6565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ctr">
              <a:spAutoFit/>
            </a:bodyPr>
            <a:lstStyle/>
            <a:p>
              <a:pPr marL="0" marR="0" indent="0" algn="ctr" defTabSz="584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3600" b="0" i="0" u="none" strike="noStrike" cap="none" spc="0" normalizeH="0" baseline="0">
                  <a:ln>
                    <a:noFill/>
                  </a:ln>
                  <a:solidFill>
                    <a:srgbClr val="FF0000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Light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95951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0" grpId="0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81B9D9-DF63-E874-0D62-0B1351335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99" y="73630"/>
            <a:ext cx="8831802" cy="4960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28B665-476E-3706-EDE1-CE67BF34C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(</a:t>
            </a:r>
            <a:r>
              <a:rPr lang="en-US">
                <a:hlinkClick r:id="rId4"/>
              </a:rPr>
              <a:t>Xu et al. 2024</a:t>
            </a:r>
            <a:r>
              <a:rPr lang="en-US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5888A-0C5B-7788-EAEC-B08B3DA6570E}"/>
              </a:ext>
            </a:extLst>
          </p:cNvPr>
          <p:cNvSpPr txBox="1"/>
          <p:nvPr/>
        </p:nvSpPr>
        <p:spPr>
          <a:xfrm>
            <a:off x="599388" y="3903224"/>
            <a:ext cx="780454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Is this legit? TBH, not sure. Seems to work ok in practice though...</a:t>
            </a:r>
          </a:p>
        </p:txBody>
      </p:sp>
    </p:spTree>
    <p:extLst>
      <p:ext uri="{BB962C8B-B14F-4D97-AF65-F5344CB8AC3E}">
        <p14:creationId xmlns:p14="http://schemas.microsoft.com/office/powerpoint/2010/main" val="109889127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28958-3367-F05B-095B-C59DED68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F3F87F-1E9F-23C8-5A7C-B8797901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26" y="1020383"/>
            <a:ext cx="7772400" cy="3102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8D597A-F019-614C-6420-D922BA1A694F}"/>
              </a:ext>
            </a:extLst>
          </p:cNvPr>
          <p:cNvSpPr txBox="1"/>
          <p:nvPr/>
        </p:nvSpPr>
        <p:spPr>
          <a:xfrm>
            <a:off x="810403" y="4190950"/>
            <a:ext cx="78045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3 different “reference-free” eval approaches for each of 5 en-&gt;xx langs; CPO improves over an ALMA 13B model</a:t>
            </a:r>
          </a:p>
        </p:txBody>
      </p:sp>
    </p:spTree>
    <p:extLst>
      <p:ext uri="{BB962C8B-B14F-4D97-AF65-F5344CB8AC3E}">
        <p14:creationId xmlns:p14="http://schemas.microsoft.com/office/powerpoint/2010/main" val="3680870167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0A3C-C9DB-ED6A-D453-99232ED3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997E84-B13D-250C-AFA8-40DD92882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975" y="269391"/>
            <a:ext cx="3246172" cy="1138535"/>
          </a:xfrm>
        </p:spPr>
        <p:txBody>
          <a:bodyPr/>
          <a:lstStyle/>
          <a:p>
            <a:r>
              <a:rPr lang="en-US"/>
              <a:t>Style Transfer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6C93-1C51-B1AA-CF02-525DA24B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F5753DFB-5C44-1972-D3DE-5370036DC261}"/>
              </a:ext>
            </a:extLst>
          </p:cNvPr>
          <p:cNvSpPr/>
          <p:nvPr/>
        </p:nvSpPr>
        <p:spPr>
          <a:xfrm>
            <a:off x="5036970" y="2570493"/>
            <a:ext cx="2284355" cy="859221"/>
          </a:xfrm>
          <a:prstGeom prst="wedgeRoundRectCallout">
            <a:avLst>
              <a:gd name="adj1" fmla="val -20833"/>
              <a:gd name="adj2" fmla="val 49415"/>
              <a:gd name="adj3" fmla="val 16667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i'm going;to the store(for some bread)where silence is a shape of warm loaves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grpSp>
        <p:nvGrpSpPr>
          <p:cNvPr id="28" name="Content Placeholder 10" descr="Robot outline">
            <a:extLst>
              <a:ext uri="{FF2B5EF4-FFF2-40B4-BE49-F238E27FC236}">
                <a16:creationId xmlns:a16="http://schemas.microsoft.com/office/drawing/2014/main" id="{58092F19-7857-0986-D077-B2430B7CEF65}"/>
              </a:ext>
            </a:extLst>
          </p:cNvPr>
          <p:cNvGrpSpPr/>
          <p:nvPr/>
        </p:nvGrpSpPr>
        <p:grpSpPr>
          <a:xfrm>
            <a:off x="308086" y="2522233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72CB584-E593-335C-3D1B-2E2802CC70E8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EFDA714E-494F-08F9-4FA6-3816A9AC716D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95D1936-5F8F-D86C-057C-13C5DDF61CC8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C24594B-A4CC-28B6-6579-A1BD2B020891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E341314-9578-73AC-85EB-F3F6A22C25F0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E268F75-E5C3-2D0F-D911-02DAD1A24B03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FF61616-7226-77E5-5515-1C21AB885A97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4B62B72-3C44-70B1-87DC-BD2A82696013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39" name="Right Arrow 38">
            <a:extLst>
              <a:ext uri="{FF2B5EF4-FFF2-40B4-BE49-F238E27FC236}">
                <a16:creationId xmlns:a16="http://schemas.microsoft.com/office/drawing/2014/main" id="{35F16D4A-827D-2D50-C725-A388E074B2BC}"/>
              </a:ext>
            </a:extLst>
          </p:cNvPr>
          <p:cNvSpPr/>
          <p:nvPr/>
        </p:nvSpPr>
        <p:spPr>
          <a:xfrm>
            <a:off x="4044249" y="2871638"/>
            <a:ext cx="667062" cy="292951"/>
          </a:xfrm>
          <a:prstGeom prst="rightArrow">
            <a:avLst>
              <a:gd name="adj1" fmla="val 57675"/>
              <a:gd name="adj2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lumMod val="7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95">
              <a:latin typeface="Corbel" panose="020B0503020204020204" pitchFamily="34" charset="0"/>
            </a:endParaRPr>
          </a:p>
        </p:txBody>
      </p:sp>
      <p:grpSp>
        <p:nvGrpSpPr>
          <p:cNvPr id="53" name="Content Placeholder 10" descr="Robot outline">
            <a:extLst>
              <a:ext uri="{FF2B5EF4-FFF2-40B4-BE49-F238E27FC236}">
                <a16:creationId xmlns:a16="http://schemas.microsoft.com/office/drawing/2014/main" id="{67CB1BA8-ED16-CEBB-E69E-125CC4C42E1A}"/>
              </a:ext>
            </a:extLst>
          </p:cNvPr>
          <p:cNvGrpSpPr/>
          <p:nvPr/>
        </p:nvGrpSpPr>
        <p:grpSpPr>
          <a:xfrm>
            <a:off x="7559201" y="2735446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B31177-7D31-E8F6-B4D2-B464E5B8084D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F1D2709-E2E0-4D7B-3E65-B6958BC85340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03C998F-3F64-3C77-DF92-F9DE0DAACACB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ACA7EF0D-A780-C6BB-8E2F-54AF51269B9C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AFFB379-8B6A-B712-2E1F-F34FE5B3C932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0E5DB81-A0A5-1F96-DC71-5DBD1DB72206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A3775AA-7573-2348-EDED-15D84441EE92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4FE7981-3C65-FEEF-C2FB-2814D86D02C8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64" name="Oval Callout 63">
            <a:extLst>
              <a:ext uri="{FF2B5EF4-FFF2-40B4-BE49-F238E27FC236}">
                <a16:creationId xmlns:a16="http://schemas.microsoft.com/office/drawing/2014/main" id="{0493EE7F-8295-9501-7154-81E34D02A43B}"/>
              </a:ext>
            </a:extLst>
          </p:cNvPr>
          <p:cNvSpPr/>
          <p:nvPr/>
        </p:nvSpPr>
        <p:spPr>
          <a:xfrm>
            <a:off x="7486929" y="1908636"/>
            <a:ext cx="1407207" cy="522362"/>
          </a:xfrm>
          <a:prstGeom prst="wedgeEllipseCallout">
            <a:avLst>
              <a:gd name="adj1" fmla="val -23938"/>
              <a:gd name="adj2" fmla="val 81598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600">
                <a:latin typeface="Corbel" panose="020B0503020204020204" pitchFamily="34" charset="0"/>
              </a:rPr>
              <a:t>e.e. </a:t>
            </a:r>
            <a:r>
              <a:rPr lang="en-US" sz="1400">
                <a:latin typeface="Corbel" panose="020B0503020204020204" pitchFamily="34" charset="0"/>
              </a:rPr>
              <a:t>cummings</a:t>
            </a:r>
            <a:endParaRPr lang="en-US" sz="1600">
              <a:latin typeface="Corbel" panose="020B0503020204020204" pitchFamily="34" charset="0"/>
            </a:endParaRPr>
          </a:p>
        </p:txBody>
      </p:sp>
      <p:pic>
        <p:nvPicPr>
          <p:cNvPr id="69" name="Graphic 68" descr="Close with solid fill">
            <a:extLst>
              <a:ext uri="{FF2B5EF4-FFF2-40B4-BE49-F238E27FC236}">
                <a16:creationId xmlns:a16="http://schemas.microsoft.com/office/drawing/2014/main" id="{9BC5888C-4CAD-7323-75F3-D8D388586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91959" y="1908636"/>
            <a:ext cx="242498" cy="242498"/>
          </a:xfrm>
          <a:prstGeom prst="rect">
            <a:avLst/>
          </a:prstGeom>
        </p:spPr>
      </p:pic>
      <p:sp>
        <p:nvSpPr>
          <p:cNvPr id="13" name="Title 2">
            <a:extLst>
              <a:ext uri="{FF2B5EF4-FFF2-40B4-BE49-F238E27FC236}">
                <a16:creationId xmlns:a16="http://schemas.microsoft.com/office/drawing/2014/main" id="{5A05DC69-8CD4-B8C1-D6CA-60A2FEF94A5D}"/>
              </a:ext>
            </a:extLst>
          </p:cNvPr>
          <p:cNvSpPr txBox="1">
            <a:spLocks/>
          </p:cNvSpPr>
          <p:nvPr/>
        </p:nvSpPr>
        <p:spPr>
          <a:xfrm>
            <a:off x="209672" y="4310263"/>
            <a:ext cx="8458200" cy="479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Corbel" panose="020B0503020204020204" pitchFamily="34" charset="0"/>
                <a:ea typeface="Verdana" panose="020B060403050404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800"/>
              <a:t>Choose a Target Author – Should Confound a Style Detector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23F72FB-817F-0D7F-C209-091DC4016C4D}"/>
              </a:ext>
            </a:extLst>
          </p:cNvPr>
          <p:cNvSpPr/>
          <p:nvPr/>
        </p:nvSpPr>
        <p:spPr>
          <a:xfrm>
            <a:off x="1083491" y="2553600"/>
            <a:ext cx="2124620" cy="1006064"/>
          </a:xfrm>
          <a:prstGeom prst="wedgeRoundRectCallout">
            <a:avLst>
              <a:gd name="adj1" fmla="val -19335"/>
              <a:gd name="adj2" fmla="val 49415"/>
              <a:gd name="adj3" fmla="val 1666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To the market I venture, in quest of bread's embrace.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sp>
        <p:nvSpPr>
          <p:cNvPr id="7" name="Oval Callout 6">
            <a:extLst>
              <a:ext uri="{FF2B5EF4-FFF2-40B4-BE49-F238E27FC236}">
                <a16:creationId xmlns:a16="http://schemas.microsoft.com/office/drawing/2014/main" id="{F473A952-63BD-7A1C-0B5F-1C7DD2BCA5DA}"/>
              </a:ext>
            </a:extLst>
          </p:cNvPr>
          <p:cNvSpPr/>
          <p:nvPr/>
        </p:nvSpPr>
        <p:spPr>
          <a:xfrm>
            <a:off x="209672" y="1918866"/>
            <a:ext cx="1959761" cy="412102"/>
          </a:xfrm>
          <a:prstGeom prst="wedgeEllipseCallout">
            <a:avLst>
              <a:gd name="adj1" fmla="val -30925"/>
              <a:gd name="adj2" fmla="val 11706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latin typeface="Corbel" panose="020B0503020204020204" pitchFamily="34" charset="0"/>
              </a:rPr>
              <a:t>W. Shakespeare</a:t>
            </a:r>
          </a:p>
        </p:txBody>
      </p:sp>
      <p:pic>
        <p:nvPicPr>
          <p:cNvPr id="68" name="Graphic 67" descr="Checkmark with solid fill">
            <a:extLst>
              <a:ext uri="{FF2B5EF4-FFF2-40B4-BE49-F238E27FC236}">
                <a16:creationId xmlns:a16="http://schemas.microsoft.com/office/drawing/2014/main" id="{B37CA44C-BF91-7263-8494-8089D43D0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246" y="1941469"/>
            <a:ext cx="242498" cy="2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37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9" grpId="0" animBg="1"/>
      <p:bldP spid="64" grpId="0" animBg="1"/>
      <p:bldP spid="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BC84-ABCE-531E-3630-4BAAAE68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77579"/>
            <a:ext cx="7804547" cy="1138535"/>
          </a:xfrm>
        </p:spPr>
        <p:txBody>
          <a:bodyPr/>
          <a:lstStyle/>
          <a:p>
            <a:r>
              <a:rPr lang="en-US"/>
              <a:t>How to Generate Training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FA605-26CF-2992-C3B5-82B97511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50" y="511394"/>
            <a:ext cx="8235697" cy="4049557"/>
          </a:xfrm>
        </p:spPr>
        <p:txBody>
          <a:bodyPr>
            <a:normAutofit fontScale="85000" lnSpcReduction="10000"/>
          </a:bodyPr>
          <a:lstStyle/>
          <a:p>
            <a:r>
              <a:rPr lang="en-US"/>
              <a:t>There is some style-labeled data out there</a:t>
            </a:r>
          </a:p>
          <a:p>
            <a:pPr lvl="1"/>
            <a:r>
              <a:rPr lang="en-US"/>
              <a:t>Reddit Corpus – tens of thousands of users, each with a small number of examples</a:t>
            </a:r>
          </a:p>
          <a:p>
            <a:pPr lvl="1"/>
            <a:r>
              <a:rPr lang="en-US"/>
              <a:t>ETS TOEFL – Eleven native languages, each with thousands of examples</a:t>
            </a:r>
          </a:p>
          <a:p>
            <a:pPr lvl="1"/>
            <a:r>
              <a:rPr lang="en-US"/>
              <a:t>Grammarly’s Yahoo Answers Formality Corpus (GYAFC) – two styles, lots of examples</a:t>
            </a:r>
          </a:p>
          <a:p>
            <a:pPr lvl="1"/>
            <a:r>
              <a:rPr lang="en-US"/>
              <a:t>Corpus of Diverse Styles (CDS) – eleven styles, lots of examples</a:t>
            </a:r>
          </a:p>
          <a:p>
            <a:r>
              <a:rPr lang="en-US"/>
              <a:t>To form reward model, use LUAR (Rivera-Soto et al ‘21)  style representation given exemplars</a:t>
            </a:r>
          </a:p>
          <a:p>
            <a:r>
              <a:rPr lang="en-US"/>
              <a:t>For transfer, there isn’t much naturally existing style-&gt;style parallel data</a:t>
            </a:r>
          </a:p>
          <a:p>
            <a:r>
              <a:rPr lang="en-US"/>
              <a:t>Online LLMs do a pretty good job!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84CD1-3F5E-625C-8779-B0C28A689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204" y="3548088"/>
            <a:ext cx="3074796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4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89099B-5921-0122-EE54-E9E74AAB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953" y="0"/>
            <a:ext cx="7804547" cy="1138535"/>
          </a:xfrm>
        </p:spPr>
        <p:txBody>
          <a:bodyPr/>
          <a:lstStyle/>
          <a:p>
            <a:r>
              <a:rPr lang="en-US" sz="2000">
                <a:latin typeface="Corbel"/>
                <a:ea typeface="Verdana"/>
                <a:cs typeface="Calibri"/>
              </a:rPr>
              <a:t>Authorship Transfer with Policy Optimization </a:t>
            </a:r>
            <a:br>
              <a:rPr lang="en-US" sz="2000">
                <a:latin typeface="Corbel"/>
                <a:ea typeface="Verdana"/>
                <a:cs typeface="Calibri"/>
              </a:rPr>
            </a:br>
            <a:r>
              <a:rPr lang="en-US" sz="2000">
                <a:latin typeface="Corbel"/>
                <a:ea typeface="Verdana"/>
                <a:cs typeface="Calibri"/>
              </a:rPr>
              <a:t>(Liu et al, CustomNLP4U wkshp ‘24)</a:t>
            </a:r>
            <a:endParaRPr lang="en-US" sz="2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B6A70-B8C0-36C6-1C0A-D2ACE2BBD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4B5E8-EC89-A4A1-1CA9-BE0117F9437A}"/>
              </a:ext>
            </a:extLst>
          </p:cNvPr>
          <p:cNvSpPr txBox="1"/>
          <p:nvPr/>
        </p:nvSpPr>
        <p:spPr>
          <a:xfrm>
            <a:off x="107076" y="874310"/>
            <a:ext cx="5786945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</a:rPr>
              <a:t>Motivation :</a:t>
            </a:r>
            <a:endParaRPr lang="en-US" sz="1500">
              <a:latin typeface="Corbel" panose="020B0503020204020204" pitchFamily="34" charset="0"/>
            </a:endParaRP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Move style toward target, not just away from source</a:t>
            </a: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We can potentially improve the performance with SFT and PO</a:t>
            </a:r>
            <a:endParaRPr lang="en-US" sz="1500">
              <a:latin typeface="Corbel" panose="020B0503020204020204" pitchFamily="34" charset="0"/>
            </a:endParaRPr>
          </a:p>
          <a:p>
            <a:pPr algn="l"/>
            <a:endParaRPr lang="en-US" sz="1800">
              <a:latin typeface="Corbe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B3BB7-477C-AB36-E238-B417CF83E975}"/>
              </a:ext>
            </a:extLst>
          </p:cNvPr>
          <p:cNvSpPr txBox="1"/>
          <p:nvPr/>
        </p:nvSpPr>
        <p:spPr>
          <a:xfrm>
            <a:off x="106078" y="1882250"/>
            <a:ext cx="5124587" cy="28646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  <a:cs typeface="Segoe UI"/>
              </a:rPr>
              <a:t>Method:</a:t>
            </a:r>
            <a:r>
              <a:rPr lang="en-US" sz="1800">
                <a:solidFill>
                  <a:srgbClr val="808080"/>
                </a:solidFill>
                <a:latin typeface="Corbel"/>
                <a:cs typeface="Segoe UI"/>
              </a:rPr>
              <a:t>​</a:t>
            </a:r>
          </a:p>
          <a:p>
            <a:pPr marL="257175" indent="-257175" algn="l">
              <a:buFont typeface="Arial,Sans-Serif"/>
              <a:buChar char="•"/>
            </a:pPr>
            <a:r>
              <a:rPr lang="en-US" sz="1500">
                <a:latin typeface="Corbel"/>
                <a:cs typeface="Arial"/>
              </a:rPr>
              <a:t>Two-step PO training framework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Supervised Fine-tuning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Generate pseudo-parallel training data from labeled non-parallel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on LM cross-entropy loss on the generated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Policy optimization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from the previous step directly on the authorship transfer objectives using policy optimization algorithms</a:t>
            </a:r>
          </a:p>
        </p:txBody>
      </p:sp>
      <p:pic>
        <p:nvPicPr>
          <p:cNvPr id="2" name="Picture 1" descr="A diagram of a model&#10;&#10;Description automatically generated">
            <a:extLst>
              <a:ext uri="{FF2B5EF4-FFF2-40B4-BE49-F238E27FC236}">
                <a16:creationId xmlns:a16="http://schemas.microsoft.com/office/drawing/2014/main" id="{6BA0BA15-F7B6-F2AF-FE69-2DFC6AB8C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593" y="1402720"/>
            <a:ext cx="3307135" cy="28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16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788BD696-8A28-F2F7-E600-4D3A9ABA0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93" y="670134"/>
            <a:ext cx="4690613" cy="198054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AC8056-75B6-68B3-118A-AF44BFF8E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68786"/>
            <a:ext cx="7804547" cy="1138535"/>
          </a:xfrm>
        </p:spPr>
        <p:txBody>
          <a:bodyPr/>
          <a:lstStyle/>
          <a:p>
            <a:r>
              <a:rPr lang="en-US"/>
              <a:t>Results on Public Data (from paper)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2BE2-E028-E205-F95E-70FCBC5958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68</a:t>
            </a:fld>
            <a:endParaRPr lang="en-US"/>
          </a:p>
        </p:txBody>
      </p:sp>
      <p:pic>
        <p:nvPicPr>
          <p:cNvPr id="6" name="Picture 5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3F1293B5-A72C-DF4B-E585-35877E174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921" y="2651694"/>
            <a:ext cx="4690613" cy="199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BBFC4B-27DE-5DAD-EA50-F4F4786B443C}"/>
              </a:ext>
            </a:extLst>
          </p:cNvPr>
          <p:cNvSpPr txBox="1"/>
          <p:nvPr/>
        </p:nvSpPr>
        <p:spPr>
          <a:xfrm>
            <a:off x="5241701" y="1482680"/>
            <a:ext cx="3667259" cy="24375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95">
                <a:latin typeface="Calibri"/>
                <a:cs typeface="Segoe UI"/>
              </a:rPr>
              <a:t>Reddit example:</a:t>
            </a:r>
            <a:r>
              <a:rPr lang="en-US" sz="1695">
                <a:solidFill>
                  <a:srgbClr val="808080"/>
                </a:solidFill>
                <a:latin typeface="Calibri"/>
                <a:cs typeface="Segoe UI"/>
              </a:rPr>
              <a:t>​</a:t>
            </a:r>
          </a:p>
          <a:p>
            <a:pPr marL="214313" indent="-214313" algn="l">
              <a:buFont typeface="Arial,Sans-Serif"/>
              <a:buChar char="•"/>
            </a:pPr>
            <a:r>
              <a:rPr lang="en-US" sz="1695">
                <a:latin typeface="Calibri"/>
                <a:cs typeface="Arial"/>
              </a:rPr>
              <a:t>Input </a:t>
            </a:r>
            <a:r>
              <a:rPr lang="en-US" sz="1695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695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SRC: How do you access it?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TGT exemplar: I DON'T KNOW WHAT I'M WATCHING EITHER, BUT I THINK I LIKE IT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214313" indent="-214313" algn="l">
              <a:buFont typeface="Arial,Sans-Serif"/>
              <a:buChar char="•"/>
            </a:pPr>
            <a:r>
              <a:rPr lang="en-US" sz="1200">
                <a:latin typeface="Calibri"/>
                <a:cs typeface="Arial"/>
              </a:rPr>
              <a:t>Transferred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98CCE0"/>
                </a:highlight>
                <a:latin typeface="Calibri"/>
                <a:ea typeface="Calibri"/>
                <a:cs typeface="Arial"/>
              </a:rPr>
              <a:t> STRAP: </a:t>
            </a:r>
            <a:r>
              <a:rPr lang="en-US" sz="1200">
                <a:highlight>
                  <a:srgbClr val="98CCE0"/>
                </a:highlight>
                <a:ea typeface="+mn-lt"/>
                <a:cs typeface="+mn-lt"/>
              </a:rPr>
              <a:t>Get to it!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6CAFD6"/>
                </a:highlight>
                <a:latin typeface="Calibri"/>
                <a:cs typeface="Arial"/>
              </a:rPr>
              <a:t> STYLL: How do I get it? 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3382BC"/>
                </a:highlight>
                <a:latin typeface="Calibri"/>
                <a:cs typeface="Arial"/>
              </a:rPr>
              <a:t>SFT: How do you get to it?</a:t>
            </a: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808080"/>
                </a:solidFill>
                <a:highlight>
                  <a:srgbClr val="3382BC"/>
                </a:highlight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highlight>
                <a:srgbClr val="3382BC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EAE68"/>
                </a:highlight>
                <a:latin typeface="Calibri"/>
                <a:ea typeface="Calibri"/>
                <a:cs typeface="Arial"/>
              </a:rPr>
              <a:t> PPO: </a:t>
            </a:r>
            <a:r>
              <a:rPr lang="en-US" sz="1200">
                <a:highlight>
                  <a:srgbClr val="FEAE68"/>
                </a:highlight>
                <a:ea typeface="+mn-lt"/>
                <a:cs typeface="+mn-lt"/>
              </a:rPr>
              <a:t>HOW DO YOU GET THERE? </a:t>
            </a:r>
            <a:endParaRPr lang="en-US" sz="1200">
              <a:solidFill>
                <a:srgbClr val="808080"/>
              </a:solidFill>
              <a:highlight>
                <a:srgbClr val="FEAE68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F8A34"/>
                </a:highlight>
                <a:latin typeface="Calibri"/>
                <a:ea typeface="Calibri"/>
                <a:cs typeface="Arial"/>
              </a:rPr>
              <a:t> DPO: </a:t>
            </a:r>
            <a:r>
              <a:rPr lang="en-US" sz="1200">
                <a:highlight>
                  <a:srgbClr val="FF8A34"/>
                </a:highlight>
                <a:ea typeface="+mn-lt"/>
                <a:cs typeface="+mn-lt"/>
              </a:rPr>
              <a:t>HOW DO YOU EVEN GET THERE?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E65508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E65508"/>
                </a:highlight>
                <a:latin typeface="Calibri"/>
                <a:cs typeface="Arial"/>
              </a:rPr>
              <a:t>CPO: HOW DO YOU EVEN GET IT?!?! </a:t>
            </a:r>
            <a:endParaRPr lang="en-US" sz="1200">
              <a:solidFill>
                <a:srgbClr val="FFFFFF"/>
              </a:solidFill>
              <a:highlight>
                <a:srgbClr val="E65508"/>
              </a:highlight>
              <a:latin typeface="Calibri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19380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25756D-02B1-3D9F-8C7A-EDFCAC551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3521"/>
            <a:ext cx="7804547" cy="1138535"/>
          </a:xfrm>
        </p:spPr>
        <p:txBody>
          <a:bodyPr/>
          <a:lstStyle/>
          <a:p>
            <a:r>
              <a:rPr lang="en-US"/>
              <a:t>Results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E75AF-E15B-3DB5-DD49-4EBCFDC81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6325B7-E28A-B6D5-30EE-6648F8FD1B16}"/>
              </a:ext>
            </a:extLst>
          </p:cNvPr>
          <p:cNvSpPr txBox="1"/>
          <p:nvPr/>
        </p:nvSpPr>
        <p:spPr>
          <a:xfrm>
            <a:off x="669726" y="1310242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Low-resource individual authorship transfer (Reddit)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BAED72-5EDC-B732-0D53-45B18030F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676" y="1051524"/>
            <a:ext cx="4876800" cy="193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F3C6A4-319F-032C-8FF9-93B29AA56BD3}"/>
              </a:ext>
            </a:extLst>
          </p:cNvPr>
          <p:cNvSpPr txBox="1"/>
          <p:nvPr/>
        </p:nvSpPr>
        <p:spPr>
          <a:xfrm>
            <a:off x="669726" y="3629053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Medium-resource community authorship transfer (ETS TOEFL11)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F8020-500A-9A63-C2AD-6B80181F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76" y="3012977"/>
            <a:ext cx="4914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7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0B59-172E-D18A-E892-2CF52E19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Style Transfer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5AC5E8-B6A3-EFBA-149E-93DB5652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4" y="1460620"/>
            <a:ext cx="7772400" cy="328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585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(</a:t>
            </a:r>
            <a:r>
              <a:rPr lang="en-US">
                <a:hlinkClick r:id="rId2"/>
              </a:rPr>
              <a:t>Yang et al. 2024</a:t>
            </a:r>
            <a:r>
              <a:rPr lang="en-US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177547" y="1086711"/>
            <a:ext cx="7308476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Minimum Bayes Risk is a popular reference-free technique for improving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177547" y="1927967"/>
            <a:ext cx="7308476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Key idea – generate many outputs and score them against each other – essentially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find the median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051CC8-1D5E-A02B-007A-D42C69856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560" y="2314384"/>
            <a:ext cx="3591421" cy="2610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177547" y="3289280"/>
            <a:ext cx="4716000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Problem: This is very slow at decode-time because of quadratic comparisons</a:t>
            </a:r>
          </a:p>
        </p:txBody>
      </p:sp>
    </p:spTree>
    <p:extLst>
      <p:ext uri="{BB962C8B-B14F-4D97-AF65-F5344CB8AC3E}">
        <p14:creationId xmlns:p14="http://schemas.microsoft.com/office/powerpoint/2010/main" val="565727822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With DPO we can take as long as we need to </a:t>
            </a:r>
            <a:r>
              <a:rPr lang="en-US" u="sng"/>
              <a:t>create</a:t>
            </a:r>
            <a:r>
              <a:rPr lang="en-US"/>
              <a:t> the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47" y="1801918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074795" y="3049291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572000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111072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572000" y="298935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5910108" y="298935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572000" y="2227562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572000" y="404035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5910108" y="404035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205043" y="1709220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272471" y="3090911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045641" y="3049291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</p:spTree>
    <p:extLst>
      <p:ext uri="{BB962C8B-B14F-4D97-AF65-F5344CB8AC3E}">
        <p14:creationId xmlns:p14="http://schemas.microsoft.com/office/powerpoint/2010/main" val="1955179039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 can actually select many items...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4" y="1465637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215472" y="2713010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712677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251749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712677" y="265306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6050785" y="265306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712677" y="1891281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712677" y="316521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6050785" y="316521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345720" y="1372939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413148" y="2754630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186318" y="2713010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36129-4FA4-87D7-DA67-313C52F39598}"/>
              </a:ext>
            </a:extLst>
          </p:cNvPr>
          <p:cNvSpPr txBox="1"/>
          <p:nvPr/>
        </p:nvSpPr>
        <p:spPr>
          <a:xfrm>
            <a:off x="4786367" y="3704078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D45CF3-F011-8B95-72CE-D5E5C5BB941F}"/>
              </a:ext>
            </a:extLst>
          </p:cNvPr>
          <p:cNvSpPr txBox="1"/>
          <p:nvPr/>
        </p:nvSpPr>
        <p:spPr>
          <a:xfrm>
            <a:off x="6072548" y="3743654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59FC1-914D-86EE-6B06-4872E9A6F6F9}"/>
              </a:ext>
            </a:extLst>
          </p:cNvPr>
          <p:cNvSpPr txBox="1"/>
          <p:nvPr/>
        </p:nvSpPr>
        <p:spPr>
          <a:xfrm>
            <a:off x="2244969" y="4673981"/>
            <a:ext cx="465406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 few different strategies tried</a:t>
            </a:r>
          </a:p>
        </p:txBody>
      </p:sp>
    </p:spTree>
    <p:extLst>
      <p:ext uri="{BB962C8B-B14F-4D97-AF65-F5344CB8AC3E}">
        <p14:creationId xmlns:p14="http://schemas.microsoft.com/office/powerpoint/2010/main" val="99240227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6" grpId="0"/>
      <p:bldP spid="17" grpId="0"/>
      <p:bldP spid="1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E5E45C-B6C6-B32D-3CD1-6A5BFF47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58" y="954532"/>
            <a:ext cx="6611815" cy="3579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7B9F87-7FED-0E6A-9148-F58FCBD397CC}"/>
              </a:ext>
            </a:extLst>
          </p:cNvPr>
          <p:cNvSpPr txBox="1"/>
          <p:nvPr/>
        </p:nvSpPr>
        <p:spPr>
          <a:xfrm>
            <a:off x="507464" y="4249640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BMW = “best middle worst”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823-0113-6ACC-DD73-C097B84EAD15}"/>
              </a:ext>
            </a:extLst>
          </p:cNvPr>
          <p:cNvSpPr txBox="1"/>
          <p:nvPr/>
        </p:nvSpPr>
        <p:spPr>
          <a:xfrm>
            <a:off x="4790412" y="4298069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CPS = strided consecutive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372A24-7055-45EC-9A8E-DB3A229C4194}"/>
              </a:ext>
            </a:extLst>
          </p:cNvPr>
          <p:cNvSpPr txBox="1"/>
          <p:nvPr/>
        </p:nvSpPr>
        <p:spPr>
          <a:xfrm>
            <a:off x="2849346" y="453403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Moral: use big margins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F9599-27D1-7AAB-DC97-B0B7117B2F35}"/>
              </a:ext>
            </a:extLst>
          </p:cNvPr>
          <p:cNvSpPr txBox="1"/>
          <p:nvPr/>
        </p:nvSpPr>
        <p:spPr>
          <a:xfrm>
            <a:off x="137349" y="1966456"/>
            <a:ext cx="3934768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High Margin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= model prefers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winners more</a:t>
            </a:r>
          </a:p>
        </p:txBody>
      </p:sp>
    </p:spTree>
    <p:extLst>
      <p:ext uri="{BB962C8B-B14F-4D97-AF65-F5344CB8AC3E}">
        <p14:creationId xmlns:p14="http://schemas.microsoft.com/office/powerpoint/2010/main" val="16703050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5EF02D-7EF2-830F-2FCC-F0F2B80C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26" y="996371"/>
            <a:ext cx="7772400" cy="29700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F55182-3194-C5B7-791D-05153BAD5744}"/>
              </a:ext>
            </a:extLst>
          </p:cNvPr>
          <p:cNvSpPr txBox="1"/>
          <p:nvPr/>
        </p:nvSpPr>
        <p:spPr>
          <a:xfrm>
            <a:off x="2436747" y="3911167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Eval is BLEURT | COMET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5288B-9204-DC57-5E4A-61BDECAE801A}"/>
              </a:ext>
            </a:extLst>
          </p:cNvPr>
          <p:cNvSpPr txBox="1"/>
          <p:nvPr/>
        </p:nvSpPr>
        <p:spPr>
          <a:xfrm>
            <a:off x="793609" y="438309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MBR is better than not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D619E-CFE2-6D43-FF58-257CEA7F9DFA}"/>
              </a:ext>
            </a:extLst>
          </p:cNvPr>
          <p:cNvSpPr txBox="1"/>
          <p:nvPr/>
        </p:nvSpPr>
        <p:spPr>
          <a:xfrm>
            <a:off x="4831604" y="4302244"/>
            <a:ext cx="3934768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DPO-MBR at least as good as MBR (and faster)</a:t>
            </a:r>
          </a:p>
        </p:txBody>
      </p:sp>
    </p:spTree>
    <p:extLst>
      <p:ext uri="{BB962C8B-B14F-4D97-AF65-F5344CB8AC3E}">
        <p14:creationId xmlns:p14="http://schemas.microsoft.com/office/powerpoint/2010/main" val="18870248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326E-C906-77B9-78B6-DA9C4E73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GRPO/GRDPO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36B7D-071F-FBAC-A995-4A522CC09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22" y="1043330"/>
            <a:ext cx="3827845" cy="3865766"/>
          </a:xfrm>
        </p:spPr>
        <p:txBody>
          <a:bodyPr/>
          <a:lstStyle/>
          <a:p>
            <a:r>
              <a:rPr lang="en-US"/>
              <a:t>GRPO is PPO where the reward is normed – choose a group of points (e.g. a batch), get reward of each, then subtract mean and divide by std</a:t>
            </a:r>
          </a:p>
          <a:p>
            <a:r>
              <a:rPr lang="en-US"/>
              <a:t> What if we replaced the black-box reward function with the DPO approach – calculate in terms of average model score?</a:t>
            </a:r>
          </a:p>
          <a:p>
            <a:r>
              <a:rPr lang="en-US"/>
              <a:t>That is a lot like MBR! Doesn’t need to be done offline either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F9EB5A-8BF9-8F42-8C42-F6A10A18A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267" y="1174761"/>
            <a:ext cx="4904733" cy="16960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4BAD93-203C-8794-7D88-713F051092B2}"/>
              </a:ext>
            </a:extLst>
          </p:cNvPr>
          <p:cNvSpPr txBox="1"/>
          <p:nvPr/>
        </p:nvSpPr>
        <p:spPr>
          <a:xfrm>
            <a:off x="4369546" y="2571750"/>
            <a:ext cx="4644173" cy="2616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50"/>
              <a:t>https://www.interconnects.ai/p/papers-im-reading-base-model-rl-grpo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6D537-AF65-FADA-B911-CFBAC1ED3281}"/>
              </a:ext>
            </a:extLst>
          </p:cNvPr>
          <p:cNvSpPr txBox="1"/>
          <p:nvPr/>
        </p:nvSpPr>
        <p:spPr>
          <a:xfrm>
            <a:off x="4369546" y="4662875"/>
            <a:ext cx="457200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00"/>
              <a:t>Ramesh et al., NeurIPS ‘24, https://dl.acm.org/doi/10.5555/3737916.3739087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5E2387-B171-032A-EACD-26BE56EDB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9546" y="3711420"/>
            <a:ext cx="4493537" cy="71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432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Inspiration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279692" y="1369254"/>
            <a:ext cx="8584616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the old days of (non-neural) MT, we would generate some translations, then optimize parameters for our evaluation metric to encourage the winners (just like DPO/CPO)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279692" y="2420231"/>
            <a:ext cx="7308476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then we would iterate, and use the new model to generate more translations, then optimize again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2"/>
              </a:rPr>
              <a:t>Pang et al 2024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and others)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279692" y="319420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would also generate lots of translations, not just two, and pick the ones that had a strong reward margin 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3"/>
              </a:rPr>
              <a:t>Yang et al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6A903-6F2F-0CD9-9C19-A618115BC373}"/>
              </a:ext>
            </a:extLst>
          </p:cNvPr>
          <p:cNvSpPr txBox="1"/>
          <p:nvPr/>
        </p:nvSpPr>
        <p:spPr>
          <a:xfrm>
            <a:off x="321737" y="4105774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Let’s use these lessons and improve over ASTRAPOP on style transfer</a:t>
            </a:r>
          </a:p>
        </p:txBody>
      </p:sp>
    </p:spTree>
    <p:extLst>
      <p:ext uri="{BB962C8B-B14F-4D97-AF65-F5344CB8AC3E}">
        <p14:creationId xmlns:p14="http://schemas.microsoft.com/office/powerpoint/2010/main" val="1717445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  <p:bldP spid="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D7B6F-41AF-C5F8-C2C9-DCD599B6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STAMP (Liu and May, ACL 25)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882B3-6389-9FEE-2641-0A71FD32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65" y="1372939"/>
            <a:ext cx="6810270" cy="31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149812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3D89-AF31-F676-F7A1-0F8C9C39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Multi-Iteration Is Really Important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BAE4D-354C-D2CC-6C77-9EBCA81B7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57" y="1423400"/>
            <a:ext cx="3846285" cy="348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1757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B8F4-55DB-2312-DC24-90BF62EA6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Evaluation of STAMP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6888-EBA0-42A7-9280-67F0C3AA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72939"/>
            <a:ext cx="7518400" cy="2171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B08F56-52C4-2203-8C92-D1CE323E2D8F}"/>
              </a:ext>
            </a:extLst>
          </p:cNvPr>
          <p:cNvSpPr txBox="1"/>
          <p:nvPr/>
        </p:nvSpPr>
        <p:spPr>
          <a:xfrm>
            <a:off x="495731" y="354463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CDS – corpus of diverse styles (11 styles, many examples, stronger perceptually than ETS)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18156-FACF-25AA-FFCC-0DAF814C1F34}"/>
              </a:ext>
            </a:extLst>
          </p:cNvPr>
          <p:cNvSpPr txBox="1"/>
          <p:nvPr/>
        </p:nvSpPr>
        <p:spPr>
          <a:xfrm>
            <a:off x="495731" y="4339728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GYFAC is just formal vs informal; much easier task</a:t>
            </a:r>
          </a:p>
        </p:txBody>
      </p:sp>
    </p:spTree>
    <p:extLst>
      <p:ext uri="{BB962C8B-B14F-4D97-AF65-F5344CB8AC3E}">
        <p14:creationId xmlns:p14="http://schemas.microsoft.com/office/powerpoint/2010/main" val="298096484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42043-24E4-1602-ED0C-82F58FE9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Ablation of STAMP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C80A0-E615-AEE2-C287-BEB4352F1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00" y="1006230"/>
            <a:ext cx="7289800" cy="21463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31D9E5-D7FB-6513-72B4-465652FE45FC}"/>
              </a:ext>
            </a:extLst>
          </p:cNvPr>
          <p:cNvSpPr txBox="1"/>
          <p:nvPr/>
        </p:nvSpPr>
        <p:spPr>
          <a:xfrm>
            <a:off x="495731" y="3480680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Not overgenerating hurts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Picking pairs that are not maximally far away hurts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75820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B1F30-A602-18AC-5D29-0F9AC593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Things In Backup Slides That I Skipped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D8EBC-A57C-221B-C32A-18034BDB0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KTO – don’t use pairs, just know whether you have a good or bad sample</a:t>
            </a:r>
          </a:p>
          <a:p>
            <a:r>
              <a:rPr lang="en-US"/>
              <a:t>Cohere on REINFORCE – don’t do partial completions, don’t bother with PPO, just use vanilla PG (almost) </a:t>
            </a:r>
          </a:p>
        </p:txBody>
      </p:sp>
    </p:spTree>
    <p:extLst>
      <p:ext uri="{BB962C8B-B14F-4D97-AF65-F5344CB8AC3E}">
        <p14:creationId xmlns:p14="http://schemas.microsoft.com/office/powerpoint/2010/main" val="3124271911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3EF9-5CBF-B001-5354-F1FD01B38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65609"/>
            <a:ext cx="7804547" cy="1138535"/>
          </a:xfrm>
        </p:spPr>
        <p:txBody>
          <a:bodyPr/>
          <a:lstStyle/>
          <a:p>
            <a:r>
              <a:rPr lang="en-US"/>
              <a:t>Conclusions?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0FF97-0A1D-AE20-76A6-4F4217C2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Once upon a time our probabilistic models didn’t behave the way we wanted so we had to use post-hoc techniques to get those scores up</a:t>
            </a:r>
          </a:p>
          <a:p>
            <a:r>
              <a:rPr lang="en-US"/>
              <a:t>For a while we luxuriated in MLE and Cross Entropy matching our metrics</a:t>
            </a:r>
          </a:p>
          <a:p>
            <a:r>
              <a:rPr lang="en-US"/>
              <a:t>RL and RL-like techniques are once again important for ensuring that our models behave they way they want to behave...</a:t>
            </a:r>
          </a:p>
          <a:p>
            <a:r>
              <a:rPr lang="en-US"/>
              <a:t>Although perhaps data will still conquer all once we go up another OOM</a:t>
            </a:r>
          </a:p>
        </p:txBody>
      </p:sp>
    </p:spTree>
    <p:extLst>
      <p:ext uri="{BB962C8B-B14F-4D97-AF65-F5344CB8AC3E}">
        <p14:creationId xmlns:p14="http://schemas.microsoft.com/office/powerpoint/2010/main" val="3235181242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A04C-46A7-83C3-6868-68A6312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746871"/>
            <a:ext cx="7804547" cy="1031688"/>
          </a:xfrm>
        </p:spPr>
        <p:txBody>
          <a:bodyPr>
            <a:normAutofit/>
          </a:bodyPr>
          <a:lstStyle/>
          <a:p>
            <a:r>
              <a:rPr lang="en-US" sz="2400"/>
              <a:t>(</a:t>
            </a:r>
            <a:r>
              <a:rPr lang="en-US" sz="2400">
                <a:hlinkClick r:id="rId2"/>
              </a:rPr>
              <a:t>Ahmadian et al 2024</a:t>
            </a:r>
            <a:r>
              <a:rPr lang="en-US" sz="2400"/>
              <a:t>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8B97699-B46B-8650-6B78-71D6E0F1EC8A}"/>
              </a:ext>
            </a:extLst>
          </p:cNvPr>
          <p:cNvSpPr txBox="1">
            <a:spLocks/>
          </p:cNvSpPr>
          <p:nvPr/>
        </p:nvSpPr>
        <p:spPr>
          <a:xfrm>
            <a:off x="822127" y="386805"/>
            <a:ext cx="7804547" cy="1031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120541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0" marR="0" indent="24108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0" marR="0" indent="36162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0" marR="0" indent="482163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0" marR="0" indent="602704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0" marR="0" indent="72324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0" marR="0" indent="84378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0" marR="0" indent="964326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hangingPunct="1"/>
            <a:r>
              <a:rPr lang="en-US"/>
              <a:t>Could We Just Use REINFORCE after all?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43217-623C-E841-F92A-D8986E33966A}"/>
              </a:ext>
            </a:extLst>
          </p:cNvPr>
          <p:cNvSpPr txBox="1"/>
          <p:nvPr/>
        </p:nvSpPr>
        <p:spPr>
          <a:xfrm>
            <a:off x="474137" y="1479665"/>
            <a:ext cx="8152537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Exponential decay to incorporate word over tokens (lambda return, i.e. GAE)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 partial completions...I don’t fully get how that can work so I’m reluctant to present this either...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8FDD7D-C7F9-8662-B20D-027454F80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732" y="2634820"/>
            <a:ext cx="5353259" cy="254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2811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DCBB3-5052-6D70-E4F4-1F10A225C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(</a:t>
            </a:r>
            <a:r>
              <a:rPr lang="en-US">
                <a:hlinkClick r:id="rId2"/>
              </a:rPr>
              <a:t>Ethayarajh et al. 2024</a:t>
            </a:r>
            <a:r>
              <a:rPr lang="en-US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A9E57-6F8E-6968-3DF5-A3380ED4D51F}"/>
              </a:ext>
            </a:extLst>
          </p:cNvPr>
          <p:cNvSpPr txBox="1"/>
          <p:nvPr/>
        </p:nvSpPr>
        <p:spPr>
          <a:xfrm>
            <a:off x="1750196" y="1429685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DPO: We don’t need to know the score of winner and loser, we just need to know which is which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196811-122C-85A5-9A1F-7AE65B1F521B}"/>
              </a:ext>
            </a:extLst>
          </p:cNvPr>
          <p:cNvSpPr txBox="1"/>
          <p:nvPr/>
        </p:nvSpPr>
        <p:spPr>
          <a:xfrm>
            <a:off x="1750195" y="2466711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Are pairs necessary? Maybe we only need to know whether an example is “good” or not 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EB678-3207-24E3-4F8F-EDF498CEB688}"/>
              </a:ext>
            </a:extLst>
          </p:cNvPr>
          <p:cNvSpPr txBox="1"/>
          <p:nvPr/>
        </p:nvSpPr>
        <p:spPr>
          <a:xfrm>
            <a:off x="1750196" y="3578610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Bonus – you get double the amount of training data!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919105161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1B30E-A209-400B-21DD-8F6E0BCFA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Loss (Sorry for lazier setting on this one)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4D5E63-FDEA-BAFB-3214-94B5D0E7F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372939"/>
            <a:ext cx="6172200" cy="292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9594E9-F5BF-F773-8A67-AE1AF89905EF}"/>
              </a:ext>
            </a:extLst>
          </p:cNvPr>
          <p:cNvSpPr txBox="1"/>
          <p:nvPr/>
        </p:nvSpPr>
        <p:spPr>
          <a:xfrm>
            <a:off x="1373110" y="4287183"/>
            <a:ext cx="672407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The keys are you treat desirables different from undesirables and you have a pool for your KL component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2057374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0C331-CF8C-1815-EC01-D29F85DA0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Impact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881702-5AAF-B36C-0A09-B4663FC6E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3" y="1126084"/>
            <a:ext cx="7772400" cy="34339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623DA-0E75-FB3B-CE76-FB1A62FA1BCA}"/>
              </a:ext>
            </a:extLst>
          </p:cNvPr>
          <p:cNvSpPr txBox="1"/>
          <p:nvPr/>
        </p:nvSpPr>
        <p:spPr>
          <a:xfrm>
            <a:off x="1152047" y="4560027"/>
            <a:ext cx="7133309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I have some issues with this which is why I’m not presenting it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8131861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45552</TotalTime>
  <Words>4766</Words>
  <Application>Microsoft Macintosh PowerPoint</Application>
  <PresentationFormat>On-screen Show (16:9)</PresentationFormat>
  <Paragraphs>565</Paragraphs>
  <Slides>87</Slides>
  <Notes>38</Notes>
  <HiddenSlides>20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87</vt:i4>
      </vt:variant>
    </vt:vector>
  </HeadingPairs>
  <TitlesOfParts>
    <vt:vector size="101" baseType="lpstr">
      <vt:lpstr>Arial</vt:lpstr>
      <vt:lpstr>Arial,Sans-Serif</vt:lpstr>
      <vt:lpstr>Calibri</vt:lpstr>
      <vt:lpstr>Corbel</vt:lpstr>
      <vt:lpstr>Courier New</vt:lpstr>
      <vt:lpstr>Courier New,monospace</vt:lpstr>
      <vt:lpstr>Helvetica</vt:lpstr>
      <vt:lpstr>Helvetica Light</vt:lpstr>
      <vt:lpstr>Helvetica Neue</vt:lpstr>
      <vt:lpstr>Söhne</vt:lpstr>
      <vt:lpstr>Wingdings</vt:lpstr>
      <vt:lpstr>Wingdings,Sans-Serif</vt:lpstr>
      <vt:lpstr>White</vt:lpstr>
      <vt:lpstr>1_White</vt:lpstr>
      <vt:lpstr>Human Feedback and Optimization For Language Models</vt:lpstr>
      <vt:lpstr>Reading List</vt:lpstr>
      <vt:lpstr>Maximum Likelihood Training</vt:lpstr>
      <vt:lpstr>Problem 1: Some Mistakes are Worse than Others</vt:lpstr>
      <vt:lpstr>Problem 2: The “Gold-standard” in MLE can be Bad</vt:lpstr>
      <vt:lpstr>Problem 3: Exposure Bias</vt:lpstr>
      <vt:lpstr>An Alternative: Measuring how “Good” an Output Is</vt:lpstr>
      <vt:lpstr>How to Measure output “Goodness"?</vt:lpstr>
      <vt:lpstr>Objective Assessment</vt:lpstr>
      <vt:lpstr>Human Evaluation</vt:lpstr>
      <vt:lpstr>Human Feedback: Direct Assessment</vt:lpstr>
      <vt:lpstr>Human Feedback: Preference Ratings</vt:lpstr>
      <vt:lpstr>Human Feedback: Error Annotation</vt:lpstr>
      <vt:lpstr>An Alternative to Humans: Automatic Evaluation</vt:lpstr>
      <vt:lpstr>Machine Prediction of Human Preferences</vt:lpstr>
      <vt:lpstr>Embedding-based Evaluation</vt:lpstr>
      <vt:lpstr> Regression-based Evaluation</vt:lpstr>
      <vt:lpstr>Meta-evaluation of Metrics</vt:lpstr>
      <vt:lpstr>Use in a Downstream System</vt:lpstr>
      <vt:lpstr>Incorporating “Goodness” into Learning: Error and Risk</vt:lpstr>
      <vt:lpstr>Error</vt:lpstr>
      <vt:lpstr>Problem: Eval is Non-differentiable</vt:lpstr>
      <vt:lpstr>Risk</vt:lpstr>
      <vt:lpstr>Reinforcment Learning Basics: Policy Gradient (Review of Karpathy 2016)</vt:lpstr>
      <vt:lpstr>What is Reinforcement Learning?</vt:lpstr>
      <vt:lpstr>Why Reinforcement Learning in NLP?</vt:lpstr>
      <vt:lpstr>Supervised MLE</vt:lpstr>
      <vt:lpstr>Self Training</vt:lpstr>
      <vt:lpstr>Policy Gradient/REINFORCE</vt:lpstr>
      <vt:lpstr>Credit Assignment for Rewards</vt:lpstr>
      <vt:lpstr>Naive Implementation</vt:lpstr>
      <vt:lpstr>Stabilizing Reinforcement Learning</vt:lpstr>
      <vt:lpstr>Problems w/ Reinforcement Learning</vt:lpstr>
      <vt:lpstr>Pre-training with MLE (Ranzato et al. 2016)</vt:lpstr>
      <vt:lpstr>Regularization to an Existing Model (e.g. Schulman et al. 2017)</vt:lpstr>
      <vt:lpstr>Understanding the pessimistic clipping term a little more (from Schulman et al. 2017)</vt:lpstr>
      <vt:lpstr>Adding a Baseline To Normalize R</vt:lpstr>
      <vt:lpstr>Calculating Baselines</vt:lpstr>
      <vt:lpstr>PPO In Action – make positive reviews (manipulated example from trl tutorial</vt:lpstr>
      <vt:lpstr>PPO In Action – make positive reviews (manipulated example from trl tutorial</vt:lpstr>
      <vt:lpstr>Reward Calculation from trl PPO code</vt:lpstr>
      <vt:lpstr>RLHF  InstructGPT  ChatGPT</vt:lpstr>
      <vt:lpstr>InstructGPT/ChatGPT Overview: RLHF</vt:lpstr>
      <vt:lpstr>InstructGPT/ChatGPT Overview</vt:lpstr>
      <vt:lpstr>InstructGPT/ChatGPT Overview</vt:lpstr>
      <vt:lpstr>InstructGPT/ChatGPT Overview</vt:lpstr>
      <vt:lpstr>InstructGPT Results (Ouyang et al. ‘22)</vt:lpstr>
      <vt:lpstr>InstructGPT Prompts vs other prompts</vt:lpstr>
      <vt:lpstr>But How Important is it to ChatGPT/etc?</vt:lpstr>
      <vt:lpstr>DPO: Let’s Get Rid of the Reward Model</vt:lpstr>
      <vt:lpstr>DPO</vt:lpstr>
      <vt:lpstr>Bradley-Terry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DPO in Practice</vt:lpstr>
      <vt:lpstr>Holding Two Models is Kind of A Lot?</vt:lpstr>
      <vt:lpstr>CPO (Xu et al. 2024)</vt:lpstr>
      <vt:lpstr>CPO Results</vt:lpstr>
      <vt:lpstr>Style Transfer Task</vt:lpstr>
      <vt:lpstr>How to Generate Training Data?</vt:lpstr>
      <vt:lpstr>Authorship Transfer with Policy Optimization  (Liu et al, CustomNLP4U wkshp ‘24)</vt:lpstr>
      <vt:lpstr>Results on Public Data (from paper)</vt:lpstr>
      <vt:lpstr>Results</vt:lpstr>
      <vt:lpstr>Style Transfer Example</vt:lpstr>
      <vt:lpstr>MBR+DPO (Yang et al. 2024)</vt:lpstr>
      <vt:lpstr>With DPO we can take as long as we need to create the data</vt:lpstr>
      <vt:lpstr>We can actually select many items...</vt:lpstr>
      <vt:lpstr>MBR+DPO Results</vt:lpstr>
      <vt:lpstr>MBR+DPO Results</vt:lpstr>
      <vt:lpstr>Note on GRPO/GRDPO</vt:lpstr>
      <vt:lpstr>Some Inspiration</vt:lpstr>
      <vt:lpstr>STAMP (Liu and May, ACL 25) </vt:lpstr>
      <vt:lpstr>Multi-Iteration Is Really Important</vt:lpstr>
      <vt:lpstr>Evaluation of STAMP </vt:lpstr>
      <vt:lpstr>Ablation of STAMP</vt:lpstr>
      <vt:lpstr>Some Things In Backup Slides That I Skipped</vt:lpstr>
      <vt:lpstr>Conclusions?</vt:lpstr>
      <vt:lpstr>(Ahmadian et al 2024)</vt:lpstr>
      <vt:lpstr>KTO (Ethayarajh et al. 2024)</vt:lpstr>
      <vt:lpstr>KTO Loss (Sorry for lazier setting on this one)</vt:lpstr>
      <vt:lpstr>KTO Impact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May</cp:lastModifiedBy>
  <cp:revision>98</cp:revision>
  <dcterms:modified xsi:type="dcterms:W3CDTF">2025-10-08T15:51:59Z</dcterms:modified>
</cp:coreProperties>
</file>